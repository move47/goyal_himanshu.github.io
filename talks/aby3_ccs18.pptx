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1"/>
  </p:notesMasterIdLst>
  <p:sldIdLst>
    <p:sldId id="256" r:id="rId2"/>
    <p:sldId id="340" r:id="rId3"/>
    <p:sldId id="341" r:id="rId4"/>
    <p:sldId id="343" r:id="rId5"/>
    <p:sldId id="375" r:id="rId6"/>
    <p:sldId id="380" r:id="rId7"/>
    <p:sldId id="342" r:id="rId8"/>
    <p:sldId id="344" r:id="rId9"/>
    <p:sldId id="377" r:id="rId10"/>
    <p:sldId id="382" r:id="rId11"/>
    <p:sldId id="346" r:id="rId12"/>
    <p:sldId id="348" r:id="rId13"/>
    <p:sldId id="349" r:id="rId14"/>
    <p:sldId id="352" r:id="rId15"/>
    <p:sldId id="353" r:id="rId16"/>
    <p:sldId id="365" r:id="rId17"/>
    <p:sldId id="376" r:id="rId18"/>
    <p:sldId id="378" r:id="rId19"/>
    <p:sldId id="358" r:id="rId20"/>
    <p:sldId id="364" r:id="rId21"/>
    <p:sldId id="372" r:id="rId22"/>
    <p:sldId id="360" r:id="rId23"/>
    <p:sldId id="381" r:id="rId24"/>
    <p:sldId id="354" r:id="rId25"/>
    <p:sldId id="379" r:id="rId26"/>
    <p:sldId id="356" r:id="rId27"/>
    <p:sldId id="357" r:id="rId28"/>
    <p:sldId id="359" r:id="rId29"/>
    <p:sldId id="368" r:id="rId30"/>
    <p:sldId id="369" r:id="rId31"/>
    <p:sldId id="361" r:id="rId32"/>
    <p:sldId id="371" r:id="rId33"/>
    <p:sldId id="373" r:id="rId34"/>
    <p:sldId id="317" r:id="rId35"/>
    <p:sldId id="363" r:id="rId36"/>
    <p:sldId id="366" r:id="rId37"/>
    <p:sldId id="367" r:id="rId38"/>
    <p:sldId id="374" r:id="rId39"/>
    <p:sldId id="370"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37FDB5B-7453-4FDB-9D60-6CFFC3E965A9}">
          <p14:sldIdLst>
            <p14:sldId id="256"/>
            <p14:sldId id="340"/>
            <p14:sldId id="341"/>
            <p14:sldId id="343"/>
            <p14:sldId id="375"/>
            <p14:sldId id="380"/>
            <p14:sldId id="342"/>
            <p14:sldId id="344"/>
            <p14:sldId id="377"/>
            <p14:sldId id="382"/>
            <p14:sldId id="346"/>
            <p14:sldId id="348"/>
            <p14:sldId id="349"/>
            <p14:sldId id="352"/>
            <p14:sldId id="353"/>
            <p14:sldId id="365"/>
            <p14:sldId id="376"/>
            <p14:sldId id="378"/>
            <p14:sldId id="358"/>
            <p14:sldId id="364"/>
            <p14:sldId id="372"/>
            <p14:sldId id="360"/>
            <p14:sldId id="381"/>
            <p14:sldId id="354"/>
            <p14:sldId id="379"/>
            <p14:sldId id="356"/>
            <p14:sldId id="357"/>
            <p14:sldId id="359"/>
            <p14:sldId id="368"/>
            <p14:sldId id="369"/>
            <p14:sldId id="361"/>
            <p14:sldId id="371"/>
            <p14:sldId id="373"/>
            <p14:sldId id="317"/>
            <p14:sldId id="363"/>
            <p14:sldId id="366"/>
            <p14:sldId id="367"/>
            <p14:sldId id="374"/>
            <p14:sldId id="370"/>
          </p14:sldIdLst>
        </p14:section>
        <p14:section name="Related work - by type" id="{921A0AFE-A4C0-4AD4-8FC5-C998F2E51269}">
          <p14:sldIdLst/>
        </p14:section>
        <p14:section name="main" id="{24CC5B30-27DA-44A6-B3BD-F928F53D1E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initials="" lastIdx="1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DBF2F"/>
    <a:srgbClr val="7ABC32"/>
    <a:srgbClr val="454545"/>
    <a:srgbClr val="FFFF00"/>
    <a:srgbClr val="F7D8AB"/>
    <a:srgbClr val="ADCFE7"/>
    <a:srgbClr val="E2B4BF"/>
    <a:srgbClr val="404040"/>
    <a:srgbClr val="B71E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1" autoAdjust="0"/>
    <p:restoredTop sz="89326" autoAdjust="0"/>
  </p:normalViewPr>
  <p:slideViewPr>
    <p:cSldViewPr snapToGrid="0">
      <p:cViewPr>
        <p:scale>
          <a:sx n="126" d="100"/>
          <a:sy n="126" d="100"/>
        </p:scale>
        <p:origin x="-21" y="51"/>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06" d="100"/>
          <a:sy n="106" d="100"/>
        </p:scale>
        <p:origin x="3500"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95334E-7F0A-4CBC-A75A-F59CE5EA3D81}" type="datetimeFigureOut">
              <a:rPr lang="en-US" smtClean="0"/>
              <a:t>10/15/2018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1674E0-2D88-4B03-AD51-4CBE56D62E4E}" type="slidenum">
              <a:rPr lang="en-US" smtClean="0"/>
              <a:t>‹#›</a:t>
            </a:fld>
            <a:endParaRPr lang="en-US"/>
          </a:p>
        </p:txBody>
      </p:sp>
    </p:spTree>
    <p:extLst>
      <p:ext uri="{BB962C8B-B14F-4D97-AF65-F5344CB8AC3E}">
        <p14:creationId xmlns:p14="http://schemas.microsoft.com/office/powerpoint/2010/main" val="30749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1674E0-2D88-4B03-AD51-4CBE56D62E4E}" type="slidenum">
              <a:rPr lang="en-US" smtClean="0"/>
              <a:t>1</a:t>
            </a:fld>
            <a:endParaRPr lang="en-US"/>
          </a:p>
        </p:txBody>
      </p:sp>
    </p:spTree>
    <p:extLst>
      <p:ext uri="{BB962C8B-B14F-4D97-AF65-F5344CB8AC3E}">
        <p14:creationId xmlns:p14="http://schemas.microsoft.com/office/powerpoint/2010/main" val="1447723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has wide ranging application from facial recognition to genomic testing and fraud detection.</a:t>
            </a:r>
          </a:p>
          <a:p>
            <a:endParaRPr lang="en-US" dirty="0"/>
          </a:p>
          <a:p>
            <a:r>
              <a:rPr lang="en-US" dirty="0"/>
              <a:t>Within this, there are two main tasks that are considered</a:t>
            </a:r>
          </a:p>
          <a:p>
            <a:endParaRPr lang="en-US" dirty="0"/>
          </a:p>
          <a:p>
            <a:r>
              <a:rPr lang="en-US" dirty="0"/>
              <a:t>Inference where there is an existing model and we wish to evaluate the model on input data. It is often the case that the input data and model are held by different parties. For example, 23 and me holding a genetic model and I holding my genome. In this case it can be undesirable to either party to their this input.</a:t>
            </a:r>
          </a:p>
          <a:p>
            <a:endParaRPr lang="en-US" dirty="0"/>
          </a:p>
          <a:p>
            <a:r>
              <a:rPr lang="en-US" dirty="0"/>
              <a:t>The problem is only magnetized for training where large data sets need to be compiled, often from different sources.</a:t>
            </a:r>
          </a:p>
        </p:txBody>
      </p:sp>
      <p:sp>
        <p:nvSpPr>
          <p:cNvPr id="4" name="Slide Number Placeholder 3"/>
          <p:cNvSpPr>
            <a:spLocks noGrp="1"/>
          </p:cNvSpPr>
          <p:nvPr>
            <p:ph type="sldNum" sz="quarter" idx="5"/>
          </p:nvPr>
        </p:nvSpPr>
        <p:spPr/>
        <p:txBody>
          <a:bodyPr/>
          <a:lstStyle/>
          <a:p>
            <a:fld id="{F21674E0-2D88-4B03-AD51-4CBE56D62E4E}" type="slidenum">
              <a:rPr lang="en-US" smtClean="0"/>
              <a:t>2</a:t>
            </a:fld>
            <a:endParaRPr lang="en-US"/>
          </a:p>
        </p:txBody>
      </p:sp>
    </p:spTree>
    <p:extLst>
      <p:ext uri="{BB962C8B-B14F-4D97-AF65-F5344CB8AC3E}">
        <p14:creationId xmlns:p14="http://schemas.microsoft.com/office/powerpoint/2010/main" val="2595531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training, consider the scenario where several parties contribute data. This can lead to a better model. Especially if each of these parties have highly predictive features. </a:t>
            </a:r>
          </a:p>
          <a:p>
            <a:endParaRPr lang="en-US" dirty="0"/>
          </a:p>
          <a:p>
            <a:r>
              <a:rPr lang="en-US" dirty="0"/>
              <a:t>In this talk we consider the scenario where this data is arbitrarily distributed between parties.</a:t>
            </a:r>
          </a:p>
        </p:txBody>
      </p:sp>
      <p:sp>
        <p:nvSpPr>
          <p:cNvPr id="4" name="Slide Number Placeholder 3"/>
          <p:cNvSpPr>
            <a:spLocks noGrp="1"/>
          </p:cNvSpPr>
          <p:nvPr>
            <p:ph type="sldNum" sz="quarter" idx="5"/>
          </p:nvPr>
        </p:nvSpPr>
        <p:spPr/>
        <p:txBody>
          <a:bodyPr/>
          <a:lstStyle/>
          <a:p>
            <a:fld id="{F21674E0-2D88-4B03-AD51-4CBE56D62E4E}" type="slidenum">
              <a:rPr lang="en-US" smtClean="0"/>
              <a:t>3</a:t>
            </a:fld>
            <a:endParaRPr lang="en-US"/>
          </a:p>
        </p:txBody>
      </p:sp>
    </p:spTree>
    <p:extLst>
      <p:ext uri="{BB962C8B-B14F-4D97-AF65-F5344CB8AC3E}">
        <p14:creationId xmlns:p14="http://schemas.microsoft.com/office/powerpoint/2010/main" val="63212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due to privacy concerns aggregating data in this with can be prohibited. Either for competitive or regulative reasons.</a:t>
            </a:r>
          </a:p>
          <a:p>
            <a:endParaRPr lang="en-US" dirty="0"/>
          </a:p>
          <a:p>
            <a:r>
              <a:rPr lang="en-US" dirty="0"/>
              <a:t>So we could imagine using encryption. First the parties can encrypt the data at rests and in </a:t>
            </a:r>
            <a:r>
              <a:rPr lang="en-US" dirty="0" err="1"/>
              <a:t>tansit</a:t>
            </a:r>
            <a:r>
              <a:rPr lang="en-US" dirty="0"/>
              <a:t>. However, when they with to train the model using traditional techniques, the data must be decrypted. In this talk we overcome this limitation</a:t>
            </a:r>
          </a:p>
          <a:p>
            <a:endParaRPr lang="en-US" dirty="0"/>
          </a:p>
        </p:txBody>
      </p:sp>
      <p:sp>
        <p:nvSpPr>
          <p:cNvPr id="4" name="Slide Number Placeholder 3"/>
          <p:cNvSpPr>
            <a:spLocks noGrp="1"/>
          </p:cNvSpPr>
          <p:nvPr>
            <p:ph type="sldNum" sz="quarter" idx="5"/>
          </p:nvPr>
        </p:nvSpPr>
        <p:spPr/>
        <p:txBody>
          <a:bodyPr/>
          <a:lstStyle/>
          <a:p>
            <a:fld id="{F21674E0-2D88-4B03-AD51-4CBE56D62E4E}" type="slidenum">
              <a:rPr lang="en-US" smtClean="0"/>
              <a:t>4</a:t>
            </a:fld>
            <a:endParaRPr lang="en-US"/>
          </a:p>
        </p:txBody>
      </p:sp>
    </p:spTree>
    <p:extLst>
      <p:ext uri="{BB962C8B-B14F-4D97-AF65-F5344CB8AC3E}">
        <p14:creationId xmlns:p14="http://schemas.microsoft.com/office/powerpoint/2010/main" val="4108108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1674E0-2D88-4B03-AD51-4CBE56D62E4E}" type="slidenum">
              <a:rPr lang="en-US" smtClean="0"/>
              <a:t>16</a:t>
            </a:fld>
            <a:endParaRPr lang="en-US"/>
          </a:p>
        </p:txBody>
      </p:sp>
    </p:spTree>
    <p:extLst>
      <p:ext uri="{BB962C8B-B14F-4D97-AF65-F5344CB8AC3E}">
        <p14:creationId xmlns:p14="http://schemas.microsoft.com/office/powerpoint/2010/main" val="520625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1674E0-2D88-4B03-AD51-4CBE56D62E4E}" type="slidenum">
              <a:rPr lang="en-US" smtClean="0"/>
              <a:t>17</a:t>
            </a:fld>
            <a:endParaRPr lang="en-US"/>
          </a:p>
        </p:txBody>
      </p:sp>
    </p:spTree>
    <p:extLst>
      <p:ext uri="{BB962C8B-B14F-4D97-AF65-F5344CB8AC3E}">
        <p14:creationId xmlns:p14="http://schemas.microsoft.com/office/powerpoint/2010/main" val="571350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1674E0-2D88-4B03-AD51-4CBE56D62E4E}" type="slidenum">
              <a:rPr lang="en-US" smtClean="0"/>
              <a:t>18</a:t>
            </a:fld>
            <a:endParaRPr lang="en-US"/>
          </a:p>
        </p:txBody>
      </p:sp>
    </p:spTree>
    <p:extLst>
      <p:ext uri="{BB962C8B-B14F-4D97-AF65-F5344CB8AC3E}">
        <p14:creationId xmlns:p14="http://schemas.microsoft.com/office/powerpoint/2010/main" val="3291883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82" y="802300"/>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7"/>
            <a:ext cx="8637072" cy="977621"/>
          </a:xfrm>
        </p:spPr>
        <p:txBody>
          <a:bodyPr tIns="91440" bIns="91440">
            <a:normAutofit/>
          </a:bodyPr>
          <a:lstStyle>
            <a:lvl1pPr marL="0" indent="0" algn="l">
              <a:buNone/>
              <a:defRPr sz="1800" b="0" cap="all" baseline="0">
                <a:solidFill>
                  <a:schemeClr val="tx1"/>
                </a:solidFill>
              </a:defRPr>
            </a:lvl1pPr>
            <a:lvl2pPr marL="457178" indent="0" algn="ctr">
              <a:buNone/>
              <a:defRPr sz="18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5" name="Footer Placeholder 4"/>
          <p:cNvSpPr>
            <a:spLocks noGrp="1"/>
          </p:cNvSpPr>
          <p:nvPr>
            <p:ph type="ftr" sz="quarter" idx="11"/>
          </p:nvPr>
        </p:nvSpPr>
        <p:spPr>
          <a:xfrm>
            <a:off x="2416501" y="329311"/>
            <a:ext cx="4973915" cy="309201"/>
          </a:xfrm>
          <a:prstGeom prst="rect">
            <a:avLst/>
          </a:prstGeom>
        </p:spPr>
        <p:txBody>
          <a:bodyPr/>
          <a:lstStyle/>
          <a:p>
            <a:endParaRPr lang="en-US" dirty="0"/>
          </a:p>
        </p:txBody>
      </p:sp>
      <p:sp>
        <p:nvSpPr>
          <p:cNvPr id="6" name="Slide Number Placeholder 5"/>
          <p:cNvSpPr>
            <a:spLocks noGrp="1"/>
          </p:cNvSpPr>
          <p:nvPr>
            <p:ph type="sldNum" sz="quarter" idx="12"/>
          </p:nvPr>
        </p:nvSpPr>
        <p:spPr>
          <a:xfrm>
            <a:off x="1437665"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1257300" y="3528542"/>
            <a:ext cx="979755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cap="none" baseline="0">
                <a:solidFill>
                  <a:schemeClr val="tx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1451581" y="1694890"/>
            <a:ext cx="9603275" cy="4658285"/>
          </a:xfrm>
        </p:spPr>
        <p:txBody>
          <a:bodyPr anchor="t">
            <a:normAutofit/>
          </a:bodyPr>
          <a:lstStyle>
            <a:lvl1pPr>
              <a:defRPr sz="2400">
                <a:solidFill>
                  <a:srgbClr val="454545"/>
                </a:solidFill>
              </a:defRPr>
            </a:lvl1pPr>
            <a:lvl2pPr>
              <a:defRPr sz="2000">
                <a:solidFill>
                  <a:srgbClr val="454545"/>
                </a:solidFill>
              </a:defRPr>
            </a:lvl2pPr>
            <a:lvl3pPr>
              <a:defRPr sz="1800">
                <a:solidFill>
                  <a:srgbClr val="454545"/>
                </a:solidFill>
              </a:defRPr>
            </a:lvl3pPr>
            <a:lvl4pPr>
              <a:defRPr sz="1600">
                <a:solidFill>
                  <a:srgbClr val="454545"/>
                </a:solidFill>
              </a:defRPr>
            </a:lvl4pPr>
            <a:lvl5pPr>
              <a:defRPr sz="1400">
                <a:solidFill>
                  <a:srgbClr val="454545"/>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554140" y="330370"/>
            <a:ext cx="3500715" cy="309201"/>
          </a:xfrm>
          <a:prstGeom prst="rect">
            <a:avLst/>
          </a:prstGeom>
        </p:spPr>
        <p:txBody>
          <a:bodyPr/>
          <a:lstStyle>
            <a:lvl1pPr>
              <a:defRPr>
                <a:solidFill>
                  <a:schemeClr val="tx1"/>
                </a:solidFill>
              </a:defRPr>
            </a:lvl1pPr>
          </a:lstStyle>
          <a:p>
            <a:fld id="{48A87A34-81AB-432B-8DAE-1953F412C126}" type="datetimeFigureOut">
              <a:rPr lang="en-US" smtClean="0"/>
              <a:pPr/>
              <a:t>10/15/2018</a:t>
            </a:fld>
            <a:endParaRPr lang="en-US" dirty="0"/>
          </a:p>
        </p:txBody>
      </p:sp>
      <p:sp>
        <p:nvSpPr>
          <p:cNvPr id="5" name="Footer Placeholder 4"/>
          <p:cNvSpPr>
            <a:spLocks noGrp="1"/>
          </p:cNvSpPr>
          <p:nvPr>
            <p:ph type="ftr" sz="quarter" idx="11"/>
          </p:nvPr>
        </p:nvSpPr>
        <p:spPr>
          <a:xfrm>
            <a:off x="1451579" y="329311"/>
            <a:ext cx="5938836" cy="309201"/>
          </a:xfrm>
          <a:prstGeom prst="rect">
            <a:avLst/>
          </a:prstGeom>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7" y="131281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4313" y="2908319"/>
            <a:ext cx="8643155" cy="1887950"/>
          </a:xfrm>
        </p:spPr>
        <p:txBody>
          <a:bodyPr anchor="b">
            <a:normAutofit/>
          </a:bodyPr>
          <a:lstStyle>
            <a:lvl1pPr algn="l">
              <a:defRPr sz="3600" cap="none" baseline="0"/>
            </a:lvl1pPr>
          </a:lstStyle>
          <a:p>
            <a:r>
              <a:rPr lang="en-US" dirty="0"/>
              <a:t>Click to edit Master title style</a:t>
            </a:r>
          </a:p>
        </p:txBody>
      </p:sp>
      <p:sp>
        <p:nvSpPr>
          <p:cNvPr id="3" name="Text Placeholder 2"/>
          <p:cNvSpPr>
            <a:spLocks noGrp="1"/>
          </p:cNvSpPr>
          <p:nvPr>
            <p:ph type="body" idx="1"/>
          </p:nvPr>
        </p:nvSpPr>
        <p:spPr>
          <a:xfrm>
            <a:off x="2067023" y="4985406"/>
            <a:ext cx="8630447" cy="1012929"/>
          </a:xfrm>
        </p:spPr>
        <p:txBody>
          <a:bodyPr tIns="91440">
            <a:normAutofit/>
          </a:bodyPr>
          <a:lstStyle>
            <a:lvl1pPr marL="0" indent="0" algn="l">
              <a:buNone/>
              <a:defRPr sz="1800">
                <a:solidFill>
                  <a:schemeClr val="tx1"/>
                </a:solidFill>
              </a:defRPr>
            </a:lvl1pPr>
            <a:lvl2pPr marL="457178" indent="0">
              <a:buNone/>
              <a:defRPr sz="18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5" name="Footer Placeholder 4"/>
          <p:cNvSpPr>
            <a:spLocks noGrp="1"/>
          </p:cNvSpPr>
          <p:nvPr>
            <p:ph type="ftr" sz="quarter" idx="11"/>
          </p:nvPr>
        </p:nvSpPr>
        <p:spPr>
          <a:xfrm>
            <a:off x="1451579" y="329311"/>
            <a:ext cx="5938836" cy="309201"/>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66949" y="4890835"/>
            <a:ext cx="8630447"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93"/>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9"/>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6" name="Footer Placeholder 5"/>
          <p:cNvSpPr>
            <a:spLocks noGrp="1"/>
          </p:cNvSpPr>
          <p:nvPr>
            <p:ph type="ftr" sz="quarter" idx="11"/>
          </p:nvPr>
        </p:nvSpPr>
        <p:spPr>
          <a:xfrm>
            <a:off x="1451579" y="329311"/>
            <a:ext cx="5938836" cy="309201"/>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7"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2" y="804167"/>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53"/>
            <a:ext cx="4645152" cy="801943"/>
          </a:xfrm>
        </p:spPr>
        <p:txBody>
          <a:bodyPr anchor="b">
            <a:normAutofit/>
          </a:bodyPr>
          <a:lstStyle>
            <a:lvl1pPr marL="0" indent="0">
              <a:lnSpc>
                <a:spcPct val="100000"/>
              </a:lnSpc>
              <a:buNone/>
              <a:defRPr sz="2200" b="0" cap="all" baseline="0">
                <a:solidFill>
                  <a:schemeClr val="accent1"/>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73"/>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3" y="2023007"/>
            <a:ext cx="4645152" cy="802237"/>
          </a:xfrm>
        </p:spPr>
        <p:txBody>
          <a:bodyPr anchor="b">
            <a:normAutofit/>
          </a:bodyPr>
          <a:lstStyle>
            <a:lvl1pPr marL="0" indent="0">
              <a:lnSpc>
                <a:spcPct val="100000"/>
              </a:lnSpc>
              <a:buNone/>
              <a:defRPr sz="2200" b="0" cap="all" baseline="0">
                <a:solidFill>
                  <a:schemeClr val="accent1"/>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Edit Master text styles</a:t>
            </a:r>
          </a:p>
        </p:txBody>
      </p:sp>
      <p:sp>
        <p:nvSpPr>
          <p:cNvPr id="6" name="Content Placeholder 5"/>
          <p:cNvSpPr>
            <a:spLocks noGrp="1"/>
          </p:cNvSpPr>
          <p:nvPr>
            <p:ph sz="quarter" idx="4"/>
          </p:nvPr>
        </p:nvSpPr>
        <p:spPr>
          <a:xfrm>
            <a:off x="6412363"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8" name="Footer Placeholder 7"/>
          <p:cNvSpPr>
            <a:spLocks noGrp="1"/>
          </p:cNvSpPr>
          <p:nvPr>
            <p:ph type="ftr" sz="quarter" idx="11"/>
          </p:nvPr>
        </p:nvSpPr>
        <p:spPr>
          <a:xfrm>
            <a:off x="1451579" y="329311"/>
            <a:ext cx="5938836" cy="309201"/>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7"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4" name="Footer Placeholder 3"/>
          <p:cNvSpPr>
            <a:spLocks noGrp="1"/>
          </p:cNvSpPr>
          <p:nvPr>
            <p:ph type="ftr" sz="quarter" idx="11"/>
          </p:nvPr>
        </p:nvSpPr>
        <p:spPr>
          <a:xfrm>
            <a:off x="1451579" y="329311"/>
            <a:ext cx="5938836" cy="309201"/>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7"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3" name="Footer Placeholder 2"/>
          <p:cNvSpPr>
            <a:spLocks noGrp="1"/>
          </p:cNvSpPr>
          <p:nvPr>
            <p:ph type="ftr" sz="quarter" idx="11"/>
          </p:nvPr>
        </p:nvSpPr>
        <p:spPr>
          <a:xfrm>
            <a:off x="1451579" y="329311"/>
            <a:ext cx="5938836" cy="309201"/>
          </a:xfrm>
          <a:prstGeom prst="rect">
            <a:avLst/>
          </a:prstGeom>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3"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5" y="798974"/>
            <a:ext cx="6012471"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2" y="3205495"/>
            <a:ext cx="3275013" cy="2248181"/>
          </a:xfrm>
        </p:spPr>
        <p:txBody>
          <a:bodyPr/>
          <a:lstStyle>
            <a:lvl1pPr marL="0" indent="0" algn="l">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Edit Master text styles</a:t>
            </a:r>
          </a:p>
        </p:txBody>
      </p:sp>
      <p:sp>
        <p:nvSpPr>
          <p:cNvPr id="5" name="Date Placeholder 4"/>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6" name="Footer Placeholder 5"/>
          <p:cNvSpPr>
            <a:spLocks noGrp="1"/>
          </p:cNvSpPr>
          <p:nvPr>
            <p:ph type="ftr" sz="quarter" idx="11"/>
          </p:nvPr>
        </p:nvSpPr>
        <p:spPr>
          <a:xfrm>
            <a:off x="1451579" y="329311"/>
            <a:ext cx="5938836" cy="309201"/>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1" y="3205491"/>
            <a:ext cx="326949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8" y="482174"/>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7"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6"/>
            <a:ext cx="2791171" cy="3866327"/>
          </a:xfrm>
          <a:solidFill>
            <a:schemeClr val="bg1">
              <a:lumMod val="85000"/>
            </a:schemeClr>
          </a:solidFill>
          <a:ln w="9525" cap="sq">
            <a:noFill/>
            <a:miter lim="800000"/>
          </a:ln>
          <a:effectLst/>
        </p:spPr>
        <p:txBody>
          <a:bodyPr anchor="t"/>
          <a:lstStyle>
            <a:lvl1pPr marL="0" indent="0" algn="ctr">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31" y="3145992"/>
            <a:ext cx="5524404" cy="2003742"/>
          </a:xfrm>
        </p:spPr>
        <p:txBody>
          <a:bodyPr>
            <a:normAutofit/>
          </a:bodyPr>
          <a:lstStyle>
            <a:lvl1pPr marL="0" indent="0" algn="l">
              <a:buNone/>
              <a:defRPr sz="18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Edit Master text styles</a:t>
            </a:r>
          </a:p>
        </p:txBody>
      </p:sp>
      <p:sp>
        <p:nvSpPr>
          <p:cNvPr id="5" name="Date Placeholder 4"/>
          <p:cNvSpPr>
            <a:spLocks noGrp="1"/>
          </p:cNvSpPr>
          <p:nvPr>
            <p:ph type="dt" sz="half" idx="10"/>
          </p:nvPr>
        </p:nvSpPr>
        <p:spPr>
          <a:xfrm>
            <a:off x="1447385" y="5469860"/>
            <a:ext cx="5527351" cy="320123"/>
          </a:xfrm>
          <a:prstGeom prst="rect">
            <a:avLst/>
          </a:prstGeom>
        </p:spPr>
        <p:txBody>
          <a:bodyPr/>
          <a:lstStyle>
            <a:lvl1pPr algn="l">
              <a:defRPr/>
            </a:lvl1pPr>
          </a:lstStyle>
          <a:p>
            <a:fld id="{48A87A34-81AB-432B-8DAE-1953F412C126}" type="datetimeFigureOut">
              <a:rPr lang="en-US" dirty="0"/>
              <a:pPr/>
              <a:t>10/15/2018</a:t>
            </a:fld>
            <a:endParaRPr lang="en-US" dirty="0"/>
          </a:p>
        </p:txBody>
      </p:sp>
      <p:sp>
        <p:nvSpPr>
          <p:cNvPr id="6" name="Footer Placeholder 5"/>
          <p:cNvSpPr>
            <a:spLocks noGrp="1"/>
          </p:cNvSpPr>
          <p:nvPr>
            <p:ph type="ftr" sz="quarter" idx="11"/>
          </p:nvPr>
        </p:nvSpPr>
        <p:spPr>
          <a:xfrm>
            <a:off x="1447383" y="318642"/>
            <a:ext cx="5541004" cy="320931"/>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5"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5" name="Footer Placeholder 4"/>
          <p:cNvSpPr>
            <a:spLocks noGrp="1"/>
          </p:cNvSpPr>
          <p:nvPr>
            <p:ph type="ftr" sz="quarter" idx="11"/>
          </p:nvPr>
        </p:nvSpPr>
        <p:spPr>
          <a:xfrm>
            <a:off x="1451579" y="329311"/>
            <a:ext cx="5938836" cy="309201"/>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7"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3" y="798977"/>
            <a:ext cx="1615743"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4" y="798977"/>
            <a:ext cx="7828831"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554140" y="330370"/>
            <a:ext cx="3500715" cy="309201"/>
          </a:xfrm>
          <a:prstGeom prst="rect">
            <a:avLst/>
          </a:prstGeom>
        </p:spPr>
        <p:txBody>
          <a:bodyPr/>
          <a:lstStyle/>
          <a:p>
            <a:fld id="{48A87A34-81AB-432B-8DAE-1953F412C126}" type="datetimeFigureOut">
              <a:rPr lang="en-US" dirty="0"/>
              <a:t>10/15/2018</a:t>
            </a:fld>
            <a:endParaRPr lang="en-US" dirty="0"/>
          </a:p>
        </p:txBody>
      </p:sp>
      <p:sp>
        <p:nvSpPr>
          <p:cNvPr id="5" name="Footer Placeholder 4"/>
          <p:cNvSpPr>
            <a:spLocks noGrp="1"/>
          </p:cNvSpPr>
          <p:nvPr>
            <p:ph type="ftr" sz="quarter" idx="11"/>
          </p:nvPr>
        </p:nvSpPr>
        <p:spPr>
          <a:xfrm>
            <a:off x="1451579" y="329311"/>
            <a:ext cx="5938836" cy="309201"/>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7"/>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81" y="526148"/>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81" y="1694894"/>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480061"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54" rtl="0" eaLnBrk="1" latinLnBrk="0" hangingPunct="1">
        <a:lnSpc>
          <a:spcPct val="90000"/>
        </a:lnSpc>
        <a:spcBef>
          <a:spcPct val="0"/>
        </a:spcBef>
        <a:buNone/>
        <a:defRPr sz="3600" b="0" i="0" kern="1200" cap="all">
          <a:solidFill>
            <a:schemeClr val="tx1"/>
          </a:solidFill>
          <a:effectLst/>
          <a:latin typeface="+mj-lt"/>
          <a:ea typeface="+mj-ea"/>
          <a:cs typeface="+mj-cs"/>
        </a:defRPr>
      </a:lvl1pPr>
    </p:titleStyle>
    <p:bodyStyle>
      <a:lvl1pPr marL="228589" indent="-228589" algn="l" defTabSz="914354" rtl="0" eaLnBrk="1" latinLnBrk="0" hangingPunct="1">
        <a:lnSpc>
          <a:spcPct val="120000"/>
        </a:lnSpc>
        <a:spcBef>
          <a:spcPts val="10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1pPr>
      <a:lvl2pPr marL="685766"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2000" kern="1200" cap="none" baseline="0">
          <a:solidFill>
            <a:schemeClr val="tx1"/>
          </a:solidFill>
          <a:effectLst/>
          <a:latin typeface="+mn-lt"/>
          <a:ea typeface="+mn-ea"/>
          <a:cs typeface="+mn-cs"/>
        </a:defRPr>
      </a:lvl2pPr>
      <a:lvl3pPr marL="1142942"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3pPr>
      <a:lvl4pPr marL="1600120"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4pPr>
      <a:lvl5pPr marL="2057298"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400" kern="1200">
          <a:solidFill>
            <a:schemeClr val="tx1"/>
          </a:solidFill>
          <a:effectLst/>
          <a:latin typeface="+mn-lt"/>
          <a:ea typeface="+mn-ea"/>
          <a:cs typeface="+mn-cs"/>
        </a:defRPr>
      </a:lvl5pPr>
      <a:lvl6pPr marL="2514474"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652"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8829"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006"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2.wdp"/><Relationship Id="rId4" Type="http://schemas.openxmlformats.org/officeDocument/2006/relationships/image" Target="../media/image8.png"/><Relationship Id="rId9" Type="http://schemas.openxmlformats.org/officeDocument/2006/relationships/image" Target="../media/image97.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2.wdp"/><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microsoft.com/office/2007/relationships/hdphoto" Target="../media/hdphoto2.wdp"/><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2.wdp"/><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image" Target="../media/image17.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160.png"/><Relationship Id="rId5" Type="http://schemas.openxmlformats.org/officeDocument/2006/relationships/image" Target="../media/image8.png"/><Relationship Id="rId10" Type="http://schemas.openxmlformats.org/officeDocument/2006/relationships/image" Target="../media/image150.png"/><Relationship Id="rId4" Type="http://schemas.microsoft.com/office/2007/relationships/hdphoto" Target="../media/hdphoto1.wdp"/><Relationship Id="rId9" Type="http://schemas.openxmlformats.org/officeDocument/2006/relationships/image" Target="../media/image140.png"/></Relationships>
</file>

<file path=ppt/slides/_rels/slide13.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180.png"/><Relationship Id="rId2" Type="http://schemas.openxmlformats.org/officeDocument/2006/relationships/image" Target="../media/image18.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160.png"/><Relationship Id="rId5" Type="http://schemas.openxmlformats.org/officeDocument/2006/relationships/image" Target="../media/image8.png"/><Relationship Id="rId10" Type="http://schemas.openxmlformats.org/officeDocument/2006/relationships/image" Target="../media/image150.png"/><Relationship Id="rId4" Type="http://schemas.microsoft.com/office/2007/relationships/hdphoto" Target="../media/hdphoto1.wdp"/><Relationship Id="rId9" Type="http://schemas.openxmlformats.org/officeDocument/2006/relationships/image" Target="../media/image140.png"/></Relationships>
</file>

<file path=ppt/slides/_rels/slide14.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23.png"/><Relationship Id="rId5" Type="http://schemas.openxmlformats.org/officeDocument/2006/relationships/image" Target="../media/image8.png"/><Relationship Id="rId10" Type="http://schemas.openxmlformats.org/officeDocument/2006/relationships/image" Target="../media/image22.png"/><Relationship Id="rId4" Type="http://schemas.microsoft.com/office/2007/relationships/hdphoto" Target="../media/hdphoto1.wdp"/><Relationship Id="rId9" Type="http://schemas.openxmlformats.org/officeDocument/2006/relationships/image" Target="../media/image21.png"/><Relationship Id="rId1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20.png"/><Relationship Id="rId16" Type="http://schemas.openxmlformats.org/officeDocument/2006/relationships/image" Target="../media/image34.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29.png"/><Relationship Id="rId5" Type="http://schemas.openxmlformats.org/officeDocument/2006/relationships/image" Target="../media/image8.png"/><Relationship Id="rId15" Type="http://schemas.openxmlformats.org/officeDocument/2006/relationships/image" Target="../media/image33.png"/><Relationship Id="rId10" Type="http://schemas.openxmlformats.org/officeDocument/2006/relationships/image" Target="../media/image28.png"/><Relationship Id="rId4" Type="http://schemas.microsoft.com/office/2007/relationships/hdphoto" Target="../media/hdphoto1.wdp"/><Relationship Id="rId9" Type="http://schemas.openxmlformats.org/officeDocument/2006/relationships/image" Target="../media/image27.png"/><Relationship Id="rId14" Type="http://schemas.openxmlformats.org/officeDocument/2006/relationships/image" Target="../media/image32.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4.png"/><Relationship Id="rId7"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45.png"/><Relationship Id="rId10" Type="http://schemas.openxmlformats.org/officeDocument/2006/relationships/image" Target="../media/image47.png"/><Relationship Id="rId4" Type="http://schemas.openxmlformats.org/officeDocument/2006/relationships/image" Target="../media/image37.png"/><Relationship Id="rId9" Type="http://schemas.openxmlformats.org/officeDocument/2006/relationships/image" Target="../media/image46.png"/></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8.png"/><Relationship Id="rId7" Type="http://schemas.openxmlformats.org/officeDocument/2006/relationships/image" Target="../media/image39.png"/><Relationship Id="rId12"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50.png"/><Relationship Id="rId5" Type="http://schemas.openxmlformats.org/officeDocument/2006/relationships/image" Target="../media/image41.png"/><Relationship Id="rId10" Type="http://schemas.openxmlformats.org/officeDocument/2006/relationships/image" Target="../media/image47.png"/><Relationship Id="rId4" Type="http://schemas.openxmlformats.org/officeDocument/2006/relationships/image" Target="../media/image37.png"/><Relationship Id="rId9"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450.png"/><Relationship Id="rId18" Type="http://schemas.openxmlformats.org/officeDocument/2006/relationships/image" Target="../media/image53.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440.png"/><Relationship Id="rId17" Type="http://schemas.openxmlformats.org/officeDocument/2006/relationships/image" Target="../media/image490.png"/><Relationship Id="rId2" Type="http://schemas.openxmlformats.org/officeDocument/2006/relationships/image" Target="../media/image52.png"/><Relationship Id="rId16" Type="http://schemas.openxmlformats.org/officeDocument/2006/relationships/image" Target="../media/image480.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430.png"/><Relationship Id="rId5" Type="http://schemas.openxmlformats.org/officeDocument/2006/relationships/image" Target="../media/image8.png"/><Relationship Id="rId15" Type="http://schemas.openxmlformats.org/officeDocument/2006/relationships/image" Target="../media/image470.png"/><Relationship Id="rId10" Type="http://schemas.openxmlformats.org/officeDocument/2006/relationships/image" Target="../media/image420.png"/><Relationship Id="rId4" Type="http://schemas.microsoft.com/office/2007/relationships/hdphoto" Target="../media/hdphoto1.wdp"/><Relationship Id="rId9" Type="http://schemas.openxmlformats.org/officeDocument/2006/relationships/image" Target="../media/image410.png"/><Relationship Id="rId14" Type="http://schemas.openxmlformats.org/officeDocument/2006/relationships/image" Target="../media/image460.png"/></Relationships>
</file>

<file path=ppt/slides/_rels/slide2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2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22.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450.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440.png"/><Relationship Id="rId17" Type="http://schemas.openxmlformats.org/officeDocument/2006/relationships/image" Target="../media/image560.png"/><Relationship Id="rId2" Type="http://schemas.openxmlformats.org/officeDocument/2006/relationships/image" Target="../media/image64.png"/><Relationship Id="rId16" Type="http://schemas.openxmlformats.org/officeDocument/2006/relationships/image" Target="../media/image550.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430.png"/><Relationship Id="rId5" Type="http://schemas.openxmlformats.org/officeDocument/2006/relationships/image" Target="../media/image8.png"/><Relationship Id="rId15" Type="http://schemas.openxmlformats.org/officeDocument/2006/relationships/image" Target="../media/image540.png"/><Relationship Id="rId10" Type="http://schemas.openxmlformats.org/officeDocument/2006/relationships/image" Target="../media/image420.png"/><Relationship Id="rId4" Type="http://schemas.microsoft.com/office/2007/relationships/hdphoto" Target="../media/hdphoto1.wdp"/><Relationship Id="rId9" Type="http://schemas.openxmlformats.org/officeDocument/2006/relationships/image" Target="../media/image410.png"/><Relationship Id="rId14" Type="http://schemas.openxmlformats.org/officeDocument/2006/relationships/image" Target="../media/image4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850.png"/><Relationship Id="rId4" Type="http://schemas.openxmlformats.org/officeDocument/2006/relationships/image" Target="../media/image71.jpeg"/></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451.png"/><Relationship Id="rId13" Type="http://schemas.openxmlformats.org/officeDocument/2006/relationships/image" Target="../media/image500.png"/><Relationship Id="rId3" Type="http://schemas.openxmlformats.org/officeDocument/2006/relationships/image" Target="../media/image400.png"/><Relationship Id="rId7" Type="http://schemas.openxmlformats.org/officeDocument/2006/relationships/image" Target="../media/image441.png"/><Relationship Id="rId12" Type="http://schemas.openxmlformats.org/officeDocument/2006/relationships/image" Target="../media/image491.png"/><Relationship Id="rId17" Type="http://schemas.openxmlformats.org/officeDocument/2006/relationships/image" Target="../media/image541.png"/><Relationship Id="rId2" Type="http://schemas.openxmlformats.org/officeDocument/2006/relationships/image" Target="../media/image391.png"/><Relationship Id="rId16" Type="http://schemas.openxmlformats.org/officeDocument/2006/relationships/image" Target="../media/image530.png"/><Relationship Id="rId1" Type="http://schemas.openxmlformats.org/officeDocument/2006/relationships/slideLayout" Target="../slideLayouts/slideLayout2.xml"/><Relationship Id="rId6" Type="http://schemas.openxmlformats.org/officeDocument/2006/relationships/image" Target="../media/image431.png"/><Relationship Id="rId11" Type="http://schemas.openxmlformats.org/officeDocument/2006/relationships/image" Target="../media/image481.png"/><Relationship Id="rId5" Type="http://schemas.openxmlformats.org/officeDocument/2006/relationships/image" Target="../media/image421.png"/><Relationship Id="rId15" Type="http://schemas.openxmlformats.org/officeDocument/2006/relationships/image" Target="../media/image520.png"/><Relationship Id="rId10" Type="http://schemas.openxmlformats.org/officeDocument/2006/relationships/image" Target="../media/image471.png"/><Relationship Id="rId4" Type="http://schemas.openxmlformats.org/officeDocument/2006/relationships/image" Target="../media/image411.png"/><Relationship Id="rId9" Type="http://schemas.openxmlformats.org/officeDocument/2006/relationships/image" Target="../media/image461.png"/><Relationship Id="rId14" Type="http://schemas.openxmlformats.org/officeDocument/2006/relationships/image" Target="../media/image510.png"/></Relationships>
</file>

<file path=ppt/slides/_rels/slide36.xml.rels><?xml version="1.0" encoding="UTF-8" standalone="yes"?>
<Relationships xmlns="http://schemas.openxmlformats.org/package/2006/relationships"><Relationship Id="rId8" Type="http://schemas.openxmlformats.org/officeDocument/2006/relationships/image" Target="../media/image561.png"/><Relationship Id="rId13" Type="http://schemas.openxmlformats.org/officeDocument/2006/relationships/image" Target="../media/image590.png"/><Relationship Id="rId18" Type="http://schemas.openxmlformats.org/officeDocument/2006/relationships/image" Target="../media/image551.png"/><Relationship Id="rId3" Type="http://schemas.openxmlformats.org/officeDocument/2006/relationships/image" Target="../media/image451.png"/><Relationship Id="rId12" Type="http://schemas.openxmlformats.org/officeDocument/2006/relationships/image" Target="../media/image580.png"/><Relationship Id="rId17" Type="http://schemas.openxmlformats.org/officeDocument/2006/relationships/image" Target="../media/image630.png"/><Relationship Id="rId2" Type="http://schemas.openxmlformats.org/officeDocument/2006/relationships/image" Target="../media/image441.png"/><Relationship Id="rId16" Type="http://schemas.openxmlformats.org/officeDocument/2006/relationships/image" Target="../media/image620.png"/><Relationship Id="rId1" Type="http://schemas.openxmlformats.org/officeDocument/2006/relationships/slideLayout" Target="../slideLayouts/slideLayout2.xml"/><Relationship Id="rId6" Type="http://schemas.openxmlformats.org/officeDocument/2006/relationships/image" Target="../media/image481.png"/><Relationship Id="rId11" Type="http://schemas.openxmlformats.org/officeDocument/2006/relationships/image" Target="../media/image570.png"/><Relationship Id="rId5" Type="http://schemas.openxmlformats.org/officeDocument/2006/relationships/image" Target="../media/image471.png"/><Relationship Id="rId15" Type="http://schemas.openxmlformats.org/officeDocument/2006/relationships/image" Target="../media/image610.png"/><Relationship Id="rId10" Type="http://schemas.openxmlformats.org/officeDocument/2006/relationships/image" Target="../media/image520.png"/><Relationship Id="rId4" Type="http://schemas.openxmlformats.org/officeDocument/2006/relationships/image" Target="../media/image461.png"/><Relationship Id="rId9" Type="http://schemas.openxmlformats.org/officeDocument/2006/relationships/image" Target="../media/image510.png"/><Relationship Id="rId14" Type="http://schemas.openxmlformats.org/officeDocument/2006/relationships/image" Target="../media/image600.png"/></Relationships>
</file>

<file path=ppt/slides/_rels/slide37.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31.png"/><Relationship Id="rId18" Type="http://schemas.openxmlformats.org/officeDocument/2006/relationships/image" Target="../media/image71.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30.png"/><Relationship Id="rId17" Type="http://schemas.openxmlformats.org/officeDocument/2006/relationships/image" Target="../media/image700.png"/><Relationship Id="rId2" Type="http://schemas.openxmlformats.org/officeDocument/2006/relationships/image" Target="../media/image640.png"/><Relationship Id="rId16" Type="http://schemas.openxmlformats.org/officeDocument/2006/relationships/image" Target="../media/image690.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670.png"/><Relationship Id="rId5" Type="http://schemas.openxmlformats.org/officeDocument/2006/relationships/image" Target="../media/image8.png"/><Relationship Id="rId15" Type="http://schemas.openxmlformats.org/officeDocument/2006/relationships/image" Target="../media/image680.png"/><Relationship Id="rId10" Type="http://schemas.openxmlformats.org/officeDocument/2006/relationships/image" Target="../media/image660.png"/><Relationship Id="rId4" Type="http://schemas.microsoft.com/office/2007/relationships/hdphoto" Target="../media/hdphoto1.wdp"/><Relationship Id="rId9" Type="http://schemas.openxmlformats.org/officeDocument/2006/relationships/image" Target="../media/image650.png"/><Relationship Id="rId14" Type="http://schemas.openxmlformats.org/officeDocument/2006/relationships/image" Target="../media/image32.png"/></Relationships>
</file>

<file path=ppt/slides/_rels/slide38.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31.png"/><Relationship Id="rId18" Type="http://schemas.openxmlformats.org/officeDocument/2006/relationships/image" Target="../media/image71.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30.png"/><Relationship Id="rId2" Type="http://schemas.openxmlformats.org/officeDocument/2006/relationships/image" Target="../media/image720.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670.png"/><Relationship Id="rId5" Type="http://schemas.openxmlformats.org/officeDocument/2006/relationships/image" Target="../media/image8.png"/><Relationship Id="rId10" Type="http://schemas.openxmlformats.org/officeDocument/2006/relationships/image" Target="../media/image660.png"/><Relationship Id="rId4" Type="http://schemas.microsoft.com/office/2007/relationships/hdphoto" Target="../media/hdphoto1.wdp"/><Relationship Id="rId9" Type="http://schemas.openxmlformats.org/officeDocument/2006/relationships/image" Target="../media/image650.png"/><Relationship Id="rId14" Type="http://schemas.openxmlformats.org/officeDocument/2006/relationships/image" Target="../media/image32.png"/></Relationships>
</file>

<file path=ppt/slides/_rels/slide3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extLst/>
          </p:nvPr>
        </p:nvSpPr>
        <p:spPr>
          <a:xfrm>
            <a:off x="1161055" y="1563228"/>
            <a:ext cx="10539797" cy="1865772"/>
          </a:xfrm>
        </p:spPr>
        <p:txBody>
          <a:bodyPr>
            <a:normAutofit/>
          </a:bodyPr>
          <a:lstStyle/>
          <a:p>
            <a:pPr algn="ctr"/>
            <a:r>
              <a:rPr lang="en-US" sz="4000" b="1" cap="none" dirty="0"/>
              <a:t>ABY</a:t>
            </a:r>
            <a:r>
              <a:rPr lang="en-US" sz="4000" b="1" cap="none" baseline="30000" dirty="0"/>
              <a:t>3</a:t>
            </a:r>
            <a:r>
              <a:rPr lang="en-US" sz="4000" cap="none" dirty="0"/>
              <a:t>: </a:t>
            </a:r>
            <a:r>
              <a:rPr lang="en-US" sz="4000" dirty="0"/>
              <a:t>A Mixed Protocol Framework for Machine Learning</a:t>
            </a:r>
            <a:endParaRPr lang="en-US" sz="4000" cap="none" dirty="0"/>
          </a:p>
        </p:txBody>
      </p:sp>
      <p:sp>
        <p:nvSpPr>
          <p:cNvPr id="5" name="TextBox 4"/>
          <p:cNvSpPr txBox="1"/>
          <p:nvPr>
            <p:extLst/>
          </p:nvPr>
        </p:nvSpPr>
        <p:spPr>
          <a:xfrm>
            <a:off x="6246634" y="5455184"/>
            <a:ext cx="3067051" cy="769441"/>
          </a:xfrm>
          <a:prstGeom prst="rect">
            <a:avLst/>
          </a:prstGeom>
          <a:noFill/>
        </p:spPr>
        <p:txBody>
          <a:bodyPr wrap="square" rtlCol="0" anchor="t">
            <a:spAutoFit/>
          </a:bodyPr>
          <a:lstStyle/>
          <a:p>
            <a:pPr algn="r"/>
            <a:r>
              <a:rPr lang="en-US" sz="2400" b="1" dirty="0"/>
              <a:t>Peter Rindal</a:t>
            </a:r>
          </a:p>
          <a:p>
            <a:pPr algn="r"/>
            <a:r>
              <a:rPr lang="en-US" sz="2000" dirty="0"/>
              <a:t>Payman Mohassel</a:t>
            </a:r>
            <a:endParaRPr dirty="0" err="1"/>
          </a:p>
        </p:txBody>
      </p:sp>
      <p:pic>
        <p:nvPicPr>
          <p:cNvPr id="1026" name="Picture 2" descr="http://mahdiz.com/images/visaresearch.png">
            <a:extLst>
              <a:ext uri="{FF2B5EF4-FFF2-40B4-BE49-F238E27FC236}">
                <a16:creationId xmlns:a16="http://schemas.microsoft.com/office/drawing/2014/main" id="{11CE050F-7436-41D6-8178-59AEBD2C729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a:stretch>
            <a:fillRect/>
          </a:stretch>
        </p:blipFill>
        <p:spPr bwMode="auto">
          <a:xfrm>
            <a:off x="9992411" y="5399651"/>
            <a:ext cx="1549826" cy="88050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439FE0C1-32B8-4FEE-B4D1-E7B7A0C7052B}"/>
              </a:ext>
            </a:extLst>
          </p:cNvPr>
          <p:cNvCxnSpPr>
            <a:cxnSpLocks/>
          </p:cNvCxnSpPr>
          <p:nvPr/>
        </p:nvCxnSpPr>
        <p:spPr>
          <a:xfrm>
            <a:off x="9662475" y="5194168"/>
            <a:ext cx="0" cy="140459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272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834F-24ED-4EE5-9516-B0A42F93A3DB}"/>
              </a:ext>
            </a:extLst>
          </p:cNvPr>
          <p:cNvSpPr>
            <a:spLocks noGrp="1"/>
          </p:cNvSpPr>
          <p:nvPr>
            <p:ph type="title"/>
          </p:nvPr>
        </p:nvSpPr>
        <p:spPr/>
        <p:txBody>
          <a:bodyPr/>
          <a:lstStyle/>
          <a:p>
            <a:r>
              <a:rPr lang="en-US" dirty="0"/>
              <a:t>Machine Learning and Privacy</a:t>
            </a:r>
          </a:p>
        </p:txBody>
      </p:sp>
      <p:sp>
        <p:nvSpPr>
          <p:cNvPr id="3" name="Content Placeholder 2">
            <a:extLst>
              <a:ext uri="{FF2B5EF4-FFF2-40B4-BE49-F238E27FC236}">
                <a16:creationId xmlns:a16="http://schemas.microsoft.com/office/drawing/2014/main" id="{9E5F5E25-C6DA-47F5-AF63-88411D6AB0E5}"/>
              </a:ext>
            </a:extLst>
          </p:cNvPr>
          <p:cNvSpPr>
            <a:spLocks noGrp="1"/>
          </p:cNvSpPr>
          <p:nvPr>
            <p:ph idx="1"/>
          </p:nvPr>
        </p:nvSpPr>
        <p:spPr>
          <a:xfrm>
            <a:off x="1451581" y="1694890"/>
            <a:ext cx="9603275" cy="2726281"/>
          </a:xfrm>
        </p:spPr>
        <p:txBody>
          <a:bodyPr>
            <a:normAutofit fontScale="70000" lnSpcReduction="20000"/>
          </a:bodyPr>
          <a:lstStyle/>
          <a:p>
            <a:r>
              <a:rPr lang="en-US" b="1" dirty="0"/>
              <a:t>Cognitive tasks:</a:t>
            </a:r>
            <a:r>
              <a:rPr lang="en-US" dirty="0"/>
              <a:t>   voice, facial recognition</a:t>
            </a:r>
          </a:p>
          <a:p>
            <a:r>
              <a:rPr lang="en-US" b="1" dirty="0"/>
              <a:t>Medical:</a:t>
            </a:r>
            <a:r>
              <a:rPr lang="en-US" dirty="0"/>
              <a:t>   genetic testing, disease prediction</a:t>
            </a:r>
          </a:p>
          <a:p>
            <a:r>
              <a:rPr lang="en-US" b="1" dirty="0"/>
              <a:t>Financial:</a:t>
            </a:r>
            <a:r>
              <a:rPr lang="en-US" dirty="0"/>
              <a:t>   fraud detection, credit rating</a:t>
            </a:r>
          </a:p>
          <a:p>
            <a:r>
              <a:rPr lang="en-US" dirty="0"/>
              <a:t>Inference: </a:t>
            </a:r>
          </a:p>
          <a:p>
            <a:pPr lvl="1"/>
            <a:r>
              <a:rPr lang="en-US" dirty="0"/>
              <a:t>User does not want to share their data</a:t>
            </a:r>
          </a:p>
          <a:p>
            <a:pPr lvl="1"/>
            <a:r>
              <a:rPr lang="en-US" dirty="0"/>
              <a:t>Model owner does not want to share model</a:t>
            </a:r>
          </a:p>
          <a:p>
            <a:r>
              <a:rPr lang="en-US" dirty="0"/>
              <a:t>Training: </a:t>
            </a:r>
          </a:p>
          <a:p>
            <a:pPr lvl="1"/>
            <a:r>
              <a:rPr lang="en-US" dirty="0"/>
              <a:t>Requires large data sets, often from different sources</a:t>
            </a:r>
          </a:p>
        </p:txBody>
      </p:sp>
      <p:pic>
        <p:nvPicPr>
          <p:cNvPr id="1026" name="Picture 2" descr="Image result for facial recognition">
            <a:extLst>
              <a:ext uri="{FF2B5EF4-FFF2-40B4-BE49-F238E27FC236}">
                <a16:creationId xmlns:a16="http://schemas.microsoft.com/office/drawing/2014/main" id="{8D2BC3B5-AC4F-4E0E-BEAC-196E02CE8C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51" r="21179" b="20923"/>
          <a:stretch/>
        </p:blipFill>
        <p:spPr bwMode="auto">
          <a:xfrm>
            <a:off x="556181" y="4511227"/>
            <a:ext cx="2516956" cy="22289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genetic testing">
            <a:extLst>
              <a:ext uri="{FF2B5EF4-FFF2-40B4-BE49-F238E27FC236}">
                <a16:creationId xmlns:a16="http://schemas.microsoft.com/office/drawing/2014/main" id="{340C8205-3462-42F9-866E-75BB67D92B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8495" y="4511228"/>
            <a:ext cx="4117717" cy="22289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fraud detection">
            <a:extLst>
              <a:ext uri="{FF2B5EF4-FFF2-40B4-BE49-F238E27FC236}">
                <a16:creationId xmlns:a16="http://schemas.microsoft.com/office/drawing/2014/main" id="{B8F3A3F5-2B80-4C92-8659-555CBD21B6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1281" y="4511227"/>
            <a:ext cx="3962556" cy="2228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97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76412-123A-48DB-A4A9-6DFCD6EA86D5}"/>
              </a:ext>
            </a:extLst>
          </p:cNvPr>
          <p:cNvSpPr>
            <a:spLocks noGrp="1"/>
          </p:cNvSpPr>
          <p:nvPr>
            <p:ph type="title"/>
          </p:nvPr>
        </p:nvSpPr>
        <p:spPr/>
        <p:txBody>
          <a:bodyPr/>
          <a:lstStyle/>
          <a:p>
            <a:r>
              <a:rPr lang="en-US" dirty="0"/>
              <a:t>Training A better Model</a:t>
            </a:r>
          </a:p>
        </p:txBody>
      </p:sp>
      <p:sp>
        <p:nvSpPr>
          <p:cNvPr id="9" name="AutoShape 2" descr="Image result for lock">
            <a:extLst>
              <a:ext uri="{FF2B5EF4-FFF2-40B4-BE49-F238E27FC236}">
                <a16:creationId xmlns:a16="http://schemas.microsoft.com/office/drawing/2014/main" id="{2ECECA58-0040-407A-A6C8-D71611C4528C}"/>
              </a:ext>
            </a:extLst>
          </p:cNvPr>
          <p:cNvSpPr>
            <a:spLocks noChangeAspect="1" noChangeArrowheads="1"/>
          </p:cNvSpPr>
          <p:nvPr/>
        </p:nvSpPr>
        <p:spPr bwMode="auto">
          <a:xfrm>
            <a:off x="4376738" y="1709738"/>
            <a:ext cx="3438525" cy="3438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6" name="Rectangle: Rounded Corners 2055">
            <a:extLst>
              <a:ext uri="{FF2B5EF4-FFF2-40B4-BE49-F238E27FC236}">
                <a16:creationId xmlns:a16="http://schemas.microsoft.com/office/drawing/2014/main" id="{6FA8C9AF-178A-4869-AE19-8FC5ABF380C9}"/>
              </a:ext>
            </a:extLst>
          </p:cNvPr>
          <p:cNvSpPr/>
          <p:nvPr/>
        </p:nvSpPr>
        <p:spPr>
          <a:xfrm>
            <a:off x="6811813" y="5381346"/>
            <a:ext cx="1588678" cy="45926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ML Algorithm</a:t>
            </a:r>
          </a:p>
        </p:txBody>
      </p:sp>
      <p:graphicFrame>
        <p:nvGraphicFramePr>
          <p:cNvPr id="60" name="Table 8">
            <a:extLst>
              <a:ext uri="{FF2B5EF4-FFF2-40B4-BE49-F238E27FC236}">
                <a16:creationId xmlns:a16="http://schemas.microsoft.com/office/drawing/2014/main" id="{C2692EF6-5CEC-4B86-9508-433EE9914827}"/>
              </a:ext>
            </a:extLst>
          </p:cNvPr>
          <p:cNvGraphicFramePr>
            <a:graphicFrameLocks noGrp="1"/>
          </p:cNvGraphicFramePr>
          <p:nvPr>
            <p:extLst>
              <p:ext uri="{D42A27DB-BD31-4B8C-83A1-F6EECF244321}">
                <p14:modId xmlns:p14="http://schemas.microsoft.com/office/powerpoint/2010/main" val="3373816379"/>
              </p:ext>
            </p:extLst>
          </p:nvPr>
        </p:nvGraphicFramePr>
        <p:xfrm>
          <a:off x="4138238" y="2063989"/>
          <a:ext cx="1448172" cy="937233"/>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290392103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3618240"/>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778821800"/>
                  </a:ext>
                </a:extLst>
              </a:tr>
              <a:tr h="119353">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extLst>
                  <a:ext uri="{0D108BD9-81ED-4DB2-BD59-A6C34878D82A}">
                    <a16:rowId xmlns:a16="http://schemas.microsoft.com/office/drawing/2014/main" val="4264715888"/>
                  </a:ext>
                </a:extLst>
              </a:tr>
            </a:tbl>
          </a:graphicData>
        </a:graphic>
      </p:graphicFrame>
      <p:graphicFrame>
        <p:nvGraphicFramePr>
          <p:cNvPr id="62" name="Table 8">
            <a:extLst>
              <a:ext uri="{FF2B5EF4-FFF2-40B4-BE49-F238E27FC236}">
                <a16:creationId xmlns:a16="http://schemas.microsoft.com/office/drawing/2014/main" id="{AF376419-42AB-4CC7-B241-F4412B8B4DCB}"/>
              </a:ext>
            </a:extLst>
          </p:cNvPr>
          <p:cNvGraphicFramePr>
            <a:graphicFrameLocks noGrp="1"/>
          </p:cNvGraphicFramePr>
          <p:nvPr>
            <p:extLst>
              <p:ext uri="{D42A27DB-BD31-4B8C-83A1-F6EECF244321}">
                <p14:modId xmlns:p14="http://schemas.microsoft.com/office/powerpoint/2010/main" val="3283660403"/>
              </p:ext>
            </p:extLst>
          </p:nvPr>
        </p:nvGraphicFramePr>
        <p:xfrm>
          <a:off x="6848477" y="2059512"/>
          <a:ext cx="1448172" cy="937233"/>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290392103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3618240"/>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778821800"/>
                  </a:ext>
                </a:extLst>
              </a:tr>
              <a:tr h="119353">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extLst>
                  <a:ext uri="{0D108BD9-81ED-4DB2-BD59-A6C34878D82A}">
                    <a16:rowId xmlns:a16="http://schemas.microsoft.com/office/drawing/2014/main" val="4264715888"/>
                  </a:ext>
                </a:extLst>
              </a:tr>
            </a:tbl>
          </a:graphicData>
        </a:graphic>
      </p:graphicFrame>
      <p:graphicFrame>
        <p:nvGraphicFramePr>
          <p:cNvPr id="64" name="Table 8">
            <a:extLst>
              <a:ext uri="{FF2B5EF4-FFF2-40B4-BE49-F238E27FC236}">
                <a16:creationId xmlns:a16="http://schemas.microsoft.com/office/drawing/2014/main" id="{DDFEE39C-999C-4F85-B8B5-652423653225}"/>
              </a:ext>
            </a:extLst>
          </p:cNvPr>
          <p:cNvGraphicFramePr>
            <a:graphicFrameLocks noGrp="1"/>
          </p:cNvGraphicFramePr>
          <p:nvPr>
            <p:extLst>
              <p:ext uri="{D42A27DB-BD31-4B8C-83A1-F6EECF244321}">
                <p14:modId xmlns:p14="http://schemas.microsoft.com/office/powerpoint/2010/main" val="1393176694"/>
              </p:ext>
            </p:extLst>
          </p:nvPr>
        </p:nvGraphicFramePr>
        <p:xfrm>
          <a:off x="9568143" y="2074178"/>
          <a:ext cx="1448172" cy="937233"/>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290392103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3618240"/>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778821800"/>
                  </a:ext>
                </a:extLst>
              </a:tr>
              <a:tr h="119353">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extLst>
                  <a:ext uri="{0D108BD9-81ED-4DB2-BD59-A6C34878D82A}">
                    <a16:rowId xmlns:a16="http://schemas.microsoft.com/office/drawing/2014/main" val="4264715888"/>
                  </a:ext>
                </a:extLst>
              </a:tr>
            </a:tbl>
          </a:graphicData>
        </a:graphic>
      </p:graphicFrame>
      <p:sp>
        <p:nvSpPr>
          <p:cNvPr id="65" name="Rectangle 64">
            <a:extLst>
              <a:ext uri="{FF2B5EF4-FFF2-40B4-BE49-F238E27FC236}">
                <a16:creationId xmlns:a16="http://schemas.microsoft.com/office/drawing/2014/main" id="{8BFA5587-21F9-4864-9324-50D7C18BF866}"/>
              </a:ext>
            </a:extLst>
          </p:cNvPr>
          <p:cNvSpPr/>
          <p:nvPr/>
        </p:nvSpPr>
        <p:spPr>
          <a:xfrm>
            <a:off x="10546270" y="2059512"/>
            <a:ext cx="459102" cy="948372"/>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a:extLst>
              <a:ext uri="{FF2B5EF4-FFF2-40B4-BE49-F238E27FC236}">
                <a16:creationId xmlns:a16="http://schemas.microsoft.com/office/drawing/2014/main" id="{C7EDC8C3-D3FB-468C-8EDF-95633AB4225A}"/>
              </a:ext>
            </a:extLst>
          </p:cNvPr>
          <p:cNvSpPr/>
          <p:nvPr/>
        </p:nvSpPr>
        <p:spPr>
          <a:xfrm flipH="1">
            <a:off x="8448320" y="3186220"/>
            <a:ext cx="1804865" cy="1303587"/>
          </a:xfrm>
          <a:custGeom>
            <a:avLst/>
            <a:gdLst>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Lst>
            <a:ahLst/>
            <a:cxnLst>
              <a:cxn ang="0">
                <a:pos x="connsiteX0" y="connsiteY0"/>
              </a:cxn>
              <a:cxn ang="0">
                <a:pos x="connsiteX1" y="connsiteY1"/>
              </a:cxn>
            </a:cxnLst>
            <a:rect l="l" t="t" r="r" b="b"/>
            <a:pathLst>
              <a:path w="2469823" h="1272619">
                <a:moveTo>
                  <a:pt x="0" y="0"/>
                </a:moveTo>
                <a:cubicBezTo>
                  <a:pt x="576606" y="933253"/>
                  <a:pt x="1794236" y="1271048"/>
                  <a:pt x="2469823" y="1272619"/>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3" name="Table 8">
            <a:extLst>
              <a:ext uri="{FF2B5EF4-FFF2-40B4-BE49-F238E27FC236}">
                <a16:creationId xmlns:a16="http://schemas.microsoft.com/office/drawing/2014/main" id="{D61EDE95-C89C-424C-A20B-07F1C5E88B05}"/>
              </a:ext>
            </a:extLst>
          </p:cNvPr>
          <p:cNvGraphicFramePr>
            <a:graphicFrameLocks noGrp="1"/>
          </p:cNvGraphicFramePr>
          <p:nvPr>
            <p:extLst>
              <p:ext uri="{D42A27DB-BD31-4B8C-83A1-F6EECF244321}">
                <p14:modId xmlns:p14="http://schemas.microsoft.com/office/powerpoint/2010/main" val="3640084947"/>
              </p:ext>
            </p:extLst>
          </p:nvPr>
        </p:nvGraphicFramePr>
        <p:xfrm>
          <a:off x="6859393" y="4072705"/>
          <a:ext cx="1448172" cy="937233"/>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290392103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3618240"/>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778821800"/>
                  </a:ext>
                </a:extLst>
              </a:tr>
              <a:tr h="119353">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extLst>
                  <a:ext uri="{0D108BD9-81ED-4DB2-BD59-A6C34878D82A}">
                    <a16:rowId xmlns:a16="http://schemas.microsoft.com/office/drawing/2014/main" val="4264715888"/>
                  </a:ext>
                </a:extLst>
              </a:tr>
            </a:tbl>
          </a:graphicData>
        </a:graphic>
      </p:graphicFrame>
      <p:sp>
        <p:nvSpPr>
          <p:cNvPr id="74" name="Rectangle 73">
            <a:extLst>
              <a:ext uri="{FF2B5EF4-FFF2-40B4-BE49-F238E27FC236}">
                <a16:creationId xmlns:a16="http://schemas.microsoft.com/office/drawing/2014/main" id="{2177CC26-98EF-4CE3-B309-3A30EF50B28A}"/>
              </a:ext>
            </a:extLst>
          </p:cNvPr>
          <p:cNvSpPr/>
          <p:nvPr/>
        </p:nvSpPr>
        <p:spPr>
          <a:xfrm>
            <a:off x="6878767" y="4072705"/>
            <a:ext cx="459102" cy="948372"/>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97F35C87-D309-454E-B26F-9E0FF3FC5047}"/>
              </a:ext>
            </a:extLst>
          </p:cNvPr>
          <p:cNvSpPr/>
          <p:nvPr/>
        </p:nvSpPr>
        <p:spPr>
          <a:xfrm>
            <a:off x="7363355" y="4077478"/>
            <a:ext cx="459102" cy="932460"/>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3F173BC-17D2-4225-B49B-B05BAEAAAF0A}"/>
              </a:ext>
            </a:extLst>
          </p:cNvPr>
          <p:cNvSpPr/>
          <p:nvPr/>
        </p:nvSpPr>
        <p:spPr>
          <a:xfrm>
            <a:off x="7822457" y="4061566"/>
            <a:ext cx="459102" cy="948372"/>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A531F817-53E9-40CA-8552-E8A2A08B4881}"/>
              </a:ext>
            </a:extLst>
          </p:cNvPr>
          <p:cNvSpPr/>
          <p:nvPr/>
        </p:nvSpPr>
        <p:spPr>
          <a:xfrm>
            <a:off x="6878767" y="6185565"/>
            <a:ext cx="1441804" cy="54374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Model</a:t>
            </a:r>
          </a:p>
        </p:txBody>
      </p:sp>
      <p:sp>
        <p:nvSpPr>
          <p:cNvPr id="88" name="Arrow: Right 87">
            <a:extLst>
              <a:ext uri="{FF2B5EF4-FFF2-40B4-BE49-F238E27FC236}">
                <a16:creationId xmlns:a16="http://schemas.microsoft.com/office/drawing/2014/main" id="{FFFC3C45-21EE-4FA4-9300-A0901A826C84}"/>
              </a:ext>
            </a:extLst>
          </p:cNvPr>
          <p:cNvSpPr/>
          <p:nvPr/>
        </p:nvSpPr>
        <p:spPr>
          <a:xfrm rot="5400000">
            <a:off x="7450500" y="5045224"/>
            <a:ext cx="254742" cy="333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Arrow: Right 88">
            <a:extLst>
              <a:ext uri="{FF2B5EF4-FFF2-40B4-BE49-F238E27FC236}">
                <a16:creationId xmlns:a16="http://schemas.microsoft.com/office/drawing/2014/main" id="{4D04A2C6-78DD-4A3D-832C-8DE48A17CD10}"/>
              </a:ext>
            </a:extLst>
          </p:cNvPr>
          <p:cNvSpPr/>
          <p:nvPr/>
        </p:nvSpPr>
        <p:spPr>
          <a:xfrm rot="5400000">
            <a:off x="7445961" y="5848386"/>
            <a:ext cx="254742" cy="333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Content Placeholder 2">
                <a:extLst>
                  <a:ext uri="{FF2B5EF4-FFF2-40B4-BE49-F238E27FC236}">
                    <a16:creationId xmlns:a16="http://schemas.microsoft.com/office/drawing/2014/main" id="{D8FDCE36-1343-4D76-9ED4-62356354D4B2}"/>
                  </a:ext>
                </a:extLst>
              </p:cNvPr>
              <p:cNvSpPr>
                <a:spLocks noGrp="1"/>
              </p:cNvSpPr>
              <p:nvPr>
                <p:ph idx="1"/>
              </p:nvPr>
            </p:nvSpPr>
            <p:spPr>
              <a:xfrm>
                <a:off x="798264" y="4412395"/>
                <a:ext cx="5380492" cy="2536288"/>
              </a:xfrm>
            </p:spPr>
            <p:txBody>
              <a:bodyPr>
                <a:normAutofit/>
              </a:bodyPr>
              <a:lstStyle/>
              <a:p>
                <a:r>
                  <a:rPr lang="en-US" dirty="0"/>
                  <a:t>More data   </a:t>
                </a:r>
                <a14:m>
                  <m:oMath xmlns:m="http://schemas.openxmlformats.org/officeDocument/2006/math">
                    <m:r>
                      <a:rPr lang="en-US" b="0" i="1" smtClean="0">
                        <a:latin typeface="Cambria Math" panose="02040503050406030204" pitchFamily="18" charset="0"/>
                      </a:rPr>
                      <m:t>→</m:t>
                    </m:r>
                  </m:oMath>
                </a14:m>
                <a:r>
                  <a:rPr lang="en-US" dirty="0"/>
                  <a:t> better model!</a:t>
                </a:r>
              </a:p>
              <a:p>
                <a:r>
                  <a:rPr lang="en-US" dirty="0"/>
                  <a:t>Richer data </a:t>
                </a:r>
                <a14:m>
                  <m:oMath xmlns:m="http://schemas.openxmlformats.org/officeDocument/2006/math">
                    <m:r>
                      <a:rPr lang="en-US" i="1">
                        <a:latin typeface="Cambria Math" panose="02040503050406030204" pitchFamily="18" charset="0"/>
                      </a:rPr>
                      <m:t>→</m:t>
                    </m:r>
                  </m:oMath>
                </a14:m>
                <a:r>
                  <a:rPr lang="en-US" dirty="0"/>
                  <a:t> better model!</a:t>
                </a:r>
              </a:p>
              <a:p>
                <a:r>
                  <a:rPr lang="en-US" dirty="0"/>
                  <a:t>Each party can have similar or different types of data</a:t>
                </a:r>
              </a:p>
              <a:p>
                <a:pPr lvl="1"/>
                <a:endParaRPr lang="en-US" dirty="0"/>
              </a:p>
            </p:txBody>
          </p:sp>
        </mc:Choice>
        <mc:Fallback xmlns="">
          <p:sp>
            <p:nvSpPr>
              <p:cNvPr id="94" name="Content Placeholder 2">
                <a:extLst>
                  <a:ext uri="{FF2B5EF4-FFF2-40B4-BE49-F238E27FC236}">
                    <a16:creationId xmlns:a16="http://schemas.microsoft.com/office/drawing/2014/main" id="{D8FDCE36-1343-4D76-9ED4-62356354D4B2}"/>
                  </a:ext>
                </a:extLst>
              </p:cNvPr>
              <p:cNvSpPr>
                <a:spLocks noGrp="1" noRot="1" noChangeAspect="1" noMove="1" noResize="1" noEditPoints="1" noAdjustHandles="1" noChangeArrowheads="1" noChangeShapeType="1" noTextEdit="1"/>
              </p:cNvSpPr>
              <p:nvPr>
                <p:ph idx="1"/>
              </p:nvPr>
            </p:nvSpPr>
            <p:spPr>
              <a:xfrm>
                <a:off x="798264" y="4412395"/>
                <a:ext cx="5380492" cy="2536288"/>
              </a:xfrm>
              <a:blipFill>
                <a:blip r:embed="rId3"/>
                <a:stretch>
                  <a:fillRect l="-1586" t="-240" r="-340"/>
                </a:stretch>
              </a:blipFill>
            </p:spPr>
            <p:txBody>
              <a:bodyPr/>
              <a:lstStyle/>
              <a:p>
                <a:r>
                  <a:rPr lang="en-US">
                    <a:noFill/>
                  </a:rPr>
                  <a:t> </a:t>
                </a:r>
              </a:p>
            </p:txBody>
          </p:sp>
        </mc:Fallback>
      </mc:AlternateContent>
      <p:sp>
        <p:nvSpPr>
          <p:cNvPr id="61" name="Rectangle 60">
            <a:extLst>
              <a:ext uri="{FF2B5EF4-FFF2-40B4-BE49-F238E27FC236}">
                <a16:creationId xmlns:a16="http://schemas.microsoft.com/office/drawing/2014/main" id="{E1BC6758-C1A8-4122-A454-47C760F9F4C1}"/>
              </a:ext>
            </a:extLst>
          </p:cNvPr>
          <p:cNvSpPr/>
          <p:nvPr/>
        </p:nvSpPr>
        <p:spPr>
          <a:xfrm>
            <a:off x="7345857" y="2072416"/>
            <a:ext cx="459102" cy="91927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53F5219-D7E1-4BAB-B93E-677EC852E585}"/>
              </a:ext>
            </a:extLst>
          </p:cNvPr>
          <p:cNvSpPr/>
          <p:nvPr/>
        </p:nvSpPr>
        <p:spPr>
          <a:xfrm>
            <a:off x="4152615" y="2063067"/>
            <a:ext cx="459102" cy="948372"/>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a16="http://schemas.microsoft.com/office/drawing/2014/main" id="{09605D6B-4E4F-4138-92AC-642B0893777B}"/>
              </a:ext>
            </a:extLst>
          </p:cNvPr>
          <p:cNvSpPr/>
          <p:nvPr/>
        </p:nvSpPr>
        <p:spPr>
          <a:xfrm>
            <a:off x="4917498" y="3135577"/>
            <a:ext cx="1804865" cy="1303587"/>
          </a:xfrm>
          <a:custGeom>
            <a:avLst/>
            <a:gdLst>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Lst>
            <a:ahLst/>
            <a:cxnLst>
              <a:cxn ang="0">
                <a:pos x="connsiteX0" y="connsiteY0"/>
              </a:cxn>
              <a:cxn ang="0">
                <a:pos x="connsiteX1" y="connsiteY1"/>
              </a:cxn>
            </a:cxnLst>
            <a:rect l="l" t="t" r="r" b="b"/>
            <a:pathLst>
              <a:path w="2469823" h="1272619">
                <a:moveTo>
                  <a:pt x="0" y="0"/>
                </a:moveTo>
                <a:cubicBezTo>
                  <a:pt x="576606" y="933253"/>
                  <a:pt x="1794236" y="1271048"/>
                  <a:pt x="2469823" y="1272619"/>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Shape 99">
            <a:extLst>
              <a:ext uri="{FF2B5EF4-FFF2-40B4-BE49-F238E27FC236}">
                <a16:creationId xmlns:a16="http://schemas.microsoft.com/office/drawing/2014/main" id="{4FE1BA45-66B3-4561-9F07-40E6C725E2DC}"/>
              </a:ext>
            </a:extLst>
          </p:cNvPr>
          <p:cNvSpPr/>
          <p:nvPr/>
        </p:nvSpPr>
        <p:spPr>
          <a:xfrm>
            <a:off x="7572562" y="3108809"/>
            <a:ext cx="0" cy="825572"/>
          </a:xfrm>
          <a:custGeom>
            <a:avLst/>
            <a:gdLst>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Lst>
            <a:ahLst/>
            <a:cxnLst>
              <a:cxn ang="0">
                <a:pos x="connsiteX0" y="connsiteY0"/>
              </a:cxn>
              <a:cxn ang="0">
                <a:pos x="connsiteX1" y="connsiteY1"/>
              </a:cxn>
            </a:cxnLst>
            <a:rect l="l" t="t" r="r" b="b"/>
            <a:pathLst>
              <a:path w="2469823" h="1272619">
                <a:moveTo>
                  <a:pt x="0" y="0"/>
                </a:moveTo>
                <a:cubicBezTo>
                  <a:pt x="576606" y="933253"/>
                  <a:pt x="1794236" y="1271048"/>
                  <a:pt x="2469823" y="1272619"/>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888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Freeform: Shape 110">
            <a:extLst>
              <a:ext uri="{FF2B5EF4-FFF2-40B4-BE49-F238E27FC236}">
                <a16:creationId xmlns:a16="http://schemas.microsoft.com/office/drawing/2014/main" id="{33E46FE8-2ACF-4DEC-AD21-8FC20DFBCF16}"/>
              </a:ext>
            </a:extLst>
          </p:cNvPr>
          <p:cNvSpPr/>
          <p:nvPr/>
        </p:nvSpPr>
        <p:spPr>
          <a:xfrm>
            <a:off x="7572562" y="3108809"/>
            <a:ext cx="0" cy="825572"/>
          </a:xfrm>
          <a:custGeom>
            <a:avLst/>
            <a:gdLst>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Lst>
            <a:ahLst/>
            <a:cxnLst>
              <a:cxn ang="0">
                <a:pos x="connsiteX0" y="connsiteY0"/>
              </a:cxn>
              <a:cxn ang="0">
                <a:pos x="connsiteX1" y="connsiteY1"/>
              </a:cxn>
            </a:cxnLst>
            <a:rect l="l" t="t" r="r" b="b"/>
            <a:pathLst>
              <a:path w="2469823" h="1272619">
                <a:moveTo>
                  <a:pt x="0" y="0"/>
                </a:moveTo>
                <a:cubicBezTo>
                  <a:pt x="576606" y="933253"/>
                  <a:pt x="1794236" y="1271048"/>
                  <a:pt x="2469823" y="1272619"/>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AutoShape 2" descr="Image result for lock">
            <a:extLst>
              <a:ext uri="{FF2B5EF4-FFF2-40B4-BE49-F238E27FC236}">
                <a16:creationId xmlns:a16="http://schemas.microsoft.com/office/drawing/2014/main" id="{E4D34005-A26D-45A7-BF5F-717E784A9592}"/>
              </a:ext>
            </a:extLst>
          </p:cNvPr>
          <p:cNvSpPr>
            <a:spLocks noChangeAspect="1" noChangeArrowheads="1"/>
          </p:cNvSpPr>
          <p:nvPr/>
        </p:nvSpPr>
        <p:spPr bwMode="auto">
          <a:xfrm>
            <a:off x="4376738" y="1709738"/>
            <a:ext cx="3438525" cy="3438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Rectangle: Rounded Corners 90">
            <a:extLst>
              <a:ext uri="{FF2B5EF4-FFF2-40B4-BE49-F238E27FC236}">
                <a16:creationId xmlns:a16="http://schemas.microsoft.com/office/drawing/2014/main" id="{90AB8365-8FED-4B3C-8638-B37B5C6D1BF6}"/>
              </a:ext>
            </a:extLst>
          </p:cNvPr>
          <p:cNvSpPr/>
          <p:nvPr/>
        </p:nvSpPr>
        <p:spPr>
          <a:xfrm>
            <a:off x="6811813" y="5381346"/>
            <a:ext cx="1588678" cy="45926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ML Algorithm</a:t>
            </a:r>
          </a:p>
        </p:txBody>
      </p:sp>
      <p:graphicFrame>
        <p:nvGraphicFramePr>
          <p:cNvPr id="93" name="Table 8">
            <a:extLst>
              <a:ext uri="{FF2B5EF4-FFF2-40B4-BE49-F238E27FC236}">
                <a16:creationId xmlns:a16="http://schemas.microsoft.com/office/drawing/2014/main" id="{93FC7371-D154-4817-A662-3395213B951F}"/>
              </a:ext>
            </a:extLst>
          </p:cNvPr>
          <p:cNvGraphicFramePr>
            <a:graphicFrameLocks noGrp="1"/>
          </p:cNvGraphicFramePr>
          <p:nvPr>
            <p:extLst>
              <p:ext uri="{D42A27DB-BD31-4B8C-83A1-F6EECF244321}">
                <p14:modId xmlns:p14="http://schemas.microsoft.com/office/powerpoint/2010/main" val="2226962727"/>
              </p:ext>
            </p:extLst>
          </p:nvPr>
        </p:nvGraphicFramePr>
        <p:xfrm>
          <a:off x="4138238" y="2063989"/>
          <a:ext cx="1448172" cy="937233"/>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290392103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3618240"/>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778821800"/>
                  </a:ext>
                </a:extLst>
              </a:tr>
              <a:tr h="119353">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extLst>
                  <a:ext uri="{0D108BD9-81ED-4DB2-BD59-A6C34878D82A}">
                    <a16:rowId xmlns:a16="http://schemas.microsoft.com/office/drawing/2014/main" val="4264715888"/>
                  </a:ext>
                </a:extLst>
              </a:tr>
            </a:tbl>
          </a:graphicData>
        </a:graphic>
      </p:graphicFrame>
      <p:graphicFrame>
        <p:nvGraphicFramePr>
          <p:cNvPr id="94" name="Table 8">
            <a:extLst>
              <a:ext uri="{FF2B5EF4-FFF2-40B4-BE49-F238E27FC236}">
                <a16:creationId xmlns:a16="http://schemas.microsoft.com/office/drawing/2014/main" id="{BEBB7153-821A-415D-A45F-F8F200E13D36}"/>
              </a:ext>
            </a:extLst>
          </p:cNvPr>
          <p:cNvGraphicFramePr>
            <a:graphicFrameLocks noGrp="1"/>
          </p:cNvGraphicFramePr>
          <p:nvPr>
            <p:extLst>
              <p:ext uri="{D42A27DB-BD31-4B8C-83A1-F6EECF244321}">
                <p14:modId xmlns:p14="http://schemas.microsoft.com/office/powerpoint/2010/main" val="4045040626"/>
              </p:ext>
            </p:extLst>
          </p:nvPr>
        </p:nvGraphicFramePr>
        <p:xfrm>
          <a:off x="6848477" y="2059512"/>
          <a:ext cx="1448172" cy="937233"/>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290392103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3618240"/>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778821800"/>
                  </a:ext>
                </a:extLst>
              </a:tr>
              <a:tr h="119353">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extLst>
                  <a:ext uri="{0D108BD9-81ED-4DB2-BD59-A6C34878D82A}">
                    <a16:rowId xmlns:a16="http://schemas.microsoft.com/office/drawing/2014/main" val="4264715888"/>
                  </a:ext>
                </a:extLst>
              </a:tr>
            </a:tbl>
          </a:graphicData>
        </a:graphic>
      </p:graphicFrame>
      <p:graphicFrame>
        <p:nvGraphicFramePr>
          <p:cNvPr id="95" name="Table 8">
            <a:extLst>
              <a:ext uri="{FF2B5EF4-FFF2-40B4-BE49-F238E27FC236}">
                <a16:creationId xmlns:a16="http://schemas.microsoft.com/office/drawing/2014/main" id="{9F10FAB6-B02D-44E0-A5D2-9ADAA484AAD0}"/>
              </a:ext>
            </a:extLst>
          </p:cNvPr>
          <p:cNvGraphicFramePr>
            <a:graphicFrameLocks noGrp="1"/>
          </p:cNvGraphicFramePr>
          <p:nvPr>
            <p:extLst>
              <p:ext uri="{D42A27DB-BD31-4B8C-83A1-F6EECF244321}">
                <p14:modId xmlns:p14="http://schemas.microsoft.com/office/powerpoint/2010/main" val="4096903056"/>
              </p:ext>
            </p:extLst>
          </p:nvPr>
        </p:nvGraphicFramePr>
        <p:xfrm>
          <a:off x="9568143" y="2074178"/>
          <a:ext cx="1448172" cy="937233"/>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290392103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3618240"/>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778821800"/>
                  </a:ext>
                </a:extLst>
              </a:tr>
              <a:tr h="119353">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extLst>
                  <a:ext uri="{0D108BD9-81ED-4DB2-BD59-A6C34878D82A}">
                    <a16:rowId xmlns:a16="http://schemas.microsoft.com/office/drawing/2014/main" val="4264715888"/>
                  </a:ext>
                </a:extLst>
              </a:tr>
            </a:tbl>
          </a:graphicData>
        </a:graphic>
      </p:graphicFrame>
      <p:sp>
        <p:nvSpPr>
          <p:cNvPr id="96" name="Rectangle 95">
            <a:extLst>
              <a:ext uri="{FF2B5EF4-FFF2-40B4-BE49-F238E27FC236}">
                <a16:creationId xmlns:a16="http://schemas.microsoft.com/office/drawing/2014/main" id="{7EF6768D-ED40-4909-A221-D7A8569E18BA}"/>
              </a:ext>
            </a:extLst>
          </p:cNvPr>
          <p:cNvSpPr/>
          <p:nvPr/>
        </p:nvSpPr>
        <p:spPr>
          <a:xfrm>
            <a:off x="10546270" y="2059512"/>
            <a:ext cx="459102" cy="948372"/>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a16="http://schemas.microsoft.com/office/drawing/2014/main" id="{17DE1726-8C03-4A69-B9C4-A82FBA993EA1}"/>
              </a:ext>
            </a:extLst>
          </p:cNvPr>
          <p:cNvSpPr/>
          <p:nvPr/>
        </p:nvSpPr>
        <p:spPr>
          <a:xfrm flipH="1">
            <a:off x="8448320" y="3186220"/>
            <a:ext cx="1804865" cy="1303587"/>
          </a:xfrm>
          <a:custGeom>
            <a:avLst/>
            <a:gdLst>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Lst>
            <a:ahLst/>
            <a:cxnLst>
              <a:cxn ang="0">
                <a:pos x="connsiteX0" y="connsiteY0"/>
              </a:cxn>
              <a:cxn ang="0">
                <a:pos x="connsiteX1" y="connsiteY1"/>
              </a:cxn>
            </a:cxnLst>
            <a:rect l="l" t="t" r="r" b="b"/>
            <a:pathLst>
              <a:path w="2469823" h="1272619">
                <a:moveTo>
                  <a:pt x="0" y="0"/>
                </a:moveTo>
                <a:cubicBezTo>
                  <a:pt x="576606" y="933253"/>
                  <a:pt x="1794236" y="1271048"/>
                  <a:pt x="2469823" y="1272619"/>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8" name="Table 8">
            <a:extLst>
              <a:ext uri="{FF2B5EF4-FFF2-40B4-BE49-F238E27FC236}">
                <a16:creationId xmlns:a16="http://schemas.microsoft.com/office/drawing/2014/main" id="{F87E36D2-A762-489C-912E-8600ACA3B70F}"/>
              </a:ext>
            </a:extLst>
          </p:cNvPr>
          <p:cNvGraphicFramePr>
            <a:graphicFrameLocks noGrp="1"/>
          </p:cNvGraphicFramePr>
          <p:nvPr>
            <p:extLst>
              <p:ext uri="{D42A27DB-BD31-4B8C-83A1-F6EECF244321}">
                <p14:modId xmlns:p14="http://schemas.microsoft.com/office/powerpoint/2010/main" val="3173336212"/>
              </p:ext>
            </p:extLst>
          </p:nvPr>
        </p:nvGraphicFramePr>
        <p:xfrm>
          <a:off x="6859393" y="4072705"/>
          <a:ext cx="1448172" cy="937233"/>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290392103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3618240"/>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778821800"/>
                  </a:ext>
                </a:extLst>
              </a:tr>
              <a:tr h="119353">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tc>
                  <a:txBody>
                    <a:bodyPr/>
                    <a:lstStyle/>
                    <a:p>
                      <a:pPr>
                        <a:buNone/>
                      </a:pPr>
                      <a:endParaRPr lang="en-US" sz="100" dirty="0"/>
                    </a:p>
                  </a:txBody>
                  <a:tcPr>
                    <a:solidFill>
                      <a:schemeClr val="bg1">
                        <a:lumMod val="85000"/>
                      </a:schemeClr>
                    </a:solidFill>
                  </a:tcPr>
                </a:tc>
                <a:extLst>
                  <a:ext uri="{0D108BD9-81ED-4DB2-BD59-A6C34878D82A}">
                    <a16:rowId xmlns:a16="http://schemas.microsoft.com/office/drawing/2014/main" val="4264715888"/>
                  </a:ext>
                </a:extLst>
              </a:tr>
            </a:tbl>
          </a:graphicData>
        </a:graphic>
      </p:graphicFrame>
      <p:sp>
        <p:nvSpPr>
          <p:cNvPr id="99" name="Rectangle 98">
            <a:extLst>
              <a:ext uri="{FF2B5EF4-FFF2-40B4-BE49-F238E27FC236}">
                <a16:creationId xmlns:a16="http://schemas.microsoft.com/office/drawing/2014/main" id="{99355C87-ECA4-4DB1-A7DF-086D4B2B6DB0}"/>
              </a:ext>
            </a:extLst>
          </p:cNvPr>
          <p:cNvSpPr/>
          <p:nvPr/>
        </p:nvSpPr>
        <p:spPr>
          <a:xfrm>
            <a:off x="6878767" y="4072705"/>
            <a:ext cx="459102" cy="948372"/>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87645B33-6504-48AF-976B-BB73ED1CF702}"/>
              </a:ext>
            </a:extLst>
          </p:cNvPr>
          <p:cNvSpPr/>
          <p:nvPr/>
        </p:nvSpPr>
        <p:spPr>
          <a:xfrm>
            <a:off x="7363355" y="4077478"/>
            <a:ext cx="459102" cy="932460"/>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98CDABE1-D45C-4B2E-B300-0DB1B9570CA5}"/>
              </a:ext>
            </a:extLst>
          </p:cNvPr>
          <p:cNvSpPr/>
          <p:nvPr/>
        </p:nvSpPr>
        <p:spPr>
          <a:xfrm>
            <a:off x="7822457" y="4061566"/>
            <a:ext cx="459102" cy="948372"/>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37DC5A5-2537-4EFF-974D-311F049E9E0C}"/>
              </a:ext>
            </a:extLst>
          </p:cNvPr>
          <p:cNvSpPr/>
          <p:nvPr/>
        </p:nvSpPr>
        <p:spPr>
          <a:xfrm>
            <a:off x="6878767" y="6185565"/>
            <a:ext cx="1441804" cy="54374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Model</a:t>
            </a:r>
          </a:p>
        </p:txBody>
      </p:sp>
      <p:sp>
        <p:nvSpPr>
          <p:cNvPr id="103" name="Arrow: Right 102">
            <a:extLst>
              <a:ext uri="{FF2B5EF4-FFF2-40B4-BE49-F238E27FC236}">
                <a16:creationId xmlns:a16="http://schemas.microsoft.com/office/drawing/2014/main" id="{E0FF5AF6-C5BD-43EE-8EFF-7B0352393F0B}"/>
              </a:ext>
            </a:extLst>
          </p:cNvPr>
          <p:cNvSpPr/>
          <p:nvPr/>
        </p:nvSpPr>
        <p:spPr>
          <a:xfrm rot="5400000">
            <a:off x="7450500" y="5045224"/>
            <a:ext cx="254742" cy="333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Arrow: Right 103">
            <a:extLst>
              <a:ext uri="{FF2B5EF4-FFF2-40B4-BE49-F238E27FC236}">
                <a16:creationId xmlns:a16="http://schemas.microsoft.com/office/drawing/2014/main" id="{909168CB-F8B0-4749-A03B-4897EB06A0AF}"/>
              </a:ext>
            </a:extLst>
          </p:cNvPr>
          <p:cNvSpPr/>
          <p:nvPr/>
        </p:nvSpPr>
        <p:spPr>
          <a:xfrm rot="5400000">
            <a:off x="7445961" y="5848386"/>
            <a:ext cx="254742" cy="333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4B4652F7-1664-48C7-AF3A-F5C5FA5AB711}"/>
              </a:ext>
            </a:extLst>
          </p:cNvPr>
          <p:cNvSpPr/>
          <p:nvPr/>
        </p:nvSpPr>
        <p:spPr>
          <a:xfrm>
            <a:off x="7345857" y="2072416"/>
            <a:ext cx="459102" cy="91927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4698F40E-5F1B-40A7-91E5-F97DBF183124}"/>
              </a:ext>
            </a:extLst>
          </p:cNvPr>
          <p:cNvSpPr/>
          <p:nvPr/>
        </p:nvSpPr>
        <p:spPr>
          <a:xfrm>
            <a:off x="4152615" y="2063067"/>
            <a:ext cx="459102" cy="948372"/>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Shape 108">
            <a:extLst>
              <a:ext uri="{FF2B5EF4-FFF2-40B4-BE49-F238E27FC236}">
                <a16:creationId xmlns:a16="http://schemas.microsoft.com/office/drawing/2014/main" id="{A17FEF71-B5A1-4C8A-A73E-000DE354A7E0}"/>
              </a:ext>
            </a:extLst>
          </p:cNvPr>
          <p:cNvSpPr/>
          <p:nvPr/>
        </p:nvSpPr>
        <p:spPr>
          <a:xfrm>
            <a:off x="4917498" y="3135577"/>
            <a:ext cx="1804865" cy="1303587"/>
          </a:xfrm>
          <a:custGeom>
            <a:avLst/>
            <a:gdLst>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 name="connsiteX0" fmla="*/ 0 w 2469823"/>
              <a:gd name="connsiteY0" fmla="*/ 0 h 1272619"/>
              <a:gd name="connsiteX1" fmla="*/ 2469823 w 2469823"/>
              <a:gd name="connsiteY1" fmla="*/ 1272619 h 1272619"/>
            </a:gdLst>
            <a:ahLst/>
            <a:cxnLst>
              <a:cxn ang="0">
                <a:pos x="connsiteX0" y="connsiteY0"/>
              </a:cxn>
              <a:cxn ang="0">
                <a:pos x="connsiteX1" y="connsiteY1"/>
              </a:cxn>
            </a:cxnLst>
            <a:rect l="l" t="t" r="r" b="b"/>
            <a:pathLst>
              <a:path w="2469823" h="1272619">
                <a:moveTo>
                  <a:pt x="0" y="0"/>
                </a:moveTo>
                <a:cubicBezTo>
                  <a:pt x="576606" y="933253"/>
                  <a:pt x="1794236" y="1271048"/>
                  <a:pt x="2469823" y="1272619"/>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B76412-123A-48DB-A4A9-6DFCD6EA86D5}"/>
              </a:ext>
            </a:extLst>
          </p:cNvPr>
          <p:cNvSpPr>
            <a:spLocks noGrp="1"/>
          </p:cNvSpPr>
          <p:nvPr>
            <p:ph type="title"/>
          </p:nvPr>
        </p:nvSpPr>
        <p:spPr/>
        <p:txBody>
          <a:bodyPr/>
          <a:lstStyle/>
          <a:p>
            <a:r>
              <a:rPr lang="en-US" dirty="0"/>
              <a:t>Security Concerns </a:t>
            </a:r>
          </a:p>
        </p:txBody>
      </p:sp>
      <p:sp>
        <p:nvSpPr>
          <p:cNvPr id="9" name="AutoShape 2" descr="Image result for lock">
            <a:extLst>
              <a:ext uri="{FF2B5EF4-FFF2-40B4-BE49-F238E27FC236}">
                <a16:creationId xmlns:a16="http://schemas.microsoft.com/office/drawing/2014/main" id="{2ECECA58-0040-407A-A6C8-D71611C4528C}"/>
              </a:ext>
            </a:extLst>
          </p:cNvPr>
          <p:cNvSpPr>
            <a:spLocks noChangeAspect="1" noChangeArrowheads="1"/>
          </p:cNvSpPr>
          <p:nvPr/>
        </p:nvSpPr>
        <p:spPr bwMode="auto">
          <a:xfrm>
            <a:off x="4376738" y="1709738"/>
            <a:ext cx="3438525" cy="3438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Content Placeholder 2">
            <a:extLst>
              <a:ext uri="{FF2B5EF4-FFF2-40B4-BE49-F238E27FC236}">
                <a16:creationId xmlns:a16="http://schemas.microsoft.com/office/drawing/2014/main" id="{83F8A856-68C5-45DF-9B84-0F7B4F3B063D}"/>
              </a:ext>
            </a:extLst>
          </p:cNvPr>
          <p:cNvSpPr>
            <a:spLocks noGrp="1"/>
          </p:cNvSpPr>
          <p:nvPr>
            <p:ph idx="1"/>
          </p:nvPr>
        </p:nvSpPr>
        <p:spPr>
          <a:xfrm>
            <a:off x="798264" y="3898144"/>
            <a:ext cx="4571644" cy="3050540"/>
          </a:xfrm>
        </p:spPr>
        <p:txBody>
          <a:bodyPr>
            <a:normAutofit/>
          </a:bodyPr>
          <a:lstStyle/>
          <a:p>
            <a:r>
              <a:rPr lang="en-US" dirty="0"/>
              <a:t>Data sharing often prohibited for completive or regulatory reasons</a:t>
            </a:r>
          </a:p>
          <a:p>
            <a:r>
              <a:rPr lang="en-US" dirty="0"/>
              <a:t>Use encryption?</a:t>
            </a:r>
          </a:p>
          <a:p>
            <a:pPr lvl="1"/>
            <a:r>
              <a:rPr lang="en-US" dirty="0"/>
              <a:t>Encrypt at rest</a:t>
            </a:r>
          </a:p>
          <a:p>
            <a:pPr lvl="1"/>
            <a:r>
              <a:rPr lang="en-US" dirty="0"/>
              <a:t>Encrypt in transit</a:t>
            </a:r>
          </a:p>
          <a:p>
            <a:pPr lvl="1"/>
            <a:r>
              <a:rPr lang="en-US" b="1" dirty="0"/>
              <a:t>Decrypted in use!!</a:t>
            </a:r>
          </a:p>
        </p:txBody>
      </p:sp>
      <p:pic>
        <p:nvPicPr>
          <p:cNvPr id="81" name="Picture 6" descr="Related image">
            <a:extLst>
              <a:ext uri="{FF2B5EF4-FFF2-40B4-BE49-F238E27FC236}">
                <a16:creationId xmlns:a16="http://schemas.microsoft.com/office/drawing/2014/main" id="{7B0004ED-4B72-401C-9276-9C88CC984C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4871" y="2725362"/>
            <a:ext cx="536681" cy="503278"/>
          </a:xfrm>
          <a:prstGeom prst="rect">
            <a:avLst/>
          </a:prstGeom>
          <a:noFill/>
          <a:effectLst>
            <a:glow rad="101600">
              <a:schemeClr val="bg1">
                <a:lumMod val="95000"/>
                <a:alpha val="60000"/>
              </a:schemeClr>
            </a:glow>
          </a:effectLst>
          <a:extLst>
            <a:ext uri="{909E8E84-426E-40DD-AFC4-6F175D3DCCD1}">
              <a14:hiddenFill xmlns:a14="http://schemas.microsoft.com/office/drawing/2010/main">
                <a:solidFill>
                  <a:srgbClr val="FFFFFF"/>
                </a:solidFill>
              </a14:hiddenFill>
            </a:ext>
          </a:extLst>
        </p:spPr>
      </p:pic>
      <p:pic>
        <p:nvPicPr>
          <p:cNvPr id="82" name="Picture 6" descr="Related image">
            <a:extLst>
              <a:ext uri="{FF2B5EF4-FFF2-40B4-BE49-F238E27FC236}">
                <a16:creationId xmlns:a16="http://schemas.microsoft.com/office/drawing/2014/main" id="{D5E87F66-4E45-4F65-8E72-BF84304A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5440" y="2716055"/>
            <a:ext cx="536681" cy="503278"/>
          </a:xfrm>
          <a:prstGeom prst="rect">
            <a:avLst/>
          </a:prstGeom>
          <a:noFill/>
          <a:effectLst>
            <a:glow rad="101600">
              <a:schemeClr val="bg1">
                <a:lumMod val="95000"/>
                <a:alpha val="60000"/>
              </a:schemeClr>
            </a:glow>
          </a:effectLst>
          <a:extLst>
            <a:ext uri="{909E8E84-426E-40DD-AFC4-6F175D3DCCD1}">
              <a14:hiddenFill xmlns:a14="http://schemas.microsoft.com/office/drawing/2010/main">
                <a:solidFill>
                  <a:srgbClr val="FFFFFF"/>
                </a:solidFill>
              </a14:hiddenFill>
            </a:ext>
          </a:extLst>
        </p:spPr>
      </p:pic>
      <p:pic>
        <p:nvPicPr>
          <p:cNvPr id="83" name="Picture 6" descr="Related image">
            <a:extLst>
              <a:ext uri="{FF2B5EF4-FFF2-40B4-BE49-F238E27FC236}">
                <a16:creationId xmlns:a16="http://schemas.microsoft.com/office/drawing/2014/main" id="{FA70E24A-697F-46DA-BAB9-3F287EAF4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9770" y="2725362"/>
            <a:ext cx="536681" cy="503278"/>
          </a:xfrm>
          <a:prstGeom prst="rect">
            <a:avLst/>
          </a:prstGeom>
          <a:noFill/>
          <a:effectLst>
            <a:glow rad="101600">
              <a:schemeClr val="bg1">
                <a:lumMod val="95000"/>
                <a:alpha val="60000"/>
              </a:schemeClr>
            </a:glow>
          </a:effectLst>
          <a:extLst>
            <a:ext uri="{909E8E84-426E-40DD-AFC4-6F175D3DCCD1}">
              <a14:hiddenFill xmlns:a14="http://schemas.microsoft.com/office/drawing/2010/main">
                <a:solidFill>
                  <a:srgbClr val="FFFFFF"/>
                </a:solidFill>
              </a14:hiddenFill>
            </a:ext>
          </a:extLst>
        </p:spPr>
      </p:pic>
      <p:pic>
        <p:nvPicPr>
          <p:cNvPr id="85" name="Picture 6" descr="Related image">
            <a:extLst>
              <a:ext uri="{FF2B5EF4-FFF2-40B4-BE49-F238E27FC236}">
                <a16:creationId xmlns:a16="http://schemas.microsoft.com/office/drawing/2014/main" id="{AA877DA2-689E-4272-B3A6-4F95D4E4F9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1567" y="3394866"/>
            <a:ext cx="536681" cy="503278"/>
          </a:xfrm>
          <a:prstGeom prst="rect">
            <a:avLst/>
          </a:prstGeom>
          <a:noFill/>
          <a:effectLst>
            <a:glow rad="101600">
              <a:schemeClr val="bg1">
                <a:lumMod val="95000"/>
                <a:alpha val="60000"/>
              </a:schemeClr>
            </a:glow>
          </a:effectLst>
          <a:extLst>
            <a:ext uri="{909E8E84-426E-40DD-AFC4-6F175D3DCCD1}">
              <a14:hiddenFill xmlns:a14="http://schemas.microsoft.com/office/drawing/2010/main">
                <a:solidFill>
                  <a:srgbClr val="FFFFFF"/>
                </a:solidFill>
              </a14:hiddenFill>
            </a:ext>
          </a:extLst>
        </p:spPr>
      </p:pic>
      <p:pic>
        <p:nvPicPr>
          <p:cNvPr id="86" name="Picture 6" descr="Related image">
            <a:extLst>
              <a:ext uri="{FF2B5EF4-FFF2-40B4-BE49-F238E27FC236}">
                <a16:creationId xmlns:a16="http://schemas.microsoft.com/office/drawing/2014/main" id="{6675D1B0-7C86-4F91-9712-9CC9E47DD5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0309" y="3215918"/>
            <a:ext cx="536681" cy="503278"/>
          </a:xfrm>
          <a:prstGeom prst="rect">
            <a:avLst/>
          </a:prstGeom>
          <a:noFill/>
          <a:effectLst>
            <a:glow rad="101600">
              <a:schemeClr val="bg1">
                <a:lumMod val="95000"/>
                <a:alpha val="60000"/>
              </a:schemeClr>
            </a:glow>
          </a:effectLst>
          <a:extLst>
            <a:ext uri="{909E8E84-426E-40DD-AFC4-6F175D3DCCD1}">
              <a14:hiddenFill xmlns:a14="http://schemas.microsoft.com/office/drawing/2010/main">
                <a:solidFill>
                  <a:srgbClr val="FFFFFF"/>
                </a:solidFill>
              </a14:hiddenFill>
            </a:ext>
          </a:extLst>
        </p:spPr>
      </p:pic>
      <p:pic>
        <p:nvPicPr>
          <p:cNvPr id="87" name="Picture 6" descr="Related image">
            <a:extLst>
              <a:ext uri="{FF2B5EF4-FFF2-40B4-BE49-F238E27FC236}">
                <a16:creationId xmlns:a16="http://schemas.microsoft.com/office/drawing/2014/main" id="{983FA8AD-8E9F-475B-8D6B-D7BCF34CB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1341" y="3423522"/>
            <a:ext cx="536681" cy="503278"/>
          </a:xfrm>
          <a:prstGeom prst="rect">
            <a:avLst/>
          </a:prstGeom>
          <a:noFill/>
          <a:effectLst>
            <a:glow rad="101600">
              <a:schemeClr val="bg1">
                <a:lumMod val="95000"/>
                <a:alpha val="60000"/>
              </a:schemeClr>
            </a:glow>
          </a:effectLst>
          <a:extLst>
            <a:ext uri="{909E8E84-426E-40DD-AFC4-6F175D3DCCD1}">
              <a14:hiddenFill xmlns:a14="http://schemas.microsoft.com/office/drawing/2010/main">
                <a:solidFill>
                  <a:srgbClr val="FFFFFF"/>
                </a:solidFill>
              </a14:hiddenFill>
            </a:ext>
          </a:extLst>
        </p:spPr>
      </p:pic>
      <p:pic>
        <p:nvPicPr>
          <p:cNvPr id="2057" name="Picture 8" descr="Related image">
            <a:extLst>
              <a:ext uri="{FF2B5EF4-FFF2-40B4-BE49-F238E27FC236}">
                <a16:creationId xmlns:a16="http://schemas.microsoft.com/office/drawing/2014/main" id="{2186B28A-559B-4FF9-A0BF-2A75EA7FED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6830" y="4125505"/>
            <a:ext cx="802498" cy="768016"/>
          </a:xfrm>
          <a:prstGeom prst="rect">
            <a:avLst/>
          </a:prstGeom>
          <a:noFill/>
          <a:effectLst>
            <a:glow rad="254000">
              <a:schemeClr val="bg1">
                <a:alpha val="65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784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ED2A9-287F-452C-9697-493F3ABB6B99}"/>
              </a:ext>
            </a:extLst>
          </p:cNvPr>
          <p:cNvSpPr>
            <a:spLocks noGrp="1"/>
          </p:cNvSpPr>
          <p:nvPr>
            <p:ph type="title"/>
          </p:nvPr>
        </p:nvSpPr>
        <p:spPr/>
        <p:txBody>
          <a:bodyPr/>
          <a:lstStyle/>
          <a:p>
            <a:r>
              <a:rPr lang="en-US" dirty="0"/>
              <a:t>Our Results</a:t>
            </a:r>
          </a:p>
        </p:txBody>
      </p:sp>
      <p:sp>
        <p:nvSpPr>
          <p:cNvPr id="3" name="Content Placeholder 2">
            <a:extLst>
              <a:ext uri="{FF2B5EF4-FFF2-40B4-BE49-F238E27FC236}">
                <a16:creationId xmlns:a16="http://schemas.microsoft.com/office/drawing/2014/main" id="{98E1282F-F574-48E9-B3D1-A6DD721C5A79}"/>
              </a:ext>
            </a:extLst>
          </p:cNvPr>
          <p:cNvSpPr>
            <a:spLocks noGrp="1"/>
          </p:cNvSpPr>
          <p:nvPr>
            <p:ph idx="1"/>
          </p:nvPr>
        </p:nvSpPr>
        <p:spPr/>
        <p:txBody>
          <a:bodyPr>
            <a:normAutofit/>
          </a:bodyPr>
          <a:lstStyle/>
          <a:p>
            <a:r>
              <a:rPr lang="en-US" dirty="0"/>
              <a:t>New three party MPC Protocols:</a:t>
            </a:r>
          </a:p>
          <a:p>
            <a:pPr lvl="1"/>
            <a:r>
              <a:rPr lang="en-US" dirty="0"/>
              <a:t>Efficient support for fixed-point </a:t>
            </a:r>
            <a:r>
              <a:rPr lang="en-US" dirty="0" err="1"/>
              <a:t>arithmetics</a:t>
            </a:r>
            <a:endParaRPr lang="en-US" dirty="0"/>
          </a:p>
          <a:p>
            <a:pPr lvl="1"/>
            <a:r>
              <a:rPr lang="en-US" dirty="0"/>
              <a:t>Improved matrix multiplication </a:t>
            </a:r>
          </a:p>
          <a:p>
            <a:pPr lvl="1"/>
            <a:r>
              <a:rPr lang="en-US" dirty="0"/>
              <a:t>Efficient piece-wise polynomial evaluation</a:t>
            </a:r>
          </a:p>
          <a:p>
            <a:pPr lvl="1"/>
            <a:r>
              <a:rPr lang="en-US" dirty="0"/>
              <a:t>Conversions between </a:t>
            </a:r>
            <a:r>
              <a:rPr lang="en-US" b="1" dirty="0"/>
              <a:t>A</a:t>
            </a:r>
            <a:r>
              <a:rPr lang="en-US" dirty="0"/>
              <a:t>rithmetic, </a:t>
            </a:r>
            <a:r>
              <a:rPr lang="en-US" b="1" dirty="0"/>
              <a:t>B</a:t>
            </a:r>
            <a:r>
              <a:rPr lang="en-US" dirty="0"/>
              <a:t>oolean, and </a:t>
            </a:r>
            <a:r>
              <a:rPr lang="en-US" b="1" dirty="0"/>
              <a:t>Y</a:t>
            </a:r>
            <a:r>
              <a:rPr lang="en-US" dirty="0"/>
              <a:t>ao secret shares</a:t>
            </a:r>
          </a:p>
          <a:p>
            <a:r>
              <a:rPr lang="en-US" dirty="0"/>
              <a:t>Always encrypted machine learning </a:t>
            </a:r>
            <a:r>
              <a:rPr lang="en-US" b="1" dirty="0"/>
              <a:t>training and inference</a:t>
            </a:r>
            <a:r>
              <a:rPr lang="en-US" dirty="0"/>
              <a:t>:</a:t>
            </a:r>
          </a:p>
          <a:p>
            <a:pPr lvl="1"/>
            <a:r>
              <a:rPr lang="en-US" dirty="0"/>
              <a:t>Linear Regression</a:t>
            </a:r>
          </a:p>
          <a:p>
            <a:pPr lvl="1"/>
            <a:r>
              <a:rPr lang="en-US" dirty="0"/>
              <a:t>Logistic Regression</a:t>
            </a:r>
          </a:p>
          <a:p>
            <a:pPr lvl="1"/>
            <a:r>
              <a:rPr lang="en-US" dirty="0"/>
              <a:t>Neural Networks</a:t>
            </a:r>
          </a:p>
          <a:p>
            <a:pPr lvl="1"/>
            <a:r>
              <a:rPr lang="en-US" dirty="0"/>
              <a:t>Extendable to other models</a:t>
            </a:r>
          </a:p>
        </p:txBody>
      </p:sp>
    </p:spTree>
    <p:extLst>
      <p:ext uri="{BB962C8B-B14F-4D97-AF65-F5344CB8AC3E}">
        <p14:creationId xmlns:p14="http://schemas.microsoft.com/office/powerpoint/2010/main" val="188153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F8E01-7555-4C5D-9209-5B2713F6B319}"/>
              </a:ext>
            </a:extLst>
          </p:cNvPr>
          <p:cNvSpPr>
            <a:spLocks noGrp="1"/>
          </p:cNvSpPr>
          <p:nvPr>
            <p:ph type="title"/>
          </p:nvPr>
        </p:nvSpPr>
        <p:spPr/>
        <p:txBody>
          <a:bodyPr/>
          <a:lstStyle/>
          <a:p>
            <a:r>
              <a:rPr lang="en-US" dirty="0"/>
              <a:t>Protocols and Building block</a:t>
            </a:r>
          </a:p>
        </p:txBody>
      </p:sp>
    </p:spTree>
    <p:extLst>
      <p:ext uri="{BB962C8B-B14F-4D97-AF65-F5344CB8AC3E}">
        <p14:creationId xmlns:p14="http://schemas.microsoft.com/office/powerpoint/2010/main" val="558500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 name="Table 8">
            <a:extLst>
              <a:ext uri="{FF2B5EF4-FFF2-40B4-BE49-F238E27FC236}">
                <a16:creationId xmlns:a16="http://schemas.microsoft.com/office/drawing/2014/main" id="{7EA05B4B-832A-42FD-93F4-F96E0112D9FD}"/>
              </a:ext>
            </a:extLst>
          </p:cNvPr>
          <p:cNvGraphicFramePr>
            <a:graphicFrameLocks noGrp="1"/>
          </p:cNvGraphicFramePr>
          <p:nvPr>
            <p:extLst>
              <p:ext uri="{D42A27DB-BD31-4B8C-83A1-F6EECF244321}">
                <p14:modId xmlns:p14="http://schemas.microsoft.com/office/powerpoint/2010/main" val="3145816014"/>
              </p:ext>
            </p:extLst>
          </p:nvPr>
        </p:nvGraphicFramePr>
        <p:xfrm>
          <a:off x="9487146" y="2805933"/>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144" name="Table 8">
            <a:extLst>
              <a:ext uri="{FF2B5EF4-FFF2-40B4-BE49-F238E27FC236}">
                <a16:creationId xmlns:a16="http://schemas.microsoft.com/office/drawing/2014/main" id="{B2D143D0-75D4-4D8A-860D-FD5BD1C04E0E}"/>
              </a:ext>
            </a:extLst>
          </p:cNvPr>
          <p:cNvGraphicFramePr>
            <a:graphicFrameLocks noGrp="1"/>
          </p:cNvGraphicFramePr>
          <p:nvPr>
            <p:extLst>
              <p:ext uri="{D42A27DB-BD31-4B8C-83A1-F6EECF244321}">
                <p14:modId xmlns:p14="http://schemas.microsoft.com/office/powerpoint/2010/main" val="2312131738"/>
              </p:ext>
            </p:extLst>
          </p:nvPr>
        </p:nvGraphicFramePr>
        <p:xfrm>
          <a:off x="8822597" y="280626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99" name="Table 8">
            <a:extLst>
              <a:ext uri="{FF2B5EF4-FFF2-40B4-BE49-F238E27FC236}">
                <a16:creationId xmlns:a16="http://schemas.microsoft.com/office/drawing/2014/main" id="{1A5E82A8-9E98-4AE8-9D44-6F33DE353A4C}"/>
              </a:ext>
            </a:extLst>
          </p:cNvPr>
          <p:cNvGraphicFramePr>
            <a:graphicFrameLocks noGrp="1"/>
          </p:cNvGraphicFramePr>
          <p:nvPr>
            <p:extLst>
              <p:ext uri="{D42A27DB-BD31-4B8C-83A1-F6EECF244321}">
                <p14:modId xmlns:p14="http://schemas.microsoft.com/office/powerpoint/2010/main" val="1778756288"/>
              </p:ext>
            </p:extLst>
          </p:nvPr>
        </p:nvGraphicFramePr>
        <p:xfrm>
          <a:off x="5682833" y="615469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4" name="Table 8">
            <a:extLst>
              <a:ext uri="{FF2B5EF4-FFF2-40B4-BE49-F238E27FC236}">
                <a16:creationId xmlns:a16="http://schemas.microsoft.com/office/drawing/2014/main" id="{AA94607A-FC68-414D-9B30-FD086778AE7C}"/>
              </a:ext>
            </a:extLst>
          </p:cNvPr>
          <p:cNvGraphicFramePr>
            <a:graphicFrameLocks noGrp="1"/>
          </p:cNvGraphicFramePr>
          <p:nvPr>
            <p:extLst>
              <p:ext uri="{D42A27DB-BD31-4B8C-83A1-F6EECF244321}">
                <p14:modId xmlns:p14="http://schemas.microsoft.com/office/powerpoint/2010/main" val="703657358"/>
              </p:ext>
            </p:extLst>
          </p:nvPr>
        </p:nvGraphicFramePr>
        <p:xfrm>
          <a:off x="4976202" y="5470589"/>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 name="Title 1">
            <a:extLst>
              <a:ext uri="{FF2B5EF4-FFF2-40B4-BE49-F238E27FC236}">
                <a16:creationId xmlns:a16="http://schemas.microsoft.com/office/drawing/2014/main" id="{8750494D-C6FC-42A4-BA19-B6DC517317B5}"/>
              </a:ext>
            </a:extLst>
          </p:cNvPr>
          <p:cNvSpPr>
            <a:spLocks noGrp="1"/>
          </p:cNvSpPr>
          <p:nvPr>
            <p:ph type="title"/>
          </p:nvPr>
        </p:nvSpPr>
        <p:spPr>
          <a:xfrm>
            <a:off x="1451581" y="526148"/>
            <a:ext cx="9603275" cy="1049235"/>
          </a:xfrm>
        </p:spPr>
        <p:txBody>
          <a:bodyPr/>
          <a:lstStyle/>
          <a:p>
            <a:r>
              <a:rPr lang="en-US" dirty="0"/>
              <a:t>Always Encrypted</a:t>
            </a:r>
          </a:p>
        </p:txBody>
      </p:sp>
      <p:graphicFrame>
        <p:nvGraphicFramePr>
          <p:cNvPr id="28" name="Table 8">
            <a:extLst>
              <a:ext uri="{FF2B5EF4-FFF2-40B4-BE49-F238E27FC236}">
                <a16:creationId xmlns:a16="http://schemas.microsoft.com/office/drawing/2014/main" id="{CFCB7C49-97C8-42AB-A80C-4CF153660473}"/>
              </a:ext>
            </a:extLst>
          </p:cNvPr>
          <p:cNvGraphicFramePr>
            <a:graphicFrameLocks noGrp="1"/>
          </p:cNvGraphicFramePr>
          <p:nvPr>
            <p:extLst>
              <p:ext uri="{D42A27DB-BD31-4B8C-83A1-F6EECF244321}">
                <p14:modId xmlns:p14="http://schemas.microsoft.com/office/powerpoint/2010/main" val="1469208094"/>
              </p:ext>
            </p:extLst>
          </p:nvPr>
        </p:nvGraphicFramePr>
        <p:xfrm>
          <a:off x="4980957" y="5475923"/>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9" name="Rectangle 28">
            <a:extLst>
              <a:ext uri="{FF2B5EF4-FFF2-40B4-BE49-F238E27FC236}">
                <a16:creationId xmlns:a16="http://schemas.microsoft.com/office/drawing/2014/main" id="{74F6E127-9335-422D-84B2-F818A7B5690A}"/>
              </a:ext>
            </a:extLst>
          </p:cNvPr>
          <p:cNvSpPr/>
          <p:nvPr/>
        </p:nvSpPr>
        <p:spPr>
          <a:xfrm>
            <a:off x="4989637" y="5464784"/>
            <a:ext cx="459102" cy="477150"/>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descr="http://mahdiz.com/images/visaresearch.png">
            <a:extLst>
              <a:ext uri="{FF2B5EF4-FFF2-40B4-BE49-F238E27FC236}">
                <a16:creationId xmlns:a16="http://schemas.microsoft.com/office/drawing/2014/main" id="{8266D8DF-205D-45CB-BA19-E32AC273E71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059350" y="1575383"/>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descr="Image result for amazon icon">
            <a:extLst>
              <a:ext uri="{FF2B5EF4-FFF2-40B4-BE49-F238E27FC236}">
                <a16:creationId xmlns:a16="http://schemas.microsoft.com/office/drawing/2014/main" id="{58327AE0-5023-4D2D-8E80-9711EF0C442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9628929" y="4563920"/>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2" descr="Image result for bank of america">
            <a:extLst>
              <a:ext uri="{FF2B5EF4-FFF2-40B4-BE49-F238E27FC236}">
                <a16:creationId xmlns:a16="http://schemas.microsoft.com/office/drawing/2014/main" id="{27635A13-4E11-4CEA-AF84-DFDDAF9B9E7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4529769" y="4621370"/>
            <a:ext cx="2231395" cy="10109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5" name="Table 8">
            <a:extLst>
              <a:ext uri="{FF2B5EF4-FFF2-40B4-BE49-F238E27FC236}">
                <a16:creationId xmlns:a16="http://schemas.microsoft.com/office/drawing/2014/main" id="{4B6AFBDB-2F90-4D33-AA43-5697FDBEA318}"/>
              </a:ext>
            </a:extLst>
          </p:cNvPr>
          <p:cNvGraphicFramePr>
            <a:graphicFrameLocks noGrp="1"/>
          </p:cNvGraphicFramePr>
          <p:nvPr>
            <p:extLst>
              <p:ext uri="{D42A27DB-BD31-4B8C-83A1-F6EECF244321}">
                <p14:modId xmlns:p14="http://schemas.microsoft.com/office/powerpoint/2010/main" val="4259523126"/>
              </p:ext>
            </p:extLst>
          </p:nvPr>
        </p:nvGraphicFramePr>
        <p:xfrm>
          <a:off x="9627859" y="5437735"/>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6" name="Table 8">
            <a:extLst>
              <a:ext uri="{FF2B5EF4-FFF2-40B4-BE49-F238E27FC236}">
                <a16:creationId xmlns:a16="http://schemas.microsoft.com/office/drawing/2014/main" id="{63988EE9-5226-4B64-9E4C-A2ED51A4760D}"/>
              </a:ext>
            </a:extLst>
          </p:cNvPr>
          <p:cNvGraphicFramePr>
            <a:graphicFrameLocks noGrp="1"/>
          </p:cNvGraphicFramePr>
          <p:nvPr>
            <p:extLst>
              <p:ext uri="{D42A27DB-BD31-4B8C-83A1-F6EECF244321}">
                <p14:modId xmlns:p14="http://schemas.microsoft.com/office/powerpoint/2010/main" val="3780259376"/>
              </p:ext>
            </p:extLst>
          </p:nvPr>
        </p:nvGraphicFramePr>
        <p:xfrm>
          <a:off x="7889691" y="2092687"/>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39" name="Rectangle 38">
            <a:extLst>
              <a:ext uri="{FF2B5EF4-FFF2-40B4-BE49-F238E27FC236}">
                <a16:creationId xmlns:a16="http://schemas.microsoft.com/office/drawing/2014/main" id="{031A6F89-0985-4B04-A367-23DD59A785DD}"/>
              </a:ext>
            </a:extLst>
          </p:cNvPr>
          <p:cNvSpPr/>
          <p:nvPr/>
        </p:nvSpPr>
        <p:spPr>
          <a:xfrm>
            <a:off x="10607803" y="5428662"/>
            <a:ext cx="459102" cy="476433"/>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8B6DA1EF-DF46-457F-B4A1-F60FE5D65E14}"/>
              </a:ext>
            </a:extLst>
          </p:cNvPr>
          <p:cNvSpPr txBox="1"/>
          <p:nvPr/>
        </p:nvSpPr>
        <p:spPr>
          <a:xfrm>
            <a:off x="4749219" y="6219297"/>
            <a:ext cx="319318" cy="369332"/>
          </a:xfrm>
          <a:prstGeom prst="rect">
            <a:avLst/>
          </a:prstGeom>
          <a:noFill/>
        </p:spPr>
        <p:txBody>
          <a:bodyPr wrap="none" rtlCol="0">
            <a:spAutoFit/>
          </a:bodyPr>
          <a:lstStyle/>
          <a:p>
            <a:r>
              <a:rPr lang="en-US" dirty="0"/>
              <a:t>=</a:t>
            </a:r>
          </a:p>
        </p:txBody>
      </p:sp>
      <p:graphicFrame>
        <p:nvGraphicFramePr>
          <p:cNvPr id="48" name="Table 8">
            <a:extLst>
              <a:ext uri="{FF2B5EF4-FFF2-40B4-BE49-F238E27FC236}">
                <a16:creationId xmlns:a16="http://schemas.microsoft.com/office/drawing/2014/main" id="{9CD1A567-B08A-459C-BD46-67E2D954BDBD}"/>
              </a:ext>
            </a:extLst>
          </p:cNvPr>
          <p:cNvGraphicFramePr>
            <a:graphicFrameLocks noGrp="1"/>
          </p:cNvGraphicFramePr>
          <p:nvPr>
            <p:extLst>
              <p:ext uri="{D42A27DB-BD31-4B8C-83A1-F6EECF244321}">
                <p14:modId xmlns:p14="http://schemas.microsoft.com/office/powerpoint/2010/main" val="2262438584"/>
              </p:ext>
            </p:extLst>
          </p:nvPr>
        </p:nvGraphicFramePr>
        <p:xfrm>
          <a:off x="5036539" y="615140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49" name="TextBox 48">
            <a:extLst>
              <a:ext uri="{FF2B5EF4-FFF2-40B4-BE49-F238E27FC236}">
                <a16:creationId xmlns:a16="http://schemas.microsoft.com/office/drawing/2014/main" id="{0A8ECB6C-D633-4241-A5A4-CB4EC8689674}"/>
              </a:ext>
            </a:extLst>
          </p:cNvPr>
          <p:cNvSpPr txBox="1"/>
          <p:nvPr/>
        </p:nvSpPr>
        <p:spPr>
          <a:xfrm>
            <a:off x="5449819" y="6219861"/>
            <a:ext cx="319318" cy="369332"/>
          </a:xfrm>
          <a:prstGeom prst="rect">
            <a:avLst/>
          </a:prstGeom>
          <a:noFill/>
        </p:spPr>
        <p:txBody>
          <a:bodyPr wrap="none" rtlCol="0">
            <a:spAutoFit/>
          </a:bodyPr>
          <a:lstStyle/>
          <a:p>
            <a:r>
              <a:rPr lang="en-US" dirty="0"/>
              <a:t>+</a:t>
            </a:r>
          </a:p>
        </p:txBody>
      </p:sp>
      <p:sp>
        <p:nvSpPr>
          <p:cNvPr id="51" name="Rectangle 50">
            <a:extLst>
              <a:ext uri="{FF2B5EF4-FFF2-40B4-BE49-F238E27FC236}">
                <a16:creationId xmlns:a16="http://schemas.microsoft.com/office/drawing/2014/main" id="{41A0213A-C40B-4A32-99C3-F06983C271CE}"/>
              </a:ext>
            </a:extLst>
          </p:cNvPr>
          <p:cNvSpPr/>
          <p:nvPr/>
        </p:nvSpPr>
        <p:spPr>
          <a:xfrm>
            <a:off x="5041840" y="6151403"/>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76EEFF6-79A4-4BDC-BF2C-19AF1525A7DB}"/>
              </a:ext>
            </a:extLst>
          </p:cNvPr>
          <p:cNvSpPr/>
          <p:nvPr/>
        </p:nvSpPr>
        <p:spPr>
          <a:xfrm>
            <a:off x="5041840" y="6257046"/>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3DAF8B2-CA57-416B-971C-5ED3D745E439}"/>
              </a:ext>
            </a:extLst>
          </p:cNvPr>
          <p:cNvSpPr/>
          <p:nvPr/>
        </p:nvSpPr>
        <p:spPr>
          <a:xfrm>
            <a:off x="5040059" y="6382650"/>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9052B37-C6BE-4A59-9ADC-FBDB80447C13}"/>
              </a:ext>
            </a:extLst>
          </p:cNvPr>
          <p:cNvSpPr/>
          <p:nvPr/>
        </p:nvSpPr>
        <p:spPr>
          <a:xfrm>
            <a:off x="5040059" y="6493946"/>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33D2D59-AC7F-4AD5-95B2-25EC8F6A44F5}"/>
              </a:ext>
            </a:extLst>
          </p:cNvPr>
          <p:cNvSpPr/>
          <p:nvPr/>
        </p:nvSpPr>
        <p:spPr>
          <a:xfrm>
            <a:off x="5278918" y="6152190"/>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AF9968-A8A9-4CCD-8DC6-C67F30371307}"/>
              </a:ext>
            </a:extLst>
          </p:cNvPr>
          <p:cNvSpPr/>
          <p:nvPr/>
        </p:nvSpPr>
        <p:spPr>
          <a:xfrm>
            <a:off x="5278918" y="6257833"/>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6DAF06D-4D41-4F5E-8B55-1101A7A725E1}"/>
              </a:ext>
            </a:extLst>
          </p:cNvPr>
          <p:cNvSpPr/>
          <p:nvPr/>
        </p:nvSpPr>
        <p:spPr>
          <a:xfrm>
            <a:off x="5277137" y="6383437"/>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FB20890-E611-4727-8838-029A138465C7}"/>
              </a:ext>
            </a:extLst>
          </p:cNvPr>
          <p:cNvSpPr/>
          <p:nvPr/>
        </p:nvSpPr>
        <p:spPr>
          <a:xfrm>
            <a:off x="5277137" y="6494733"/>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AE3B4ED-D199-411F-8032-53F3FCA03B8E}"/>
              </a:ext>
            </a:extLst>
          </p:cNvPr>
          <p:cNvSpPr/>
          <p:nvPr/>
        </p:nvSpPr>
        <p:spPr>
          <a:xfrm>
            <a:off x="5684614" y="6163166"/>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2BD38CB5-4D37-451E-8FAA-D0FF13FE7D7C}"/>
              </a:ext>
            </a:extLst>
          </p:cNvPr>
          <p:cNvSpPr/>
          <p:nvPr/>
        </p:nvSpPr>
        <p:spPr>
          <a:xfrm>
            <a:off x="5684614" y="626880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20C7E40-2410-4705-9263-362F7EC57C11}"/>
              </a:ext>
            </a:extLst>
          </p:cNvPr>
          <p:cNvSpPr/>
          <p:nvPr/>
        </p:nvSpPr>
        <p:spPr>
          <a:xfrm>
            <a:off x="5682833" y="6394413"/>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C26880A-3D90-4C27-B05A-8DA90B5F9261}"/>
              </a:ext>
            </a:extLst>
          </p:cNvPr>
          <p:cNvSpPr/>
          <p:nvPr/>
        </p:nvSpPr>
        <p:spPr>
          <a:xfrm>
            <a:off x="5682833" y="6505709"/>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F731BBD-32B8-4738-B6B3-83012F0E650C}"/>
              </a:ext>
            </a:extLst>
          </p:cNvPr>
          <p:cNvSpPr/>
          <p:nvPr/>
        </p:nvSpPr>
        <p:spPr>
          <a:xfrm>
            <a:off x="5921692" y="616395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E117119-C6AC-4573-B98F-0E2E23586925}"/>
              </a:ext>
            </a:extLst>
          </p:cNvPr>
          <p:cNvSpPr/>
          <p:nvPr/>
        </p:nvSpPr>
        <p:spPr>
          <a:xfrm>
            <a:off x="5921692" y="626959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94EA755-559B-445A-AD90-C03A9828F515}"/>
              </a:ext>
            </a:extLst>
          </p:cNvPr>
          <p:cNvSpPr/>
          <p:nvPr/>
        </p:nvSpPr>
        <p:spPr>
          <a:xfrm>
            <a:off x="5919911" y="6395200"/>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790AB8-99F7-4B3C-919A-CD45768D6FD9}"/>
              </a:ext>
            </a:extLst>
          </p:cNvPr>
          <p:cNvSpPr/>
          <p:nvPr/>
        </p:nvSpPr>
        <p:spPr>
          <a:xfrm>
            <a:off x="5919911" y="6506496"/>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1" name="Table 8">
            <a:extLst>
              <a:ext uri="{FF2B5EF4-FFF2-40B4-BE49-F238E27FC236}">
                <a16:creationId xmlns:a16="http://schemas.microsoft.com/office/drawing/2014/main" id="{E98D3F8B-FDF7-4A1D-BAD5-0D9041AB3E42}"/>
              </a:ext>
            </a:extLst>
          </p:cNvPr>
          <p:cNvGraphicFramePr>
            <a:graphicFrameLocks noGrp="1"/>
          </p:cNvGraphicFramePr>
          <p:nvPr>
            <p:extLst>
              <p:ext uri="{D42A27DB-BD31-4B8C-83A1-F6EECF244321}">
                <p14:modId xmlns:p14="http://schemas.microsoft.com/office/powerpoint/2010/main" val="3621944526"/>
              </p:ext>
            </p:extLst>
          </p:nvPr>
        </p:nvGraphicFramePr>
        <p:xfrm>
          <a:off x="4320085" y="615266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00" name="Rectangle 99">
            <a:extLst>
              <a:ext uri="{FF2B5EF4-FFF2-40B4-BE49-F238E27FC236}">
                <a16:creationId xmlns:a16="http://schemas.microsoft.com/office/drawing/2014/main" id="{96F970B9-E546-44E1-AA59-E708F4E54F58}"/>
              </a:ext>
            </a:extLst>
          </p:cNvPr>
          <p:cNvSpPr/>
          <p:nvPr/>
        </p:nvSpPr>
        <p:spPr>
          <a:xfrm>
            <a:off x="4335276" y="6146750"/>
            <a:ext cx="459102" cy="477150"/>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2" name="Table 8">
            <a:extLst>
              <a:ext uri="{FF2B5EF4-FFF2-40B4-BE49-F238E27FC236}">
                <a16:creationId xmlns:a16="http://schemas.microsoft.com/office/drawing/2014/main" id="{E607CB41-2FDD-4412-8083-D14DCE31857F}"/>
              </a:ext>
            </a:extLst>
          </p:cNvPr>
          <p:cNvGraphicFramePr>
            <a:graphicFrameLocks noGrp="1"/>
          </p:cNvGraphicFramePr>
          <p:nvPr>
            <p:extLst>
              <p:ext uri="{D42A27DB-BD31-4B8C-83A1-F6EECF244321}">
                <p14:modId xmlns:p14="http://schemas.microsoft.com/office/powerpoint/2010/main" val="2441164205"/>
              </p:ext>
            </p:extLst>
          </p:nvPr>
        </p:nvGraphicFramePr>
        <p:xfrm>
          <a:off x="6343298" y="615140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03" name="TextBox 102">
            <a:extLst>
              <a:ext uri="{FF2B5EF4-FFF2-40B4-BE49-F238E27FC236}">
                <a16:creationId xmlns:a16="http://schemas.microsoft.com/office/drawing/2014/main" id="{D3D0A2D1-3762-4CE7-BFE7-579501085515}"/>
              </a:ext>
            </a:extLst>
          </p:cNvPr>
          <p:cNvSpPr txBox="1"/>
          <p:nvPr/>
        </p:nvSpPr>
        <p:spPr>
          <a:xfrm>
            <a:off x="6105147" y="6216571"/>
            <a:ext cx="319318" cy="369332"/>
          </a:xfrm>
          <a:prstGeom prst="rect">
            <a:avLst/>
          </a:prstGeom>
          <a:noFill/>
        </p:spPr>
        <p:txBody>
          <a:bodyPr wrap="none" rtlCol="0">
            <a:spAutoFit/>
          </a:bodyPr>
          <a:lstStyle/>
          <a:p>
            <a:r>
              <a:rPr lang="en-US" dirty="0"/>
              <a:t>+</a:t>
            </a:r>
          </a:p>
        </p:txBody>
      </p:sp>
      <p:sp>
        <p:nvSpPr>
          <p:cNvPr id="104" name="Rectangle 103">
            <a:extLst>
              <a:ext uri="{FF2B5EF4-FFF2-40B4-BE49-F238E27FC236}">
                <a16:creationId xmlns:a16="http://schemas.microsoft.com/office/drawing/2014/main" id="{33726939-8E4B-4581-8456-C244D56AB040}"/>
              </a:ext>
            </a:extLst>
          </p:cNvPr>
          <p:cNvSpPr/>
          <p:nvPr/>
        </p:nvSpPr>
        <p:spPr>
          <a:xfrm>
            <a:off x="6586566" y="6390511"/>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5474DFA5-A91F-4B5D-AC62-7EE2FE5B71B9}"/>
              </a:ext>
            </a:extLst>
          </p:cNvPr>
          <p:cNvSpPr/>
          <p:nvPr/>
        </p:nvSpPr>
        <p:spPr>
          <a:xfrm>
            <a:off x="6345079" y="6265519"/>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39FE9C82-C04F-487B-8E2F-F4912C1A924E}"/>
              </a:ext>
            </a:extLst>
          </p:cNvPr>
          <p:cNvSpPr/>
          <p:nvPr/>
        </p:nvSpPr>
        <p:spPr>
          <a:xfrm>
            <a:off x="6580393" y="6487462"/>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9BDA4A35-3B77-4BA1-A673-E18BE0B46390}"/>
              </a:ext>
            </a:extLst>
          </p:cNvPr>
          <p:cNvSpPr/>
          <p:nvPr/>
        </p:nvSpPr>
        <p:spPr>
          <a:xfrm>
            <a:off x="6593768" y="6151403"/>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BE7F07D-0176-454C-91B6-29D93D2DE32E}"/>
              </a:ext>
            </a:extLst>
          </p:cNvPr>
          <p:cNvSpPr/>
          <p:nvPr/>
        </p:nvSpPr>
        <p:spPr>
          <a:xfrm>
            <a:off x="6582227" y="6258038"/>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444CACA1-C0CC-42BA-B8ED-F5D6B7F95192}"/>
              </a:ext>
            </a:extLst>
          </p:cNvPr>
          <p:cNvSpPr/>
          <p:nvPr/>
        </p:nvSpPr>
        <p:spPr>
          <a:xfrm>
            <a:off x="6345891" y="648015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617A09EE-5BBC-4E39-B07C-491950ACE550}"/>
              </a:ext>
            </a:extLst>
          </p:cNvPr>
          <p:cNvSpPr/>
          <p:nvPr/>
        </p:nvSpPr>
        <p:spPr>
          <a:xfrm>
            <a:off x="6355628" y="6390017"/>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C4596C93-FE4D-47EF-8419-E22BFF621BE1}"/>
              </a:ext>
            </a:extLst>
          </p:cNvPr>
          <p:cNvSpPr/>
          <p:nvPr/>
        </p:nvSpPr>
        <p:spPr>
          <a:xfrm>
            <a:off x="6329946" y="614513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4" name="Table 8">
            <a:extLst>
              <a:ext uri="{FF2B5EF4-FFF2-40B4-BE49-F238E27FC236}">
                <a16:creationId xmlns:a16="http://schemas.microsoft.com/office/drawing/2014/main" id="{7516AEA7-3C5E-499B-9462-BF146179DEC3}"/>
              </a:ext>
            </a:extLst>
          </p:cNvPr>
          <p:cNvGraphicFramePr>
            <a:graphicFrameLocks noGrp="1"/>
          </p:cNvGraphicFramePr>
          <p:nvPr>
            <p:extLst>
              <p:ext uri="{D42A27DB-BD31-4B8C-83A1-F6EECF244321}">
                <p14:modId xmlns:p14="http://schemas.microsoft.com/office/powerpoint/2010/main" val="867261140"/>
              </p:ext>
            </p:extLst>
          </p:nvPr>
        </p:nvGraphicFramePr>
        <p:xfrm>
          <a:off x="8171111" y="279184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16" name="Rectangle 115">
            <a:extLst>
              <a:ext uri="{FF2B5EF4-FFF2-40B4-BE49-F238E27FC236}">
                <a16:creationId xmlns:a16="http://schemas.microsoft.com/office/drawing/2014/main" id="{90E64514-C8E8-4883-9FCC-267B322A4995}"/>
              </a:ext>
            </a:extLst>
          </p:cNvPr>
          <p:cNvSpPr/>
          <p:nvPr/>
        </p:nvSpPr>
        <p:spPr>
          <a:xfrm>
            <a:off x="8176412" y="2791849"/>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29A2B435-F418-4DA5-A075-C2F98205BE0D}"/>
              </a:ext>
            </a:extLst>
          </p:cNvPr>
          <p:cNvSpPr/>
          <p:nvPr/>
        </p:nvSpPr>
        <p:spPr>
          <a:xfrm>
            <a:off x="8176412" y="2897492"/>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245DC45B-9AFE-44D0-9DFA-7634278AB66D}"/>
              </a:ext>
            </a:extLst>
          </p:cNvPr>
          <p:cNvSpPr/>
          <p:nvPr/>
        </p:nvSpPr>
        <p:spPr>
          <a:xfrm>
            <a:off x="8413490" y="2792636"/>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20310BC5-B7D6-4619-B439-43535B205D73}"/>
              </a:ext>
            </a:extLst>
          </p:cNvPr>
          <p:cNvSpPr/>
          <p:nvPr/>
        </p:nvSpPr>
        <p:spPr>
          <a:xfrm>
            <a:off x="8413490" y="2898279"/>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EC235775-1D0F-438E-B818-1981B592EE56}"/>
              </a:ext>
            </a:extLst>
          </p:cNvPr>
          <p:cNvSpPr/>
          <p:nvPr/>
        </p:nvSpPr>
        <p:spPr>
          <a:xfrm>
            <a:off x="8824323" y="2803612"/>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54EF3C6B-2CAE-4261-A497-17B48C76A489}"/>
              </a:ext>
            </a:extLst>
          </p:cNvPr>
          <p:cNvSpPr/>
          <p:nvPr/>
        </p:nvSpPr>
        <p:spPr>
          <a:xfrm>
            <a:off x="8824323" y="2909255"/>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44D4D4F1-44E6-413C-84D6-A380CA40C243}"/>
              </a:ext>
            </a:extLst>
          </p:cNvPr>
          <p:cNvSpPr/>
          <p:nvPr/>
        </p:nvSpPr>
        <p:spPr>
          <a:xfrm>
            <a:off x="9061401" y="2804399"/>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70177D4F-9129-4387-BA87-81344125B349}"/>
              </a:ext>
            </a:extLst>
          </p:cNvPr>
          <p:cNvSpPr/>
          <p:nvPr/>
        </p:nvSpPr>
        <p:spPr>
          <a:xfrm>
            <a:off x="9061401" y="2910042"/>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2" name="Table 8">
            <a:extLst>
              <a:ext uri="{FF2B5EF4-FFF2-40B4-BE49-F238E27FC236}">
                <a16:creationId xmlns:a16="http://schemas.microsoft.com/office/drawing/2014/main" id="{00754AE0-0373-4F14-885F-2FC5F48E3E85}"/>
              </a:ext>
            </a:extLst>
          </p:cNvPr>
          <p:cNvGraphicFramePr>
            <a:graphicFrameLocks noGrp="1"/>
          </p:cNvGraphicFramePr>
          <p:nvPr>
            <p:extLst>
              <p:ext uri="{D42A27DB-BD31-4B8C-83A1-F6EECF244321}">
                <p14:modId xmlns:p14="http://schemas.microsoft.com/office/powerpoint/2010/main" val="3629893576"/>
              </p:ext>
            </p:extLst>
          </p:nvPr>
        </p:nvGraphicFramePr>
        <p:xfrm>
          <a:off x="7495753" y="279310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7" name="Rectangle 136">
            <a:extLst>
              <a:ext uri="{FF2B5EF4-FFF2-40B4-BE49-F238E27FC236}">
                <a16:creationId xmlns:a16="http://schemas.microsoft.com/office/drawing/2014/main" id="{22BC5B24-7223-4134-9E9C-277326144337}"/>
              </a:ext>
            </a:extLst>
          </p:cNvPr>
          <p:cNvSpPr/>
          <p:nvPr/>
        </p:nvSpPr>
        <p:spPr>
          <a:xfrm>
            <a:off x="9489925" y="293165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B26F8EB9-2509-4DC2-98C7-6E3BBE2F8441}"/>
              </a:ext>
            </a:extLst>
          </p:cNvPr>
          <p:cNvSpPr/>
          <p:nvPr/>
        </p:nvSpPr>
        <p:spPr>
          <a:xfrm>
            <a:off x="9738614" y="281753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197BC53E-A526-47FF-A0A3-EC99C7AAE490}"/>
              </a:ext>
            </a:extLst>
          </p:cNvPr>
          <p:cNvSpPr/>
          <p:nvPr/>
        </p:nvSpPr>
        <p:spPr>
          <a:xfrm>
            <a:off x="9727073" y="2924169"/>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8082214A-BCE6-4651-8EDB-74D7380A1C0C}"/>
              </a:ext>
            </a:extLst>
          </p:cNvPr>
          <p:cNvSpPr/>
          <p:nvPr/>
        </p:nvSpPr>
        <p:spPr>
          <a:xfrm>
            <a:off x="9474792" y="281126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41249C89-4627-46D1-BFE1-4F51DB9E644C}"/>
              </a:ext>
            </a:extLst>
          </p:cNvPr>
          <p:cNvSpPr/>
          <p:nvPr/>
        </p:nvSpPr>
        <p:spPr>
          <a:xfrm>
            <a:off x="7509101" y="2797434"/>
            <a:ext cx="469376" cy="22385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7" name="Table 8">
            <a:extLst>
              <a:ext uri="{FF2B5EF4-FFF2-40B4-BE49-F238E27FC236}">
                <a16:creationId xmlns:a16="http://schemas.microsoft.com/office/drawing/2014/main" id="{C39B757E-7978-422D-81B5-E57F0D5DC0CF}"/>
              </a:ext>
            </a:extLst>
          </p:cNvPr>
          <p:cNvGraphicFramePr>
            <a:graphicFrameLocks noGrp="1"/>
          </p:cNvGraphicFramePr>
          <p:nvPr>
            <p:extLst>
              <p:ext uri="{D42A27DB-BD31-4B8C-83A1-F6EECF244321}">
                <p14:modId xmlns:p14="http://schemas.microsoft.com/office/powerpoint/2010/main" val="3024994907"/>
              </p:ext>
            </p:extLst>
          </p:nvPr>
        </p:nvGraphicFramePr>
        <p:xfrm>
          <a:off x="10824251" y="615327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68" name="TextBox 167">
            <a:extLst>
              <a:ext uri="{FF2B5EF4-FFF2-40B4-BE49-F238E27FC236}">
                <a16:creationId xmlns:a16="http://schemas.microsoft.com/office/drawing/2014/main" id="{81DE6CC0-21F3-4398-A0F5-1A8236971981}"/>
              </a:ext>
            </a:extLst>
          </p:cNvPr>
          <p:cNvSpPr txBox="1"/>
          <p:nvPr/>
        </p:nvSpPr>
        <p:spPr>
          <a:xfrm>
            <a:off x="9916322" y="6217878"/>
            <a:ext cx="319318" cy="369332"/>
          </a:xfrm>
          <a:prstGeom prst="rect">
            <a:avLst/>
          </a:prstGeom>
          <a:noFill/>
        </p:spPr>
        <p:txBody>
          <a:bodyPr wrap="none" rtlCol="0">
            <a:spAutoFit/>
          </a:bodyPr>
          <a:lstStyle/>
          <a:p>
            <a:r>
              <a:rPr lang="en-US" dirty="0"/>
              <a:t>=</a:t>
            </a:r>
          </a:p>
        </p:txBody>
      </p:sp>
      <p:graphicFrame>
        <p:nvGraphicFramePr>
          <p:cNvPr id="169" name="Table 8">
            <a:extLst>
              <a:ext uri="{FF2B5EF4-FFF2-40B4-BE49-F238E27FC236}">
                <a16:creationId xmlns:a16="http://schemas.microsoft.com/office/drawing/2014/main" id="{9815C0E0-16F2-4BA8-96D7-88A353C2F818}"/>
              </a:ext>
            </a:extLst>
          </p:cNvPr>
          <p:cNvGraphicFramePr>
            <a:graphicFrameLocks noGrp="1"/>
          </p:cNvGraphicFramePr>
          <p:nvPr>
            <p:extLst>
              <p:ext uri="{D42A27DB-BD31-4B8C-83A1-F6EECF244321}">
                <p14:modId xmlns:p14="http://schemas.microsoft.com/office/powerpoint/2010/main" val="4074350000"/>
              </p:ext>
            </p:extLst>
          </p:nvPr>
        </p:nvGraphicFramePr>
        <p:xfrm>
          <a:off x="10167683" y="614998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70" name="TextBox 169">
            <a:extLst>
              <a:ext uri="{FF2B5EF4-FFF2-40B4-BE49-F238E27FC236}">
                <a16:creationId xmlns:a16="http://schemas.microsoft.com/office/drawing/2014/main" id="{1E827122-486E-4E95-A378-469B01483DB2}"/>
              </a:ext>
            </a:extLst>
          </p:cNvPr>
          <p:cNvSpPr txBox="1"/>
          <p:nvPr/>
        </p:nvSpPr>
        <p:spPr>
          <a:xfrm>
            <a:off x="10580963" y="6218442"/>
            <a:ext cx="319318" cy="369332"/>
          </a:xfrm>
          <a:prstGeom prst="rect">
            <a:avLst/>
          </a:prstGeom>
          <a:noFill/>
        </p:spPr>
        <p:txBody>
          <a:bodyPr wrap="none" rtlCol="0">
            <a:spAutoFit/>
          </a:bodyPr>
          <a:lstStyle/>
          <a:p>
            <a:r>
              <a:rPr lang="en-US" dirty="0"/>
              <a:t>+</a:t>
            </a:r>
          </a:p>
        </p:txBody>
      </p:sp>
      <p:sp>
        <p:nvSpPr>
          <p:cNvPr id="171" name="Rectangle 170">
            <a:extLst>
              <a:ext uri="{FF2B5EF4-FFF2-40B4-BE49-F238E27FC236}">
                <a16:creationId xmlns:a16="http://schemas.microsoft.com/office/drawing/2014/main" id="{6A117F88-7C5C-44BC-ADA8-6388FC3AF1E6}"/>
              </a:ext>
            </a:extLst>
          </p:cNvPr>
          <p:cNvSpPr/>
          <p:nvPr/>
        </p:nvSpPr>
        <p:spPr>
          <a:xfrm>
            <a:off x="10172984" y="6149984"/>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D5933408-95C9-4191-89DD-8C55F54B617C}"/>
              </a:ext>
            </a:extLst>
          </p:cNvPr>
          <p:cNvSpPr/>
          <p:nvPr/>
        </p:nvSpPr>
        <p:spPr>
          <a:xfrm>
            <a:off x="10172984" y="6255627"/>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9A9FB4E-4E74-476D-B35D-CE96E5294932}"/>
              </a:ext>
            </a:extLst>
          </p:cNvPr>
          <p:cNvSpPr/>
          <p:nvPr/>
        </p:nvSpPr>
        <p:spPr>
          <a:xfrm>
            <a:off x="10171203" y="6381231"/>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E45AFCFC-D714-47D7-A4A0-429E1E6C1015}"/>
              </a:ext>
            </a:extLst>
          </p:cNvPr>
          <p:cNvSpPr/>
          <p:nvPr/>
        </p:nvSpPr>
        <p:spPr>
          <a:xfrm>
            <a:off x="10171203" y="6492527"/>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44D25F72-A8A9-4D6A-9831-7B25C9BDB531}"/>
              </a:ext>
            </a:extLst>
          </p:cNvPr>
          <p:cNvSpPr/>
          <p:nvPr/>
        </p:nvSpPr>
        <p:spPr>
          <a:xfrm>
            <a:off x="10410062" y="6150771"/>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DC6AC02D-4B54-4061-A539-B67313959977}"/>
              </a:ext>
            </a:extLst>
          </p:cNvPr>
          <p:cNvSpPr/>
          <p:nvPr/>
        </p:nvSpPr>
        <p:spPr>
          <a:xfrm>
            <a:off x="10410062" y="6256414"/>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C8AB33D-6DE8-4F2F-872E-094DF09EE538}"/>
              </a:ext>
            </a:extLst>
          </p:cNvPr>
          <p:cNvSpPr/>
          <p:nvPr/>
        </p:nvSpPr>
        <p:spPr>
          <a:xfrm>
            <a:off x="10408281" y="6382018"/>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DF6CF24E-A903-4C42-AD35-40D25ED3614D}"/>
              </a:ext>
            </a:extLst>
          </p:cNvPr>
          <p:cNvSpPr/>
          <p:nvPr/>
        </p:nvSpPr>
        <p:spPr>
          <a:xfrm>
            <a:off x="10408281" y="6493314"/>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664357BF-B4FE-46B7-AD9E-385A5D57D88D}"/>
              </a:ext>
            </a:extLst>
          </p:cNvPr>
          <p:cNvSpPr/>
          <p:nvPr/>
        </p:nvSpPr>
        <p:spPr>
          <a:xfrm>
            <a:off x="10826032" y="6161747"/>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1187C75C-ECB3-4C33-BB9F-9D8E5633B4D0}"/>
              </a:ext>
            </a:extLst>
          </p:cNvPr>
          <p:cNvSpPr/>
          <p:nvPr/>
        </p:nvSpPr>
        <p:spPr>
          <a:xfrm>
            <a:off x="10826032" y="6267390"/>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9E6E5199-CB1C-4527-B455-D1C1D25A01A9}"/>
              </a:ext>
            </a:extLst>
          </p:cNvPr>
          <p:cNvSpPr/>
          <p:nvPr/>
        </p:nvSpPr>
        <p:spPr>
          <a:xfrm>
            <a:off x="10824251" y="6392994"/>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5B3F6E74-4660-49EC-9F39-115E4718A3E0}"/>
              </a:ext>
            </a:extLst>
          </p:cNvPr>
          <p:cNvSpPr/>
          <p:nvPr/>
        </p:nvSpPr>
        <p:spPr>
          <a:xfrm>
            <a:off x="10824251" y="6504290"/>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EAEAA41-AEA5-4EA2-9F9F-89FB1F1F55E8}"/>
              </a:ext>
            </a:extLst>
          </p:cNvPr>
          <p:cNvSpPr/>
          <p:nvPr/>
        </p:nvSpPr>
        <p:spPr>
          <a:xfrm>
            <a:off x="11063110" y="616253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B06FA891-04FB-489E-AA55-BD19AF136473}"/>
              </a:ext>
            </a:extLst>
          </p:cNvPr>
          <p:cNvSpPr/>
          <p:nvPr/>
        </p:nvSpPr>
        <p:spPr>
          <a:xfrm>
            <a:off x="11063110" y="6268177"/>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EAD7E971-4BAC-473B-8A83-0750FCF4BCEE}"/>
              </a:ext>
            </a:extLst>
          </p:cNvPr>
          <p:cNvSpPr/>
          <p:nvPr/>
        </p:nvSpPr>
        <p:spPr>
          <a:xfrm>
            <a:off x="11061329" y="6393781"/>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79CED9C0-4080-4BE0-9842-DC526D7193D9}"/>
              </a:ext>
            </a:extLst>
          </p:cNvPr>
          <p:cNvSpPr/>
          <p:nvPr/>
        </p:nvSpPr>
        <p:spPr>
          <a:xfrm>
            <a:off x="11061329" y="650507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7" name="Table 8">
            <a:extLst>
              <a:ext uri="{FF2B5EF4-FFF2-40B4-BE49-F238E27FC236}">
                <a16:creationId xmlns:a16="http://schemas.microsoft.com/office/drawing/2014/main" id="{E609D955-3D10-45EE-8529-8D7528C2BA3F}"/>
              </a:ext>
            </a:extLst>
          </p:cNvPr>
          <p:cNvGraphicFramePr>
            <a:graphicFrameLocks noGrp="1"/>
          </p:cNvGraphicFramePr>
          <p:nvPr>
            <p:extLst>
              <p:ext uri="{D42A27DB-BD31-4B8C-83A1-F6EECF244321}">
                <p14:modId xmlns:p14="http://schemas.microsoft.com/office/powerpoint/2010/main" val="2162151070"/>
              </p:ext>
            </p:extLst>
          </p:nvPr>
        </p:nvGraphicFramePr>
        <p:xfrm>
          <a:off x="9487188" y="615124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189" name="Table 8">
            <a:extLst>
              <a:ext uri="{FF2B5EF4-FFF2-40B4-BE49-F238E27FC236}">
                <a16:creationId xmlns:a16="http://schemas.microsoft.com/office/drawing/2014/main" id="{5F619DE0-D673-46A6-9D81-21709F83F28C}"/>
              </a:ext>
            </a:extLst>
          </p:cNvPr>
          <p:cNvGraphicFramePr>
            <a:graphicFrameLocks noGrp="1"/>
          </p:cNvGraphicFramePr>
          <p:nvPr>
            <p:extLst>
              <p:ext uri="{D42A27DB-BD31-4B8C-83A1-F6EECF244321}">
                <p14:modId xmlns:p14="http://schemas.microsoft.com/office/powerpoint/2010/main" val="684421684"/>
              </p:ext>
            </p:extLst>
          </p:nvPr>
        </p:nvGraphicFramePr>
        <p:xfrm>
          <a:off x="11474442" y="614998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90" name="TextBox 189">
            <a:extLst>
              <a:ext uri="{FF2B5EF4-FFF2-40B4-BE49-F238E27FC236}">
                <a16:creationId xmlns:a16="http://schemas.microsoft.com/office/drawing/2014/main" id="{EABBE2F1-894B-407C-A353-61576CDBAC9E}"/>
              </a:ext>
            </a:extLst>
          </p:cNvPr>
          <p:cNvSpPr txBox="1"/>
          <p:nvPr/>
        </p:nvSpPr>
        <p:spPr>
          <a:xfrm>
            <a:off x="11231154" y="6215152"/>
            <a:ext cx="319318" cy="369332"/>
          </a:xfrm>
          <a:prstGeom prst="rect">
            <a:avLst/>
          </a:prstGeom>
          <a:noFill/>
        </p:spPr>
        <p:txBody>
          <a:bodyPr wrap="none" rtlCol="0">
            <a:spAutoFit/>
          </a:bodyPr>
          <a:lstStyle/>
          <a:p>
            <a:r>
              <a:rPr lang="en-US" dirty="0"/>
              <a:t>+</a:t>
            </a:r>
          </a:p>
        </p:txBody>
      </p:sp>
      <p:sp>
        <p:nvSpPr>
          <p:cNvPr id="191" name="Rectangle 190">
            <a:extLst>
              <a:ext uri="{FF2B5EF4-FFF2-40B4-BE49-F238E27FC236}">
                <a16:creationId xmlns:a16="http://schemas.microsoft.com/office/drawing/2014/main" id="{92E80C1C-3D16-437F-B64F-115752C3D70C}"/>
              </a:ext>
            </a:extLst>
          </p:cNvPr>
          <p:cNvSpPr/>
          <p:nvPr/>
        </p:nvSpPr>
        <p:spPr>
          <a:xfrm>
            <a:off x="11717710" y="6389092"/>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00797504-82BB-418C-8682-77DE8C607AB4}"/>
              </a:ext>
            </a:extLst>
          </p:cNvPr>
          <p:cNvSpPr/>
          <p:nvPr/>
        </p:nvSpPr>
        <p:spPr>
          <a:xfrm>
            <a:off x="11476223" y="626410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56991721-AEF0-4D29-A903-E114970D36C7}"/>
              </a:ext>
            </a:extLst>
          </p:cNvPr>
          <p:cNvSpPr/>
          <p:nvPr/>
        </p:nvSpPr>
        <p:spPr>
          <a:xfrm>
            <a:off x="11711537" y="6486043"/>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74A2B658-C9D5-4EAE-A898-2C544ED1971F}"/>
              </a:ext>
            </a:extLst>
          </p:cNvPr>
          <p:cNvSpPr/>
          <p:nvPr/>
        </p:nvSpPr>
        <p:spPr>
          <a:xfrm>
            <a:off x="11724912" y="614998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2CDA4A73-5F66-4FF2-BA98-29295A16743C}"/>
              </a:ext>
            </a:extLst>
          </p:cNvPr>
          <p:cNvSpPr/>
          <p:nvPr/>
        </p:nvSpPr>
        <p:spPr>
          <a:xfrm>
            <a:off x="11713371" y="6256619"/>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F163CCCE-9173-4FF6-94FB-A4F4F2ACE8B9}"/>
              </a:ext>
            </a:extLst>
          </p:cNvPr>
          <p:cNvSpPr/>
          <p:nvPr/>
        </p:nvSpPr>
        <p:spPr>
          <a:xfrm>
            <a:off x="11477035" y="6468457"/>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AD29DCE-FBC1-4B17-8DD7-CA4B22BC76D0}"/>
              </a:ext>
            </a:extLst>
          </p:cNvPr>
          <p:cNvSpPr/>
          <p:nvPr/>
        </p:nvSpPr>
        <p:spPr>
          <a:xfrm>
            <a:off x="11486772" y="6388598"/>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4E07A6AC-4141-4C4D-9A34-936860292F4E}"/>
              </a:ext>
            </a:extLst>
          </p:cNvPr>
          <p:cNvSpPr/>
          <p:nvPr/>
        </p:nvSpPr>
        <p:spPr>
          <a:xfrm>
            <a:off x="11461090" y="614371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B4EC6896-F1E4-43C4-BDC2-B17848A24EC0}"/>
              </a:ext>
            </a:extLst>
          </p:cNvPr>
          <p:cNvSpPr/>
          <p:nvPr/>
        </p:nvSpPr>
        <p:spPr>
          <a:xfrm>
            <a:off x="9502321" y="6134471"/>
            <a:ext cx="459102" cy="476433"/>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4" name="Content Placeholder 2">
                <a:extLst>
                  <a:ext uri="{FF2B5EF4-FFF2-40B4-BE49-F238E27FC236}">
                    <a16:creationId xmlns:a16="http://schemas.microsoft.com/office/drawing/2014/main" id="{9C3AFD75-A51D-466A-8E40-331F4329670B}"/>
                  </a:ext>
                </a:extLst>
              </p:cNvPr>
              <p:cNvSpPr>
                <a:spLocks noGrp="1"/>
              </p:cNvSpPr>
              <p:nvPr>
                <p:ph idx="1"/>
              </p:nvPr>
            </p:nvSpPr>
            <p:spPr>
              <a:xfrm>
                <a:off x="798263" y="1602082"/>
                <a:ext cx="6581539" cy="5346602"/>
              </a:xfrm>
            </p:spPr>
            <p:txBody>
              <a:bodyPr>
                <a:normAutofit/>
              </a:bodyPr>
              <a:lstStyle/>
              <a:p>
                <a:r>
                  <a:rPr lang="en-US" dirty="0"/>
                  <a:t>Each party “Encrypts” their data</a:t>
                </a:r>
                <a:r>
                  <a:rPr lang="en-US" b="1" dirty="0"/>
                  <a:t> </a:t>
                </a:r>
                <a14:m>
                  <m:oMath xmlns:m="http://schemas.openxmlformats.org/officeDocument/2006/math">
                    <m:r>
                      <a:rPr lang="en-US" b="1" i="1" smtClean="0">
                        <a:latin typeface="Cambria Math" panose="02040503050406030204" pitchFamily="18" charset="0"/>
                      </a:rPr>
                      <m:t>𝒙</m:t>
                    </m:r>
                  </m:oMath>
                </a14:m>
                <a:r>
                  <a:rPr lang="en-US" dirty="0"/>
                  <a:t> such that</a:t>
                </a:r>
                <a:br>
                  <a:rPr lang="en-US" dirty="0"/>
                </a:b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a14:m>
                <a:endParaRPr lang="en-US" b="0" dirty="0"/>
              </a:p>
            </p:txBody>
          </p:sp>
        </mc:Choice>
        <mc:Fallback xmlns="">
          <p:sp>
            <p:nvSpPr>
              <p:cNvPr id="284" name="Content Placeholder 2">
                <a:extLst>
                  <a:ext uri="{FF2B5EF4-FFF2-40B4-BE49-F238E27FC236}">
                    <a16:creationId xmlns:a16="http://schemas.microsoft.com/office/drawing/2014/main" id="{9C3AFD75-A51D-466A-8E40-331F4329670B}"/>
                  </a:ext>
                </a:extLst>
              </p:cNvPr>
              <p:cNvSpPr>
                <a:spLocks noGrp="1" noRot="1" noChangeAspect="1" noMove="1" noResize="1" noEditPoints="1" noAdjustHandles="1" noChangeArrowheads="1" noChangeShapeType="1" noTextEdit="1"/>
              </p:cNvSpPr>
              <p:nvPr>
                <p:ph idx="1"/>
              </p:nvPr>
            </p:nvSpPr>
            <p:spPr>
              <a:xfrm>
                <a:off x="798263" y="1602082"/>
                <a:ext cx="6581539" cy="5346602"/>
              </a:xfrm>
              <a:blipFill>
                <a:blip r:embed="rId9"/>
                <a:stretch>
                  <a:fillRect l="-1296" t="-228"/>
                </a:stretch>
              </a:blipFill>
            </p:spPr>
            <p:txBody>
              <a:bodyPr/>
              <a:lstStyle/>
              <a:p>
                <a:r>
                  <a:rPr lang="en-US">
                    <a:noFill/>
                  </a:rPr>
                  <a:t> </a:t>
                </a:r>
              </a:p>
            </p:txBody>
          </p:sp>
        </mc:Fallback>
      </mc:AlternateContent>
      <p:graphicFrame>
        <p:nvGraphicFramePr>
          <p:cNvPr id="329" name="Table 8">
            <a:extLst>
              <a:ext uri="{FF2B5EF4-FFF2-40B4-BE49-F238E27FC236}">
                <a16:creationId xmlns:a16="http://schemas.microsoft.com/office/drawing/2014/main" id="{00369606-6652-4D39-8AAF-9BB1FF9CA772}"/>
              </a:ext>
            </a:extLst>
          </p:cNvPr>
          <p:cNvGraphicFramePr>
            <a:graphicFrameLocks noGrp="1"/>
          </p:cNvGraphicFramePr>
          <p:nvPr>
            <p:extLst>
              <p:ext uri="{D42A27DB-BD31-4B8C-83A1-F6EECF244321}">
                <p14:modId xmlns:p14="http://schemas.microsoft.com/office/powerpoint/2010/main" val="3093053847"/>
              </p:ext>
            </p:extLst>
          </p:nvPr>
        </p:nvGraphicFramePr>
        <p:xfrm>
          <a:off x="9485361" y="304111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330" name="Table 8">
            <a:extLst>
              <a:ext uri="{FF2B5EF4-FFF2-40B4-BE49-F238E27FC236}">
                <a16:creationId xmlns:a16="http://schemas.microsoft.com/office/drawing/2014/main" id="{8C6DEA83-5BA6-46E2-8DAD-5C5B56A43562}"/>
              </a:ext>
            </a:extLst>
          </p:cNvPr>
          <p:cNvGraphicFramePr>
            <a:graphicFrameLocks noGrp="1"/>
          </p:cNvGraphicFramePr>
          <p:nvPr>
            <p:extLst>
              <p:ext uri="{D42A27DB-BD31-4B8C-83A1-F6EECF244321}">
                <p14:modId xmlns:p14="http://schemas.microsoft.com/office/powerpoint/2010/main" val="3820782550"/>
              </p:ext>
            </p:extLst>
          </p:nvPr>
        </p:nvGraphicFramePr>
        <p:xfrm>
          <a:off x="8820812" y="3041451"/>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332" name="Table 8">
            <a:extLst>
              <a:ext uri="{FF2B5EF4-FFF2-40B4-BE49-F238E27FC236}">
                <a16:creationId xmlns:a16="http://schemas.microsoft.com/office/drawing/2014/main" id="{AC0FC417-4611-4E31-8AB9-6F997B94D52A}"/>
              </a:ext>
            </a:extLst>
          </p:cNvPr>
          <p:cNvGraphicFramePr>
            <a:graphicFrameLocks noGrp="1"/>
          </p:cNvGraphicFramePr>
          <p:nvPr>
            <p:extLst>
              <p:ext uri="{D42A27DB-BD31-4B8C-83A1-F6EECF244321}">
                <p14:modId xmlns:p14="http://schemas.microsoft.com/office/powerpoint/2010/main" val="1632787290"/>
              </p:ext>
            </p:extLst>
          </p:nvPr>
        </p:nvGraphicFramePr>
        <p:xfrm>
          <a:off x="8169326" y="302703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334" name="Rectangle 333">
            <a:extLst>
              <a:ext uri="{FF2B5EF4-FFF2-40B4-BE49-F238E27FC236}">
                <a16:creationId xmlns:a16="http://schemas.microsoft.com/office/drawing/2014/main" id="{0439FE26-C0C5-4DF0-8F47-F1CEEE485FA6}"/>
              </a:ext>
            </a:extLst>
          </p:cNvPr>
          <p:cNvSpPr/>
          <p:nvPr/>
        </p:nvSpPr>
        <p:spPr>
          <a:xfrm>
            <a:off x="8174627" y="3027035"/>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CF4B141B-6705-4B30-87D1-F96A69D47659}"/>
              </a:ext>
            </a:extLst>
          </p:cNvPr>
          <p:cNvSpPr/>
          <p:nvPr/>
        </p:nvSpPr>
        <p:spPr>
          <a:xfrm>
            <a:off x="8174627" y="3132678"/>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F296238D-841A-4732-A1C4-E841DB3EAE71}"/>
              </a:ext>
            </a:extLst>
          </p:cNvPr>
          <p:cNvSpPr/>
          <p:nvPr/>
        </p:nvSpPr>
        <p:spPr>
          <a:xfrm>
            <a:off x="8411705" y="3027822"/>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5F18DA3F-7EFA-405E-957D-D54F829EB3D9}"/>
              </a:ext>
            </a:extLst>
          </p:cNvPr>
          <p:cNvSpPr/>
          <p:nvPr/>
        </p:nvSpPr>
        <p:spPr>
          <a:xfrm>
            <a:off x="8411705" y="3133465"/>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50F16EFF-CFD6-408C-87D1-705328221745}"/>
              </a:ext>
            </a:extLst>
          </p:cNvPr>
          <p:cNvSpPr/>
          <p:nvPr/>
        </p:nvSpPr>
        <p:spPr>
          <a:xfrm>
            <a:off x="8822538" y="3038798"/>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C5F734EE-6A09-4358-86F2-531C2B1E0028}"/>
              </a:ext>
            </a:extLst>
          </p:cNvPr>
          <p:cNvSpPr/>
          <p:nvPr/>
        </p:nvSpPr>
        <p:spPr>
          <a:xfrm>
            <a:off x="8822538" y="3144441"/>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C1F88371-2B53-4AAE-A9B0-207CF3286AFC}"/>
              </a:ext>
            </a:extLst>
          </p:cNvPr>
          <p:cNvSpPr/>
          <p:nvPr/>
        </p:nvSpPr>
        <p:spPr>
          <a:xfrm>
            <a:off x="9059616" y="3039585"/>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13769BE9-13E1-4B4F-8975-988FB6D11A68}"/>
              </a:ext>
            </a:extLst>
          </p:cNvPr>
          <p:cNvSpPr/>
          <p:nvPr/>
        </p:nvSpPr>
        <p:spPr>
          <a:xfrm>
            <a:off x="9059616" y="3145228"/>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2" name="Table 8">
            <a:extLst>
              <a:ext uri="{FF2B5EF4-FFF2-40B4-BE49-F238E27FC236}">
                <a16:creationId xmlns:a16="http://schemas.microsoft.com/office/drawing/2014/main" id="{C09FAD13-6EB7-4493-AA80-6A4FDF96D614}"/>
              </a:ext>
            </a:extLst>
          </p:cNvPr>
          <p:cNvGraphicFramePr>
            <a:graphicFrameLocks noGrp="1"/>
          </p:cNvGraphicFramePr>
          <p:nvPr>
            <p:extLst>
              <p:ext uri="{D42A27DB-BD31-4B8C-83A1-F6EECF244321}">
                <p14:modId xmlns:p14="http://schemas.microsoft.com/office/powerpoint/2010/main" val="2721598764"/>
              </p:ext>
            </p:extLst>
          </p:nvPr>
        </p:nvGraphicFramePr>
        <p:xfrm>
          <a:off x="7493968" y="302829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344" name="Rectangle 343">
            <a:extLst>
              <a:ext uri="{FF2B5EF4-FFF2-40B4-BE49-F238E27FC236}">
                <a16:creationId xmlns:a16="http://schemas.microsoft.com/office/drawing/2014/main" id="{E387004B-6C73-4533-BDE5-61A8EF403AC8}"/>
              </a:ext>
            </a:extLst>
          </p:cNvPr>
          <p:cNvSpPr/>
          <p:nvPr/>
        </p:nvSpPr>
        <p:spPr>
          <a:xfrm>
            <a:off x="9488140" y="3166836"/>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1BB7D65E-FB2B-4B84-BEA0-E41213C4078B}"/>
              </a:ext>
            </a:extLst>
          </p:cNvPr>
          <p:cNvSpPr/>
          <p:nvPr/>
        </p:nvSpPr>
        <p:spPr>
          <a:xfrm>
            <a:off x="9736829" y="3052720"/>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55DEA8D8-00BA-41E6-B9C9-C36534CE9E1A}"/>
              </a:ext>
            </a:extLst>
          </p:cNvPr>
          <p:cNvSpPr/>
          <p:nvPr/>
        </p:nvSpPr>
        <p:spPr>
          <a:xfrm>
            <a:off x="9725288" y="3159355"/>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6AB4CC3F-0E1E-4E23-A933-866215811E3E}"/>
              </a:ext>
            </a:extLst>
          </p:cNvPr>
          <p:cNvSpPr/>
          <p:nvPr/>
        </p:nvSpPr>
        <p:spPr>
          <a:xfrm>
            <a:off x="9473007" y="3046450"/>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34408304-CA77-4ADD-92E1-A7D2F8C4BA33}"/>
              </a:ext>
            </a:extLst>
          </p:cNvPr>
          <p:cNvSpPr/>
          <p:nvPr/>
        </p:nvSpPr>
        <p:spPr>
          <a:xfrm>
            <a:off x="7507316" y="3032620"/>
            <a:ext cx="469376" cy="22385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TextBox 348">
            <a:extLst>
              <a:ext uri="{FF2B5EF4-FFF2-40B4-BE49-F238E27FC236}">
                <a16:creationId xmlns:a16="http://schemas.microsoft.com/office/drawing/2014/main" id="{2DB1240C-8240-4CE7-B31B-14EAD4B3E988}"/>
              </a:ext>
            </a:extLst>
          </p:cNvPr>
          <p:cNvSpPr txBox="1"/>
          <p:nvPr/>
        </p:nvSpPr>
        <p:spPr>
          <a:xfrm>
            <a:off x="7911236" y="2860225"/>
            <a:ext cx="319318" cy="369332"/>
          </a:xfrm>
          <a:prstGeom prst="rect">
            <a:avLst/>
          </a:prstGeom>
          <a:noFill/>
        </p:spPr>
        <p:txBody>
          <a:bodyPr wrap="none" rtlCol="0">
            <a:spAutoFit/>
          </a:bodyPr>
          <a:lstStyle/>
          <a:p>
            <a:r>
              <a:rPr lang="en-US" dirty="0"/>
              <a:t>=</a:t>
            </a:r>
          </a:p>
        </p:txBody>
      </p:sp>
      <p:sp>
        <p:nvSpPr>
          <p:cNvPr id="350" name="TextBox 349">
            <a:extLst>
              <a:ext uri="{FF2B5EF4-FFF2-40B4-BE49-F238E27FC236}">
                <a16:creationId xmlns:a16="http://schemas.microsoft.com/office/drawing/2014/main" id="{390CE0A3-F3A7-42F6-B0F1-E8C689A10B87}"/>
              </a:ext>
            </a:extLst>
          </p:cNvPr>
          <p:cNvSpPr txBox="1"/>
          <p:nvPr/>
        </p:nvSpPr>
        <p:spPr>
          <a:xfrm>
            <a:off x="8586151" y="2860789"/>
            <a:ext cx="319318" cy="369332"/>
          </a:xfrm>
          <a:prstGeom prst="rect">
            <a:avLst/>
          </a:prstGeom>
          <a:noFill/>
        </p:spPr>
        <p:txBody>
          <a:bodyPr wrap="none" rtlCol="0">
            <a:spAutoFit/>
          </a:bodyPr>
          <a:lstStyle/>
          <a:p>
            <a:r>
              <a:rPr lang="en-US" dirty="0"/>
              <a:t>+</a:t>
            </a:r>
          </a:p>
        </p:txBody>
      </p:sp>
      <p:sp>
        <p:nvSpPr>
          <p:cNvPr id="351" name="TextBox 350">
            <a:extLst>
              <a:ext uri="{FF2B5EF4-FFF2-40B4-BE49-F238E27FC236}">
                <a16:creationId xmlns:a16="http://schemas.microsoft.com/office/drawing/2014/main" id="{CE22B9B5-A3D4-4697-9AB2-C53CD1121AF1}"/>
              </a:ext>
            </a:extLst>
          </p:cNvPr>
          <p:cNvSpPr txBox="1"/>
          <p:nvPr/>
        </p:nvSpPr>
        <p:spPr>
          <a:xfrm>
            <a:off x="9241479" y="2857499"/>
            <a:ext cx="319318" cy="369332"/>
          </a:xfrm>
          <a:prstGeom prst="rect">
            <a:avLst/>
          </a:prstGeom>
          <a:noFill/>
        </p:spPr>
        <p:txBody>
          <a:bodyPr wrap="none" rtlCol="0">
            <a:spAutoFit/>
          </a:bodyPr>
          <a:lstStyle/>
          <a:p>
            <a:r>
              <a:rPr lang="en-US" dirty="0"/>
              <a:t>+</a:t>
            </a:r>
          </a:p>
        </p:txBody>
      </p:sp>
      <p:cxnSp>
        <p:nvCxnSpPr>
          <p:cNvPr id="3076" name="Straight Arrow Connector 3075">
            <a:extLst>
              <a:ext uri="{FF2B5EF4-FFF2-40B4-BE49-F238E27FC236}">
                <a16:creationId xmlns:a16="http://schemas.microsoft.com/office/drawing/2014/main" id="{8DB78352-69D1-4E15-9653-6C7FACD31CC1}"/>
              </a:ext>
            </a:extLst>
          </p:cNvPr>
          <p:cNvCxnSpPr/>
          <p:nvPr/>
        </p:nvCxnSpPr>
        <p:spPr>
          <a:xfrm>
            <a:off x="9707223" y="3385335"/>
            <a:ext cx="361451" cy="1356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5" name="Rectangle 354">
            <a:extLst>
              <a:ext uri="{FF2B5EF4-FFF2-40B4-BE49-F238E27FC236}">
                <a16:creationId xmlns:a16="http://schemas.microsoft.com/office/drawing/2014/main" id="{0E511D55-4786-419F-9456-D802B0EB9B56}"/>
              </a:ext>
            </a:extLst>
          </p:cNvPr>
          <p:cNvSpPr/>
          <p:nvPr/>
        </p:nvSpPr>
        <p:spPr>
          <a:xfrm>
            <a:off x="8372411" y="2105667"/>
            <a:ext cx="469376" cy="454380"/>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6" name="Straight Arrow Connector 355">
            <a:extLst>
              <a:ext uri="{FF2B5EF4-FFF2-40B4-BE49-F238E27FC236}">
                <a16:creationId xmlns:a16="http://schemas.microsoft.com/office/drawing/2014/main" id="{EC2EC4EF-A2A8-4EA2-8A65-A0EDAD781076}"/>
              </a:ext>
            </a:extLst>
          </p:cNvPr>
          <p:cNvCxnSpPr>
            <a:cxnSpLocks/>
          </p:cNvCxnSpPr>
          <p:nvPr/>
        </p:nvCxnSpPr>
        <p:spPr>
          <a:xfrm flipH="1">
            <a:off x="6940193" y="3329821"/>
            <a:ext cx="2099494" cy="158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8" name="Straight Arrow Connector 357">
            <a:extLst>
              <a:ext uri="{FF2B5EF4-FFF2-40B4-BE49-F238E27FC236}">
                <a16:creationId xmlns:a16="http://schemas.microsoft.com/office/drawing/2014/main" id="{A6ECBA75-ADDB-4DDA-809B-CA92A0E479BD}"/>
              </a:ext>
            </a:extLst>
          </p:cNvPr>
          <p:cNvCxnSpPr>
            <a:cxnSpLocks/>
          </p:cNvCxnSpPr>
          <p:nvPr/>
        </p:nvCxnSpPr>
        <p:spPr>
          <a:xfrm flipV="1">
            <a:off x="8412473" y="2559617"/>
            <a:ext cx="74537" cy="23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264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 name="Table 8">
            <a:extLst>
              <a:ext uri="{FF2B5EF4-FFF2-40B4-BE49-F238E27FC236}">
                <a16:creationId xmlns:a16="http://schemas.microsoft.com/office/drawing/2014/main" id="{7EA05B4B-832A-42FD-93F4-F96E0112D9FD}"/>
              </a:ext>
            </a:extLst>
          </p:cNvPr>
          <p:cNvGraphicFramePr>
            <a:graphicFrameLocks noGrp="1"/>
          </p:cNvGraphicFramePr>
          <p:nvPr>
            <p:extLst/>
          </p:nvPr>
        </p:nvGraphicFramePr>
        <p:xfrm>
          <a:off x="9487146" y="2805933"/>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144" name="Table 8">
            <a:extLst>
              <a:ext uri="{FF2B5EF4-FFF2-40B4-BE49-F238E27FC236}">
                <a16:creationId xmlns:a16="http://schemas.microsoft.com/office/drawing/2014/main" id="{B2D143D0-75D4-4D8A-860D-FD5BD1C04E0E}"/>
              </a:ext>
            </a:extLst>
          </p:cNvPr>
          <p:cNvGraphicFramePr>
            <a:graphicFrameLocks noGrp="1"/>
          </p:cNvGraphicFramePr>
          <p:nvPr>
            <p:extLst/>
          </p:nvPr>
        </p:nvGraphicFramePr>
        <p:xfrm>
          <a:off x="8822597" y="280626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99" name="Table 8">
            <a:extLst>
              <a:ext uri="{FF2B5EF4-FFF2-40B4-BE49-F238E27FC236}">
                <a16:creationId xmlns:a16="http://schemas.microsoft.com/office/drawing/2014/main" id="{1A5E82A8-9E98-4AE8-9D44-6F33DE353A4C}"/>
              </a:ext>
            </a:extLst>
          </p:cNvPr>
          <p:cNvGraphicFramePr>
            <a:graphicFrameLocks noGrp="1"/>
          </p:cNvGraphicFramePr>
          <p:nvPr>
            <p:extLst/>
          </p:nvPr>
        </p:nvGraphicFramePr>
        <p:xfrm>
          <a:off x="5682833" y="615469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4" name="Table 8">
            <a:extLst>
              <a:ext uri="{FF2B5EF4-FFF2-40B4-BE49-F238E27FC236}">
                <a16:creationId xmlns:a16="http://schemas.microsoft.com/office/drawing/2014/main" id="{AA94607A-FC68-414D-9B30-FD086778AE7C}"/>
              </a:ext>
            </a:extLst>
          </p:cNvPr>
          <p:cNvGraphicFramePr>
            <a:graphicFrameLocks noGrp="1"/>
          </p:cNvGraphicFramePr>
          <p:nvPr>
            <p:extLst/>
          </p:nvPr>
        </p:nvGraphicFramePr>
        <p:xfrm>
          <a:off x="4976202" y="5470589"/>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 name="Title 1">
            <a:extLst>
              <a:ext uri="{FF2B5EF4-FFF2-40B4-BE49-F238E27FC236}">
                <a16:creationId xmlns:a16="http://schemas.microsoft.com/office/drawing/2014/main" id="{8750494D-C6FC-42A4-BA19-B6DC517317B5}"/>
              </a:ext>
            </a:extLst>
          </p:cNvPr>
          <p:cNvSpPr>
            <a:spLocks noGrp="1"/>
          </p:cNvSpPr>
          <p:nvPr>
            <p:ph type="title"/>
          </p:nvPr>
        </p:nvSpPr>
        <p:spPr>
          <a:xfrm>
            <a:off x="1451581" y="526148"/>
            <a:ext cx="9603275" cy="1049235"/>
          </a:xfrm>
        </p:spPr>
        <p:txBody>
          <a:bodyPr/>
          <a:lstStyle/>
          <a:p>
            <a:r>
              <a:rPr lang="en-US" dirty="0"/>
              <a:t>Always Encrypted</a:t>
            </a:r>
          </a:p>
        </p:txBody>
      </p:sp>
      <p:graphicFrame>
        <p:nvGraphicFramePr>
          <p:cNvPr id="28" name="Table 8">
            <a:extLst>
              <a:ext uri="{FF2B5EF4-FFF2-40B4-BE49-F238E27FC236}">
                <a16:creationId xmlns:a16="http://schemas.microsoft.com/office/drawing/2014/main" id="{CFCB7C49-97C8-42AB-A80C-4CF153660473}"/>
              </a:ext>
            </a:extLst>
          </p:cNvPr>
          <p:cNvGraphicFramePr>
            <a:graphicFrameLocks noGrp="1"/>
          </p:cNvGraphicFramePr>
          <p:nvPr>
            <p:extLst/>
          </p:nvPr>
        </p:nvGraphicFramePr>
        <p:xfrm>
          <a:off x="4980957" y="5475923"/>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9" name="Rectangle 28">
            <a:extLst>
              <a:ext uri="{FF2B5EF4-FFF2-40B4-BE49-F238E27FC236}">
                <a16:creationId xmlns:a16="http://schemas.microsoft.com/office/drawing/2014/main" id="{74F6E127-9335-422D-84B2-F818A7B5690A}"/>
              </a:ext>
            </a:extLst>
          </p:cNvPr>
          <p:cNvSpPr/>
          <p:nvPr/>
        </p:nvSpPr>
        <p:spPr>
          <a:xfrm>
            <a:off x="4989637" y="5464784"/>
            <a:ext cx="459102" cy="477150"/>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descr="http://mahdiz.com/images/visaresearch.png">
            <a:extLst>
              <a:ext uri="{FF2B5EF4-FFF2-40B4-BE49-F238E27FC236}">
                <a16:creationId xmlns:a16="http://schemas.microsoft.com/office/drawing/2014/main" id="{8266D8DF-205D-45CB-BA19-E32AC273E71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059350" y="1575383"/>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descr="Image result for amazon icon">
            <a:extLst>
              <a:ext uri="{FF2B5EF4-FFF2-40B4-BE49-F238E27FC236}">
                <a16:creationId xmlns:a16="http://schemas.microsoft.com/office/drawing/2014/main" id="{58327AE0-5023-4D2D-8E80-9711EF0C442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9628929" y="4563920"/>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2" descr="Image result for bank of america">
            <a:extLst>
              <a:ext uri="{FF2B5EF4-FFF2-40B4-BE49-F238E27FC236}">
                <a16:creationId xmlns:a16="http://schemas.microsoft.com/office/drawing/2014/main" id="{27635A13-4E11-4CEA-AF84-DFDDAF9B9E7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4529769" y="4621370"/>
            <a:ext cx="2231395" cy="10109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5" name="Table 8">
            <a:extLst>
              <a:ext uri="{FF2B5EF4-FFF2-40B4-BE49-F238E27FC236}">
                <a16:creationId xmlns:a16="http://schemas.microsoft.com/office/drawing/2014/main" id="{4B6AFBDB-2F90-4D33-AA43-5697FDBEA318}"/>
              </a:ext>
            </a:extLst>
          </p:cNvPr>
          <p:cNvGraphicFramePr>
            <a:graphicFrameLocks noGrp="1"/>
          </p:cNvGraphicFramePr>
          <p:nvPr>
            <p:extLst/>
          </p:nvPr>
        </p:nvGraphicFramePr>
        <p:xfrm>
          <a:off x="9627859" y="5437735"/>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6" name="Table 8">
            <a:extLst>
              <a:ext uri="{FF2B5EF4-FFF2-40B4-BE49-F238E27FC236}">
                <a16:creationId xmlns:a16="http://schemas.microsoft.com/office/drawing/2014/main" id="{63988EE9-5226-4B64-9E4C-A2ED51A4760D}"/>
              </a:ext>
            </a:extLst>
          </p:cNvPr>
          <p:cNvGraphicFramePr>
            <a:graphicFrameLocks noGrp="1"/>
          </p:cNvGraphicFramePr>
          <p:nvPr>
            <p:extLst/>
          </p:nvPr>
        </p:nvGraphicFramePr>
        <p:xfrm>
          <a:off x="7889691" y="2092687"/>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39" name="Rectangle 38">
            <a:extLst>
              <a:ext uri="{FF2B5EF4-FFF2-40B4-BE49-F238E27FC236}">
                <a16:creationId xmlns:a16="http://schemas.microsoft.com/office/drawing/2014/main" id="{031A6F89-0985-4B04-A367-23DD59A785DD}"/>
              </a:ext>
            </a:extLst>
          </p:cNvPr>
          <p:cNvSpPr/>
          <p:nvPr/>
        </p:nvSpPr>
        <p:spPr>
          <a:xfrm>
            <a:off x="10607803" y="5428662"/>
            <a:ext cx="459102" cy="476433"/>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8B6DA1EF-DF46-457F-B4A1-F60FE5D65E14}"/>
              </a:ext>
            </a:extLst>
          </p:cNvPr>
          <p:cNvSpPr txBox="1"/>
          <p:nvPr/>
        </p:nvSpPr>
        <p:spPr>
          <a:xfrm>
            <a:off x="4749219" y="6219297"/>
            <a:ext cx="319318" cy="369332"/>
          </a:xfrm>
          <a:prstGeom prst="rect">
            <a:avLst/>
          </a:prstGeom>
          <a:noFill/>
        </p:spPr>
        <p:txBody>
          <a:bodyPr wrap="none" rtlCol="0">
            <a:spAutoFit/>
          </a:bodyPr>
          <a:lstStyle/>
          <a:p>
            <a:r>
              <a:rPr lang="en-US" dirty="0"/>
              <a:t>=</a:t>
            </a:r>
          </a:p>
        </p:txBody>
      </p:sp>
      <p:graphicFrame>
        <p:nvGraphicFramePr>
          <p:cNvPr id="48" name="Table 8">
            <a:extLst>
              <a:ext uri="{FF2B5EF4-FFF2-40B4-BE49-F238E27FC236}">
                <a16:creationId xmlns:a16="http://schemas.microsoft.com/office/drawing/2014/main" id="{9CD1A567-B08A-459C-BD46-67E2D954BDBD}"/>
              </a:ext>
            </a:extLst>
          </p:cNvPr>
          <p:cNvGraphicFramePr>
            <a:graphicFrameLocks noGrp="1"/>
          </p:cNvGraphicFramePr>
          <p:nvPr>
            <p:extLst/>
          </p:nvPr>
        </p:nvGraphicFramePr>
        <p:xfrm>
          <a:off x="5036539" y="615140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49" name="TextBox 48">
            <a:extLst>
              <a:ext uri="{FF2B5EF4-FFF2-40B4-BE49-F238E27FC236}">
                <a16:creationId xmlns:a16="http://schemas.microsoft.com/office/drawing/2014/main" id="{0A8ECB6C-D633-4241-A5A4-CB4EC8689674}"/>
              </a:ext>
            </a:extLst>
          </p:cNvPr>
          <p:cNvSpPr txBox="1"/>
          <p:nvPr/>
        </p:nvSpPr>
        <p:spPr>
          <a:xfrm>
            <a:off x="5449819" y="6219861"/>
            <a:ext cx="319318" cy="369332"/>
          </a:xfrm>
          <a:prstGeom prst="rect">
            <a:avLst/>
          </a:prstGeom>
          <a:noFill/>
        </p:spPr>
        <p:txBody>
          <a:bodyPr wrap="none" rtlCol="0">
            <a:spAutoFit/>
          </a:bodyPr>
          <a:lstStyle/>
          <a:p>
            <a:r>
              <a:rPr lang="en-US" dirty="0"/>
              <a:t>+</a:t>
            </a:r>
          </a:p>
        </p:txBody>
      </p:sp>
      <p:sp>
        <p:nvSpPr>
          <p:cNvPr id="51" name="Rectangle 50">
            <a:extLst>
              <a:ext uri="{FF2B5EF4-FFF2-40B4-BE49-F238E27FC236}">
                <a16:creationId xmlns:a16="http://schemas.microsoft.com/office/drawing/2014/main" id="{41A0213A-C40B-4A32-99C3-F06983C271CE}"/>
              </a:ext>
            </a:extLst>
          </p:cNvPr>
          <p:cNvSpPr/>
          <p:nvPr/>
        </p:nvSpPr>
        <p:spPr>
          <a:xfrm>
            <a:off x="5041840" y="6151403"/>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76EEFF6-79A4-4BDC-BF2C-19AF1525A7DB}"/>
              </a:ext>
            </a:extLst>
          </p:cNvPr>
          <p:cNvSpPr/>
          <p:nvPr/>
        </p:nvSpPr>
        <p:spPr>
          <a:xfrm>
            <a:off x="5041840" y="6257046"/>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3DAF8B2-CA57-416B-971C-5ED3D745E439}"/>
              </a:ext>
            </a:extLst>
          </p:cNvPr>
          <p:cNvSpPr/>
          <p:nvPr/>
        </p:nvSpPr>
        <p:spPr>
          <a:xfrm>
            <a:off x="5040059" y="6382650"/>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9052B37-C6BE-4A59-9ADC-FBDB80447C13}"/>
              </a:ext>
            </a:extLst>
          </p:cNvPr>
          <p:cNvSpPr/>
          <p:nvPr/>
        </p:nvSpPr>
        <p:spPr>
          <a:xfrm>
            <a:off x="5040059" y="6493946"/>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33D2D59-AC7F-4AD5-95B2-25EC8F6A44F5}"/>
              </a:ext>
            </a:extLst>
          </p:cNvPr>
          <p:cNvSpPr/>
          <p:nvPr/>
        </p:nvSpPr>
        <p:spPr>
          <a:xfrm>
            <a:off x="5278918" y="6152190"/>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AF9968-A8A9-4CCD-8DC6-C67F30371307}"/>
              </a:ext>
            </a:extLst>
          </p:cNvPr>
          <p:cNvSpPr/>
          <p:nvPr/>
        </p:nvSpPr>
        <p:spPr>
          <a:xfrm>
            <a:off x="5278918" y="6257833"/>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6DAF06D-4D41-4F5E-8B55-1101A7A725E1}"/>
              </a:ext>
            </a:extLst>
          </p:cNvPr>
          <p:cNvSpPr/>
          <p:nvPr/>
        </p:nvSpPr>
        <p:spPr>
          <a:xfrm>
            <a:off x="5277137" y="6383437"/>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FB20890-E611-4727-8838-029A138465C7}"/>
              </a:ext>
            </a:extLst>
          </p:cNvPr>
          <p:cNvSpPr/>
          <p:nvPr/>
        </p:nvSpPr>
        <p:spPr>
          <a:xfrm>
            <a:off x="5277137" y="6494733"/>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AE3B4ED-D199-411F-8032-53F3FCA03B8E}"/>
              </a:ext>
            </a:extLst>
          </p:cNvPr>
          <p:cNvSpPr/>
          <p:nvPr/>
        </p:nvSpPr>
        <p:spPr>
          <a:xfrm>
            <a:off x="5684614" y="6163166"/>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2BD38CB5-4D37-451E-8FAA-D0FF13FE7D7C}"/>
              </a:ext>
            </a:extLst>
          </p:cNvPr>
          <p:cNvSpPr/>
          <p:nvPr/>
        </p:nvSpPr>
        <p:spPr>
          <a:xfrm>
            <a:off x="5684614" y="626880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20C7E40-2410-4705-9263-362F7EC57C11}"/>
              </a:ext>
            </a:extLst>
          </p:cNvPr>
          <p:cNvSpPr/>
          <p:nvPr/>
        </p:nvSpPr>
        <p:spPr>
          <a:xfrm>
            <a:off x="5682833" y="6394413"/>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C26880A-3D90-4C27-B05A-8DA90B5F9261}"/>
              </a:ext>
            </a:extLst>
          </p:cNvPr>
          <p:cNvSpPr/>
          <p:nvPr/>
        </p:nvSpPr>
        <p:spPr>
          <a:xfrm>
            <a:off x="5682833" y="6505709"/>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F731BBD-32B8-4738-B6B3-83012F0E650C}"/>
              </a:ext>
            </a:extLst>
          </p:cNvPr>
          <p:cNvSpPr/>
          <p:nvPr/>
        </p:nvSpPr>
        <p:spPr>
          <a:xfrm>
            <a:off x="5921692" y="616395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E117119-C6AC-4573-B98F-0E2E23586925}"/>
              </a:ext>
            </a:extLst>
          </p:cNvPr>
          <p:cNvSpPr/>
          <p:nvPr/>
        </p:nvSpPr>
        <p:spPr>
          <a:xfrm>
            <a:off x="5921692" y="626959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94EA755-559B-445A-AD90-C03A9828F515}"/>
              </a:ext>
            </a:extLst>
          </p:cNvPr>
          <p:cNvSpPr/>
          <p:nvPr/>
        </p:nvSpPr>
        <p:spPr>
          <a:xfrm>
            <a:off x="5919911" y="6395200"/>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790AB8-99F7-4B3C-919A-CD45768D6FD9}"/>
              </a:ext>
            </a:extLst>
          </p:cNvPr>
          <p:cNvSpPr/>
          <p:nvPr/>
        </p:nvSpPr>
        <p:spPr>
          <a:xfrm>
            <a:off x="5919911" y="6506496"/>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1" name="Table 8">
            <a:extLst>
              <a:ext uri="{FF2B5EF4-FFF2-40B4-BE49-F238E27FC236}">
                <a16:creationId xmlns:a16="http://schemas.microsoft.com/office/drawing/2014/main" id="{E98D3F8B-FDF7-4A1D-BAD5-0D9041AB3E42}"/>
              </a:ext>
            </a:extLst>
          </p:cNvPr>
          <p:cNvGraphicFramePr>
            <a:graphicFrameLocks noGrp="1"/>
          </p:cNvGraphicFramePr>
          <p:nvPr>
            <p:extLst/>
          </p:nvPr>
        </p:nvGraphicFramePr>
        <p:xfrm>
          <a:off x="4320085" y="615266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00" name="Rectangle 99">
            <a:extLst>
              <a:ext uri="{FF2B5EF4-FFF2-40B4-BE49-F238E27FC236}">
                <a16:creationId xmlns:a16="http://schemas.microsoft.com/office/drawing/2014/main" id="{96F970B9-E546-44E1-AA59-E708F4E54F58}"/>
              </a:ext>
            </a:extLst>
          </p:cNvPr>
          <p:cNvSpPr/>
          <p:nvPr/>
        </p:nvSpPr>
        <p:spPr>
          <a:xfrm>
            <a:off x="4335276" y="6146750"/>
            <a:ext cx="459102" cy="477150"/>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2" name="Table 8">
            <a:extLst>
              <a:ext uri="{FF2B5EF4-FFF2-40B4-BE49-F238E27FC236}">
                <a16:creationId xmlns:a16="http://schemas.microsoft.com/office/drawing/2014/main" id="{E607CB41-2FDD-4412-8083-D14DCE31857F}"/>
              </a:ext>
            </a:extLst>
          </p:cNvPr>
          <p:cNvGraphicFramePr>
            <a:graphicFrameLocks noGrp="1"/>
          </p:cNvGraphicFramePr>
          <p:nvPr>
            <p:extLst/>
          </p:nvPr>
        </p:nvGraphicFramePr>
        <p:xfrm>
          <a:off x="6343298" y="615140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03" name="TextBox 102">
            <a:extLst>
              <a:ext uri="{FF2B5EF4-FFF2-40B4-BE49-F238E27FC236}">
                <a16:creationId xmlns:a16="http://schemas.microsoft.com/office/drawing/2014/main" id="{D3D0A2D1-3762-4CE7-BFE7-579501085515}"/>
              </a:ext>
            </a:extLst>
          </p:cNvPr>
          <p:cNvSpPr txBox="1"/>
          <p:nvPr/>
        </p:nvSpPr>
        <p:spPr>
          <a:xfrm>
            <a:off x="6105147" y="6216571"/>
            <a:ext cx="319318" cy="369332"/>
          </a:xfrm>
          <a:prstGeom prst="rect">
            <a:avLst/>
          </a:prstGeom>
          <a:noFill/>
        </p:spPr>
        <p:txBody>
          <a:bodyPr wrap="none" rtlCol="0">
            <a:spAutoFit/>
          </a:bodyPr>
          <a:lstStyle/>
          <a:p>
            <a:r>
              <a:rPr lang="en-US" dirty="0"/>
              <a:t>+</a:t>
            </a:r>
          </a:p>
        </p:txBody>
      </p:sp>
      <p:sp>
        <p:nvSpPr>
          <p:cNvPr id="104" name="Rectangle 103">
            <a:extLst>
              <a:ext uri="{FF2B5EF4-FFF2-40B4-BE49-F238E27FC236}">
                <a16:creationId xmlns:a16="http://schemas.microsoft.com/office/drawing/2014/main" id="{33726939-8E4B-4581-8456-C244D56AB040}"/>
              </a:ext>
            </a:extLst>
          </p:cNvPr>
          <p:cNvSpPr/>
          <p:nvPr/>
        </p:nvSpPr>
        <p:spPr>
          <a:xfrm>
            <a:off x="6586566" y="6390511"/>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5474DFA5-A91F-4B5D-AC62-7EE2FE5B71B9}"/>
              </a:ext>
            </a:extLst>
          </p:cNvPr>
          <p:cNvSpPr/>
          <p:nvPr/>
        </p:nvSpPr>
        <p:spPr>
          <a:xfrm>
            <a:off x="6345079" y="6265519"/>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39FE9C82-C04F-487B-8E2F-F4912C1A924E}"/>
              </a:ext>
            </a:extLst>
          </p:cNvPr>
          <p:cNvSpPr/>
          <p:nvPr/>
        </p:nvSpPr>
        <p:spPr>
          <a:xfrm>
            <a:off x="6580393" y="6487462"/>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9BDA4A35-3B77-4BA1-A673-E18BE0B46390}"/>
              </a:ext>
            </a:extLst>
          </p:cNvPr>
          <p:cNvSpPr/>
          <p:nvPr/>
        </p:nvSpPr>
        <p:spPr>
          <a:xfrm>
            <a:off x="6593768" y="6151403"/>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BE7F07D-0176-454C-91B6-29D93D2DE32E}"/>
              </a:ext>
            </a:extLst>
          </p:cNvPr>
          <p:cNvSpPr/>
          <p:nvPr/>
        </p:nvSpPr>
        <p:spPr>
          <a:xfrm>
            <a:off x="6582227" y="6258038"/>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444CACA1-C0CC-42BA-B8ED-F5D6B7F95192}"/>
              </a:ext>
            </a:extLst>
          </p:cNvPr>
          <p:cNvSpPr/>
          <p:nvPr/>
        </p:nvSpPr>
        <p:spPr>
          <a:xfrm>
            <a:off x="6345891" y="648015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617A09EE-5BBC-4E39-B07C-491950ACE550}"/>
              </a:ext>
            </a:extLst>
          </p:cNvPr>
          <p:cNvSpPr/>
          <p:nvPr/>
        </p:nvSpPr>
        <p:spPr>
          <a:xfrm>
            <a:off x="6355628" y="6390017"/>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C4596C93-FE4D-47EF-8419-E22BFF621BE1}"/>
              </a:ext>
            </a:extLst>
          </p:cNvPr>
          <p:cNvSpPr/>
          <p:nvPr/>
        </p:nvSpPr>
        <p:spPr>
          <a:xfrm>
            <a:off x="6329946" y="614513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4" name="Table 8">
            <a:extLst>
              <a:ext uri="{FF2B5EF4-FFF2-40B4-BE49-F238E27FC236}">
                <a16:creationId xmlns:a16="http://schemas.microsoft.com/office/drawing/2014/main" id="{7516AEA7-3C5E-499B-9462-BF146179DEC3}"/>
              </a:ext>
            </a:extLst>
          </p:cNvPr>
          <p:cNvGraphicFramePr>
            <a:graphicFrameLocks noGrp="1"/>
          </p:cNvGraphicFramePr>
          <p:nvPr>
            <p:extLst>
              <p:ext uri="{D42A27DB-BD31-4B8C-83A1-F6EECF244321}">
                <p14:modId xmlns:p14="http://schemas.microsoft.com/office/powerpoint/2010/main" val="1159434998"/>
              </p:ext>
            </p:extLst>
          </p:nvPr>
        </p:nvGraphicFramePr>
        <p:xfrm>
          <a:off x="8171111" y="279184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16" name="Rectangle 115">
            <a:extLst>
              <a:ext uri="{FF2B5EF4-FFF2-40B4-BE49-F238E27FC236}">
                <a16:creationId xmlns:a16="http://schemas.microsoft.com/office/drawing/2014/main" id="{90E64514-C8E8-4883-9FCC-267B322A4995}"/>
              </a:ext>
            </a:extLst>
          </p:cNvPr>
          <p:cNvSpPr/>
          <p:nvPr/>
        </p:nvSpPr>
        <p:spPr>
          <a:xfrm>
            <a:off x="8176412" y="2791849"/>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29A2B435-F418-4DA5-A075-C2F98205BE0D}"/>
              </a:ext>
            </a:extLst>
          </p:cNvPr>
          <p:cNvSpPr/>
          <p:nvPr/>
        </p:nvSpPr>
        <p:spPr>
          <a:xfrm>
            <a:off x="8176412" y="2897492"/>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245DC45B-9AFE-44D0-9DFA-7634278AB66D}"/>
              </a:ext>
            </a:extLst>
          </p:cNvPr>
          <p:cNvSpPr/>
          <p:nvPr/>
        </p:nvSpPr>
        <p:spPr>
          <a:xfrm>
            <a:off x="8413490" y="2792636"/>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20310BC5-B7D6-4619-B439-43535B205D73}"/>
              </a:ext>
            </a:extLst>
          </p:cNvPr>
          <p:cNvSpPr/>
          <p:nvPr/>
        </p:nvSpPr>
        <p:spPr>
          <a:xfrm>
            <a:off x="8413490" y="2898279"/>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EC235775-1D0F-438E-B818-1981B592EE56}"/>
              </a:ext>
            </a:extLst>
          </p:cNvPr>
          <p:cNvSpPr/>
          <p:nvPr/>
        </p:nvSpPr>
        <p:spPr>
          <a:xfrm>
            <a:off x="8824323" y="2803612"/>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54EF3C6B-2CAE-4261-A497-17B48C76A489}"/>
              </a:ext>
            </a:extLst>
          </p:cNvPr>
          <p:cNvSpPr/>
          <p:nvPr/>
        </p:nvSpPr>
        <p:spPr>
          <a:xfrm>
            <a:off x="8824323" y="2909255"/>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44D4D4F1-44E6-413C-84D6-A380CA40C243}"/>
              </a:ext>
            </a:extLst>
          </p:cNvPr>
          <p:cNvSpPr/>
          <p:nvPr/>
        </p:nvSpPr>
        <p:spPr>
          <a:xfrm>
            <a:off x="9061401" y="2804399"/>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70177D4F-9129-4387-BA87-81344125B349}"/>
              </a:ext>
            </a:extLst>
          </p:cNvPr>
          <p:cNvSpPr/>
          <p:nvPr/>
        </p:nvSpPr>
        <p:spPr>
          <a:xfrm>
            <a:off x="9061401" y="2910042"/>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2" name="Table 8">
            <a:extLst>
              <a:ext uri="{FF2B5EF4-FFF2-40B4-BE49-F238E27FC236}">
                <a16:creationId xmlns:a16="http://schemas.microsoft.com/office/drawing/2014/main" id="{00754AE0-0373-4F14-885F-2FC5F48E3E85}"/>
              </a:ext>
            </a:extLst>
          </p:cNvPr>
          <p:cNvGraphicFramePr>
            <a:graphicFrameLocks noGrp="1"/>
          </p:cNvGraphicFramePr>
          <p:nvPr>
            <p:extLst/>
          </p:nvPr>
        </p:nvGraphicFramePr>
        <p:xfrm>
          <a:off x="7495753" y="279310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7" name="Rectangle 136">
            <a:extLst>
              <a:ext uri="{FF2B5EF4-FFF2-40B4-BE49-F238E27FC236}">
                <a16:creationId xmlns:a16="http://schemas.microsoft.com/office/drawing/2014/main" id="{22BC5B24-7223-4134-9E9C-277326144337}"/>
              </a:ext>
            </a:extLst>
          </p:cNvPr>
          <p:cNvSpPr/>
          <p:nvPr/>
        </p:nvSpPr>
        <p:spPr>
          <a:xfrm>
            <a:off x="9489925" y="293165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B26F8EB9-2509-4DC2-98C7-6E3BBE2F8441}"/>
              </a:ext>
            </a:extLst>
          </p:cNvPr>
          <p:cNvSpPr/>
          <p:nvPr/>
        </p:nvSpPr>
        <p:spPr>
          <a:xfrm>
            <a:off x="9738614" y="281753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197BC53E-A526-47FF-A0A3-EC99C7AAE490}"/>
              </a:ext>
            </a:extLst>
          </p:cNvPr>
          <p:cNvSpPr/>
          <p:nvPr/>
        </p:nvSpPr>
        <p:spPr>
          <a:xfrm>
            <a:off x="9727073" y="2924169"/>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8082214A-BCE6-4651-8EDB-74D7380A1C0C}"/>
              </a:ext>
            </a:extLst>
          </p:cNvPr>
          <p:cNvSpPr/>
          <p:nvPr/>
        </p:nvSpPr>
        <p:spPr>
          <a:xfrm>
            <a:off x="9474792" y="281126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41249C89-4627-46D1-BFE1-4F51DB9E644C}"/>
              </a:ext>
            </a:extLst>
          </p:cNvPr>
          <p:cNvSpPr/>
          <p:nvPr/>
        </p:nvSpPr>
        <p:spPr>
          <a:xfrm>
            <a:off x="7509101" y="2797434"/>
            <a:ext cx="469376" cy="22385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7" name="Table 8">
            <a:extLst>
              <a:ext uri="{FF2B5EF4-FFF2-40B4-BE49-F238E27FC236}">
                <a16:creationId xmlns:a16="http://schemas.microsoft.com/office/drawing/2014/main" id="{C39B757E-7978-422D-81B5-E57F0D5DC0CF}"/>
              </a:ext>
            </a:extLst>
          </p:cNvPr>
          <p:cNvGraphicFramePr>
            <a:graphicFrameLocks noGrp="1"/>
          </p:cNvGraphicFramePr>
          <p:nvPr>
            <p:extLst/>
          </p:nvPr>
        </p:nvGraphicFramePr>
        <p:xfrm>
          <a:off x="10824251" y="615327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68" name="TextBox 167">
            <a:extLst>
              <a:ext uri="{FF2B5EF4-FFF2-40B4-BE49-F238E27FC236}">
                <a16:creationId xmlns:a16="http://schemas.microsoft.com/office/drawing/2014/main" id="{81DE6CC0-21F3-4398-A0F5-1A8236971981}"/>
              </a:ext>
            </a:extLst>
          </p:cNvPr>
          <p:cNvSpPr txBox="1"/>
          <p:nvPr/>
        </p:nvSpPr>
        <p:spPr>
          <a:xfrm>
            <a:off x="9916322" y="6217878"/>
            <a:ext cx="319318" cy="369332"/>
          </a:xfrm>
          <a:prstGeom prst="rect">
            <a:avLst/>
          </a:prstGeom>
          <a:noFill/>
        </p:spPr>
        <p:txBody>
          <a:bodyPr wrap="none" rtlCol="0">
            <a:spAutoFit/>
          </a:bodyPr>
          <a:lstStyle/>
          <a:p>
            <a:r>
              <a:rPr lang="en-US" dirty="0"/>
              <a:t>=</a:t>
            </a:r>
          </a:p>
        </p:txBody>
      </p:sp>
      <p:graphicFrame>
        <p:nvGraphicFramePr>
          <p:cNvPr id="169" name="Table 8">
            <a:extLst>
              <a:ext uri="{FF2B5EF4-FFF2-40B4-BE49-F238E27FC236}">
                <a16:creationId xmlns:a16="http://schemas.microsoft.com/office/drawing/2014/main" id="{9815C0E0-16F2-4BA8-96D7-88A353C2F818}"/>
              </a:ext>
            </a:extLst>
          </p:cNvPr>
          <p:cNvGraphicFramePr>
            <a:graphicFrameLocks noGrp="1"/>
          </p:cNvGraphicFramePr>
          <p:nvPr>
            <p:extLst/>
          </p:nvPr>
        </p:nvGraphicFramePr>
        <p:xfrm>
          <a:off x="10167683" y="614998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70" name="TextBox 169">
            <a:extLst>
              <a:ext uri="{FF2B5EF4-FFF2-40B4-BE49-F238E27FC236}">
                <a16:creationId xmlns:a16="http://schemas.microsoft.com/office/drawing/2014/main" id="{1E827122-486E-4E95-A378-469B01483DB2}"/>
              </a:ext>
            </a:extLst>
          </p:cNvPr>
          <p:cNvSpPr txBox="1"/>
          <p:nvPr/>
        </p:nvSpPr>
        <p:spPr>
          <a:xfrm>
            <a:off x="10580963" y="6218442"/>
            <a:ext cx="319318" cy="369332"/>
          </a:xfrm>
          <a:prstGeom prst="rect">
            <a:avLst/>
          </a:prstGeom>
          <a:noFill/>
        </p:spPr>
        <p:txBody>
          <a:bodyPr wrap="none" rtlCol="0">
            <a:spAutoFit/>
          </a:bodyPr>
          <a:lstStyle/>
          <a:p>
            <a:r>
              <a:rPr lang="en-US" dirty="0"/>
              <a:t>+</a:t>
            </a:r>
          </a:p>
        </p:txBody>
      </p:sp>
      <p:sp>
        <p:nvSpPr>
          <p:cNvPr id="171" name="Rectangle 170">
            <a:extLst>
              <a:ext uri="{FF2B5EF4-FFF2-40B4-BE49-F238E27FC236}">
                <a16:creationId xmlns:a16="http://schemas.microsoft.com/office/drawing/2014/main" id="{6A117F88-7C5C-44BC-ADA8-6388FC3AF1E6}"/>
              </a:ext>
            </a:extLst>
          </p:cNvPr>
          <p:cNvSpPr/>
          <p:nvPr/>
        </p:nvSpPr>
        <p:spPr>
          <a:xfrm>
            <a:off x="10172984" y="6149984"/>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D5933408-95C9-4191-89DD-8C55F54B617C}"/>
              </a:ext>
            </a:extLst>
          </p:cNvPr>
          <p:cNvSpPr/>
          <p:nvPr/>
        </p:nvSpPr>
        <p:spPr>
          <a:xfrm>
            <a:off x="10172984" y="6255627"/>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9A9FB4E-4E74-476D-B35D-CE96E5294932}"/>
              </a:ext>
            </a:extLst>
          </p:cNvPr>
          <p:cNvSpPr/>
          <p:nvPr/>
        </p:nvSpPr>
        <p:spPr>
          <a:xfrm>
            <a:off x="10171203" y="6381231"/>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E45AFCFC-D714-47D7-A4A0-429E1E6C1015}"/>
              </a:ext>
            </a:extLst>
          </p:cNvPr>
          <p:cNvSpPr/>
          <p:nvPr/>
        </p:nvSpPr>
        <p:spPr>
          <a:xfrm>
            <a:off x="10171203" y="6492527"/>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44D25F72-A8A9-4D6A-9831-7B25C9BDB531}"/>
              </a:ext>
            </a:extLst>
          </p:cNvPr>
          <p:cNvSpPr/>
          <p:nvPr/>
        </p:nvSpPr>
        <p:spPr>
          <a:xfrm>
            <a:off x="10410062" y="6150771"/>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DC6AC02D-4B54-4061-A539-B67313959977}"/>
              </a:ext>
            </a:extLst>
          </p:cNvPr>
          <p:cNvSpPr/>
          <p:nvPr/>
        </p:nvSpPr>
        <p:spPr>
          <a:xfrm>
            <a:off x="10410062" y="6256414"/>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C8AB33D-6DE8-4F2F-872E-094DF09EE538}"/>
              </a:ext>
            </a:extLst>
          </p:cNvPr>
          <p:cNvSpPr/>
          <p:nvPr/>
        </p:nvSpPr>
        <p:spPr>
          <a:xfrm>
            <a:off x="10408281" y="6382018"/>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DF6CF24E-A903-4C42-AD35-40D25ED3614D}"/>
              </a:ext>
            </a:extLst>
          </p:cNvPr>
          <p:cNvSpPr/>
          <p:nvPr/>
        </p:nvSpPr>
        <p:spPr>
          <a:xfrm>
            <a:off x="10408281" y="6493314"/>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664357BF-B4FE-46B7-AD9E-385A5D57D88D}"/>
              </a:ext>
            </a:extLst>
          </p:cNvPr>
          <p:cNvSpPr/>
          <p:nvPr/>
        </p:nvSpPr>
        <p:spPr>
          <a:xfrm>
            <a:off x="10826032" y="6161747"/>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1187C75C-ECB3-4C33-BB9F-9D8E5633B4D0}"/>
              </a:ext>
            </a:extLst>
          </p:cNvPr>
          <p:cNvSpPr/>
          <p:nvPr/>
        </p:nvSpPr>
        <p:spPr>
          <a:xfrm>
            <a:off x="10826032" y="6267390"/>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9E6E5199-CB1C-4527-B455-D1C1D25A01A9}"/>
              </a:ext>
            </a:extLst>
          </p:cNvPr>
          <p:cNvSpPr/>
          <p:nvPr/>
        </p:nvSpPr>
        <p:spPr>
          <a:xfrm>
            <a:off x="10824251" y="6392994"/>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5B3F6E74-4660-49EC-9F39-115E4718A3E0}"/>
              </a:ext>
            </a:extLst>
          </p:cNvPr>
          <p:cNvSpPr/>
          <p:nvPr/>
        </p:nvSpPr>
        <p:spPr>
          <a:xfrm>
            <a:off x="10824251" y="6504290"/>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EAEAA41-AEA5-4EA2-9F9F-89FB1F1F55E8}"/>
              </a:ext>
            </a:extLst>
          </p:cNvPr>
          <p:cNvSpPr/>
          <p:nvPr/>
        </p:nvSpPr>
        <p:spPr>
          <a:xfrm>
            <a:off x="11063110" y="616253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B06FA891-04FB-489E-AA55-BD19AF136473}"/>
              </a:ext>
            </a:extLst>
          </p:cNvPr>
          <p:cNvSpPr/>
          <p:nvPr/>
        </p:nvSpPr>
        <p:spPr>
          <a:xfrm>
            <a:off x="11063110" y="6268177"/>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EAD7E971-4BAC-473B-8A83-0750FCF4BCEE}"/>
              </a:ext>
            </a:extLst>
          </p:cNvPr>
          <p:cNvSpPr/>
          <p:nvPr/>
        </p:nvSpPr>
        <p:spPr>
          <a:xfrm>
            <a:off x="11061329" y="6393781"/>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79CED9C0-4080-4BE0-9842-DC526D7193D9}"/>
              </a:ext>
            </a:extLst>
          </p:cNvPr>
          <p:cNvSpPr/>
          <p:nvPr/>
        </p:nvSpPr>
        <p:spPr>
          <a:xfrm>
            <a:off x="11061329" y="650507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7" name="Table 8">
            <a:extLst>
              <a:ext uri="{FF2B5EF4-FFF2-40B4-BE49-F238E27FC236}">
                <a16:creationId xmlns:a16="http://schemas.microsoft.com/office/drawing/2014/main" id="{E609D955-3D10-45EE-8529-8D7528C2BA3F}"/>
              </a:ext>
            </a:extLst>
          </p:cNvPr>
          <p:cNvGraphicFramePr>
            <a:graphicFrameLocks noGrp="1"/>
          </p:cNvGraphicFramePr>
          <p:nvPr>
            <p:extLst/>
          </p:nvPr>
        </p:nvGraphicFramePr>
        <p:xfrm>
          <a:off x="9487188" y="615124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189" name="Table 8">
            <a:extLst>
              <a:ext uri="{FF2B5EF4-FFF2-40B4-BE49-F238E27FC236}">
                <a16:creationId xmlns:a16="http://schemas.microsoft.com/office/drawing/2014/main" id="{5F619DE0-D673-46A6-9D81-21709F83F28C}"/>
              </a:ext>
            </a:extLst>
          </p:cNvPr>
          <p:cNvGraphicFramePr>
            <a:graphicFrameLocks noGrp="1"/>
          </p:cNvGraphicFramePr>
          <p:nvPr>
            <p:extLst/>
          </p:nvPr>
        </p:nvGraphicFramePr>
        <p:xfrm>
          <a:off x="11474442" y="614998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90" name="TextBox 189">
            <a:extLst>
              <a:ext uri="{FF2B5EF4-FFF2-40B4-BE49-F238E27FC236}">
                <a16:creationId xmlns:a16="http://schemas.microsoft.com/office/drawing/2014/main" id="{EABBE2F1-894B-407C-A353-61576CDBAC9E}"/>
              </a:ext>
            </a:extLst>
          </p:cNvPr>
          <p:cNvSpPr txBox="1"/>
          <p:nvPr/>
        </p:nvSpPr>
        <p:spPr>
          <a:xfrm>
            <a:off x="11231154" y="6215152"/>
            <a:ext cx="319318" cy="369332"/>
          </a:xfrm>
          <a:prstGeom prst="rect">
            <a:avLst/>
          </a:prstGeom>
          <a:noFill/>
        </p:spPr>
        <p:txBody>
          <a:bodyPr wrap="none" rtlCol="0">
            <a:spAutoFit/>
          </a:bodyPr>
          <a:lstStyle/>
          <a:p>
            <a:r>
              <a:rPr lang="en-US" dirty="0"/>
              <a:t>+</a:t>
            </a:r>
          </a:p>
        </p:txBody>
      </p:sp>
      <p:sp>
        <p:nvSpPr>
          <p:cNvPr id="191" name="Rectangle 190">
            <a:extLst>
              <a:ext uri="{FF2B5EF4-FFF2-40B4-BE49-F238E27FC236}">
                <a16:creationId xmlns:a16="http://schemas.microsoft.com/office/drawing/2014/main" id="{92E80C1C-3D16-437F-B64F-115752C3D70C}"/>
              </a:ext>
            </a:extLst>
          </p:cNvPr>
          <p:cNvSpPr/>
          <p:nvPr/>
        </p:nvSpPr>
        <p:spPr>
          <a:xfrm>
            <a:off x="11717710" y="6389092"/>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00797504-82BB-418C-8682-77DE8C607AB4}"/>
              </a:ext>
            </a:extLst>
          </p:cNvPr>
          <p:cNvSpPr/>
          <p:nvPr/>
        </p:nvSpPr>
        <p:spPr>
          <a:xfrm>
            <a:off x="11476223" y="626410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56991721-AEF0-4D29-A903-E114970D36C7}"/>
              </a:ext>
            </a:extLst>
          </p:cNvPr>
          <p:cNvSpPr/>
          <p:nvPr/>
        </p:nvSpPr>
        <p:spPr>
          <a:xfrm>
            <a:off x="11711537" y="6486043"/>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74A2B658-C9D5-4EAE-A898-2C544ED1971F}"/>
              </a:ext>
            </a:extLst>
          </p:cNvPr>
          <p:cNvSpPr/>
          <p:nvPr/>
        </p:nvSpPr>
        <p:spPr>
          <a:xfrm>
            <a:off x="11724912" y="614998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2CDA4A73-5F66-4FF2-BA98-29295A16743C}"/>
              </a:ext>
            </a:extLst>
          </p:cNvPr>
          <p:cNvSpPr/>
          <p:nvPr/>
        </p:nvSpPr>
        <p:spPr>
          <a:xfrm>
            <a:off x="11713371" y="6256619"/>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F163CCCE-9173-4FF6-94FB-A4F4F2ACE8B9}"/>
              </a:ext>
            </a:extLst>
          </p:cNvPr>
          <p:cNvSpPr/>
          <p:nvPr/>
        </p:nvSpPr>
        <p:spPr>
          <a:xfrm>
            <a:off x="11477035" y="6468457"/>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AD29DCE-FBC1-4B17-8DD7-CA4B22BC76D0}"/>
              </a:ext>
            </a:extLst>
          </p:cNvPr>
          <p:cNvSpPr/>
          <p:nvPr/>
        </p:nvSpPr>
        <p:spPr>
          <a:xfrm>
            <a:off x="11486772" y="6388598"/>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4E07A6AC-4141-4C4D-9A34-936860292F4E}"/>
              </a:ext>
            </a:extLst>
          </p:cNvPr>
          <p:cNvSpPr/>
          <p:nvPr/>
        </p:nvSpPr>
        <p:spPr>
          <a:xfrm>
            <a:off x="11461090" y="614371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B4EC6896-F1E4-43C4-BDC2-B17848A24EC0}"/>
              </a:ext>
            </a:extLst>
          </p:cNvPr>
          <p:cNvSpPr/>
          <p:nvPr/>
        </p:nvSpPr>
        <p:spPr>
          <a:xfrm>
            <a:off x="9502321" y="6134471"/>
            <a:ext cx="459102" cy="476433"/>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84" name="Content Placeholder 2">
                <a:extLst>
                  <a:ext uri="{FF2B5EF4-FFF2-40B4-BE49-F238E27FC236}">
                    <a16:creationId xmlns:a16="http://schemas.microsoft.com/office/drawing/2014/main" id="{9C3AFD75-A51D-466A-8E40-331F4329670B}"/>
                  </a:ext>
                </a:extLst>
              </p:cNvPr>
              <p:cNvSpPr>
                <a:spLocks noGrp="1"/>
              </p:cNvSpPr>
              <p:nvPr>
                <p:ph idx="1"/>
              </p:nvPr>
            </p:nvSpPr>
            <p:spPr>
              <a:xfrm>
                <a:off x="798263" y="1602082"/>
                <a:ext cx="6581539" cy="5346602"/>
              </a:xfrm>
            </p:spPr>
            <p:txBody>
              <a:bodyPr>
                <a:normAutofit/>
              </a:bodyPr>
              <a:lstStyle/>
              <a:p>
                <a:r>
                  <a:rPr lang="en-US" dirty="0"/>
                  <a:t>Each party “Encrypts” their data</a:t>
                </a:r>
                <a:r>
                  <a:rPr lang="en-US" b="1" dirty="0"/>
                  <a:t> </a:t>
                </a:r>
                <a14:m>
                  <m:oMath xmlns:m="http://schemas.openxmlformats.org/officeDocument/2006/math">
                    <m:r>
                      <a:rPr lang="en-US" b="1" i="1" smtClean="0">
                        <a:latin typeface="Cambria Math" panose="02040503050406030204" pitchFamily="18" charset="0"/>
                      </a:rPr>
                      <m:t>𝒙</m:t>
                    </m:r>
                  </m:oMath>
                </a14:m>
                <a:r>
                  <a:rPr lang="en-US" dirty="0"/>
                  <a:t> such that</a:t>
                </a:r>
                <a:br>
                  <a:rPr lang="en-US" dirty="0"/>
                </a:b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oMath>
                </a14:m>
                <a:br>
                  <a:rPr lang="en-US" dirty="0"/>
                </a:br>
                <a14:m>
                  <m:oMath xmlns:m="http://schemas.openxmlformats.org/officeDocument/2006/math">
                    <m:r>
                      <a:rPr lang="en-US" b="0" i="1" smtClean="0">
                        <a:latin typeface="Cambria Math" panose="02040503050406030204" pitchFamily="18" charset="0"/>
                      </a:rPr>
                      <m:t> </m:t>
                    </m:r>
                  </m:oMath>
                </a14:m>
                <a:br>
                  <a:rPr lang="en-US" dirty="0"/>
                </a:br>
                <a:endParaRPr lang="en-US" dirty="0"/>
              </a:p>
              <a:p>
                <a:endParaRPr lang="en-US" dirty="0"/>
              </a:p>
            </p:txBody>
          </p:sp>
        </mc:Choice>
        <mc:Fallback>
          <p:sp>
            <p:nvSpPr>
              <p:cNvPr id="284" name="Content Placeholder 2">
                <a:extLst>
                  <a:ext uri="{FF2B5EF4-FFF2-40B4-BE49-F238E27FC236}">
                    <a16:creationId xmlns:a16="http://schemas.microsoft.com/office/drawing/2014/main" id="{9C3AFD75-A51D-466A-8E40-331F4329670B}"/>
                  </a:ext>
                </a:extLst>
              </p:cNvPr>
              <p:cNvSpPr>
                <a:spLocks noGrp="1" noRot="1" noChangeAspect="1" noMove="1" noResize="1" noEditPoints="1" noAdjustHandles="1" noChangeArrowheads="1" noChangeShapeType="1" noTextEdit="1"/>
              </p:cNvSpPr>
              <p:nvPr>
                <p:ph idx="1"/>
              </p:nvPr>
            </p:nvSpPr>
            <p:spPr>
              <a:xfrm>
                <a:off x="798263" y="1602082"/>
                <a:ext cx="6581539" cy="5346602"/>
              </a:xfrm>
              <a:blipFill>
                <a:blip r:embed="rId8"/>
                <a:stretch>
                  <a:fillRect l="-1296" t="-228"/>
                </a:stretch>
              </a:blipFill>
            </p:spPr>
            <p:txBody>
              <a:bodyPr/>
              <a:lstStyle/>
              <a:p>
                <a:r>
                  <a:rPr lang="en-US">
                    <a:noFill/>
                  </a:rPr>
                  <a:t> </a:t>
                </a:r>
              </a:p>
            </p:txBody>
          </p:sp>
        </mc:Fallback>
      </mc:AlternateContent>
      <p:graphicFrame>
        <p:nvGraphicFramePr>
          <p:cNvPr id="329" name="Table 8">
            <a:extLst>
              <a:ext uri="{FF2B5EF4-FFF2-40B4-BE49-F238E27FC236}">
                <a16:creationId xmlns:a16="http://schemas.microsoft.com/office/drawing/2014/main" id="{00369606-6652-4D39-8AAF-9BB1FF9CA772}"/>
              </a:ext>
            </a:extLst>
          </p:cNvPr>
          <p:cNvGraphicFramePr>
            <a:graphicFrameLocks noGrp="1"/>
          </p:cNvGraphicFramePr>
          <p:nvPr>
            <p:extLst/>
          </p:nvPr>
        </p:nvGraphicFramePr>
        <p:xfrm>
          <a:off x="9485361" y="304111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330" name="Table 8">
            <a:extLst>
              <a:ext uri="{FF2B5EF4-FFF2-40B4-BE49-F238E27FC236}">
                <a16:creationId xmlns:a16="http://schemas.microsoft.com/office/drawing/2014/main" id="{8C6DEA83-5BA6-46E2-8DAD-5C5B56A43562}"/>
              </a:ext>
            </a:extLst>
          </p:cNvPr>
          <p:cNvGraphicFramePr>
            <a:graphicFrameLocks noGrp="1"/>
          </p:cNvGraphicFramePr>
          <p:nvPr>
            <p:extLst/>
          </p:nvPr>
        </p:nvGraphicFramePr>
        <p:xfrm>
          <a:off x="8820812" y="3041451"/>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332" name="Table 8">
            <a:extLst>
              <a:ext uri="{FF2B5EF4-FFF2-40B4-BE49-F238E27FC236}">
                <a16:creationId xmlns:a16="http://schemas.microsoft.com/office/drawing/2014/main" id="{AC0FC417-4611-4E31-8AB9-6F997B94D52A}"/>
              </a:ext>
            </a:extLst>
          </p:cNvPr>
          <p:cNvGraphicFramePr>
            <a:graphicFrameLocks noGrp="1"/>
          </p:cNvGraphicFramePr>
          <p:nvPr>
            <p:extLst>
              <p:ext uri="{D42A27DB-BD31-4B8C-83A1-F6EECF244321}">
                <p14:modId xmlns:p14="http://schemas.microsoft.com/office/powerpoint/2010/main" val="3917131821"/>
              </p:ext>
            </p:extLst>
          </p:nvPr>
        </p:nvGraphicFramePr>
        <p:xfrm>
          <a:off x="8169326" y="302703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334" name="Rectangle 333">
            <a:extLst>
              <a:ext uri="{FF2B5EF4-FFF2-40B4-BE49-F238E27FC236}">
                <a16:creationId xmlns:a16="http://schemas.microsoft.com/office/drawing/2014/main" id="{0439FE26-C0C5-4DF0-8F47-F1CEEE485FA6}"/>
              </a:ext>
            </a:extLst>
          </p:cNvPr>
          <p:cNvSpPr/>
          <p:nvPr/>
        </p:nvSpPr>
        <p:spPr>
          <a:xfrm>
            <a:off x="8174627" y="3027035"/>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CF4B141B-6705-4B30-87D1-F96A69D47659}"/>
              </a:ext>
            </a:extLst>
          </p:cNvPr>
          <p:cNvSpPr/>
          <p:nvPr/>
        </p:nvSpPr>
        <p:spPr>
          <a:xfrm>
            <a:off x="8174627" y="3132678"/>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F296238D-841A-4732-A1C4-E841DB3EAE71}"/>
              </a:ext>
            </a:extLst>
          </p:cNvPr>
          <p:cNvSpPr/>
          <p:nvPr/>
        </p:nvSpPr>
        <p:spPr>
          <a:xfrm>
            <a:off x="8411705" y="3027822"/>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5F18DA3F-7EFA-405E-957D-D54F829EB3D9}"/>
              </a:ext>
            </a:extLst>
          </p:cNvPr>
          <p:cNvSpPr/>
          <p:nvPr/>
        </p:nvSpPr>
        <p:spPr>
          <a:xfrm>
            <a:off x="8411705" y="3133465"/>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50F16EFF-CFD6-408C-87D1-705328221745}"/>
              </a:ext>
            </a:extLst>
          </p:cNvPr>
          <p:cNvSpPr/>
          <p:nvPr/>
        </p:nvSpPr>
        <p:spPr>
          <a:xfrm>
            <a:off x="8822538" y="3038798"/>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C5F734EE-6A09-4358-86F2-531C2B1E0028}"/>
              </a:ext>
            </a:extLst>
          </p:cNvPr>
          <p:cNvSpPr/>
          <p:nvPr/>
        </p:nvSpPr>
        <p:spPr>
          <a:xfrm>
            <a:off x="8822538" y="3144441"/>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C1F88371-2B53-4AAE-A9B0-207CF3286AFC}"/>
              </a:ext>
            </a:extLst>
          </p:cNvPr>
          <p:cNvSpPr/>
          <p:nvPr/>
        </p:nvSpPr>
        <p:spPr>
          <a:xfrm>
            <a:off x="9059616" y="3039585"/>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13769BE9-13E1-4B4F-8975-988FB6D11A68}"/>
              </a:ext>
            </a:extLst>
          </p:cNvPr>
          <p:cNvSpPr/>
          <p:nvPr/>
        </p:nvSpPr>
        <p:spPr>
          <a:xfrm>
            <a:off x="9059616" y="3145228"/>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2" name="Table 8">
            <a:extLst>
              <a:ext uri="{FF2B5EF4-FFF2-40B4-BE49-F238E27FC236}">
                <a16:creationId xmlns:a16="http://schemas.microsoft.com/office/drawing/2014/main" id="{C09FAD13-6EB7-4493-AA80-6A4FDF96D614}"/>
              </a:ext>
            </a:extLst>
          </p:cNvPr>
          <p:cNvGraphicFramePr>
            <a:graphicFrameLocks noGrp="1"/>
          </p:cNvGraphicFramePr>
          <p:nvPr>
            <p:extLst/>
          </p:nvPr>
        </p:nvGraphicFramePr>
        <p:xfrm>
          <a:off x="7493968" y="302829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344" name="Rectangle 343">
            <a:extLst>
              <a:ext uri="{FF2B5EF4-FFF2-40B4-BE49-F238E27FC236}">
                <a16:creationId xmlns:a16="http://schemas.microsoft.com/office/drawing/2014/main" id="{E387004B-6C73-4533-BDE5-61A8EF403AC8}"/>
              </a:ext>
            </a:extLst>
          </p:cNvPr>
          <p:cNvSpPr/>
          <p:nvPr/>
        </p:nvSpPr>
        <p:spPr>
          <a:xfrm>
            <a:off x="9488140" y="3166836"/>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1BB7D65E-FB2B-4B84-BEA0-E41213C4078B}"/>
              </a:ext>
            </a:extLst>
          </p:cNvPr>
          <p:cNvSpPr/>
          <p:nvPr/>
        </p:nvSpPr>
        <p:spPr>
          <a:xfrm>
            <a:off x="9736829" y="3052720"/>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55DEA8D8-00BA-41E6-B9C9-C36534CE9E1A}"/>
              </a:ext>
            </a:extLst>
          </p:cNvPr>
          <p:cNvSpPr/>
          <p:nvPr/>
        </p:nvSpPr>
        <p:spPr>
          <a:xfrm>
            <a:off x="9725288" y="3159355"/>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6AB4CC3F-0E1E-4E23-A933-866215811E3E}"/>
              </a:ext>
            </a:extLst>
          </p:cNvPr>
          <p:cNvSpPr/>
          <p:nvPr/>
        </p:nvSpPr>
        <p:spPr>
          <a:xfrm>
            <a:off x="9473007" y="3046450"/>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34408304-CA77-4ADD-92E1-A7D2F8C4BA33}"/>
              </a:ext>
            </a:extLst>
          </p:cNvPr>
          <p:cNvSpPr/>
          <p:nvPr/>
        </p:nvSpPr>
        <p:spPr>
          <a:xfrm>
            <a:off x="7507316" y="3032620"/>
            <a:ext cx="469376" cy="22385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TextBox 348">
            <a:extLst>
              <a:ext uri="{FF2B5EF4-FFF2-40B4-BE49-F238E27FC236}">
                <a16:creationId xmlns:a16="http://schemas.microsoft.com/office/drawing/2014/main" id="{2DB1240C-8240-4CE7-B31B-14EAD4B3E988}"/>
              </a:ext>
            </a:extLst>
          </p:cNvPr>
          <p:cNvSpPr txBox="1"/>
          <p:nvPr/>
        </p:nvSpPr>
        <p:spPr>
          <a:xfrm>
            <a:off x="7911236" y="2860225"/>
            <a:ext cx="319318" cy="369332"/>
          </a:xfrm>
          <a:prstGeom prst="rect">
            <a:avLst/>
          </a:prstGeom>
          <a:noFill/>
        </p:spPr>
        <p:txBody>
          <a:bodyPr wrap="none" rtlCol="0">
            <a:spAutoFit/>
          </a:bodyPr>
          <a:lstStyle/>
          <a:p>
            <a:r>
              <a:rPr lang="en-US" dirty="0"/>
              <a:t>=</a:t>
            </a:r>
          </a:p>
        </p:txBody>
      </p:sp>
      <p:sp>
        <p:nvSpPr>
          <p:cNvPr id="350" name="TextBox 349">
            <a:extLst>
              <a:ext uri="{FF2B5EF4-FFF2-40B4-BE49-F238E27FC236}">
                <a16:creationId xmlns:a16="http://schemas.microsoft.com/office/drawing/2014/main" id="{390CE0A3-F3A7-42F6-B0F1-E8C689A10B87}"/>
              </a:ext>
            </a:extLst>
          </p:cNvPr>
          <p:cNvSpPr txBox="1"/>
          <p:nvPr/>
        </p:nvSpPr>
        <p:spPr>
          <a:xfrm>
            <a:off x="8586151" y="2860789"/>
            <a:ext cx="319318" cy="369332"/>
          </a:xfrm>
          <a:prstGeom prst="rect">
            <a:avLst/>
          </a:prstGeom>
          <a:noFill/>
        </p:spPr>
        <p:txBody>
          <a:bodyPr wrap="none" rtlCol="0">
            <a:spAutoFit/>
          </a:bodyPr>
          <a:lstStyle/>
          <a:p>
            <a:r>
              <a:rPr lang="en-US" dirty="0"/>
              <a:t>+</a:t>
            </a:r>
          </a:p>
        </p:txBody>
      </p:sp>
      <p:sp>
        <p:nvSpPr>
          <p:cNvPr id="351" name="TextBox 350">
            <a:extLst>
              <a:ext uri="{FF2B5EF4-FFF2-40B4-BE49-F238E27FC236}">
                <a16:creationId xmlns:a16="http://schemas.microsoft.com/office/drawing/2014/main" id="{CE22B9B5-A3D4-4697-9AB2-C53CD1121AF1}"/>
              </a:ext>
            </a:extLst>
          </p:cNvPr>
          <p:cNvSpPr txBox="1"/>
          <p:nvPr/>
        </p:nvSpPr>
        <p:spPr>
          <a:xfrm>
            <a:off x="9241479" y="2857499"/>
            <a:ext cx="319318" cy="369332"/>
          </a:xfrm>
          <a:prstGeom prst="rect">
            <a:avLst/>
          </a:prstGeom>
          <a:noFill/>
        </p:spPr>
        <p:txBody>
          <a:bodyPr wrap="none" rtlCol="0">
            <a:spAutoFit/>
          </a:bodyPr>
          <a:lstStyle/>
          <a:p>
            <a:r>
              <a:rPr lang="en-US" dirty="0"/>
              <a:t>+</a:t>
            </a:r>
          </a:p>
        </p:txBody>
      </p:sp>
      <p:cxnSp>
        <p:nvCxnSpPr>
          <p:cNvPr id="3076" name="Straight Arrow Connector 3075">
            <a:extLst>
              <a:ext uri="{FF2B5EF4-FFF2-40B4-BE49-F238E27FC236}">
                <a16:creationId xmlns:a16="http://schemas.microsoft.com/office/drawing/2014/main" id="{8DB78352-69D1-4E15-9653-6C7FACD31CC1}"/>
              </a:ext>
            </a:extLst>
          </p:cNvPr>
          <p:cNvCxnSpPr/>
          <p:nvPr/>
        </p:nvCxnSpPr>
        <p:spPr>
          <a:xfrm>
            <a:off x="9707223" y="3385335"/>
            <a:ext cx="361451" cy="1356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6" name="Straight Arrow Connector 355">
            <a:extLst>
              <a:ext uri="{FF2B5EF4-FFF2-40B4-BE49-F238E27FC236}">
                <a16:creationId xmlns:a16="http://schemas.microsoft.com/office/drawing/2014/main" id="{EC2EC4EF-A2A8-4EA2-8A65-A0EDAD781076}"/>
              </a:ext>
            </a:extLst>
          </p:cNvPr>
          <p:cNvCxnSpPr>
            <a:cxnSpLocks/>
          </p:cNvCxnSpPr>
          <p:nvPr/>
        </p:nvCxnSpPr>
        <p:spPr>
          <a:xfrm flipH="1">
            <a:off x="6940193" y="3329821"/>
            <a:ext cx="2099494" cy="158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9800674A-86DE-4DC2-9357-29AD3DC8ED88}"/>
              </a:ext>
            </a:extLst>
          </p:cNvPr>
          <p:cNvSpPr/>
          <p:nvPr/>
        </p:nvSpPr>
        <p:spPr>
          <a:xfrm>
            <a:off x="8369902" y="2079717"/>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C974E55C-EABB-4E2B-81FA-8C6FE56EE735}"/>
              </a:ext>
            </a:extLst>
          </p:cNvPr>
          <p:cNvSpPr/>
          <p:nvPr/>
        </p:nvSpPr>
        <p:spPr>
          <a:xfrm>
            <a:off x="8376988" y="2196392"/>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F59E177-BE4D-4E62-9B3C-7A943D69709B}"/>
              </a:ext>
            </a:extLst>
          </p:cNvPr>
          <p:cNvSpPr/>
          <p:nvPr/>
        </p:nvSpPr>
        <p:spPr>
          <a:xfrm>
            <a:off x="8614066" y="2091536"/>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254DD99-2BEA-4110-B687-6D7CB256B356}"/>
              </a:ext>
            </a:extLst>
          </p:cNvPr>
          <p:cNvSpPr/>
          <p:nvPr/>
        </p:nvSpPr>
        <p:spPr>
          <a:xfrm>
            <a:off x="8614066" y="2197179"/>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7" name="Table 8">
            <a:extLst>
              <a:ext uri="{FF2B5EF4-FFF2-40B4-BE49-F238E27FC236}">
                <a16:creationId xmlns:a16="http://schemas.microsoft.com/office/drawing/2014/main" id="{64F77824-C089-47B9-ACAA-C42499309168}"/>
              </a:ext>
            </a:extLst>
          </p:cNvPr>
          <p:cNvGraphicFramePr>
            <a:graphicFrameLocks noGrp="1"/>
          </p:cNvGraphicFramePr>
          <p:nvPr>
            <p:extLst>
              <p:ext uri="{D42A27DB-BD31-4B8C-83A1-F6EECF244321}">
                <p14:modId xmlns:p14="http://schemas.microsoft.com/office/powerpoint/2010/main" val="4139796123"/>
              </p:ext>
            </p:extLst>
          </p:nvPr>
        </p:nvGraphicFramePr>
        <p:xfrm>
          <a:off x="8369902" y="232593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0" name="Rectangle 129">
            <a:extLst>
              <a:ext uri="{FF2B5EF4-FFF2-40B4-BE49-F238E27FC236}">
                <a16:creationId xmlns:a16="http://schemas.microsoft.com/office/drawing/2014/main" id="{4A0509C9-8037-4917-98EC-B65D6EB3E993}"/>
              </a:ext>
            </a:extLst>
          </p:cNvPr>
          <p:cNvSpPr/>
          <p:nvPr/>
        </p:nvSpPr>
        <p:spPr>
          <a:xfrm>
            <a:off x="8375203" y="2325935"/>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941A7EEF-64DD-436B-9D3C-60A9FFA211FA}"/>
              </a:ext>
            </a:extLst>
          </p:cNvPr>
          <p:cNvSpPr/>
          <p:nvPr/>
        </p:nvSpPr>
        <p:spPr>
          <a:xfrm>
            <a:off x="8375203" y="2431578"/>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389E6949-7E8C-440A-A77B-B2D3EB1B47BF}"/>
              </a:ext>
            </a:extLst>
          </p:cNvPr>
          <p:cNvSpPr/>
          <p:nvPr/>
        </p:nvSpPr>
        <p:spPr>
          <a:xfrm>
            <a:off x="8612281" y="2326722"/>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5CAC754F-73F2-49B2-8875-88AFC3824429}"/>
              </a:ext>
            </a:extLst>
          </p:cNvPr>
          <p:cNvSpPr/>
          <p:nvPr/>
        </p:nvSpPr>
        <p:spPr>
          <a:xfrm>
            <a:off x="8612281" y="2432365"/>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41FE324E-9A19-45F5-A133-8311266468F9}"/>
              </a:ext>
            </a:extLst>
          </p:cNvPr>
          <p:cNvCxnSpPr>
            <a:cxnSpLocks/>
            <a:stCxn id="114" idx="0"/>
          </p:cNvCxnSpPr>
          <p:nvPr/>
        </p:nvCxnSpPr>
        <p:spPr>
          <a:xfrm flipV="1">
            <a:off x="8412473" y="2559617"/>
            <a:ext cx="74537" cy="23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35" name="Table 8">
            <a:extLst>
              <a:ext uri="{FF2B5EF4-FFF2-40B4-BE49-F238E27FC236}">
                <a16:creationId xmlns:a16="http://schemas.microsoft.com/office/drawing/2014/main" id="{E8D4CD0F-93F2-40C6-A13E-FD52DC3F2F2D}"/>
              </a:ext>
            </a:extLst>
          </p:cNvPr>
          <p:cNvGraphicFramePr>
            <a:graphicFrameLocks noGrp="1"/>
          </p:cNvGraphicFramePr>
          <p:nvPr>
            <p:extLst>
              <p:ext uri="{D42A27DB-BD31-4B8C-83A1-F6EECF244321}">
                <p14:modId xmlns:p14="http://schemas.microsoft.com/office/powerpoint/2010/main" val="3291535252"/>
              </p:ext>
            </p:extLst>
          </p:nvPr>
        </p:nvGraphicFramePr>
        <p:xfrm>
          <a:off x="5470335" y="5470623"/>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6" name="Rectangle 135">
            <a:extLst>
              <a:ext uri="{FF2B5EF4-FFF2-40B4-BE49-F238E27FC236}">
                <a16:creationId xmlns:a16="http://schemas.microsoft.com/office/drawing/2014/main" id="{399F3CDC-E723-45C2-A93F-398C4D1F10B1}"/>
              </a:ext>
            </a:extLst>
          </p:cNvPr>
          <p:cNvSpPr/>
          <p:nvPr/>
        </p:nvSpPr>
        <p:spPr>
          <a:xfrm>
            <a:off x="5472061" y="5467970"/>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79C432B7-ACDD-41DA-A484-E693ECA6EAF4}"/>
              </a:ext>
            </a:extLst>
          </p:cNvPr>
          <p:cNvSpPr/>
          <p:nvPr/>
        </p:nvSpPr>
        <p:spPr>
          <a:xfrm>
            <a:off x="5472061" y="5573613"/>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BBB9029D-CB0D-4C04-9867-21F0FCFD56BB}"/>
              </a:ext>
            </a:extLst>
          </p:cNvPr>
          <p:cNvSpPr/>
          <p:nvPr/>
        </p:nvSpPr>
        <p:spPr>
          <a:xfrm>
            <a:off x="5709139" y="546875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7D536273-0C87-4216-B113-0AD9F2ACAA50}"/>
              </a:ext>
            </a:extLst>
          </p:cNvPr>
          <p:cNvSpPr/>
          <p:nvPr/>
        </p:nvSpPr>
        <p:spPr>
          <a:xfrm>
            <a:off x="5709139" y="557440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7" name="Table 8">
            <a:extLst>
              <a:ext uri="{FF2B5EF4-FFF2-40B4-BE49-F238E27FC236}">
                <a16:creationId xmlns:a16="http://schemas.microsoft.com/office/drawing/2014/main" id="{3F969495-6CA6-46D4-85CB-B59913E72DCB}"/>
              </a:ext>
            </a:extLst>
          </p:cNvPr>
          <p:cNvGraphicFramePr>
            <a:graphicFrameLocks noGrp="1"/>
          </p:cNvGraphicFramePr>
          <p:nvPr>
            <p:extLst>
              <p:ext uri="{D42A27DB-BD31-4B8C-83A1-F6EECF244321}">
                <p14:modId xmlns:p14="http://schemas.microsoft.com/office/powerpoint/2010/main" val="1477882061"/>
              </p:ext>
            </p:extLst>
          </p:nvPr>
        </p:nvGraphicFramePr>
        <p:xfrm>
          <a:off x="5468550" y="570580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48" name="Rectangle 147">
            <a:extLst>
              <a:ext uri="{FF2B5EF4-FFF2-40B4-BE49-F238E27FC236}">
                <a16:creationId xmlns:a16="http://schemas.microsoft.com/office/drawing/2014/main" id="{898CA0A2-140C-4DFB-9267-CE74264D01C7}"/>
              </a:ext>
            </a:extLst>
          </p:cNvPr>
          <p:cNvSpPr/>
          <p:nvPr/>
        </p:nvSpPr>
        <p:spPr>
          <a:xfrm>
            <a:off x="5470276" y="5703156"/>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3BCC1D3F-8BD1-48E5-B1F2-62AC3965288F}"/>
              </a:ext>
            </a:extLst>
          </p:cNvPr>
          <p:cNvSpPr/>
          <p:nvPr/>
        </p:nvSpPr>
        <p:spPr>
          <a:xfrm>
            <a:off x="5470276" y="580879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48827B6B-A179-43E9-86AD-8E1C52942DE8}"/>
              </a:ext>
            </a:extLst>
          </p:cNvPr>
          <p:cNvSpPr/>
          <p:nvPr/>
        </p:nvSpPr>
        <p:spPr>
          <a:xfrm>
            <a:off x="5707354" y="570394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E5A4442E-AC95-408E-99AD-ACB8E9135388}"/>
              </a:ext>
            </a:extLst>
          </p:cNvPr>
          <p:cNvSpPr/>
          <p:nvPr/>
        </p:nvSpPr>
        <p:spPr>
          <a:xfrm>
            <a:off x="5707354" y="580958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2" name="Table 8">
            <a:extLst>
              <a:ext uri="{FF2B5EF4-FFF2-40B4-BE49-F238E27FC236}">
                <a16:creationId xmlns:a16="http://schemas.microsoft.com/office/drawing/2014/main" id="{8B2EEB3C-D5FE-488E-A69E-CCEA68AB9660}"/>
              </a:ext>
            </a:extLst>
          </p:cNvPr>
          <p:cNvGraphicFramePr>
            <a:graphicFrameLocks noGrp="1"/>
          </p:cNvGraphicFramePr>
          <p:nvPr>
            <p:extLst>
              <p:ext uri="{D42A27DB-BD31-4B8C-83A1-F6EECF244321}">
                <p14:modId xmlns:p14="http://schemas.microsoft.com/office/powerpoint/2010/main" val="4028937872"/>
              </p:ext>
            </p:extLst>
          </p:nvPr>
        </p:nvGraphicFramePr>
        <p:xfrm>
          <a:off x="10113742" y="5440311"/>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53" name="Rectangle 152">
            <a:extLst>
              <a:ext uri="{FF2B5EF4-FFF2-40B4-BE49-F238E27FC236}">
                <a16:creationId xmlns:a16="http://schemas.microsoft.com/office/drawing/2014/main" id="{79ED1BEA-191F-4494-85F7-FAB4F6032521}"/>
              </a:ext>
            </a:extLst>
          </p:cNvPr>
          <p:cNvSpPr/>
          <p:nvPr/>
        </p:nvSpPr>
        <p:spPr>
          <a:xfrm>
            <a:off x="10116521" y="5566028"/>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D9F39416-244D-4374-9A6F-4D6F23C48647}"/>
              </a:ext>
            </a:extLst>
          </p:cNvPr>
          <p:cNvSpPr/>
          <p:nvPr/>
        </p:nvSpPr>
        <p:spPr>
          <a:xfrm>
            <a:off x="10365210" y="5451912"/>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2DF45FEA-F1D2-4616-9829-9C7C892960AA}"/>
              </a:ext>
            </a:extLst>
          </p:cNvPr>
          <p:cNvSpPr/>
          <p:nvPr/>
        </p:nvSpPr>
        <p:spPr>
          <a:xfrm>
            <a:off x="10353669" y="5558547"/>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4FC9579C-31CB-400F-B6B9-0B55FBAF51CA}"/>
              </a:ext>
            </a:extLst>
          </p:cNvPr>
          <p:cNvSpPr/>
          <p:nvPr/>
        </p:nvSpPr>
        <p:spPr>
          <a:xfrm>
            <a:off x="10101388" y="5445642"/>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7" name="Table 8">
            <a:extLst>
              <a:ext uri="{FF2B5EF4-FFF2-40B4-BE49-F238E27FC236}">
                <a16:creationId xmlns:a16="http://schemas.microsoft.com/office/drawing/2014/main" id="{398F63FC-753C-44C2-91A6-92FA47B2B42C}"/>
              </a:ext>
            </a:extLst>
          </p:cNvPr>
          <p:cNvGraphicFramePr>
            <a:graphicFrameLocks noGrp="1"/>
          </p:cNvGraphicFramePr>
          <p:nvPr>
            <p:extLst>
              <p:ext uri="{D42A27DB-BD31-4B8C-83A1-F6EECF244321}">
                <p14:modId xmlns:p14="http://schemas.microsoft.com/office/powerpoint/2010/main" val="3117511874"/>
              </p:ext>
            </p:extLst>
          </p:nvPr>
        </p:nvGraphicFramePr>
        <p:xfrm>
          <a:off x="10111957" y="5675497"/>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58" name="Rectangle 157">
            <a:extLst>
              <a:ext uri="{FF2B5EF4-FFF2-40B4-BE49-F238E27FC236}">
                <a16:creationId xmlns:a16="http://schemas.microsoft.com/office/drawing/2014/main" id="{E80DF0AC-FD00-45BC-9C9F-3DFD93A3F640}"/>
              </a:ext>
            </a:extLst>
          </p:cNvPr>
          <p:cNvSpPr/>
          <p:nvPr/>
        </p:nvSpPr>
        <p:spPr>
          <a:xfrm>
            <a:off x="10114736" y="5801214"/>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0F0B057A-7C08-4F10-B12F-D6848F84B70E}"/>
              </a:ext>
            </a:extLst>
          </p:cNvPr>
          <p:cNvSpPr/>
          <p:nvPr/>
        </p:nvSpPr>
        <p:spPr>
          <a:xfrm>
            <a:off x="10363425" y="5687098"/>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6313D7C5-A8B8-4EA1-8623-2F53DE7E4A9E}"/>
              </a:ext>
            </a:extLst>
          </p:cNvPr>
          <p:cNvSpPr/>
          <p:nvPr/>
        </p:nvSpPr>
        <p:spPr>
          <a:xfrm>
            <a:off x="10351884" y="5793733"/>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7D093ECA-EF8F-4149-ABE7-B32875FB5702}"/>
              </a:ext>
            </a:extLst>
          </p:cNvPr>
          <p:cNvSpPr/>
          <p:nvPr/>
        </p:nvSpPr>
        <p:spPr>
          <a:xfrm>
            <a:off x="10099603" y="5680828"/>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1630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 name="Table 8">
            <a:extLst>
              <a:ext uri="{FF2B5EF4-FFF2-40B4-BE49-F238E27FC236}">
                <a16:creationId xmlns:a16="http://schemas.microsoft.com/office/drawing/2014/main" id="{7EA05B4B-832A-42FD-93F4-F96E0112D9FD}"/>
              </a:ext>
            </a:extLst>
          </p:cNvPr>
          <p:cNvGraphicFramePr>
            <a:graphicFrameLocks noGrp="1"/>
          </p:cNvGraphicFramePr>
          <p:nvPr>
            <p:extLst/>
          </p:nvPr>
        </p:nvGraphicFramePr>
        <p:xfrm>
          <a:off x="9487146" y="2805933"/>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144" name="Table 8">
            <a:extLst>
              <a:ext uri="{FF2B5EF4-FFF2-40B4-BE49-F238E27FC236}">
                <a16:creationId xmlns:a16="http://schemas.microsoft.com/office/drawing/2014/main" id="{B2D143D0-75D4-4D8A-860D-FD5BD1C04E0E}"/>
              </a:ext>
            </a:extLst>
          </p:cNvPr>
          <p:cNvGraphicFramePr>
            <a:graphicFrameLocks noGrp="1"/>
          </p:cNvGraphicFramePr>
          <p:nvPr>
            <p:extLst/>
          </p:nvPr>
        </p:nvGraphicFramePr>
        <p:xfrm>
          <a:off x="8822597" y="280626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99" name="Table 8">
            <a:extLst>
              <a:ext uri="{FF2B5EF4-FFF2-40B4-BE49-F238E27FC236}">
                <a16:creationId xmlns:a16="http://schemas.microsoft.com/office/drawing/2014/main" id="{1A5E82A8-9E98-4AE8-9D44-6F33DE353A4C}"/>
              </a:ext>
            </a:extLst>
          </p:cNvPr>
          <p:cNvGraphicFramePr>
            <a:graphicFrameLocks noGrp="1"/>
          </p:cNvGraphicFramePr>
          <p:nvPr>
            <p:extLst/>
          </p:nvPr>
        </p:nvGraphicFramePr>
        <p:xfrm>
          <a:off x="5682833" y="615469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4" name="Table 8">
            <a:extLst>
              <a:ext uri="{FF2B5EF4-FFF2-40B4-BE49-F238E27FC236}">
                <a16:creationId xmlns:a16="http://schemas.microsoft.com/office/drawing/2014/main" id="{AA94607A-FC68-414D-9B30-FD086778AE7C}"/>
              </a:ext>
            </a:extLst>
          </p:cNvPr>
          <p:cNvGraphicFramePr>
            <a:graphicFrameLocks noGrp="1"/>
          </p:cNvGraphicFramePr>
          <p:nvPr>
            <p:extLst/>
          </p:nvPr>
        </p:nvGraphicFramePr>
        <p:xfrm>
          <a:off x="4976202" y="5470589"/>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 name="Title 1">
            <a:extLst>
              <a:ext uri="{FF2B5EF4-FFF2-40B4-BE49-F238E27FC236}">
                <a16:creationId xmlns:a16="http://schemas.microsoft.com/office/drawing/2014/main" id="{8750494D-C6FC-42A4-BA19-B6DC517317B5}"/>
              </a:ext>
            </a:extLst>
          </p:cNvPr>
          <p:cNvSpPr>
            <a:spLocks noGrp="1"/>
          </p:cNvSpPr>
          <p:nvPr>
            <p:ph type="title"/>
          </p:nvPr>
        </p:nvSpPr>
        <p:spPr>
          <a:xfrm>
            <a:off x="1451581" y="526148"/>
            <a:ext cx="9603275" cy="1049235"/>
          </a:xfrm>
        </p:spPr>
        <p:txBody>
          <a:bodyPr/>
          <a:lstStyle/>
          <a:p>
            <a:r>
              <a:rPr lang="en-US" dirty="0"/>
              <a:t>Always Encrypted</a:t>
            </a:r>
          </a:p>
        </p:txBody>
      </p:sp>
      <p:graphicFrame>
        <p:nvGraphicFramePr>
          <p:cNvPr id="28" name="Table 8">
            <a:extLst>
              <a:ext uri="{FF2B5EF4-FFF2-40B4-BE49-F238E27FC236}">
                <a16:creationId xmlns:a16="http://schemas.microsoft.com/office/drawing/2014/main" id="{CFCB7C49-97C8-42AB-A80C-4CF153660473}"/>
              </a:ext>
            </a:extLst>
          </p:cNvPr>
          <p:cNvGraphicFramePr>
            <a:graphicFrameLocks noGrp="1"/>
          </p:cNvGraphicFramePr>
          <p:nvPr>
            <p:extLst/>
          </p:nvPr>
        </p:nvGraphicFramePr>
        <p:xfrm>
          <a:off x="4980957" y="5475923"/>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9" name="Rectangle 28">
            <a:extLst>
              <a:ext uri="{FF2B5EF4-FFF2-40B4-BE49-F238E27FC236}">
                <a16:creationId xmlns:a16="http://schemas.microsoft.com/office/drawing/2014/main" id="{74F6E127-9335-422D-84B2-F818A7B5690A}"/>
              </a:ext>
            </a:extLst>
          </p:cNvPr>
          <p:cNvSpPr/>
          <p:nvPr/>
        </p:nvSpPr>
        <p:spPr>
          <a:xfrm>
            <a:off x="4989637" y="5464784"/>
            <a:ext cx="459102" cy="477150"/>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descr="http://mahdiz.com/images/visaresearch.png">
            <a:extLst>
              <a:ext uri="{FF2B5EF4-FFF2-40B4-BE49-F238E27FC236}">
                <a16:creationId xmlns:a16="http://schemas.microsoft.com/office/drawing/2014/main" id="{8266D8DF-205D-45CB-BA19-E32AC273E71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059350" y="1575383"/>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descr="Image result for amazon icon">
            <a:extLst>
              <a:ext uri="{FF2B5EF4-FFF2-40B4-BE49-F238E27FC236}">
                <a16:creationId xmlns:a16="http://schemas.microsoft.com/office/drawing/2014/main" id="{58327AE0-5023-4D2D-8E80-9711EF0C442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9628929" y="4563920"/>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2" descr="Image result for bank of america">
            <a:extLst>
              <a:ext uri="{FF2B5EF4-FFF2-40B4-BE49-F238E27FC236}">
                <a16:creationId xmlns:a16="http://schemas.microsoft.com/office/drawing/2014/main" id="{27635A13-4E11-4CEA-AF84-DFDDAF9B9E7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4529769" y="4621370"/>
            <a:ext cx="2231395" cy="10109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5" name="Table 8">
            <a:extLst>
              <a:ext uri="{FF2B5EF4-FFF2-40B4-BE49-F238E27FC236}">
                <a16:creationId xmlns:a16="http://schemas.microsoft.com/office/drawing/2014/main" id="{4B6AFBDB-2F90-4D33-AA43-5697FDBEA318}"/>
              </a:ext>
            </a:extLst>
          </p:cNvPr>
          <p:cNvGraphicFramePr>
            <a:graphicFrameLocks noGrp="1"/>
          </p:cNvGraphicFramePr>
          <p:nvPr>
            <p:extLst/>
          </p:nvPr>
        </p:nvGraphicFramePr>
        <p:xfrm>
          <a:off x="9627859" y="5437735"/>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6" name="Table 8">
            <a:extLst>
              <a:ext uri="{FF2B5EF4-FFF2-40B4-BE49-F238E27FC236}">
                <a16:creationId xmlns:a16="http://schemas.microsoft.com/office/drawing/2014/main" id="{63988EE9-5226-4B64-9E4C-A2ED51A4760D}"/>
              </a:ext>
            </a:extLst>
          </p:cNvPr>
          <p:cNvGraphicFramePr>
            <a:graphicFrameLocks noGrp="1"/>
          </p:cNvGraphicFramePr>
          <p:nvPr>
            <p:extLst/>
          </p:nvPr>
        </p:nvGraphicFramePr>
        <p:xfrm>
          <a:off x="7889691" y="2092687"/>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39" name="Rectangle 38">
            <a:extLst>
              <a:ext uri="{FF2B5EF4-FFF2-40B4-BE49-F238E27FC236}">
                <a16:creationId xmlns:a16="http://schemas.microsoft.com/office/drawing/2014/main" id="{031A6F89-0985-4B04-A367-23DD59A785DD}"/>
              </a:ext>
            </a:extLst>
          </p:cNvPr>
          <p:cNvSpPr/>
          <p:nvPr/>
        </p:nvSpPr>
        <p:spPr>
          <a:xfrm>
            <a:off x="10607803" y="5428662"/>
            <a:ext cx="459102" cy="476433"/>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8B6DA1EF-DF46-457F-B4A1-F60FE5D65E14}"/>
              </a:ext>
            </a:extLst>
          </p:cNvPr>
          <p:cNvSpPr txBox="1"/>
          <p:nvPr/>
        </p:nvSpPr>
        <p:spPr>
          <a:xfrm>
            <a:off x="4749219" y="6219297"/>
            <a:ext cx="319318" cy="369332"/>
          </a:xfrm>
          <a:prstGeom prst="rect">
            <a:avLst/>
          </a:prstGeom>
          <a:noFill/>
        </p:spPr>
        <p:txBody>
          <a:bodyPr wrap="none" rtlCol="0">
            <a:spAutoFit/>
          </a:bodyPr>
          <a:lstStyle/>
          <a:p>
            <a:r>
              <a:rPr lang="en-US" dirty="0"/>
              <a:t>=</a:t>
            </a:r>
          </a:p>
        </p:txBody>
      </p:sp>
      <p:graphicFrame>
        <p:nvGraphicFramePr>
          <p:cNvPr id="48" name="Table 8">
            <a:extLst>
              <a:ext uri="{FF2B5EF4-FFF2-40B4-BE49-F238E27FC236}">
                <a16:creationId xmlns:a16="http://schemas.microsoft.com/office/drawing/2014/main" id="{9CD1A567-B08A-459C-BD46-67E2D954BDBD}"/>
              </a:ext>
            </a:extLst>
          </p:cNvPr>
          <p:cNvGraphicFramePr>
            <a:graphicFrameLocks noGrp="1"/>
          </p:cNvGraphicFramePr>
          <p:nvPr>
            <p:extLst/>
          </p:nvPr>
        </p:nvGraphicFramePr>
        <p:xfrm>
          <a:off x="5036539" y="615140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49" name="TextBox 48">
            <a:extLst>
              <a:ext uri="{FF2B5EF4-FFF2-40B4-BE49-F238E27FC236}">
                <a16:creationId xmlns:a16="http://schemas.microsoft.com/office/drawing/2014/main" id="{0A8ECB6C-D633-4241-A5A4-CB4EC8689674}"/>
              </a:ext>
            </a:extLst>
          </p:cNvPr>
          <p:cNvSpPr txBox="1"/>
          <p:nvPr/>
        </p:nvSpPr>
        <p:spPr>
          <a:xfrm>
            <a:off x="5449819" y="6219861"/>
            <a:ext cx="319318" cy="369332"/>
          </a:xfrm>
          <a:prstGeom prst="rect">
            <a:avLst/>
          </a:prstGeom>
          <a:noFill/>
        </p:spPr>
        <p:txBody>
          <a:bodyPr wrap="none" rtlCol="0">
            <a:spAutoFit/>
          </a:bodyPr>
          <a:lstStyle/>
          <a:p>
            <a:r>
              <a:rPr lang="en-US" dirty="0"/>
              <a:t>+</a:t>
            </a:r>
          </a:p>
        </p:txBody>
      </p:sp>
      <p:sp>
        <p:nvSpPr>
          <p:cNvPr id="51" name="Rectangle 50">
            <a:extLst>
              <a:ext uri="{FF2B5EF4-FFF2-40B4-BE49-F238E27FC236}">
                <a16:creationId xmlns:a16="http://schemas.microsoft.com/office/drawing/2014/main" id="{41A0213A-C40B-4A32-99C3-F06983C271CE}"/>
              </a:ext>
            </a:extLst>
          </p:cNvPr>
          <p:cNvSpPr/>
          <p:nvPr/>
        </p:nvSpPr>
        <p:spPr>
          <a:xfrm>
            <a:off x="5041840" y="6151403"/>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76EEFF6-79A4-4BDC-BF2C-19AF1525A7DB}"/>
              </a:ext>
            </a:extLst>
          </p:cNvPr>
          <p:cNvSpPr/>
          <p:nvPr/>
        </p:nvSpPr>
        <p:spPr>
          <a:xfrm>
            <a:off x="5041840" y="6257046"/>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3DAF8B2-CA57-416B-971C-5ED3D745E439}"/>
              </a:ext>
            </a:extLst>
          </p:cNvPr>
          <p:cNvSpPr/>
          <p:nvPr/>
        </p:nvSpPr>
        <p:spPr>
          <a:xfrm>
            <a:off x="5040059" y="6382650"/>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9052B37-C6BE-4A59-9ADC-FBDB80447C13}"/>
              </a:ext>
            </a:extLst>
          </p:cNvPr>
          <p:cNvSpPr/>
          <p:nvPr/>
        </p:nvSpPr>
        <p:spPr>
          <a:xfrm>
            <a:off x="5040059" y="6493946"/>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33D2D59-AC7F-4AD5-95B2-25EC8F6A44F5}"/>
              </a:ext>
            </a:extLst>
          </p:cNvPr>
          <p:cNvSpPr/>
          <p:nvPr/>
        </p:nvSpPr>
        <p:spPr>
          <a:xfrm>
            <a:off x="5278918" y="6152190"/>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AF9968-A8A9-4CCD-8DC6-C67F30371307}"/>
              </a:ext>
            </a:extLst>
          </p:cNvPr>
          <p:cNvSpPr/>
          <p:nvPr/>
        </p:nvSpPr>
        <p:spPr>
          <a:xfrm>
            <a:off x="5278918" y="6257833"/>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6DAF06D-4D41-4F5E-8B55-1101A7A725E1}"/>
              </a:ext>
            </a:extLst>
          </p:cNvPr>
          <p:cNvSpPr/>
          <p:nvPr/>
        </p:nvSpPr>
        <p:spPr>
          <a:xfrm>
            <a:off x="5277137" y="6383437"/>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FB20890-E611-4727-8838-029A138465C7}"/>
              </a:ext>
            </a:extLst>
          </p:cNvPr>
          <p:cNvSpPr/>
          <p:nvPr/>
        </p:nvSpPr>
        <p:spPr>
          <a:xfrm>
            <a:off x="5277137" y="6494733"/>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AE3B4ED-D199-411F-8032-53F3FCA03B8E}"/>
              </a:ext>
            </a:extLst>
          </p:cNvPr>
          <p:cNvSpPr/>
          <p:nvPr/>
        </p:nvSpPr>
        <p:spPr>
          <a:xfrm>
            <a:off x="5684614" y="6163166"/>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2BD38CB5-4D37-451E-8FAA-D0FF13FE7D7C}"/>
              </a:ext>
            </a:extLst>
          </p:cNvPr>
          <p:cNvSpPr/>
          <p:nvPr/>
        </p:nvSpPr>
        <p:spPr>
          <a:xfrm>
            <a:off x="5684614" y="626880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20C7E40-2410-4705-9263-362F7EC57C11}"/>
              </a:ext>
            </a:extLst>
          </p:cNvPr>
          <p:cNvSpPr/>
          <p:nvPr/>
        </p:nvSpPr>
        <p:spPr>
          <a:xfrm>
            <a:off x="5682833" y="6394413"/>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C26880A-3D90-4C27-B05A-8DA90B5F9261}"/>
              </a:ext>
            </a:extLst>
          </p:cNvPr>
          <p:cNvSpPr/>
          <p:nvPr/>
        </p:nvSpPr>
        <p:spPr>
          <a:xfrm>
            <a:off x="5682833" y="6505709"/>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F731BBD-32B8-4738-B6B3-83012F0E650C}"/>
              </a:ext>
            </a:extLst>
          </p:cNvPr>
          <p:cNvSpPr/>
          <p:nvPr/>
        </p:nvSpPr>
        <p:spPr>
          <a:xfrm>
            <a:off x="5921692" y="616395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E117119-C6AC-4573-B98F-0E2E23586925}"/>
              </a:ext>
            </a:extLst>
          </p:cNvPr>
          <p:cNvSpPr/>
          <p:nvPr/>
        </p:nvSpPr>
        <p:spPr>
          <a:xfrm>
            <a:off x="5921692" y="626959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94EA755-559B-445A-AD90-C03A9828F515}"/>
              </a:ext>
            </a:extLst>
          </p:cNvPr>
          <p:cNvSpPr/>
          <p:nvPr/>
        </p:nvSpPr>
        <p:spPr>
          <a:xfrm>
            <a:off x="5919911" y="6395200"/>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790AB8-99F7-4B3C-919A-CD45768D6FD9}"/>
              </a:ext>
            </a:extLst>
          </p:cNvPr>
          <p:cNvSpPr/>
          <p:nvPr/>
        </p:nvSpPr>
        <p:spPr>
          <a:xfrm>
            <a:off x="5919911" y="6506496"/>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1" name="Table 8">
            <a:extLst>
              <a:ext uri="{FF2B5EF4-FFF2-40B4-BE49-F238E27FC236}">
                <a16:creationId xmlns:a16="http://schemas.microsoft.com/office/drawing/2014/main" id="{E98D3F8B-FDF7-4A1D-BAD5-0D9041AB3E42}"/>
              </a:ext>
            </a:extLst>
          </p:cNvPr>
          <p:cNvGraphicFramePr>
            <a:graphicFrameLocks noGrp="1"/>
          </p:cNvGraphicFramePr>
          <p:nvPr>
            <p:extLst/>
          </p:nvPr>
        </p:nvGraphicFramePr>
        <p:xfrm>
          <a:off x="4320085" y="615266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00" name="Rectangle 99">
            <a:extLst>
              <a:ext uri="{FF2B5EF4-FFF2-40B4-BE49-F238E27FC236}">
                <a16:creationId xmlns:a16="http://schemas.microsoft.com/office/drawing/2014/main" id="{96F970B9-E546-44E1-AA59-E708F4E54F58}"/>
              </a:ext>
            </a:extLst>
          </p:cNvPr>
          <p:cNvSpPr/>
          <p:nvPr/>
        </p:nvSpPr>
        <p:spPr>
          <a:xfrm>
            <a:off x="4335276" y="6146750"/>
            <a:ext cx="459102" cy="477150"/>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2" name="Table 8">
            <a:extLst>
              <a:ext uri="{FF2B5EF4-FFF2-40B4-BE49-F238E27FC236}">
                <a16:creationId xmlns:a16="http://schemas.microsoft.com/office/drawing/2014/main" id="{E607CB41-2FDD-4412-8083-D14DCE31857F}"/>
              </a:ext>
            </a:extLst>
          </p:cNvPr>
          <p:cNvGraphicFramePr>
            <a:graphicFrameLocks noGrp="1"/>
          </p:cNvGraphicFramePr>
          <p:nvPr>
            <p:extLst/>
          </p:nvPr>
        </p:nvGraphicFramePr>
        <p:xfrm>
          <a:off x="6343298" y="615140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03" name="TextBox 102">
            <a:extLst>
              <a:ext uri="{FF2B5EF4-FFF2-40B4-BE49-F238E27FC236}">
                <a16:creationId xmlns:a16="http://schemas.microsoft.com/office/drawing/2014/main" id="{D3D0A2D1-3762-4CE7-BFE7-579501085515}"/>
              </a:ext>
            </a:extLst>
          </p:cNvPr>
          <p:cNvSpPr txBox="1"/>
          <p:nvPr/>
        </p:nvSpPr>
        <p:spPr>
          <a:xfrm>
            <a:off x="6105147" y="6216571"/>
            <a:ext cx="319318" cy="369332"/>
          </a:xfrm>
          <a:prstGeom prst="rect">
            <a:avLst/>
          </a:prstGeom>
          <a:noFill/>
        </p:spPr>
        <p:txBody>
          <a:bodyPr wrap="none" rtlCol="0">
            <a:spAutoFit/>
          </a:bodyPr>
          <a:lstStyle/>
          <a:p>
            <a:r>
              <a:rPr lang="en-US" dirty="0"/>
              <a:t>+</a:t>
            </a:r>
          </a:p>
        </p:txBody>
      </p:sp>
      <p:sp>
        <p:nvSpPr>
          <p:cNvPr id="104" name="Rectangle 103">
            <a:extLst>
              <a:ext uri="{FF2B5EF4-FFF2-40B4-BE49-F238E27FC236}">
                <a16:creationId xmlns:a16="http://schemas.microsoft.com/office/drawing/2014/main" id="{33726939-8E4B-4581-8456-C244D56AB040}"/>
              </a:ext>
            </a:extLst>
          </p:cNvPr>
          <p:cNvSpPr/>
          <p:nvPr/>
        </p:nvSpPr>
        <p:spPr>
          <a:xfrm>
            <a:off x="6586566" y="6390511"/>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5474DFA5-A91F-4B5D-AC62-7EE2FE5B71B9}"/>
              </a:ext>
            </a:extLst>
          </p:cNvPr>
          <p:cNvSpPr/>
          <p:nvPr/>
        </p:nvSpPr>
        <p:spPr>
          <a:xfrm>
            <a:off x="6345079" y="6265519"/>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39FE9C82-C04F-487B-8E2F-F4912C1A924E}"/>
              </a:ext>
            </a:extLst>
          </p:cNvPr>
          <p:cNvSpPr/>
          <p:nvPr/>
        </p:nvSpPr>
        <p:spPr>
          <a:xfrm>
            <a:off x="6580393" y="6487462"/>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9BDA4A35-3B77-4BA1-A673-E18BE0B46390}"/>
              </a:ext>
            </a:extLst>
          </p:cNvPr>
          <p:cNvSpPr/>
          <p:nvPr/>
        </p:nvSpPr>
        <p:spPr>
          <a:xfrm>
            <a:off x="6593768" y="6151403"/>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BE7F07D-0176-454C-91B6-29D93D2DE32E}"/>
              </a:ext>
            </a:extLst>
          </p:cNvPr>
          <p:cNvSpPr/>
          <p:nvPr/>
        </p:nvSpPr>
        <p:spPr>
          <a:xfrm>
            <a:off x="6582227" y="6258038"/>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444CACA1-C0CC-42BA-B8ED-F5D6B7F95192}"/>
              </a:ext>
            </a:extLst>
          </p:cNvPr>
          <p:cNvSpPr/>
          <p:nvPr/>
        </p:nvSpPr>
        <p:spPr>
          <a:xfrm>
            <a:off x="6345891" y="648015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617A09EE-5BBC-4E39-B07C-491950ACE550}"/>
              </a:ext>
            </a:extLst>
          </p:cNvPr>
          <p:cNvSpPr/>
          <p:nvPr/>
        </p:nvSpPr>
        <p:spPr>
          <a:xfrm>
            <a:off x="6355628" y="6390017"/>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C4596C93-FE4D-47EF-8419-E22BFF621BE1}"/>
              </a:ext>
            </a:extLst>
          </p:cNvPr>
          <p:cNvSpPr/>
          <p:nvPr/>
        </p:nvSpPr>
        <p:spPr>
          <a:xfrm>
            <a:off x="6329946" y="614513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4" name="Table 8">
            <a:extLst>
              <a:ext uri="{FF2B5EF4-FFF2-40B4-BE49-F238E27FC236}">
                <a16:creationId xmlns:a16="http://schemas.microsoft.com/office/drawing/2014/main" id="{7516AEA7-3C5E-499B-9462-BF146179DEC3}"/>
              </a:ext>
            </a:extLst>
          </p:cNvPr>
          <p:cNvGraphicFramePr>
            <a:graphicFrameLocks noGrp="1"/>
          </p:cNvGraphicFramePr>
          <p:nvPr>
            <p:extLst/>
          </p:nvPr>
        </p:nvGraphicFramePr>
        <p:xfrm>
          <a:off x="8171111" y="279184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16" name="Rectangle 115">
            <a:extLst>
              <a:ext uri="{FF2B5EF4-FFF2-40B4-BE49-F238E27FC236}">
                <a16:creationId xmlns:a16="http://schemas.microsoft.com/office/drawing/2014/main" id="{90E64514-C8E8-4883-9FCC-267B322A4995}"/>
              </a:ext>
            </a:extLst>
          </p:cNvPr>
          <p:cNvSpPr/>
          <p:nvPr/>
        </p:nvSpPr>
        <p:spPr>
          <a:xfrm>
            <a:off x="8176412" y="2791849"/>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29A2B435-F418-4DA5-A075-C2F98205BE0D}"/>
              </a:ext>
            </a:extLst>
          </p:cNvPr>
          <p:cNvSpPr/>
          <p:nvPr/>
        </p:nvSpPr>
        <p:spPr>
          <a:xfrm>
            <a:off x="8176412" y="2897492"/>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245DC45B-9AFE-44D0-9DFA-7634278AB66D}"/>
              </a:ext>
            </a:extLst>
          </p:cNvPr>
          <p:cNvSpPr/>
          <p:nvPr/>
        </p:nvSpPr>
        <p:spPr>
          <a:xfrm>
            <a:off x="8413490" y="2792636"/>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20310BC5-B7D6-4619-B439-43535B205D73}"/>
              </a:ext>
            </a:extLst>
          </p:cNvPr>
          <p:cNvSpPr/>
          <p:nvPr/>
        </p:nvSpPr>
        <p:spPr>
          <a:xfrm>
            <a:off x="8413490" y="2898279"/>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EC235775-1D0F-438E-B818-1981B592EE56}"/>
              </a:ext>
            </a:extLst>
          </p:cNvPr>
          <p:cNvSpPr/>
          <p:nvPr/>
        </p:nvSpPr>
        <p:spPr>
          <a:xfrm>
            <a:off x="8824323" y="2803612"/>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54EF3C6B-2CAE-4261-A497-17B48C76A489}"/>
              </a:ext>
            </a:extLst>
          </p:cNvPr>
          <p:cNvSpPr/>
          <p:nvPr/>
        </p:nvSpPr>
        <p:spPr>
          <a:xfrm>
            <a:off x="8824323" y="2909255"/>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44D4D4F1-44E6-413C-84D6-A380CA40C243}"/>
              </a:ext>
            </a:extLst>
          </p:cNvPr>
          <p:cNvSpPr/>
          <p:nvPr/>
        </p:nvSpPr>
        <p:spPr>
          <a:xfrm>
            <a:off x="9061401" y="2804399"/>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70177D4F-9129-4387-BA87-81344125B349}"/>
              </a:ext>
            </a:extLst>
          </p:cNvPr>
          <p:cNvSpPr/>
          <p:nvPr/>
        </p:nvSpPr>
        <p:spPr>
          <a:xfrm>
            <a:off x="9061401" y="2910042"/>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2" name="Table 8">
            <a:extLst>
              <a:ext uri="{FF2B5EF4-FFF2-40B4-BE49-F238E27FC236}">
                <a16:creationId xmlns:a16="http://schemas.microsoft.com/office/drawing/2014/main" id="{00754AE0-0373-4F14-885F-2FC5F48E3E85}"/>
              </a:ext>
            </a:extLst>
          </p:cNvPr>
          <p:cNvGraphicFramePr>
            <a:graphicFrameLocks noGrp="1"/>
          </p:cNvGraphicFramePr>
          <p:nvPr>
            <p:extLst/>
          </p:nvPr>
        </p:nvGraphicFramePr>
        <p:xfrm>
          <a:off x="7495753" y="279310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7" name="Rectangle 136">
            <a:extLst>
              <a:ext uri="{FF2B5EF4-FFF2-40B4-BE49-F238E27FC236}">
                <a16:creationId xmlns:a16="http://schemas.microsoft.com/office/drawing/2014/main" id="{22BC5B24-7223-4134-9E9C-277326144337}"/>
              </a:ext>
            </a:extLst>
          </p:cNvPr>
          <p:cNvSpPr/>
          <p:nvPr/>
        </p:nvSpPr>
        <p:spPr>
          <a:xfrm>
            <a:off x="9489925" y="293165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B26F8EB9-2509-4DC2-98C7-6E3BBE2F8441}"/>
              </a:ext>
            </a:extLst>
          </p:cNvPr>
          <p:cNvSpPr/>
          <p:nvPr/>
        </p:nvSpPr>
        <p:spPr>
          <a:xfrm>
            <a:off x="9738614" y="281753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197BC53E-A526-47FF-A0A3-EC99C7AAE490}"/>
              </a:ext>
            </a:extLst>
          </p:cNvPr>
          <p:cNvSpPr/>
          <p:nvPr/>
        </p:nvSpPr>
        <p:spPr>
          <a:xfrm>
            <a:off x="9727073" y="2924169"/>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8082214A-BCE6-4651-8EDB-74D7380A1C0C}"/>
              </a:ext>
            </a:extLst>
          </p:cNvPr>
          <p:cNvSpPr/>
          <p:nvPr/>
        </p:nvSpPr>
        <p:spPr>
          <a:xfrm>
            <a:off x="9474792" y="281126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41249C89-4627-46D1-BFE1-4F51DB9E644C}"/>
              </a:ext>
            </a:extLst>
          </p:cNvPr>
          <p:cNvSpPr/>
          <p:nvPr/>
        </p:nvSpPr>
        <p:spPr>
          <a:xfrm>
            <a:off x="7509101" y="2797434"/>
            <a:ext cx="469376" cy="22385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7" name="Table 8">
            <a:extLst>
              <a:ext uri="{FF2B5EF4-FFF2-40B4-BE49-F238E27FC236}">
                <a16:creationId xmlns:a16="http://schemas.microsoft.com/office/drawing/2014/main" id="{C39B757E-7978-422D-81B5-E57F0D5DC0CF}"/>
              </a:ext>
            </a:extLst>
          </p:cNvPr>
          <p:cNvGraphicFramePr>
            <a:graphicFrameLocks noGrp="1"/>
          </p:cNvGraphicFramePr>
          <p:nvPr>
            <p:extLst/>
          </p:nvPr>
        </p:nvGraphicFramePr>
        <p:xfrm>
          <a:off x="10824251" y="615327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68" name="TextBox 167">
            <a:extLst>
              <a:ext uri="{FF2B5EF4-FFF2-40B4-BE49-F238E27FC236}">
                <a16:creationId xmlns:a16="http://schemas.microsoft.com/office/drawing/2014/main" id="{81DE6CC0-21F3-4398-A0F5-1A8236971981}"/>
              </a:ext>
            </a:extLst>
          </p:cNvPr>
          <p:cNvSpPr txBox="1"/>
          <p:nvPr/>
        </p:nvSpPr>
        <p:spPr>
          <a:xfrm>
            <a:off x="9916322" y="6217878"/>
            <a:ext cx="319318" cy="369332"/>
          </a:xfrm>
          <a:prstGeom prst="rect">
            <a:avLst/>
          </a:prstGeom>
          <a:noFill/>
        </p:spPr>
        <p:txBody>
          <a:bodyPr wrap="none" rtlCol="0">
            <a:spAutoFit/>
          </a:bodyPr>
          <a:lstStyle/>
          <a:p>
            <a:r>
              <a:rPr lang="en-US" dirty="0"/>
              <a:t>=</a:t>
            </a:r>
          </a:p>
        </p:txBody>
      </p:sp>
      <p:graphicFrame>
        <p:nvGraphicFramePr>
          <p:cNvPr id="169" name="Table 8">
            <a:extLst>
              <a:ext uri="{FF2B5EF4-FFF2-40B4-BE49-F238E27FC236}">
                <a16:creationId xmlns:a16="http://schemas.microsoft.com/office/drawing/2014/main" id="{9815C0E0-16F2-4BA8-96D7-88A353C2F818}"/>
              </a:ext>
            </a:extLst>
          </p:cNvPr>
          <p:cNvGraphicFramePr>
            <a:graphicFrameLocks noGrp="1"/>
          </p:cNvGraphicFramePr>
          <p:nvPr>
            <p:extLst/>
          </p:nvPr>
        </p:nvGraphicFramePr>
        <p:xfrm>
          <a:off x="10167683" y="614998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70" name="TextBox 169">
            <a:extLst>
              <a:ext uri="{FF2B5EF4-FFF2-40B4-BE49-F238E27FC236}">
                <a16:creationId xmlns:a16="http://schemas.microsoft.com/office/drawing/2014/main" id="{1E827122-486E-4E95-A378-469B01483DB2}"/>
              </a:ext>
            </a:extLst>
          </p:cNvPr>
          <p:cNvSpPr txBox="1"/>
          <p:nvPr/>
        </p:nvSpPr>
        <p:spPr>
          <a:xfrm>
            <a:off x="10580963" y="6218442"/>
            <a:ext cx="319318" cy="369332"/>
          </a:xfrm>
          <a:prstGeom prst="rect">
            <a:avLst/>
          </a:prstGeom>
          <a:noFill/>
        </p:spPr>
        <p:txBody>
          <a:bodyPr wrap="none" rtlCol="0">
            <a:spAutoFit/>
          </a:bodyPr>
          <a:lstStyle/>
          <a:p>
            <a:r>
              <a:rPr lang="en-US" dirty="0"/>
              <a:t>+</a:t>
            </a:r>
          </a:p>
        </p:txBody>
      </p:sp>
      <p:sp>
        <p:nvSpPr>
          <p:cNvPr id="171" name="Rectangle 170">
            <a:extLst>
              <a:ext uri="{FF2B5EF4-FFF2-40B4-BE49-F238E27FC236}">
                <a16:creationId xmlns:a16="http://schemas.microsoft.com/office/drawing/2014/main" id="{6A117F88-7C5C-44BC-ADA8-6388FC3AF1E6}"/>
              </a:ext>
            </a:extLst>
          </p:cNvPr>
          <p:cNvSpPr/>
          <p:nvPr/>
        </p:nvSpPr>
        <p:spPr>
          <a:xfrm>
            <a:off x="10172984" y="6149984"/>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D5933408-95C9-4191-89DD-8C55F54B617C}"/>
              </a:ext>
            </a:extLst>
          </p:cNvPr>
          <p:cNvSpPr/>
          <p:nvPr/>
        </p:nvSpPr>
        <p:spPr>
          <a:xfrm>
            <a:off x="10172984" y="6255627"/>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9A9FB4E-4E74-476D-B35D-CE96E5294932}"/>
              </a:ext>
            </a:extLst>
          </p:cNvPr>
          <p:cNvSpPr/>
          <p:nvPr/>
        </p:nvSpPr>
        <p:spPr>
          <a:xfrm>
            <a:off x="10171203" y="6381231"/>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E45AFCFC-D714-47D7-A4A0-429E1E6C1015}"/>
              </a:ext>
            </a:extLst>
          </p:cNvPr>
          <p:cNvSpPr/>
          <p:nvPr/>
        </p:nvSpPr>
        <p:spPr>
          <a:xfrm>
            <a:off x="10171203" y="6492527"/>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44D25F72-A8A9-4D6A-9831-7B25C9BDB531}"/>
              </a:ext>
            </a:extLst>
          </p:cNvPr>
          <p:cNvSpPr/>
          <p:nvPr/>
        </p:nvSpPr>
        <p:spPr>
          <a:xfrm>
            <a:off x="10410062" y="6150771"/>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DC6AC02D-4B54-4061-A539-B67313959977}"/>
              </a:ext>
            </a:extLst>
          </p:cNvPr>
          <p:cNvSpPr/>
          <p:nvPr/>
        </p:nvSpPr>
        <p:spPr>
          <a:xfrm>
            <a:off x="10410062" y="6256414"/>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C8AB33D-6DE8-4F2F-872E-094DF09EE538}"/>
              </a:ext>
            </a:extLst>
          </p:cNvPr>
          <p:cNvSpPr/>
          <p:nvPr/>
        </p:nvSpPr>
        <p:spPr>
          <a:xfrm>
            <a:off x="10408281" y="6382018"/>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DF6CF24E-A903-4C42-AD35-40D25ED3614D}"/>
              </a:ext>
            </a:extLst>
          </p:cNvPr>
          <p:cNvSpPr/>
          <p:nvPr/>
        </p:nvSpPr>
        <p:spPr>
          <a:xfrm>
            <a:off x="10408281" y="6493314"/>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664357BF-B4FE-46B7-AD9E-385A5D57D88D}"/>
              </a:ext>
            </a:extLst>
          </p:cNvPr>
          <p:cNvSpPr/>
          <p:nvPr/>
        </p:nvSpPr>
        <p:spPr>
          <a:xfrm>
            <a:off x="10826032" y="6161747"/>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1187C75C-ECB3-4C33-BB9F-9D8E5633B4D0}"/>
              </a:ext>
            </a:extLst>
          </p:cNvPr>
          <p:cNvSpPr/>
          <p:nvPr/>
        </p:nvSpPr>
        <p:spPr>
          <a:xfrm>
            <a:off x="10826032" y="6267390"/>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9E6E5199-CB1C-4527-B455-D1C1D25A01A9}"/>
              </a:ext>
            </a:extLst>
          </p:cNvPr>
          <p:cNvSpPr/>
          <p:nvPr/>
        </p:nvSpPr>
        <p:spPr>
          <a:xfrm>
            <a:off x="10824251" y="6392994"/>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5B3F6E74-4660-49EC-9F39-115E4718A3E0}"/>
              </a:ext>
            </a:extLst>
          </p:cNvPr>
          <p:cNvSpPr/>
          <p:nvPr/>
        </p:nvSpPr>
        <p:spPr>
          <a:xfrm>
            <a:off x="10824251" y="6504290"/>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EAEAA41-AEA5-4EA2-9F9F-89FB1F1F55E8}"/>
              </a:ext>
            </a:extLst>
          </p:cNvPr>
          <p:cNvSpPr/>
          <p:nvPr/>
        </p:nvSpPr>
        <p:spPr>
          <a:xfrm>
            <a:off x="11063110" y="616253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B06FA891-04FB-489E-AA55-BD19AF136473}"/>
              </a:ext>
            </a:extLst>
          </p:cNvPr>
          <p:cNvSpPr/>
          <p:nvPr/>
        </p:nvSpPr>
        <p:spPr>
          <a:xfrm>
            <a:off x="11063110" y="6268177"/>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EAD7E971-4BAC-473B-8A83-0750FCF4BCEE}"/>
              </a:ext>
            </a:extLst>
          </p:cNvPr>
          <p:cNvSpPr/>
          <p:nvPr/>
        </p:nvSpPr>
        <p:spPr>
          <a:xfrm>
            <a:off x="11061329" y="6393781"/>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79CED9C0-4080-4BE0-9842-DC526D7193D9}"/>
              </a:ext>
            </a:extLst>
          </p:cNvPr>
          <p:cNvSpPr/>
          <p:nvPr/>
        </p:nvSpPr>
        <p:spPr>
          <a:xfrm>
            <a:off x="11061329" y="650507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7" name="Table 8">
            <a:extLst>
              <a:ext uri="{FF2B5EF4-FFF2-40B4-BE49-F238E27FC236}">
                <a16:creationId xmlns:a16="http://schemas.microsoft.com/office/drawing/2014/main" id="{E609D955-3D10-45EE-8529-8D7528C2BA3F}"/>
              </a:ext>
            </a:extLst>
          </p:cNvPr>
          <p:cNvGraphicFramePr>
            <a:graphicFrameLocks noGrp="1"/>
          </p:cNvGraphicFramePr>
          <p:nvPr>
            <p:extLst/>
          </p:nvPr>
        </p:nvGraphicFramePr>
        <p:xfrm>
          <a:off x="9487188" y="615124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189" name="Table 8">
            <a:extLst>
              <a:ext uri="{FF2B5EF4-FFF2-40B4-BE49-F238E27FC236}">
                <a16:creationId xmlns:a16="http://schemas.microsoft.com/office/drawing/2014/main" id="{5F619DE0-D673-46A6-9D81-21709F83F28C}"/>
              </a:ext>
            </a:extLst>
          </p:cNvPr>
          <p:cNvGraphicFramePr>
            <a:graphicFrameLocks noGrp="1"/>
          </p:cNvGraphicFramePr>
          <p:nvPr>
            <p:extLst/>
          </p:nvPr>
        </p:nvGraphicFramePr>
        <p:xfrm>
          <a:off x="11474442" y="614998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90" name="TextBox 189">
            <a:extLst>
              <a:ext uri="{FF2B5EF4-FFF2-40B4-BE49-F238E27FC236}">
                <a16:creationId xmlns:a16="http://schemas.microsoft.com/office/drawing/2014/main" id="{EABBE2F1-894B-407C-A353-61576CDBAC9E}"/>
              </a:ext>
            </a:extLst>
          </p:cNvPr>
          <p:cNvSpPr txBox="1"/>
          <p:nvPr/>
        </p:nvSpPr>
        <p:spPr>
          <a:xfrm>
            <a:off x="11231154" y="6215152"/>
            <a:ext cx="319318" cy="369332"/>
          </a:xfrm>
          <a:prstGeom prst="rect">
            <a:avLst/>
          </a:prstGeom>
          <a:noFill/>
        </p:spPr>
        <p:txBody>
          <a:bodyPr wrap="none" rtlCol="0">
            <a:spAutoFit/>
          </a:bodyPr>
          <a:lstStyle/>
          <a:p>
            <a:r>
              <a:rPr lang="en-US" dirty="0"/>
              <a:t>+</a:t>
            </a:r>
          </a:p>
        </p:txBody>
      </p:sp>
      <p:sp>
        <p:nvSpPr>
          <p:cNvPr id="191" name="Rectangle 190">
            <a:extLst>
              <a:ext uri="{FF2B5EF4-FFF2-40B4-BE49-F238E27FC236}">
                <a16:creationId xmlns:a16="http://schemas.microsoft.com/office/drawing/2014/main" id="{92E80C1C-3D16-437F-B64F-115752C3D70C}"/>
              </a:ext>
            </a:extLst>
          </p:cNvPr>
          <p:cNvSpPr/>
          <p:nvPr/>
        </p:nvSpPr>
        <p:spPr>
          <a:xfrm>
            <a:off x="11717710" y="6389092"/>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00797504-82BB-418C-8682-77DE8C607AB4}"/>
              </a:ext>
            </a:extLst>
          </p:cNvPr>
          <p:cNvSpPr/>
          <p:nvPr/>
        </p:nvSpPr>
        <p:spPr>
          <a:xfrm>
            <a:off x="11476223" y="626410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56991721-AEF0-4D29-A903-E114970D36C7}"/>
              </a:ext>
            </a:extLst>
          </p:cNvPr>
          <p:cNvSpPr/>
          <p:nvPr/>
        </p:nvSpPr>
        <p:spPr>
          <a:xfrm>
            <a:off x="11711537" y="6486043"/>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74A2B658-C9D5-4EAE-A898-2C544ED1971F}"/>
              </a:ext>
            </a:extLst>
          </p:cNvPr>
          <p:cNvSpPr/>
          <p:nvPr/>
        </p:nvSpPr>
        <p:spPr>
          <a:xfrm>
            <a:off x="11724912" y="614998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2CDA4A73-5F66-4FF2-BA98-29295A16743C}"/>
              </a:ext>
            </a:extLst>
          </p:cNvPr>
          <p:cNvSpPr/>
          <p:nvPr/>
        </p:nvSpPr>
        <p:spPr>
          <a:xfrm>
            <a:off x="11713371" y="6256619"/>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F163CCCE-9173-4FF6-94FB-A4F4F2ACE8B9}"/>
              </a:ext>
            </a:extLst>
          </p:cNvPr>
          <p:cNvSpPr/>
          <p:nvPr/>
        </p:nvSpPr>
        <p:spPr>
          <a:xfrm>
            <a:off x="11477035" y="6468457"/>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AD29DCE-FBC1-4B17-8DD7-CA4B22BC76D0}"/>
              </a:ext>
            </a:extLst>
          </p:cNvPr>
          <p:cNvSpPr/>
          <p:nvPr/>
        </p:nvSpPr>
        <p:spPr>
          <a:xfrm>
            <a:off x="11486772" y="6388598"/>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4E07A6AC-4141-4C4D-9A34-936860292F4E}"/>
              </a:ext>
            </a:extLst>
          </p:cNvPr>
          <p:cNvSpPr/>
          <p:nvPr/>
        </p:nvSpPr>
        <p:spPr>
          <a:xfrm>
            <a:off x="11461090" y="614371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B4EC6896-F1E4-43C4-BDC2-B17848A24EC0}"/>
              </a:ext>
            </a:extLst>
          </p:cNvPr>
          <p:cNvSpPr/>
          <p:nvPr/>
        </p:nvSpPr>
        <p:spPr>
          <a:xfrm>
            <a:off x="9502321" y="6134471"/>
            <a:ext cx="459102" cy="476433"/>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84" name="Content Placeholder 2">
                <a:extLst>
                  <a:ext uri="{FF2B5EF4-FFF2-40B4-BE49-F238E27FC236}">
                    <a16:creationId xmlns:a16="http://schemas.microsoft.com/office/drawing/2014/main" id="{9C3AFD75-A51D-466A-8E40-331F4329670B}"/>
                  </a:ext>
                </a:extLst>
              </p:cNvPr>
              <p:cNvSpPr>
                <a:spLocks noGrp="1"/>
              </p:cNvSpPr>
              <p:nvPr>
                <p:ph idx="1"/>
              </p:nvPr>
            </p:nvSpPr>
            <p:spPr>
              <a:xfrm>
                <a:off x="798263" y="1602082"/>
                <a:ext cx="6581539" cy="5346602"/>
              </a:xfrm>
            </p:spPr>
            <p:txBody>
              <a:bodyPr>
                <a:normAutofit/>
              </a:bodyPr>
              <a:lstStyle/>
              <a:p>
                <a:r>
                  <a:rPr lang="en-US" dirty="0"/>
                  <a:t>Each party “Encrypts” their data</a:t>
                </a:r>
                <a:r>
                  <a:rPr lang="en-US" b="1" dirty="0"/>
                  <a:t> </a:t>
                </a:r>
                <a14:m>
                  <m:oMath xmlns:m="http://schemas.openxmlformats.org/officeDocument/2006/math">
                    <m:r>
                      <a:rPr lang="en-US" b="1" i="1" smtClean="0">
                        <a:latin typeface="Cambria Math" panose="02040503050406030204" pitchFamily="18" charset="0"/>
                      </a:rPr>
                      <m:t>𝒙</m:t>
                    </m:r>
                  </m:oMath>
                </a14:m>
                <a:r>
                  <a:rPr lang="en-US" dirty="0"/>
                  <a:t> such that</a:t>
                </a:r>
                <a:br>
                  <a:rPr lang="en-US" dirty="0"/>
                </a:b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oMath>
                </a14:m>
                <a:br>
                  <a:rPr lang="en-US" dirty="0"/>
                </a:br>
                <a:endParaRPr lang="en-US" dirty="0"/>
              </a:p>
              <a:p>
                <a:r>
                  <a:rPr lang="en-US" dirty="0"/>
                  <a:t>Share Types:</a:t>
                </a:r>
              </a:p>
              <a:p>
                <a:pPr lvl="1"/>
                <a:r>
                  <a:rPr lang="en-US" b="1" dirty="0"/>
                  <a:t>A</a:t>
                </a:r>
                <a:r>
                  <a:rPr lang="en-US" dirty="0"/>
                  <a:t>rithmetic:</a:t>
                </a:r>
              </a:p>
              <a:p>
                <a:pPr lvl="1"/>
                <a:r>
                  <a:rPr lang="en-US" b="1" dirty="0"/>
                  <a:t>B</a:t>
                </a:r>
                <a:r>
                  <a:rPr lang="en-US" dirty="0"/>
                  <a:t>oolean:</a:t>
                </a:r>
              </a:p>
              <a:p>
                <a:pPr lvl="1"/>
                <a:r>
                  <a:rPr lang="en-US" b="1" dirty="0"/>
                  <a:t>Y</a:t>
                </a:r>
                <a:r>
                  <a:rPr lang="en-US" dirty="0"/>
                  <a:t>ao G.C.:</a:t>
                </a:r>
              </a:p>
              <a:p>
                <a:pPr lvl="1"/>
                <a:endParaRPr lang="en-US" dirty="0"/>
              </a:p>
              <a:p>
                <a:endParaRPr lang="en-US" dirty="0"/>
              </a:p>
            </p:txBody>
          </p:sp>
        </mc:Choice>
        <mc:Fallback>
          <p:sp>
            <p:nvSpPr>
              <p:cNvPr id="284" name="Content Placeholder 2">
                <a:extLst>
                  <a:ext uri="{FF2B5EF4-FFF2-40B4-BE49-F238E27FC236}">
                    <a16:creationId xmlns:a16="http://schemas.microsoft.com/office/drawing/2014/main" id="{9C3AFD75-A51D-466A-8E40-331F4329670B}"/>
                  </a:ext>
                </a:extLst>
              </p:cNvPr>
              <p:cNvSpPr>
                <a:spLocks noGrp="1" noRot="1" noChangeAspect="1" noMove="1" noResize="1" noEditPoints="1" noAdjustHandles="1" noChangeArrowheads="1" noChangeShapeType="1" noTextEdit="1"/>
              </p:cNvSpPr>
              <p:nvPr>
                <p:ph idx="1"/>
              </p:nvPr>
            </p:nvSpPr>
            <p:spPr>
              <a:xfrm>
                <a:off x="798263" y="1602082"/>
                <a:ext cx="6581539" cy="5346602"/>
              </a:xfrm>
              <a:blipFill>
                <a:blip r:embed="rId8"/>
                <a:stretch>
                  <a:fillRect l="-1296" t="-228"/>
                </a:stretch>
              </a:blipFill>
            </p:spPr>
            <p:txBody>
              <a:bodyPr/>
              <a:lstStyle/>
              <a:p>
                <a:r>
                  <a:rPr lang="en-US">
                    <a:noFill/>
                  </a:rPr>
                  <a:t> </a:t>
                </a:r>
              </a:p>
            </p:txBody>
          </p:sp>
        </mc:Fallback>
      </mc:AlternateContent>
      <p:graphicFrame>
        <p:nvGraphicFramePr>
          <p:cNvPr id="329" name="Table 8">
            <a:extLst>
              <a:ext uri="{FF2B5EF4-FFF2-40B4-BE49-F238E27FC236}">
                <a16:creationId xmlns:a16="http://schemas.microsoft.com/office/drawing/2014/main" id="{00369606-6652-4D39-8AAF-9BB1FF9CA772}"/>
              </a:ext>
            </a:extLst>
          </p:cNvPr>
          <p:cNvGraphicFramePr>
            <a:graphicFrameLocks noGrp="1"/>
          </p:cNvGraphicFramePr>
          <p:nvPr>
            <p:extLst/>
          </p:nvPr>
        </p:nvGraphicFramePr>
        <p:xfrm>
          <a:off x="9485361" y="304111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330" name="Table 8">
            <a:extLst>
              <a:ext uri="{FF2B5EF4-FFF2-40B4-BE49-F238E27FC236}">
                <a16:creationId xmlns:a16="http://schemas.microsoft.com/office/drawing/2014/main" id="{8C6DEA83-5BA6-46E2-8DAD-5C5B56A43562}"/>
              </a:ext>
            </a:extLst>
          </p:cNvPr>
          <p:cNvGraphicFramePr>
            <a:graphicFrameLocks noGrp="1"/>
          </p:cNvGraphicFramePr>
          <p:nvPr>
            <p:extLst/>
          </p:nvPr>
        </p:nvGraphicFramePr>
        <p:xfrm>
          <a:off x="8820812" y="3041451"/>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332" name="Table 8">
            <a:extLst>
              <a:ext uri="{FF2B5EF4-FFF2-40B4-BE49-F238E27FC236}">
                <a16:creationId xmlns:a16="http://schemas.microsoft.com/office/drawing/2014/main" id="{AC0FC417-4611-4E31-8AB9-6F997B94D52A}"/>
              </a:ext>
            </a:extLst>
          </p:cNvPr>
          <p:cNvGraphicFramePr>
            <a:graphicFrameLocks noGrp="1"/>
          </p:cNvGraphicFramePr>
          <p:nvPr>
            <p:extLst/>
          </p:nvPr>
        </p:nvGraphicFramePr>
        <p:xfrm>
          <a:off x="8169326" y="302703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334" name="Rectangle 333">
            <a:extLst>
              <a:ext uri="{FF2B5EF4-FFF2-40B4-BE49-F238E27FC236}">
                <a16:creationId xmlns:a16="http://schemas.microsoft.com/office/drawing/2014/main" id="{0439FE26-C0C5-4DF0-8F47-F1CEEE485FA6}"/>
              </a:ext>
            </a:extLst>
          </p:cNvPr>
          <p:cNvSpPr/>
          <p:nvPr/>
        </p:nvSpPr>
        <p:spPr>
          <a:xfrm>
            <a:off x="8174627" y="3027035"/>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CF4B141B-6705-4B30-87D1-F96A69D47659}"/>
              </a:ext>
            </a:extLst>
          </p:cNvPr>
          <p:cNvSpPr/>
          <p:nvPr/>
        </p:nvSpPr>
        <p:spPr>
          <a:xfrm>
            <a:off x="8174627" y="3132678"/>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F296238D-841A-4732-A1C4-E841DB3EAE71}"/>
              </a:ext>
            </a:extLst>
          </p:cNvPr>
          <p:cNvSpPr/>
          <p:nvPr/>
        </p:nvSpPr>
        <p:spPr>
          <a:xfrm>
            <a:off x="8411705" y="3027822"/>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5F18DA3F-7EFA-405E-957D-D54F829EB3D9}"/>
              </a:ext>
            </a:extLst>
          </p:cNvPr>
          <p:cNvSpPr/>
          <p:nvPr/>
        </p:nvSpPr>
        <p:spPr>
          <a:xfrm>
            <a:off x="8411705" y="3133465"/>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50F16EFF-CFD6-408C-87D1-705328221745}"/>
              </a:ext>
            </a:extLst>
          </p:cNvPr>
          <p:cNvSpPr/>
          <p:nvPr/>
        </p:nvSpPr>
        <p:spPr>
          <a:xfrm>
            <a:off x="8822538" y="3038798"/>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C5F734EE-6A09-4358-86F2-531C2B1E0028}"/>
              </a:ext>
            </a:extLst>
          </p:cNvPr>
          <p:cNvSpPr/>
          <p:nvPr/>
        </p:nvSpPr>
        <p:spPr>
          <a:xfrm>
            <a:off x="8822538" y="3144441"/>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C1F88371-2B53-4AAE-A9B0-207CF3286AFC}"/>
              </a:ext>
            </a:extLst>
          </p:cNvPr>
          <p:cNvSpPr/>
          <p:nvPr/>
        </p:nvSpPr>
        <p:spPr>
          <a:xfrm>
            <a:off x="9059616" y="3039585"/>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13769BE9-13E1-4B4F-8975-988FB6D11A68}"/>
              </a:ext>
            </a:extLst>
          </p:cNvPr>
          <p:cNvSpPr/>
          <p:nvPr/>
        </p:nvSpPr>
        <p:spPr>
          <a:xfrm>
            <a:off x="9059616" y="3145228"/>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2" name="Table 8">
            <a:extLst>
              <a:ext uri="{FF2B5EF4-FFF2-40B4-BE49-F238E27FC236}">
                <a16:creationId xmlns:a16="http://schemas.microsoft.com/office/drawing/2014/main" id="{C09FAD13-6EB7-4493-AA80-6A4FDF96D614}"/>
              </a:ext>
            </a:extLst>
          </p:cNvPr>
          <p:cNvGraphicFramePr>
            <a:graphicFrameLocks noGrp="1"/>
          </p:cNvGraphicFramePr>
          <p:nvPr>
            <p:extLst/>
          </p:nvPr>
        </p:nvGraphicFramePr>
        <p:xfrm>
          <a:off x="7493968" y="302829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344" name="Rectangle 343">
            <a:extLst>
              <a:ext uri="{FF2B5EF4-FFF2-40B4-BE49-F238E27FC236}">
                <a16:creationId xmlns:a16="http://schemas.microsoft.com/office/drawing/2014/main" id="{E387004B-6C73-4533-BDE5-61A8EF403AC8}"/>
              </a:ext>
            </a:extLst>
          </p:cNvPr>
          <p:cNvSpPr/>
          <p:nvPr/>
        </p:nvSpPr>
        <p:spPr>
          <a:xfrm>
            <a:off x="9488140" y="3166836"/>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1BB7D65E-FB2B-4B84-BEA0-E41213C4078B}"/>
              </a:ext>
            </a:extLst>
          </p:cNvPr>
          <p:cNvSpPr/>
          <p:nvPr/>
        </p:nvSpPr>
        <p:spPr>
          <a:xfrm>
            <a:off x="9736829" y="3052720"/>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55DEA8D8-00BA-41E6-B9C9-C36534CE9E1A}"/>
              </a:ext>
            </a:extLst>
          </p:cNvPr>
          <p:cNvSpPr/>
          <p:nvPr/>
        </p:nvSpPr>
        <p:spPr>
          <a:xfrm>
            <a:off x="9725288" y="3159355"/>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6AB4CC3F-0E1E-4E23-A933-866215811E3E}"/>
              </a:ext>
            </a:extLst>
          </p:cNvPr>
          <p:cNvSpPr/>
          <p:nvPr/>
        </p:nvSpPr>
        <p:spPr>
          <a:xfrm>
            <a:off x="9473007" y="3046450"/>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34408304-CA77-4ADD-92E1-A7D2F8C4BA33}"/>
              </a:ext>
            </a:extLst>
          </p:cNvPr>
          <p:cNvSpPr/>
          <p:nvPr/>
        </p:nvSpPr>
        <p:spPr>
          <a:xfrm>
            <a:off x="7507316" y="3032620"/>
            <a:ext cx="469376" cy="22385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TextBox 348">
            <a:extLst>
              <a:ext uri="{FF2B5EF4-FFF2-40B4-BE49-F238E27FC236}">
                <a16:creationId xmlns:a16="http://schemas.microsoft.com/office/drawing/2014/main" id="{2DB1240C-8240-4CE7-B31B-14EAD4B3E988}"/>
              </a:ext>
            </a:extLst>
          </p:cNvPr>
          <p:cNvSpPr txBox="1"/>
          <p:nvPr/>
        </p:nvSpPr>
        <p:spPr>
          <a:xfrm>
            <a:off x="7911236" y="2860225"/>
            <a:ext cx="319318" cy="369332"/>
          </a:xfrm>
          <a:prstGeom prst="rect">
            <a:avLst/>
          </a:prstGeom>
          <a:noFill/>
        </p:spPr>
        <p:txBody>
          <a:bodyPr wrap="none" rtlCol="0">
            <a:spAutoFit/>
          </a:bodyPr>
          <a:lstStyle/>
          <a:p>
            <a:r>
              <a:rPr lang="en-US" dirty="0"/>
              <a:t>=</a:t>
            </a:r>
          </a:p>
        </p:txBody>
      </p:sp>
      <p:sp>
        <p:nvSpPr>
          <p:cNvPr id="350" name="TextBox 349">
            <a:extLst>
              <a:ext uri="{FF2B5EF4-FFF2-40B4-BE49-F238E27FC236}">
                <a16:creationId xmlns:a16="http://schemas.microsoft.com/office/drawing/2014/main" id="{390CE0A3-F3A7-42F6-B0F1-E8C689A10B87}"/>
              </a:ext>
            </a:extLst>
          </p:cNvPr>
          <p:cNvSpPr txBox="1"/>
          <p:nvPr/>
        </p:nvSpPr>
        <p:spPr>
          <a:xfrm>
            <a:off x="8586151" y="2860789"/>
            <a:ext cx="319318" cy="369332"/>
          </a:xfrm>
          <a:prstGeom prst="rect">
            <a:avLst/>
          </a:prstGeom>
          <a:noFill/>
        </p:spPr>
        <p:txBody>
          <a:bodyPr wrap="none" rtlCol="0">
            <a:spAutoFit/>
          </a:bodyPr>
          <a:lstStyle/>
          <a:p>
            <a:r>
              <a:rPr lang="en-US" dirty="0"/>
              <a:t>+</a:t>
            </a:r>
          </a:p>
        </p:txBody>
      </p:sp>
      <p:sp>
        <p:nvSpPr>
          <p:cNvPr id="351" name="TextBox 350">
            <a:extLst>
              <a:ext uri="{FF2B5EF4-FFF2-40B4-BE49-F238E27FC236}">
                <a16:creationId xmlns:a16="http://schemas.microsoft.com/office/drawing/2014/main" id="{CE22B9B5-A3D4-4697-9AB2-C53CD1121AF1}"/>
              </a:ext>
            </a:extLst>
          </p:cNvPr>
          <p:cNvSpPr txBox="1"/>
          <p:nvPr/>
        </p:nvSpPr>
        <p:spPr>
          <a:xfrm>
            <a:off x="9241479" y="2857499"/>
            <a:ext cx="319318" cy="369332"/>
          </a:xfrm>
          <a:prstGeom prst="rect">
            <a:avLst/>
          </a:prstGeom>
          <a:noFill/>
        </p:spPr>
        <p:txBody>
          <a:bodyPr wrap="none" rtlCol="0">
            <a:spAutoFit/>
          </a:bodyPr>
          <a:lstStyle/>
          <a:p>
            <a:r>
              <a:rPr lang="en-US" dirty="0"/>
              <a:t>+</a:t>
            </a:r>
          </a:p>
        </p:txBody>
      </p:sp>
      <p:cxnSp>
        <p:nvCxnSpPr>
          <p:cNvPr id="3076" name="Straight Arrow Connector 3075">
            <a:extLst>
              <a:ext uri="{FF2B5EF4-FFF2-40B4-BE49-F238E27FC236}">
                <a16:creationId xmlns:a16="http://schemas.microsoft.com/office/drawing/2014/main" id="{8DB78352-69D1-4E15-9653-6C7FACD31CC1}"/>
              </a:ext>
            </a:extLst>
          </p:cNvPr>
          <p:cNvCxnSpPr/>
          <p:nvPr/>
        </p:nvCxnSpPr>
        <p:spPr>
          <a:xfrm>
            <a:off x="9707223" y="3385335"/>
            <a:ext cx="361451" cy="1356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6" name="Straight Arrow Connector 355">
            <a:extLst>
              <a:ext uri="{FF2B5EF4-FFF2-40B4-BE49-F238E27FC236}">
                <a16:creationId xmlns:a16="http://schemas.microsoft.com/office/drawing/2014/main" id="{EC2EC4EF-A2A8-4EA2-8A65-A0EDAD781076}"/>
              </a:ext>
            </a:extLst>
          </p:cNvPr>
          <p:cNvCxnSpPr>
            <a:cxnSpLocks/>
          </p:cNvCxnSpPr>
          <p:nvPr/>
        </p:nvCxnSpPr>
        <p:spPr>
          <a:xfrm flipH="1">
            <a:off x="6940193" y="3329821"/>
            <a:ext cx="2099494" cy="158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9800674A-86DE-4DC2-9357-29AD3DC8ED88}"/>
              </a:ext>
            </a:extLst>
          </p:cNvPr>
          <p:cNvSpPr/>
          <p:nvPr/>
        </p:nvSpPr>
        <p:spPr>
          <a:xfrm>
            <a:off x="8369902" y="2079717"/>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C974E55C-EABB-4E2B-81FA-8C6FE56EE735}"/>
              </a:ext>
            </a:extLst>
          </p:cNvPr>
          <p:cNvSpPr/>
          <p:nvPr/>
        </p:nvSpPr>
        <p:spPr>
          <a:xfrm>
            <a:off x="8376988" y="2196392"/>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F59E177-BE4D-4E62-9B3C-7A943D69709B}"/>
              </a:ext>
            </a:extLst>
          </p:cNvPr>
          <p:cNvSpPr/>
          <p:nvPr/>
        </p:nvSpPr>
        <p:spPr>
          <a:xfrm>
            <a:off x="8614066" y="2091536"/>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254DD99-2BEA-4110-B687-6D7CB256B356}"/>
              </a:ext>
            </a:extLst>
          </p:cNvPr>
          <p:cNvSpPr/>
          <p:nvPr/>
        </p:nvSpPr>
        <p:spPr>
          <a:xfrm>
            <a:off x="8614066" y="2197179"/>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7" name="Table 8">
            <a:extLst>
              <a:ext uri="{FF2B5EF4-FFF2-40B4-BE49-F238E27FC236}">
                <a16:creationId xmlns:a16="http://schemas.microsoft.com/office/drawing/2014/main" id="{64F77824-C089-47B9-ACAA-C42499309168}"/>
              </a:ext>
            </a:extLst>
          </p:cNvPr>
          <p:cNvGraphicFramePr>
            <a:graphicFrameLocks noGrp="1"/>
          </p:cNvGraphicFramePr>
          <p:nvPr>
            <p:extLst/>
          </p:nvPr>
        </p:nvGraphicFramePr>
        <p:xfrm>
          <a:off x="8369902" y="232593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0" name="Rectangle 129">
            <a:extLst>
              <a:ext uri="{FF2B5EF4-FFF2-40B4-BE49-F238E27FC236}">
                <a16:creationId xmlns:a16="http://schemas.microsoft.com/office/drawing/2014/main" id="{4A0509C9-8037-4917-98EC-B65D6EB3E993}"/>
              </a:ext>
            </a:extLst>
          </p:cNvPr>
          <p:cNvSpPr/>
          <p:nvPr/>
        </p:nvSpPr>
        <p:spPr>
          <a:xfrm>
            <a:off x="8375203" y="2325935"/>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941A7EEF-64DD-436B-9D3C-60A9FFA211FA}"/>
              </a:ext>
            </a:extLst>
          </p:cNvPr>
          <p:cNvSpPr/>
          <p:nvPr/>
        </p:nvSpPr>
        <p:spPr>
          <a:xfrm>
            <a:off x="8375203" y="2431578"/>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389E6949-7E8C-440A-A77B-B2D3EB1B47BF}"/>
              </a:ext>
            </a:extLst>
          </p:cNvPr>
          <p:cNvSpPr/>
          <p:nvPr/>
        </p:nvSpPr>
        <p:spPr>
          <a:xfrm>
            <a:off x="8612281" y="2326722"/>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5CAC754F-73F2-49B2-8875-88AFC3824429}"/>
              </a:ext>
            </a:extLst>
          </p:cNvPr>
          <p:cNvSpPr/>
          <p:nvPr/>
        </p:nvSpPr>
        <p:spPr>
          <a:xfrm>
            <a:off x="8612281" y="2432365"/>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41FE324E-9A19-45F5-A133-8311266468F9}"/>
              </a:ext>
            </a:extLst>
          </p:cNvPr>
          <p:cNvCxnSpPr>
            <a:cxnSpLocks/>
            <a:stCxn id="114" idx="0"/>
          </p:cNvCxnSpPr>
          <p:nvPr/>
        </p:nvCxnSpPr>
        <p:spPr>
          <a:xfrm flipV="1">
            <a:off x="8412473" y="2559617"/>
            <a:ext cx="74537" cy="23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35" name="Table 8">
            <a:extLst>
              <a:ext uri="{FF2B5EF4-FFF2-40B4-BE49-F238E27FC236}">
                <a16:creationId xmlns:a16="http://schemas.microsoft.com/office/drawing/2014/main" id="{E8D4CD0F-93F2-40C6-A13E-FD52DC3F2F2D}"/>
              </a:ext>
            </a:extLst>
          </p:cNvPr>
          <p:cNvGraphicFramePr>
            <a:graphicFrameLocks noGrp="1"/>
          </p:cNvGraphicFramePr>
          <p:nvPr>
            <p:extLst/>
          </p:nvPr>
        </p:nvGraphicFramePr>
        <p:xfrm>
          <a:off x="5470335" y="5470623"/>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6" name="Rectangle 135">
            <a:extLst>
              <a:ext uri="{FF2B5EF4-FFF2-40B4-BE49-F238E27FC236}">
                <a16:creationId xmlns:a16="http://schemas.microsoft.com/office/drawing/2014/main" id="{399F3CDC-E723-45C2-A93F-398C4D1F10B1}"/>
              </a:ext>
            </a:extLst>
          </p:cNvPr>
          <p:cNvSpPr/>
          <p:nvPr/>
        </p:nvSpPr>
        <p:spPr>
          <a:xfrm>
            <a:off x="5472061" y="5467970"/>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79C432B7-ACDD-41DA-A484-E693ECA6EAF4}"/>
              </a:ext>
            </a:extLst>
          </p:cNvPr>
          <p:cNvSpPr/>
          <p:nvPr/>
        </p:nvSpPr>
        <p:spPr>
          <a:xfrm>
            <a:off x="5472061" y="5573613"/>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BBB9029D-CB0D-4C04-9867-21F0FCFD56BB}"/>
              </a:ext>
            </a:extLst>
          </p:cNvPr>
          <p:cNvSpPr/>
          <p:nvPr/>
        </p:nvSpPr>
        <p:spPr>
          <a:xfrm>
            <a:off x="5709139" y="546875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7D536273-0C87-4216-B113-0AD9F2ACAA50}"/>
              </a:ext>
            </a:extLst>
          </p:cNvPr>
          <p:cNvSpPr/>
          <p:nvPr/>
        </p:nvSpPr>
        <p:spPr>
          <a:xfrm>
            <a:off x="5709139" y="557440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7" name="Table 8">
            <a:extLst>
              <a:ext uri="{FF2B5EF4-FFF2-40B4-BE49-F238E27FC236}">
                <a16:creationId xmlns:a16="http://schemas.microsoft.com/office/drawing/2014/main" id="{3F969495-6CA6-46D4-85CB-B59913E72DCB}"/>
              </a:ext>
            </a:extLst>
          </p:cNvPr>
          <p:cNvGraphicFramePr>
            <a:graphicFrameLocks noGrp="1"/>
          </p:cNvGraphicFramePr>
          <p:nvPr>
            <p:extLst/>
          </p:nvPr>
        </p:nvGraphicFramePr>
        <p:xfrm>
          <a:off x="5468550" y="570580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48" name="Rectangle 147">
            <a:extLst>
              <a:ext uri="{FF2B5EF4-FFF2-40B4-BE49-F238E27FC236}">
                <a16:creationId xmlns:a16="http://schemas.microsoft.com/office/drawing/2014/main" id="{898CA0A2-140C-4DFB-9267-CE74264D01C7}"/>
              </a:ext>
            </a:extLst>
          </p:cNvPr>
          <p:cNvSpPr/>
          <p:nvPr/>
        </p:nvSpPr>
        <p:spPr>
          <a:xfrm>
            <a:off x="5470276" y="5703156"/>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3BCC1D3F-8BD1-48E5-B1F2-62AC3965288F}"/>
              </a:ext>
            </a:extLst>
          </p:cNvPr>
          <p:cNvSpPr/>
          <p:nvPr/>
        </p:nvSpPr>
        <p:spPr>
          <a:xfrm>
            <a:off x="5470276" y="580879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48827B6B-A179-43E9-86AD-8E1C52942DE8}"/>
              </a:ext>
            </a:extLst>
          </p:cNvPr>
          <p:cNvSpPr/>
          <p:nvPr/>
        </p:nvSpPr>
        <p:spPr>
          <a:xfrm>
            <a:off x="5707354" y="570394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E5A4442E-AC95-408E-99AD-ACB8E9135388}"/>
              </a:ext>
            </a:extLst>
          </p:cNvPr>
          <p:cNvSpPr/>
          <p:nvPr/>
        </p:nvSpPr>
        <p:spPr>
          <a:xfrm>
            <a:off x="5707354" y="580958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2" name="Table 8">
            <a:extLst>
              <a:ext uri="{FF2B5EF4-FFF2-40B4-BE49-F238E27FC236}">
                <a16:creationId xmlns:a16="http://schemas.microsoft.com/office/drawing/2014/main" id="{8B2EEB3C-D5FE-488E-A69E-CCEA68AB9660}"/>
              </a:ext>
            </a:extLst>
          </p:cNvPr>
          <p:cNvGraphicFramePr>
            <a:graphicFrameLocks noGrp="1"/>
          </p:cNvGraphicFramePr>
          <p:nvPr>
            <p:extLst/>
          </p:nvPr>
        </p:nvGraphicFramePr>
        <p:xfrm>
          <a:off x="10113742" y="5440311"/>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53" name="Rectangle 152">
            <a:extLst>
              <a:ext uri="{FF2B5EF4-FFF2-40B4-BE49-F238E27FC236}">
                <a16:creationId xmlns:a16="http://schemas.microsoft.com/office/drawing/2014/main" id="{79ED1BEA-191F-4494-85F7-FAB4F6032521}"/>
              </a:ext>
            </a:extLst>
          </p:cNvPr>
          <p:cNvSpPr/>
          <p:nvPr/>
        </p:nvSpPr>
        <p:spPr>
          <a:xfrm>
            <a:off x="10116521" y="5566028"/>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D9F39416-244D-4374-9A6F-4D6F23C48647}"/>
              </a:ext>
            </a:extLst>
          </p:cNvPr>
          <p:cNvSpPr/>
          <p:nvPr/>
        </p:nvSpPr>
        <p:spPr>
          <a:xfrm>
            <a:off x="10365210" y="5451912"/>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2DF45FEA-F1D2-4616-9829-9C7C892960AA}"/>
              </a:ext>
            </a:extLst>
          </p:cNvPr>
          <p:cNvSpPr/>
          <p:nvPr/>
        </p:nvSpPr>
        <p:spPr>
          <a:xfrm>
            <a:off x="10353669" y="5558547"/>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4FC9579C-31CB-400F-B6B9-0B55FBAF51CA}"/>
              </a:ext>
            </a:extLst>
          </p:cNvPr>
          <p:cNvSpPr/>
          <p:nvPr/>
        </p:nvSpPr>
        <p:spPr>
          <a:xfrm>
            <a:off x="10101388" y="5445642"/>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7" name="Table 8">
            <a:extLst>
              <a:ext uri="{FF2B5EF4-FFF2-40B4-BE49-F238E27FC236}">
                <a16:creationId xmlns:a16="http://schemas.microsoft.com/office/drawing/2014/main" id="{398F63FC-753C-44C2-91A6-92FA47B2B42C}"/>
              </a:ext>
            </a:extLst>
          </p:cNvPr>
          <p:cNvGraphicFramePr>
            <a:graphicFrameLocks noGrp="1"/>
          </p:cNvGraphicFramePr>
          <p:nvPr>
            <p:extLst/>
          </p:nvPr>
        </p:nvGraphicFramePr>
        <p:xfrm>
          <a:off x="10111957" y="5675497"/>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58" name="Rectangle 157">
            <a:extLst>
              <a:ext uri="{FF2B5EF4-FFF2-40B4-BE49-F238E27FC236}">
                <a16:creationId xmlns:a16="http://schemas.microsoft.com/office/drawing/2014/main" id="{E80DF0AC-FD00-45BC-9C9F-3DFD93A3F640}"/>
              </a:ext>
            </a:extLst>
          </p:cNvPr>
          <p:cNvSpPr/>
          <p:nvPr/>
        </p:nvSpPr>
        <p:spPr>
          <a:xfrm>
            <a:off x="10114736" y="5801214"/>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0F0B057A-7C08-4F10-B12F-D6848F84B70E}"/>
              </a:ext>
            </a:extLst>
          </p:cNvPr>
          <p:cNvSpPr/>
          <p:nvPr/>
        </p:nvSpPr>
        <p:spPr>
          <a:xfrm>
            <a:off x="10363425" y="5687098"/>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6313D7C5-A8B8-4EA1-8623-2F53DE7E4A9E}"/>
              </a:ext>
            </a:extLst>
          </p:cNvPr>
          <p:cNvSpPr/>
          <p:nvPr/>
        </p:nvSpPr>
        <p:spPr>
          <a:xfrm>
            <a:off x="10351884" y="5793733"/>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7D093ECA-EF8F-4149-ABE7-B32875FB5702}"/>
              </a:ext>
            </a:extLst>
          </p:cNvPr>
          <p:cNvSpPr/>
          <p:nvPr/>
        </p:nvSpPr>
        <p:spPr>
          <a:xfrm>
            <a:off x="10099603" y="5680828"/>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4CCC50F7-0BEC-42BB-808C-36FCB767B7AF}"/>
                  </a:ext>
                </a:extLst>
              </p:cNvPr>
              <p:cNvSpPr/>
              <p:nvPr/>
            </p:nvSpPr>
            <p:spPr>
              <a:xfrm>
                <a:off x="2823307" y="3189998"/>
                <a:ext cx="2371803" cy="37555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r>
                                <a:rPr lang="en-US" i="1">
                                  <a:latin typeface="Cambria Math" panose="02040503050406030204" pitchFamily="18" charset="0"/>
                                </a:rPr>
                                <m:t>𝑥</m:t>
                              </m:r>
                            </m:e>
                          </m:d>
                        </m:e>
                        <m:sup>
                          <m:r>
                            <m:rPr>
                              <m:sty m:val="p"/>
                            </m:rPr>
                            <a:rPr lang="en-US" b="0" i="0" smtClean="0">
                              <a:latin typeface="Cambria Math" panose="02040503050406030204" pitchFamily="18" charset="0"/>
                            </a:rPr>
                            <m:t>A</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oMath>
                  </m:oMathPara>
                </a14:m>
                <a:endParaRPr lang="en-US" dirty="0"/>
              </a:p>
            </p:txBody>
          </p:sp>
        </mc:Choice>
        <mc:Fallback>
          <p:sp>
            <p:nvSpPr>
              <p:cNvPr id="3" name="Rectangle 2">
                <a:extLst>
                  <a:ext uri="{FF2B5EF4-FFF2-40B4-BE49-F238E27FC236}">
                    <a16:creationId xmlns:a16="http://schemas.microsoft.com/office/drawing/2014/main" id="{4CCC50F7-0BEC-42BB-808C-36FCB767B7AF}"/>
                  </a:ext>
                </a:extLst>
              </p:cNvPr>
              <p:cNvSpPr>
                <a:spLocks noRot="1" noChangeAspect="1" noMove="1" noResize="1" noEditPoints="1" noAdjustHandles="1" noChangeArrowheads="1" noChangeShapeType="1" noTextEdit="1"/>
              </p:cNvSpPr>
              <p:nvPr/>
            </p:nvSpPr>
            <p:spPr>
              <a:xfrm>
                <a:off x="2823307" y="3189998"/>
                <a:ext cx="2371803" cy="37555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2" name="Rectangle 161">
                <a:extLst>
                  <a:ext uri="{FF2B5EF4-FFF2-40B4-BE49-F238E27FC236}">
                    <a16:creationId xmlns:a16="http://schemas.microsoft.com/office/drawing/2014/main" id="{6C4C8C80-79AD-4E49-96EE-3A034561807A}"/>
                  </a:ext>
                </a:extLst>
              </p:cNvPr>
              <p:cNvSpPr/>
              <p:nvPr/>
            </p:nvSpPr>
            <p:spPr>
              <a:xfrm>
                <a:off x="2823307" y="3595434"/>
                <a:ext cx="2482411" cy="37427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r>
                                <a:rPr lang="en-US" i="1">
                                  <a:latin typeface="Cambria Math" panose="02040503050406030204" pitchFamily="18" charset="0"/>
                                </a:rPr>
                                <m:t>𝑥</m:t>
                              </m:r>
                            </m:e>
                          </m:d>
                        </m:e>
                        <m:sup>
                          <m:r>
                            <m:rPr>
                              <m:sty m:val="p"/>
                            </m:rPr>
                            <a:rPr lang="en-US" b="0" i="0" smtClean="0">
                              <a:latin typeface="Cambria Math" panose="02040503050406030204" pitchFamily="18" charset="0"/>
                            </a:rPr>
                            <m:t>B</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oMath>
                  </m:oMathPara>
                </a14:m>
                <a:endParaRPr lang="en-US" dirty="0"/>
              </a:p>
            </p:txBody>
          </p:sp>
        </mc:Choice>
        <mc:Fallback>
          <p:sp>
            <p:nvSpPr>
              <p:cNvPr id="162" name="Rectangle 161">
                <a:extLst>
                  <a:ext uri="{FF2B5EF4-FFF2-40B4-BE49-F238E27FC236}">
                    <a16:creationId xmlns:a16="http://schemas.microsoft.com/office/drawing/2014/main" id="{6C4C8C80-79AD-4E49-96EE-3A034561807A}"/>
                  </a:ext>
                </a:extLst>
              </p:cNvPr>
              <p:cNvSpPr>
                <a:spLocks noRot="1" noChangeAspect="1" noMove="1" noResize="1" noEditPoints="1" noAdjustHandles="1" noChangeArrowheads="1" noChangeShapeType="1" noTextEdit="1"/>
              </p:cNvSpPr>
              <p:nvPr/>
            </p:nvSpPr>
            <p:spPr>
              <a:xfrm>
                <a:off x="2823307" y="3595434"/>
                <a:ext cx="2482411" cy="374270"/>
              </a:xfrm>
              <a:prstGeom prst="rect">
                <a:avLst/>
              </a:prstGeom>
              <a:blipFill>
                <a:blip r:embed="rId10"/>
                <a:stretch>
                  <a:fillRect b="-819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3" name="Rectangle 162">
                <a:extLst>
                  <a:ext uri="{FF2B5EF4-FFF2-40B4-BE49-F238E27FC236}">
                    <a16:creationId xmlns:a16="http://schemas.microsoft.com/office/drawing/2014/main" id="{E6359F31-EB5F-46D7-ACE1-4B5F6DF51275}"/>
                  </a:ext>
                </a:extLst>
              </p:cNvPr>
              <p:cNvSpPr/>
              <p:nvPr/>
            </p:nvSpPr>
            <p:spPr>
              <a:xfrm>
                <a:off x="2823307" y="4008907"/>
                <a:ext cx="2510174" cy="37427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r>
                                <a:rPr lang="en-US" i="1">
                                  <a:latin typeface="Cambria Math" panose="02040503050406030204" pitchFamily="18" charset="0"/>
                                </a:rPr>
                                <m:t>𝑥</m:t>
                              </m:r>
                            </m:e>
                          </m:d>
                        </m:e>
                        <m:sup>
                          <m:r>
                            <m:rPr>
                              <m:sty m:val="p"/>
                            </m:rPr>
                            <a:rPr lang="en-US" b="0" i="0" smtClean="0">
                              <a:latin typeface="Cambria Math" panose="02040503050406030204" pitchFamily="18" charset="0"/>
                            </a:rPr>
                            <m:t>Y</m:t>
                          </m:r>
                        </m:sup>
                      </m:sSup>
                      <m:r>
                        <a:rPr lang="en-US" i="1">
                          <a:latin typeface="Cambria Math" panose="02040503050406030204" pitchFamily="18" charset="0"/>
                        </a:rPr>
                        <m:t>⇒  </m:t>
                      </m:r>
                      <m:r>
                        <a:rPr lang="en-US" b="0" i="1" smtClean="0">
                          <a:latin typeface="Cambria Math" panose="02040503050406030204" pitchFamily="18" charset="0"/>
                        </a:rPr>
                        <m:t>𝐿𝑆𝐵</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p:txBody>
          </p:sp>
        </mc:Choice>
        <mc:Fallback>
          <p:sp>
            <p:nvSpPr>
              <p:cNvPr id="163" name="Rectangle 162">
                <a:extLst>
                  <a:ext uri="{FF2B5EF4-FFF2-40B4-BE49-F238E27FC236}">
                    <a16:creationId xmlns:a16="http://schemas.microsoft.com/office/drawing/2014/main" id="{E6359F31-EB5F-46D7-ACE1-4B5F6DF51275}"/>
                  </a:ext>
                </a:extLst>
              </p:cNvPr>
              <p:cNvSpPr>
                <a:spLocks noRot="1" noChangeAspect="1" noMove="1" noResize="1" noEditPoints="1" noAdjustHandles="1" noChangeArrowheads="1" noChangeShapeType="1" noTextEdit="1"/>
              </p:cNvSpPr>
              <p:nvPr/>
            </p:nvSpPr>
            <p:spPr>
              <a:xfrm>
                <a:off x="2823307" y="4008907"/>
                <a:ext cx="2510174" cy="374270"/>
              </a:xfrm>
              <a:prstGeom prst="rect">
                <a:avLst/>
              </a:prstGeom>
              <a:blipFill>
                <a:blip r:embed="rId11"/>
                <a:stretch>
                  <a:fillRect b="-14754"/>
                </a:stretch>
              </a:blipFill>
            </p:spPr>
            <p:txBody>
              <a:bodyPr/>
              <a:lstStyle/>
              <a:p>
                <a:r>
                  <a:rPr lang="en-US">
                    <a:noFill/>
                  </a:rPr>
                  <a:t> </a:t>
                </a:r>
              </a:p>
            </p:txBody>
          </p:sp>
        </mc:Fallback>
      </mc:AlternateContent>
    </p:spTree>
    <p:extLst>
      <p:ext uri="{BB962C8B-B14F-4D97-AF65-F5344CB8AC3E}">
        <p14:creationId xmlns:p14="http://schemas.microsoft.com/office/powerpoint/2010/main" val="3981778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 name="Table 8">
            <a:extLst>
              <a:ext uri="{FF2B5EF4-FFF2-40B4-BE49-F238E27FC236}">
                <a16:creationId xmlns:a16="http://schemas.microsoft.com/office/drawing/2014/main" id="{7EA05B4B-832A-42FD-93F4-F96E0112D9FD}"/>
              </a:ext>
            </a:extLst>
          </p:cNvPr>
          <p:cNvGraphicFramePr>
            <a:graphicFrameLocks noGrp="1"/>
          </p:cNvGraphicFramePr>
          <p:nvPr>
            <p:extLst/>
          </p:nvPr>
        </p:nvGraphicFramePr>
        <p:xfrm>
          <a:off x="9487146" y="2805933"/>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144" name="Table 8">
            <a:extLst>
              <a:ext uri="{FF2B5EF4-FFF2-40B4-BE49-F238E27FC236}">
                <a16:creationId xmlns:a16="http://schemas.microsoft.com/office/drawing/2014/main" id="{B2D143D0-75D4-4D8A-860D-FD5BD1C04E0E}"/>
              </a:ext>
            </a:extLst>
          </p:cNvPr>
          <p:cNvGraphicFramePr>
            <a:graphicFrameLocks noGrp="1"/>
          </p:cNvGraphicFramePr>
          <p:nvPr>
            <p:extLst/>
          </p:nvPr>
        </p:nvGraphicFramePr>
        <p:xfrm>
          <a:off x="8822597" y="280626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99" name="Table 8">
            <a:extLst>
              <a:ext uri="{FF2B5EF4-FFF2-40B4-BE49-F238E27FC236}">
                <a16:creationId xmlns:a16="http://schemas.microsoft.com/office/drawing/2014/main" id="{1A5E82A8-9E98-4AE8-9D44-6F33DE353A4C}"/>
              </a:ext>
            </a:extLst>
          </p:cNvPr>
          <p:cNvGraphicFramePr>
            <a:graphicFrameLocks noGrp="1"/>
          </p:cNvGraphicFramePr>
          <p:nvPr>
            <p:extLst/>
          </p:nvPr>
        </p:nvGraphicFramePr>
        <p:xfrm>
          <a:off x="5682833" y="615469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4" name="Table 8">
            <a:extLst>
              <a:ext uri="{FF2B5EF4-FFF2-40B4-BE49-F238E27FC236}">
                <a16:creationId xmlns:a16="http://schemas.microsoft.com/office/drawing/2014/main" id="{AA94607A-FC68-414D-9B30-FD086778AE7C}"/>
              </a:ext>
            </a:extLst>
          </p:cNvPr>
          <p:cNvGraphicFramePr>
            <a:graphicFrameLocks noGrp="1"/>
          </p:cNvGraphicFramePr>
          <p:nvPr>
            <p:extLst/>
          </p:nvPr>
        </p:nvGraphicFramePr>
        <p:xfrm>
          <a:off x="4976202" y="5470589"/>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 name="Title 1">
            <a:extLst>
              <a:ext uri="{FF2B5EF4-FFF2-40B4-BE49-F238E27FC236}">
                <a16:creationId xmlns:a16="http://schemas.microsoft.com/office/drawing/2014/main" id="{8750494D-C6FC-42A4-BA19-B6DC517317B5}"/>
              </a:ext>
            </a:extLst>
          </p:cNvPr>
          <p:cNvSpPr>
            <a:spLocks noGrp="1"/>
          </p:cNvSpPr>
          <p:nvPr>
            <p:ph type="title"/>
          </p:nvPr>
        </p:nvSpPr>
        <p:spPr>
          <a:xfrm>
            <a:off x="1451581" y="526148"/>
            <a:ext cx="9603275" cy="1049235"/>
          </a:xfrm>
        </p:spPr>
        <p:txBody>
          <a:bodyPr/>
          <a:lstStyle/>
          <a:p>
            <a:r>
              <a:rPr lang="en-US" dirty="0"/>
              <a:t>Always Encrypted</a:t>
            </a:r>
          </a:p>
        </p:txBody>
      </p:sp>
      <p:graphicFrame>
        <p:nvGraphicFramePr>
          <p:cNvPr id="28" name="Table 8">
            <a:extLst>
              <a:ext uri="{FF2B5EF4-FFF2-40B4-BE49-F238E27FC236}">
                <a16:creationId xmlns:a16="http://schemas.microsoft.com/office/drawing/2014/main" id="{CFCB7C49-97C8-42AB-A80C-4CF153660473}"/>
              </a:ext>
            </a:extLst>
          </p:cNvPr>
          <p:cNvGraphicFramePr>
            <a:graphicFrameLocks noGrp="1"/>
          </p:cNvGraphicFramePr>
          <p:nvPr>
            <p:extLst/>
          </p:nvPr>
        </p:nvGraphicFramePr>
        <p:xfrm>
          <a:off x="4980957" y="5475923"/>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9" name="Rectangle 28">
            <a:extLst>
              <a:ext uri="{FF2B5EF4-FFF2-40B4-BE49-F238E27FC236}">
                <a16:creationId xmlns:a16="http://schemas.microsoft.com/office/drawing/2014/main" id="{74F6E127-9335-422D-84B2-F818A7B5690A}"/>
              </a:ext>
            </a:extLst>
          </p:cNvPr>
          <p:cNvSpPr/>
          <p:nvPr/>
        </p:nvSpPr>
        <p:spPr>
          <a:xfrm>
            <a:off x="4989637" y="5464784"/>
            <a:ext cx="459102" cy="477150"/>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descr="http://mahdiz.com/images/visaresearch.png">
            <a:extLst>
              <a:ext uri="{FF2B5EF4-FFF2-40B4-BE49-F238E27FC236}">
                <a16:creationId xmlns:a16="http://schemas.microsoft.com/office/drawing/2014/main" id="{8266D8DF-205D-45CB-BA19-E32AC273E71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059350" y="1575383"/>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descr="Image result for amazon icon">
            <a:extLst>
              <a:ext uri="{FF2B5EF4-FFF2-40B4-BE49-F238E27FC236}">
                <a16:creationId xmlns:a16="http://schemas.microsoft.com/office/drawing/2014/main" id="{58327AE0-5023-4D2D-8E80-9711EF0C442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9628929" y="4563920"/>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2" descr="Image result for bank of america">
            <a:extLst>
              <a:ext uri="{FF2B5EF4-FFF2-40B4-BE49-F238E27FC236}">
                <a16:creationId xmlns:a16="http://schemas.microsoft.com/office/drawing/2014/main" id="{27635A13-4E11-4CEA-AF84-DFDDAF9B9E7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4529769" y="4621370"/>
            <a:ext cx="2231395" cy="10109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5" name="Table 8">
            <a:extLst>
              <a:ext uri="{FF2B5EF4-FFF2-40B4-BE49-F238E27FC236}">
                <a16:creationId xmlns:a16="http://schemas.microsoft.com/office/drawing/2014/main" id="{4B6AFBDB-2F90-4D33-AA43-5697FDBEA318}"/>
              </a:ext>
            </a:extLst>
          </p:cNvPr>
          <p:cNvGraphicFramePr>
            <a:graphicFrameLocks noGrp="1"/>
          </p:cNvGraphicFramePr>
          <p:nvPr>
            <p:extLst/>
          </p:nvPr>
        </p:nvGraphicFramePr>
        <p:xfrm>
          <a:off x="9627859" y="5437735"/>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6" name="Table 8">
            <a:extLst>
              <a:ext uri="{FF2B5EF4-FFF2-40B4-BE49-F238E27FC236}">
                <a16:creationId xmlns:a16="http://schemas.microsoft.com/office/drawing/2014/main" id="{63988EE9-5226-4B64-9E4C-A2ED51A4760D}"/>
              </a:ext>
            </a:extLst>
          </p:cNvPr>
          <p:cNvGraphicFramePr>
            <a:graphicFrameLocks noGrp="1"/>
          </p:cNvGraphicFramePr>
          <p:nvPr>
            <p:extLst/>
          </p:nvPr>
        </p:nvGraphicFramePr>
        <p:xfrm>
          <a:off x="7889691" y="2092687"/>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39" name="Rectangle 38">
            <a:extLst>
              <a:ext uri="{FF2B5EF4-FFF2-40B4-BE49-F238E27FC236}">
                <a16:creationId xmlns:a16="http://schemas.microsoft.com/office/drawing/2014/main" id="{031A6F89-0985-4B04-A367-23DD59A785DD}"/>
              </a:ext>
            </a:extLst>
          </p:cNvPr>
          <p:cNvSpPr/>
          <p:nvPr/>
        </p:nvSpPr>
        <p:spPr>
          <a:xfrm>
            <a:off x="10607803" y="5428662"/>
            <a:ext cx="459102" cy="476433"/>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8B6DA1EF-DF46-457F-B4A1-F60FE5D65E14}"/>
              </a:ext>
            </a:extLst>
          </p:cNvPr>
          <p:cNvSpPr txBox="1"/>
          <p:nvPr/>
        </p:nvSpPr>
        <p:spPr>
          <a:xfrm>
            <a:off x="4749219" y="6219297"/>
            <a:ext cx="319318" cy="369332"/>
          </a:xfrm>
          <a:prstGeom prst="rect">
            <a:avLst/>
          </a:prstGeom>
          <a:noFill/>
        </p:spPr>
        <p:txBody>
          <a:bodyPr wrap="none" rtlCol="0">
            <a:spAutoFit/>
          </a:bodyPr>
          <a:lstStyle/>
          <a:p>
            <a:r>
              <a:rPr lang="en-US" dirty="0"/>
              <a:t>=</a:t>
            </a:r>
          </a:p>
        </p:txBody>
      </p:sp>
      <p:graphicFrame>
        <p:nvGraphicFramePr>
          <p:cNvPr id="48" name="Table 8">
            <a:extLst>
              <a:ext uri="{FF2B5EF4-FFF2-40B4-BE49-F238E27FC236}">
                <a16:creationId xmlns:a16="http://schemas.microsoft.com/office/drawing/2014/main" id="{9CD1A567-B08A-459C-BD46-67E2D954BDBD}"/>
              </a:ext>
            </a:extLst>
          </p:cNvPr>
          <p:cNvGraphicFramePr>
            <a:graphicFrameLocks noGrp="1"/>
          </p:cNvGraphicFramePr>
          <p:nvPr>
            <p:extLst/>
          </p:nvPr>
        </p:nvGraphicFramePr>
        <p:xfrm>
          <a:off x="5036539" y="615140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49" name="TextBox 48">
            <a:extLst>
              <a:ext uri="{FF2B5EF4-FFF2-40B4-BE49-F238E27FC236}">
                <a16:creationId xmlns:a16="http://schemas.microsoft.com/office/drawing/2014/main" id="{0A8ECB6C-D633-4241-A5A4-CB4EC8689674}"/>
              </a:ext>
            </a:extLst>
          </p:cNvPr>
          <p:cNvSpPr txBox="1"/>
          <p:nvPr/>
        </p:nvSpPr>
        <p:spPr>
          <a:xfrm>
            <a:off x="5449819" y="6219861"/>
            <a:ext cx="319318" cy="369332"/>
          </a:xfrm>
          <a:prstGeom prst="rect">
            <a:avLst/>
          </a:prstGeom>
          <a:noFill/>
        </p:spPr>
        <p:txBody>
          <a:bodyPr wrap="none" rtlCol="0">
            <a:spAutoFit/>
          </a:bodyPr>
          <a:lstStyle/>
          <a:p>
            <a:r>
              <a:rPr lang="en-US" dirty="0"/>
              <a:t>+</a:t>
            </a:r>
          </a:p>
        </p:txBody>
      </p:sp>
      <p:sp>
        <p:nvSpPr>
          <p:cNvPr id="51" name="Rectangle 50">
            <a:extLst>
              <a:ext uri="{FF2B5EF4-FFF2-40B4-BE49-F238E27FC236}">
                <a16:creationId xmlns:a16="http://schemas.microsoft.com/office/drawing/2014/main" id="{41A0213A-C40B-4A32-99C3-F06983C271CE}"/>
              </a:ext>
            </a:extLst>
          </p:cNvPr>
          <p:cNvSpPr/>
          <p:nvPr/>
        </p:nvSpPr>
        <p:spPr>
          <a:xfrm>
            <a:off x="5041840" y="6151403"/>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76EEFF6-79A4-4BDC-BF2C-19AF1525A7DB}"/>
              </a:ext>
            </a:extLst>
          </p:cNvPr>
          <p:cNvSpPr/>
          <p:nvPr/>
        </p:nvSpPr>
        <p:spPr>
          <a:xfrm>
            <a:off x="5041840" y="6257046"/>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3DAF8B2-CA57-416B-971C-5ED3D745E439}"/>
              </a:ext>
            </a:extLst>
          </p:cNvPr>
          <p:cNvSpPr/>
          <p:nvPr/>
        </p:nvSpPr>
        <p:spPr>
          <a:xfrm>
            <a:off x="5040059" y="6382650"/>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9052B37-C6BE-4A59-9ADC-FBDB80447C13}"/>
              </a:ext>
            </a:extLst>
          </p:cNvPr>
          <p:cNvSpPr/>
          <p:nvPr/>
        </p:nvSpPr>
        <p:spPr>
          <a:xfrm>
            <a:off x="5040059" y="6493946"/>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33D2D59-AC7F-4AD5-95B2-25EC8F6A44F5}"/>
              </a:ext>
            </a:extLst>
          </p:cNvPr>
          <p:cNvSpPr/>
          <p:nvPr/>
        </p:nvSpPr>
        <p:spPr>
          <a:xfrm>
            <a:off x="5278918" y="6152190"/>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AF9968-A8A9-4CCD-8DC6-C67F30371307}"/>
              </a:ext>
            </a:extLst>
          </p:cNvPr>
          <p:cNvSpPr/>
          <p:nvPr/>
        </p:nvSpPr>
        <p:spPr>
          <a:xfrm>
            <a:off x="5278918" y="6257833"/>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6DAF06D-4D41-4F5E-8B55-1101A7A725E1}"/>
              </a:ext>
            </a:extLst>
          </p:cNvPr>
          <p:cNvSpPr/>
          <p:nvPr/>
        </p:nvSpPr>
        <p:spPr>
          <a:xfrm>
            <a:off x="5277137" y="6383437"/>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FB20890-E611-4727-8838-029A138465C7}"/>
              </a:ext>
            </a:extLst>
          </p:cNvPr>
          <p:cNvSpPr/>
          <p:nvPr/>
        </p:nvSpPr>
        <p:spPr>
          <a:xfrm>
            <a:off x="5277137" y="6494733"/>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AE3B4ED-D199-411F-8032-53F3FCA03B8E}"/>
              </a:ext>
            </a:extLst>
          </p:cNvPr>
          <p:cNvSpPr/>
          <p:nvPr/>
        </p:nvSpPr>
        <p:spPr>
          <a:xfrm>
            <a:off x="5684614" y="6163166"/>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2BD38CB5-4D37-451E-8FAA-D0FF13FE7D7C}"/>
              </a:ext>
            </a:extLst>
          </p:cNvPr>
          <p:cNvSpPr/>
          <p:nvPr/>
        </p:nvSpPr>
        <p:spPr>
          <a:xfrm>
            <a:off x="5684614" y="626880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20C7E40-2410-4705-9263-362F7EC57C11}"/>
              </a:ext>
            </a:extLst>
          </p:cNvPr>
          <p:cNvSpPr/>
          <p:nvPr/>
        </p:nvSpPr>
        <p:spPr>
          <a:xfrm>
            <a:off x="5682833" y="6394413"/>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C26880A-3D90-4C27-B05A-8DA90B5F9261}"/>
              </a:ext>
            </a:extLst>
          </p:cNvPr>
          <p:cNvSpPr/>
          <p:nvPr/>
        </p:nvSpPr>
        <p:spPr>
          <a:xfrm>
            <a:off x="5682833" y="6505709"/>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F731BBD-32B8-4738-B6B3-83012F0E650C}"/>
              </a:ext>
            </a:extLst>
          </p:cNvPr>
          <p:cNvSpPr/>
          <p:nvPr/>
        </p:nvSpPr>
        <p:spPr>
          <a:xfrm>
            <a:off x="5921692" y="616395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E117119-C6AC-4573-B98F-0E2E23586925}"/>
              </a:ext>
            </a:extLst>
          </p:cNvPr>
          <p:cNvSpPr/>
          <p:nvPr/>
        </p:nvSpPr>
        <p:spPr>
          <a:xfrm>
            <a:off x="5921692" y="626959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94EA755-559B-445A-AD90-C03A9828F515}"/>
              </a:ext>
            </a:extLst>
          </p:cNvPr>
          <p:cNvSpPr/>
          <p:nvPr/>
        </p:nvSpPr>
        <p:spPr>
          <a:xfrm>
            <a:off x="5919911" y="6395200"/>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790AB8-99F7-4B3C-919A-CD45768D6FD9}"/>
              </a:ext>
            </a:extLst>
          </p:cNvPr>
          <p:cNvSpPr/>
          <p:nvPr/>
        </p:nvSpPr>
        <p:spPr>
          <a:xfrm>
            <a:off x="5919911" y="6506496"/>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1" name="Table 8">
            <a:extLst>
              <a:ext uri="{FF2B5EF4-FFF2-40B4-BE49-F238E27FC236}">
                <a16:creationId xmlns:a16="http://schemas.microsoft.com/office/drawing/2014/main" id="{E98D3F8B-FDF7-4A1D-BAD5-0D9041AB3E42}"/>
              </a:ext>
            </a:extLst>
          </p:cNvPr>
          <p:cNvGraphicFramePr>
            <a:graphicFrameLocks noGrp="1"/>
          </p:cNvGraphicFramePr>
          <p:nvPr>
            <p:extLst/>
          </p:nvPr>
        </p:nvGraphicFramePr>
        <p:xfrm>
          <a:off x="4320085" y="615266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00" name="Rectangle 99">
            <a:extLst>
              <a:ext uri="{FF2B5EF4-FFF2-40B4-BE49-F238E27FC236}">
                <a16:creationId xmlns:a16="http://schemas.microsoft.com/office/drawing/2014/main" id="{96F970B9-E546-44E1-AA59-E708F4E54F58}"/>
              </a:ext>
            </a:extLst>
          </p:cNvPr>
          <p:cNvSpPr/>
          <p:nvPr/>
        </p:nvSpPr>
        <p:spPr>
          <a:xfrm>
            <a:off x="4335276" y="6146750"/>
            <a:ext cx="459102" cy="477150"/>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2" name="Table 8">
            <a:extLst>
              <a:ext uri="{FF2B5EF4-FFF2-40B4-BE49-F238E27FC236}">
                <a16:creationId xmlns:a16="http://schemas.microsoft.com/office/drawing/2014/main" id="{E607CB41-2FDD-4412-8083-D14DCE31857F}"/>
              </a:ext>
            </a:extLst>
          </p:cNvPr>
          <p:cNvGraphicFramePr>
            <a:graphicFrameLocks noGrp="1"/>
          </p:cNvGraphicFramePr>
          <p:nvPr>
            <p:extLst/>
          </p:nvPr>
        </p:nvGraphicFramePr>
        <p:xfrm>
          <a:off x="6343298" y="6151403"/>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03" name="TextBox 102">
            <a:extLst>
              <a:ext uri="{FF2B5EF4-FFF2-40B4-BE49-F238E27FC236}">
                <a16:creationId xmlns:a16="http://schemas.microsoft.com/office/drawing/2014/main" id="{D3D0A2D1-3762-4CE7-BFE7-579501085515}"/>
              </a:ext>
            </a:extLst>
          </p:cNvPr>
          <p:cNvSpPr txBox="1"/>
          <p:nvPr/>
        </p:nvSpPr>
        <p:spPr>
          <a:xfrm>
            <a:off x="6105147" y="6216571"/>
            <a:ext cx="319318" cy="369332"/>
          </a:xfrm>
          <a:prstGeom prst="rect">
            <a:avLst/>
          </a:prstGeom>
          <a:noFill/>
        </p:spPr>
        <p:txBody>
          <a:bodyPr wrap="none" rtlCol="0">
            <a:spAutoFit/>
          </a:bodyPr>
          <a:lstStyle/>
          <a:p>
            <a:r>
              <a:rPr lang="en-US" dirty="0"/>
              <a:t>+</a:t>
            </a:r>
          </a:p>
        </p:txBody>
      </p:sp>
      <p:sp>
        <p:nvSpPr>
          <p:cNvPr id="104" name="Rectangle 103">
            <a:extLst>
              <a:ext uri="{FF2B5EF4-FFF2-40B4-BE49-F238E27FC236}">
                <a16:creationId xmlns:a16="http://schemas.microsoft.com/office/drawing/2014/main" id="{33726939-8E4B-4581-8456-C244D56AB040}"/>
              </a:ext>
            </a:extLst>
          </p:cNvPr>
          <p:cNvSpPr/>
          <p:nvPr/>
        </p:nvSpPr>
        <p:spPr>
          <a:xfrm>
            <a:off x="6586566" y="6390511"/>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5474DFA5-A91F-4B5D-AC62-7EE2FE5B71B9}"/>
              </a:ext>
            </a:extLst>
          </p:cNvPr>
          <p:cNvSpPr/>
          <p:nvPr/>
        </p:nvSpPr>
        <p:spPr>
          <a:xfrm>
            <a:off x="6345079" y="6265519"/>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39FE9C82-C04F-487B-8E2F-F4912C1A924E}"/>
              </a:ext>
            </a:extLst>
          </p:cNvPr>
          <p:cNvSpPr/>
          <p:nvPr/>
        </p:nvSpPr>
        <p:spPr>
          <a:xfrm>
            <a:off x="6580393" y="6487462"/>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9BDA4A35-3B77-4BA1-A673-E18BE0B46390}"/>
              </a:ext>
            </a:extLst>
          </p:cNvPr>
          <p:cNvSpPr/>
          <p:nvPr/>
        </p:nvSpPr>
        <p:spPr>
          <a:xfrm>
            <a:off x="6593768" y="6151403"/>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BE7F07D-0176-454C-91B6-29D93D2DE32E}"/>
              </a:ext>
            </a:extLst>
          </p:cNvPr>
          <p:cNvSpPr/>
          <p:nvPr/>
        </p:nvSpPr>
        <p:spPr>
          <a:xfrm>
            <a:off x="6582227" y="6258038"/>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444CACA1-C0CC-42BA-B8ED-F5D6B7F95192}"/>
              </a:ext>
            </a:extLst>
          </p:cNvPr>
          <p:cNvSpPr/>
          <p:nvPr/>
        </p:nvSpPr>
        <p:spPr>
          <a:xfrm>
            <a:off x="6345891" y="648015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617A09EE-5BBC-4E39-B07C-491950ACE550}"/>
              </a:ext>
            </a:extLst>
          </p:cNvPr>
          <p:cNvSpPr/>
          <p:nvPr/>
        </p:nvSpPr>
        <p:spPr>
          <a:xfrm>
            <a:off x="6355628" y="6390017"/>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C4596C93-FE4D-47EF-8419-E22BFF621BE1}"/>
              </a:ext>
            </a:extLst>
          </p:cNvPr>
          <p:cNvSpPr/>
          <p:nvPr/>
        </p:nvSpPr>
        <p:spPr>
          <a:xfrm>
            <a:off x="6329946" y="614513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4" name="Table 8">
            <a:extLst>
              <a:ext uri="{FF2B5EF4-FFF2-40B4-BE49-F238E27FC236}">
                <a16:creationId xmlns:a16="http://schemas.microsoft.com/office/drawing/2014/main" id="{7516AEA7-3C5E-499B-9462-BF146179DEC3}"/>
              </a:ext>
            </a:extLst>
          </p:cNvPr>
          <p:cNvGraphicFramePr>
            <a:graphicFrameLocks noGrp="1"/>
          </p:cNvGraphicFramePr>
          <p:nvPr>
            <p:extLst/>
          </p:nvPr>
        </p:nvGraphicFramePr>
        <p:xfrm>
          <a:off x="8171111" y="279184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16" name="Rectangle 115">
            <a:extLst>
              <a:ext uri="{FF2B5EF4-FFF2-40B4-BE49-F238E27FC236}">
                <a16:creationId xmlns:a16="http://schemas.microsoft.com/office/drawing/2014/main" id="{90E64514-C8E8-4883-9FCC-267B322A4995}"/>
              </a:ext>
            </a:extLst>
          </p:cNvPr>
          <p:cNvSpPr/>
          <p:nvPr/>
        </p:nvSpPr>
        <p:spPr>
          <a:xfrm>
            <a:off x="8176412" y="2791849"/>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29A2B435-F418-4DA5-A075-C2F98205BE0D}"/>
              </a:ext>
            </a:extLst>
          </p:cNvPr>
          <p:cNvSpPr/>
          <p:nvPr/>
        </p:nvSpPr>
        <p:spPr>
          <a:xfrm>
            <a:off x="8176412" y="2897492"/>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245DC45B-9AFE-44D0-9DFA-7634278AB66D}"/>
              </a:ext>
            </a:extLst>
          </p:cNvPr>
          <p:cNvSpPr/>
          <p:nvPr/>
        </p:nvSpPr>
        <p:spPr>
          <a:xfrm>
            <a:off x="8413490" y="2792636"/>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20310BC5-B7D6-4619-B439-43535B205D73}"/>
              </a:ext>
            </a:extLst>
          </p:cNvPr>
          <p:cNvSpPr/>
          <p:nvPr/>
        </p:nvSpPr>
        <p:spPr>
          <a:xfrm>
            <a:off x="8413490" y="2898279"/>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EC235775-1D0F-438E-B818-1981B592EE56}"/>
              </a:ext>
            </a:extLst>
          </p:cNvPr>
          <p:cNvSpPr/>
          <p:nvPr/>
        </p:nvSpPr>
        <p:spPr>
          <a:xfrm>
            <a:off x="8824323" y="2803612"/>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54EF3C6B-2CAE-4261-A497-17B48C76A489}"/>
              </a:ext>
            </a:extLst>
          </p:cNvPr>
          <p:cNvSpPr/>
          <p:nvPr/>
        </p:nvSpPr>
        <p:spPr>
          <a:xfrm>
            <a:off x="8824323" y="2909255"/>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44D4D4F1-44E6-413C-84D6-A380CA40C243}"/>
              </a:ext>
            </a:extLst>
          </p:cNvPr>
          <p:cNvSpPr/>
          <p:nvPr/>
        </p:nvSpPr>
        <p:spPr>
          <a:xfrm>
            <a:off x="9061401" y="2804399"/>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70177D4F-9129-4387-BA87-81344125B349}"/>
              </a:ext>
            </a:extLst>
          </p:cNvPr>
          <p:cNvSpPr/>
          <p:nvPr/>
        </p:nvSpPr>
        <p:spPr>
          <a:xfrm>
            <a:off x="9061401" y="2910042"/>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2" name="Table 8">
            <a:extLst>
              <a:ext uri="{FF2B5EF4-FFF2-40B4-BE49-F238E27FC236}">
                <a16:creationId xmlns:a16="http://schemas.microsoft.com/office/drawing/2014/main" id="{00754AE0-0373-4F14-885F-2FC5F48E3E85}"/>
              </a:ext>
            </a:extLst>
          </p:cNvPr>
          <p:cNvGraphicFramePr>
            <a:graphicFrameLocks noGrp="1"/>
          </p:cNvGraphicFramePr>
          <p:nvPr>
            <p:extLst/>
          </p:nvPr>
        </p:nvGraphicFramePr>
        <p:xfrm>
          <a:off x="7495753" y="279310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7" name="Rectangle 136">
            <a:extLst>
              <a:ext uri="{FF2B5EF4-FFF2-40B4-BE49-F238E27FC236}">
                <a16:creationId xmlns:a16="http://schemas.microsoft.com/office/drawing/2014/main" id="{22BC5B24-7223-4134-9E9C-277326144337}"/>
              </a:ext>
            </a:extLst>
          </p:cNvPr>
          <p:cNvSpPr/>
          <p:nvPr/>
        </p:nvSpPr>
        <p:spPr>
          <a:xfrm>
            <a:off x="9489925" y="293165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B26F8EB9-2509-4DC2-98C7-6E3BBE2F8441}"/>
              </a:ext>
            </a:extLst>
          </p:cNvPr>
          <p:cNvSpPr/>
          <p:nvPr/>
        </p:nvSpPr>
        <p:spPr>
          <a:xfrm>
            <a:off x="9738614" y="281753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197BC53E-A526-47FF-A0A3-EC99C7AAE490}"/>
              </a:ext>
            </a:extLst>
          </p:cNvPr>
          <p:cNvSpPr/>
          <p:nvPr/>
        </p:nvSpPr>
        <p:spPr>
          <a:xfrm>
            <a:off x="9727073" y="2924169"/>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8082214A-BCE6-4651-8EDB-74D7380A1C0C}"/>
              </a:ext>
            </a:extLst>
          </p:cNvPr>
          <p:cNvSpPr/>
          <p:nvPr/>
        </p:nvSpPr>
        <p:spPr>
          <a:xfrm>
            <a:off x="9474792" y="281126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41249C89-4627-46D1-BFE1-4F51DB9E644C}"/>
              </a:ext>
            </a:extLst>
          </p:cNvPr>
          <p:cNvSpPr/>
          <p:nvPr/>
        </p:nvSpPr>
        <p:spPr>
          <a:xfrm>
            <a:off x="7509101" y="2797434"/>
            <a:ext cx="469376" cy="22385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7" name="Table 8">
            <a:extLst>
              <a:ext uri="{FF2B5EF4-FFF2-40B4-BE49-F238E27FC236}">
                <a16:creationId xmlns:a16="http://schemas.microsoft.com/office/drawing/2014/main" id="{C39B757E-7978-422D-81B5-E57F0D5DC0CF}"/>
              </a:ext>
            </a:extLst>
          </p:cNvPr>
          <p:cNvGraphicFramePr>
            <a:graphicFrameLocks noGrp="1"/>
          </p:cNvGraphicFramePr>
          <p:nvPr>
            <p:extLst/>
          </p:nvPr>
        </p:nvGraphicFramePr>
        <p:xfrm>
          <a:off x="10824251" y="615327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68" name="TextBox 167">
            <a:extLst>
              <a:ext uri="{FF2B5EF4-FFF2-40B4-BE49-F238E27FC236}">
                <a16:creationId xmlns:a16="http://schemas.microsoft.com/office/drawing/2014/main" id="{81DE6CC0-21F3-4398-A0F5-1A8236971981}"/>
              </a:ext>
            </a:extLst>
          </p:cNvPr>
          <p:cNvSpPr txBox="1"/>
          <p:nvPr/>
        </p:nvSpPr>
        <p:spPr>
          <a:xfrm>
            <a:off x="9916322" y="6217878"/>
            <a:ext cx="319318" cy="369332"/>
          </a:xfrm>
          <a:prstGeom prst="rect">
            <a:avLst/>
          </a:prstGeom>
          <a:noFill/>
        </p:spPr>
        <p:txBody>
          <a:bodyPr wrap="none" rtlCol="0">
            <a:spAutoFit/>
          </a:bodyPr>
          <a:lstStyle/>
          <a:p>
            <a:r>
              <a:rPr lang="en-US" dirty="0"/>
              <a:t>=</a:t>
            </a:r>
          </a:p>
        </p:txBody>
      </p:sp>
      <p:graphicFrame>
        <p:nvGraphicFramePr>
          <p:cNvPr id="169" name="Table 8">
            <a:extLst>
              <a:ext uri="{FF2B5EF4-FFF2-40B4-BE49-F238E27FC236}">
                <a16:creationId xmlns:a16="http://schemas.microsoft.com/office/drawing/2014/main" id="{9815C0E0-16F2-4BA8-96D7-88A353C2F818}"/>
              </a:ext>
            </a:extLst>
          </p:cNvPr>
          <p:cNvGraphicFramePr>
            <a:graphicFrameLocks noGrp="1"/>
          </p:cNvGraphicFramePr>
          <p:nvPr>
            <p:extLst/>
          </p:nvPr>
        </p:nvGraphicFramePr>
        <p:xfrm>
          <a:off x="10167683" y="614998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70" name="TextBox 169">
            <a:extLst>
              <a:ext uri="{FF2B5EF4-FFF2-40B4-BE49-F238E27FC236}">
                <a16:creationId xmlns:a16="http://schemas.microsoft.com/office/drawing/2014/main" id="{1E827122-486E-4E95-A378-469B01483DB2}"/>
              </a:ext>
            </a:extLst>
          </p:cNvPr>
          <p:cNvSpPr txBox="1"/>
          <p:nvPr/>
        </p:nvSpPr>
        <p:spPr>
          <a:xfrm>
            <a:off x="10580963" y="6218442"/>
            <a:ext cx="319318" cy="369332"/>
          </a:xfrm>
          <a:prstGeom prst="rect">
            <a:avLst/>
          </a:prstGeom>
          <a:noFill/>
        </p:spPr>
        <p:txBody>
          <a:bodyPr wrap="none" rtlCol="0">
            <a:spAutoFit/>
          </a:bodyPr>
          <a:lstStyle/>
          <a:p>
            <a:r>
              <a:rPr lang="en-US" dirty="0"/>
              <a:t>+</a:t>
            </a:r>
          </a:p>
        </p:txBody>
      </p:sp>
      <p:sp>
        <p:nvSpPr>
          <p:cNvPr id="171" name="Rectangle 170">
            <a:extLst>
              <a:ext uri="{FF2B5EF4-FFF2-40B4-BE49-F238E27FC236}">
                <a16:creationId xmlns:a16="http://schemas.microsoft.com/office/drawing/2014/main" id="{6A117F88-7C5C-44BC-ADA8-6388FC3AF1E6}"/>
              </a:ext>
            </a:extLst>
          </p:cNvPr>
          <p:cNvSpPr/>
          <p:nvPr/>
        </p:nvSpPr>
        <p:spPr>
          <a:xfrm>
            <a:off x="10172984" y="6149984"/>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D5933408-95C9-4191-89DD-8C55F54B617C}"/>
              </a:ext>
            </a:extLst>
          </p:cNvPr>
          <p:cNvSpPr/>
          <p:nvPr/>
        </p:nvSpPr>
        <p:spPr>
          <a:xfrm>
            <a:off x="10172984" y="6255627"/>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9A9FB4E-4E74-476D-B35D-CE96E5294932}"/>
              </a:ext>
            </a:extLst>
          </p:cNvPr>
          <p:cNvSpPr/>
          <p:nvPr/>
        </p:nvSpPr>
        <p:spPr>
          <a:xfrm>
            <a:off x="10171203" y="6381231"/>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E45AFCFC-D714-47D7-A4A0-429E1E6C1015}"/>
              </a:ext>
            </a:extLst>
          </p:cNvPr>
          <p:cNvSpPr/>
          <p:nvPr/>
        </p:nvSpPr>
        <p:spPr>
          <a:xfrm>
            <a:off x="10171203" y="6492527"/>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44D25F72-A8A9-4D6A-9831-7B25C9BDB531}"/>
              </a:ext>
            </a:extLst>
          </p:cNvPr>
          <p:cNvSpPr/>
          <p:nvPr/>
        </p:nvSpPr>
        <p:spPr>
          <a:xfrm>
            <a:off x="10410062" y="6150771"/>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DC6AC02D-4B54-4061-A539-B67313959977}"/>
              </a:ext>
            </a:extLst>
          </p:cNvPr>
          <p:cNvSpPr/>
          <p:nvPr/>
        </p:nvSpPr>
        <p:spPr>
          <a:xfrm>
            <a:off x="10410062" y="6256414"/>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C8AB33D-6DE8-4F2F-872E-094DF09EE538}"/>
              </a:ext>
            </a:extLst>
          </p:cNvPr>
          <p:cNvSpPr/>
          <p:nvPr/>
        </p:nvSpPr>
        <p:spPr>
          <a:xfrm>
            <a:off x="10408281" y="6382018"/>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DF6CF24E-A903-4C42-AD35-40D25ED3614D}"/>
              </a:ext>
            </a:extLst>
          </p:cNvPr>
          <p:cNvSpPr/>
          <p:nvPr/>
        </p:nvSpPr>
        <p:spPr>
          <a:xfrm>
            <a:off x="10408281" y="6493314"/>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664357BF-B4FE-46B7-AD9E-385A5D57D88D}"/>
              </a:ext>
            </a:extLst>
          </p:cNvPr>
          <p:cNvSpPr/>
          <p:nvPr/>
        </p:nvSpPr>
        <p:spPr>
          <a:xfrm>
            <a:off x="10826032" y="6161747"/>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1187C75C-ECB3-4C33-BB9F-9D8E5633B4D0}"/>
              </a:ext>
            </a:extLst>
          </p:cNvPr>
          <p:cNvSpPr/>
          <p:nvPr/>
        </p:nvSpPr>
        <p:spPr>
          <a:xfrm>
            <a:off x="10826032" y="6267390"/>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9E6E5199-CB1C-4527-B455-D1C1D25A01A9}"/>
              </a:ext>
            </a:extLst>
          </p:cNvPr>
          <p:cNvSpPr/>
          <p:nvPr/>
        </p:nvSpPr>
        <p:spPr>
          <a:xfrm>
            <a:off x="10824251" y="6392994"/>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5B3F6E74-4660-49EC-9F39-115E4718A3E0}"/>
              </a:ext>
            </a:extLst>
          </p:cNvPr>
          <p:cNvSpPr/>
          <p:nvPr/>
        </p:nvSpPr>
        <p:spPr>
          <a:xfrm>
            <a:off x="10824251" y="6504290"/>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EAEAA41-AEA5-4EA2-9F9F-89FB1F1F55E8}"/>
              </a:ext>
            </a:extLst>
          </p:cNvPr>
          <p:cNvSpPr/>
          <p:nvPr/>
        </p:nvSpPr>
        <p:spPr>
          <a:xfrm>
            <a:off x="11063110" y="616253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B06FA891-04FB-489E-AA55-BD19AF136473}"/>
              </a:ext>
            </a:extLst>
          </p:cNvPr>
          <p:cNvSpPr/>
          <p:nvPr/>
        </p:nvSpPr>
        <p:spPr>
          <a:xfrm>
            <a:off x="11063110" y="6268177"/>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EAD7E971-4BAC-473B-8A83-0750FCF4BCEE}"/>
              </a:ext>
            </a:extLst>
          </p:cNvPr>
          <p:cNvSpPr/>
          <p:nvPr/>
        </p:nvSpPr>
        <p:spPr>
          <a:xfrm>
            <a:off x="11061329" y="6393781"/>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79CED9C0-4080-4BE0-9842-DC526D7193D9}"/>
              </a:ext>
            </a:extLst>
          </p:cNvPr>
          <p:cNvSpPr/>
          <p:nvPr/>
        </p:nvSpPr>
        <p:spPr>
          <a:xfrm>
            <a:off x="11061329" y="650507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7" name="Table 8">
            <a:extLst>
              <a:ext uri="{FF2B5EF4-FFF2-40B4-BE49-F238E27FC236}">
                <a16:creationId xmlns:a16="http://schemas.microsoft.com/office/drawing/2014/main" id="{E609D955-3D10-45EE-8529-8D7528C2BA3F}"/>
              </a:ext>
            </a:extLst>
          </p:cNvPr>
          <p:cNvGraphicFramePr>
            <a:graphicFrameLocks noGrp="1"/>
          </p:cNvGraphicFramePr>
          <p:nvPr>
            <p:extLst/>
          </p:nvPr>
        </p:nvGraphicFramePr>
        <p:xfrm>
          <a:off x="9487188" y="615124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189" name="Table 8">
            <a:extLst>
              <a:ext uri="{FF2B5EF4-FFF2-40B4-BE49-F238E27FC236}">
                <a16:creationId xmlns:a16="http://schemas.microsoft.com/office/drawing/2014/main" id="{5F619DE0-D673-46A6-9D81-21709F83F28C}"/>
              </a:ext>
            </a:extLst>
          </p:cNvPr>
          <p:cNvGraphicFramePr>
            <a:graphicFrameLocks noGrp="1"/>
          </p:cNvGraphicFramePr>
          <p:nvPr>
            <p:extLst/>
          </p:nvPr>
        </p:nvGraphicFramePr>
        <p:xfrm>
          <a:off x="11474442" y="6149984"/>
          <a:ext cx="482724"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190" name="TextBox 189">
            <a:extLst>
              <a:ext uri="{FF2B5EF4-FFF2-40B4-BE49-F238E27FC236}">
                <a16:creationId xmlns:a16="http://schemas.microsoft.com/office/drawing/2014/main" id="{EABBE2F1-894B-407C-A353-61576CDBAC9E}"/>
              </a:ext>
            </a:extLst>
          </p:cNvPr>
          <p:cNvSpPr txBox="1"/>
          <p:nvPr/>
        </p:nvSpPr>
        <p:spPr>
          <a:xfrm>
            <a:off x="11231154" y="6215152"/>
            <a:ext cx="319318" cy="369332"/>
          </a:xfrm>
          <a:prstGeom prst="rect">
            <a:avLst/>
          </a:prstGeom>
          <a:noFill/>
        </p:spPr>
        <p:txBody>
          <a:bodyPr wrap="none" rtlCol="0">
            <a:spAutoFit/>
          </a:bodyPr>
          <a:lstStyle/>
          <a:p>
            <a:r>
              <a:rPr lang="en-US" dirty="0"/>
              <a:t>+</a:t>
            </a:r>
          </a:p>
        </p:txBody>
      </p:sp>
      <p:sp>
        <p:nvSpPr>
          <p:cNvPr id="191" name="Rectangle 190">
            <a:extLst>
              <a:ext uri="{FF2B5EF4-FFF2-40B4-BE49-F238E27FC236}">
                <a16:creationId xmlns:a16="http://schemas.microsoft.com/office/drawing/2014/main" id="{92E80C1C-3D16-437F-B64F-115752C3D70C}"/>
              </a:ext>
            </a:extLst>
          </p:cNvPr>
          <p:cNvSpPr/>
          <p:nvPr/>
        </p:nvSpPr>
        <p:spPr>
          <a:xfrm>
            <a:off x="11717710" y="6389092"/>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00797504-82BB-418C-8682-77DE8C607AB4}"/>
              </a:ext>
            </a:extLst>
          </p:cNvPr>
          <p:cNvSpPr/>
          <p:nvPr/>
        </p:nvSpPr>
        <p:spPr>
          <a:xfrm>
            <a:off x="11476223" y="626410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56991721-AEF0-4D29-A903-E114970D36C7}"/>
              </a:ext>
            </a:extLst>
          </p:cNvPr>
          <p:cNvSpPr/>
          <p:nvPr/>
        </p:nvSpPr>
        <p:spPr>
          <a:xfrm>
            <a:off x="11711537" y="6486043"/>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74A2B658-C9D5-4EAE-A898-2C544ED1971F}"/>
              </a:ext>
            </a:extLst>
          </p:cNvPr>
          <p:cNvSpPr/>
          <p:nvPr/>
        </p:nvSpPr>
        <p:spPr>
          <a:xfrm>
            <a:off x="11724912" y="614998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2CDA4A73-5F66-4FF2-BA98-29295A16743C}"/>
              </a:ext>
            </a:extLst>
          </p:cNvPr>
          <p:cNvSpPr/>
          <p:nvPr/>
        </p:nvSpPr>
        <p:spPr>
          <a:xfrm>
            <a:off x="11713371" y="6256619"/>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F163CCCE-9173-4FF6-94FB-A4F4F2ACE8B9}"/>
              </a:ext>
            </a:extLst>
          </p:cNvPr>
          <p:cNvSpPr/>
          <p:nvPr/>
        </p:nvSpPr>
        <p:spPr>
          <a:xfrm>
            <a:off x="11477035" y="6468457"/>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AD29DCE-FBC1-4B17-8DD7-CA4B22BC76D0}"/>
              </a:ext>
            </a:extLst>
          </p:cNvPr>
          <p:cNvSpPr/>
          <p:nvPr/>
        </p:nvSpPr>
        <p:spPr>
          <a:xfrm>
            <a:off x="11486772" y="6388598"/>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4E07A6AC-4141-4C4D-9A34-936860292F4E}"/>
              </a:ext>
            </a:extLst>
          </p:cNvPr>
          <p:cNvSpPr/>
          <p:nvPr/>
        </p:nvSpPr>
        <p:spPr>
          <a:xfrm>
            <a:off x="11461090" y="6143714"/>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B4EC6896-F1E4-43C4-BDC2-B17848A24EC0}"/>
              </a:ext>
            </a:extLst>
          </p:cNvPr>
          <p:cNvSpPr/>
          <p:nvPr/>
        </p:nvSpPr>
        <p:spPr>
          <a:xfrm>
            <a:off x="9502321" y="6134471"/>
            <a:ext cx="459102" cy="476433"/>
          </a:xfrm>
          <a:prstGeom prst="rect">
            <a:avLst/>
          </a:prstGeom>
          <a:solidFill>
            <a:srgbClr val="FF970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84" name="Content Placeholder 2">
                <a:extLst>
                  <a:ext uri="{FF2B5EF4-FFF2-40B4-BE49-F238E27FC236}">
                    <a16:creationId xmlns:a16="http://schemas.microsoft.com/office/drawing/2014/main" id="{9C3AFD75-A51D-466A-8E40-331F4329670B}"/>
                  </a:ext>
                </a:extLst>
              </p:cNvPr>
              <p:cNvSpPr>
                <a:spLocks noGrp="1"/>
              </p:cNvSpPr>
              <p:nvPr>
                <p:ph idx="1"/>
              </p:nvPr>
            </p:nvSpPr>
            <p:spPr>
              <a:xfrm>
                <a:off x="798263" y="1602082"/>
                <a:ext cx="6581539" cy="5346602"/>
              </a:xfrm>
            </p:spPr>
            <p:txBody>
              <a:bodyPr>
                <a:normAutofit/>
              </a:bodyPr>
              <a:lstStyle/>
              <a:p>
                <a:r>
                  <a:rPr lang="en-US" dirty="0"/>
                  <a:t>Each party “Encrypts” their data</a:t>
                </a:r>
                <a:r>
                  <a:rPr lang="en-US" b="1" dirty="0"/>
                  <a:t> </a:t>
                </a:r>
                <a14:m>
                  <m:oMath xmlns:m="http://schemas.openxmlformats.org/officeDocument/2006/math">
                    <m:r>
                      <a:rPr lang="en-US" b="1" i="1" smtClean="0">
                        <a:latin typeface="Cambria Math" panose="02040503050406030204" pitchFamily="18" charset="0"/>
                      </a:rPr>
                      <m:t>𝒙</m:t>
                    </m:r>
                  </m:oMath>
                </a14:m>
                <a:r>
                  <a:rPr lang="en-US" dirty="0"/>
                  <a:t> such that</a:t>
                </a:r>
                <a:br>
                  <a:rPr lang="en-US" dirty="0"/>
                </a:b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oMath>
                </a14:m>
                <a:endParaRPr lang="en-US" dirty="0"/>
              </a:p>
              <a:p>
                <a:pPr marL="457177" lvl="1" indent="0">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m:t>
                      </m:r>
                    </m:oMath>
                  </m:oMathPara>
                </a14:m>
                <a:endParaRPr lang="en-US" dirty="0"/>
              </a:p>
              <a:p>
                <a:pPr lvl="1"/>
                <a:endParaRPr lang="en-US" dirty="0"/>
              </a:p>
              <a:p>
                <a:endParaRPr lang="en-US" dirty="0"/>
              </a:p>
            </p:txBody>
          </p:sp>
        </mc:Choice>
        <mc:Fallback>
          <p:sp>
            <p:nvSpPr>
              <p:cNvPr id="284" name="Content Placeholder 2">
                <a:extLst>
                  <a:ext uri="{FF2B5EF4-FFF2-40B4-BE49-F238E27FC236}">
                    <a16:creationId xmlns:a16="http://schemas.microsoft.com/office/drawing/2014/main" id="{9C3AFD75-A51D-466A-8E40-331F4329670B}"/>
                  </a:ext>
                </a:extLst>
              </p:cNvPr>
              <p:cNvSpPr>
                <a:spLocks noGrp="1" noRot="1" noChangeAspect="1" noMove="1" noResize="1" noEditPoints="1" noAdjustHandles="1" noChangeArrowheads="1" noChangeShapeType="1" noTextEdit="1"/>
              </p:cNvSpPr>
              <p:nvPr>
                <p:ph idx="1"/>
              </p:nvPr>
            </p:nvSpPr>
            <p:spPr>
              <a:xfrm>
                <a:off x="798263" y="1602082"/>
                <a:ext cx="6581539" cy="5346602"/>
              </a:xfrm>
              <a:blipFill>
                <a:blip r:embed="rId8"/>
                <a:stretch>
                  <a:fillRect l="-1296" t="-228"/>
                </a:stretch>
              </a:blipFill>
            </p:spPr>
            <p:txBody>
              <a:bodyPr/>
              <a:lstStyle/>
              <a:p>
                <a:r>
                  <a:rPr lang="en-US">
                    <a:noFill/>
                  </a:rPr>
                  <a:t> </a:t>
                </a:r>
              </a:p>
            </p:txBody>
          </p:sp>
        </mc:Fallback>
      </mc:AlternateContent>
      <p:graphicFrame>
        <p:nvGraphicFramePr>
          <p:cNvPr id="329" name="Table 8">
            <a:extLst>
              <a:ext uri="{FF2B5EF4-FFF2-40B4-BE49-F238E27FC236}">
                <a16:creationId xmlns:a16="http://schemas.microsoft.com/office/drawing/2014/main" id="{00369606-6652-4D39-8AAF-9BB1FF9CA772}"/>
              </a:ext>
            </a:extLst>
          </p:cNvPr>
          <p:cNvGraphicFramePr>
            <a:graphicFrameLocks noGrp="1"/>
          </p:cNvGraphicFramePr>
          <p:nvPr>
            <p:extLst/>
          </p:nvPr>
        </p:nvGraphicFramePr>
        <p:xfrm>
          <a:off x="9485361" y="304111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330" name="Table 8">
            <a:extLst>
              <a:ext uri="{FF2B5EF4-FFF2-40B4-BE49-F238E27FC236}">
                <a16:creationId xmlns:a16="http://schemas.microsoft.com/office/drawing/2014/main" id="{8C6DEA83-5BA6-46E2-8DAD-5C5B56A43562}"/>
              </a:ext>
            </a:extLst>
          </p:cNvPr>
          <p:cNvGraphicFramePr>
            <a:graphicFrameLocks noGrp="1"/>
          </p:cNvGraphicFramePr>
          <p:nvPr>
            <p:extLst/>
          </p:nvPr>
        </p:nvGraphicFramePr>
        <p:xfrm>
          <a:off x="8820812" y="3041451"/>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graphicFrame>
        <p:nvGraphicFramePr>
          <p:cNvPr id="332" name="Table 8">
            <a:extLst>
              <a:ext uri="{FF2B5EF4-FFF2-40B4-BE49-F238E27FC236}">
                <a16:creationId xmlns:a16="http://schemas.microsoft.com/office/drawing/2014/main" id="{AC0FC417-4611-4E31-8AB9-6F997B94D52A}"/>
              </a:ext>
            </a:extLst>
          </p:cNvPr>
          <p:cNvGraphicFramePr>
            <a:graphicFrameLocks noGrp="1"/>
          </p:cNvGraphicFramePr>
          <p:nvPr>
            <p:extLst/>
          </p:nvPr>
        </p:nvGraphicFramePr>
        <p:xfrm>
          <a:off x="8169326" y="302703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334" name="Rectangle 333">
            <a:extLst>
              <a:ext uri="{FF2B5EF4-FFF2-40B4-BE49-F238E27FC236}">
                <a16:creationId xmlns:a16="http://schemas.microsoft.com/office/drawing/2014/main" id="{0439FE26-C0C5-4DF0-8F47-F1CEEE485FA6}"/>
              </a:ext>
            </a:extLst>
          </p:cNvPr>
          <p:cNvSpPr/>
          <p:nvPr/>
        </p:nvSpPr>
        <p:spPr>
          <a:xfrm>
            <a:off x="8174627" y="3027035"/>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CF4B141B-6705-4B30-87D1-F96A69D47659}"/>
              </a:ext>
            </a:extLst>
          </p:cNvPr>
          <p:cNvSpPr/>
          <p:nvPr/>
        </p:nvSpPr>
        <p:spPr>
          <a:xfrm>
            <a:off x="8174627" y="3132678"/>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F296238D-841A-4732-A1C4-E841DB3EAE71}"/>
              </a:ext>
            </a:extLst>
          </p:cNvPr>
          <p:cNvSpPr/>
          <p:nvPr/>
        </p:nvSpPr>
        <p:spPr>
          <a:xfrm>
            <a:off x="8411705" y="3027822"/>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5F18DA3F-7EFA-405E-957D-D54F829EB3D9}"/>
              </a:ext>
            </a:extLst>
          </p:cNvPr>
          <p:cNvSpPr/>
          <p:nvPr/>
        </p:nvSpPr>
        <p:spPr>
          <a:xfrm>
            <a:off x="8411705" y="3133465"/>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50F16EFF-CFD6-408C-87D1-705328221745}"/>
              </a:ext>
            </a:extLst>
          </p:cNvPr>
          <p:cNvSpPr/>
          <p:nvPr/>
        </p:nvSpPr>
        <p:spPr>
          <a:xfrm>
            <a:off x="8822538" y="3038798"/>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C5F734EE-6A09-4358-86F2-531C2B1E0028}"/>
              </a:ext>
            </a:extLst>
          </p:cNvPr>
          <p:cNvSpPr/>
          <p:nvPr/>
        </p:nvSpPr>
        <p:spPr>
          <a:xfrm>
            <a:off x="8822538" y="3144441"/>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C1F88371-2B53-4AAE-A9B0-207CF3286AFC}"/>
              </a:ext>
            </a:extLst>
          </p:cNvPr>
          <p:cNvSpPr/>
          <p:nvPr/>
        </p:nvSpPr>
        <p:spPr>
          <a:xfrm>
            <a:off x="9059616" y="3039585"/>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13769BE9-13E1-4B4F-8975-988FB6D11A68}"/>
              </a:ext>
            </a:extLst>
          </p:cNvPr>
          <p:cNvSpPr/>
          <p:nvPr/>
        </p:nvSpPr>
        <p:spPr>
          <a:xfrm>
            <a:off x="9059616" y="3145228"/>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2" name="Table 8">
            <a:extLst>
              <a:ext uri="{FF2B5EF4-FFF2-40B4-BE49-F238E27FC236}">
                <a16:creationId xmlns:a16="http://schemas.microsoft.com/office/drawing/2014/main" id="{C09FAD13-6EB7-4493-AA80-6A4FDF96D614}"/>
              </a:ext>
            </a:extLst>
          </p:cNvPr>
          <p:cNvGraphicFramePr>
            <a:graphicFrameLocks noGrp="1"/>
          </p:cNvGraphicFramePr>
          <p:nvPr>
            <p:extLst/>
          </p:nvPr>
        </p:nvGraphicFramePr>
        <p:xfrm>
          <a:off x="7493968" y="302829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344" name="Rectangle 343">
            <a:extLst>
              <a:ext uri="{FF2B5EF4-FFF2-40B4-BE49-F238E27FC236}">
                <a16:creationId xmlns:a16="http://schemas.microsoft.com/office/drawing/2014/main" id="{E387004B-6C73-4533-BDE5-61A8EF403AC8}"/>
              </a:ext>
            </a:extLst>
          </p:cNvPr>
          <p:cNvSpPr/>
          <p:nvPr/>
        </p:nvSpPr>
        <p:spPr>
          <a:xfrm>
            <a:off x="9488140" y="3166836"/>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1BB7D65E-FB2B-4B84-BEA0-E41213C4078B}"/>
              </a:ext>
            </a:extLst>
          </p:cNvPr>
          <p:cNvSpPr/>
          <p:nvPr/>
        </p:nvSpPr>
        <p:spPr>
          <a:xfrm>
            <a:off x="9736829" y="3052720"/>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55DEA8D8-00BA-41E6-B9C9-C36534CE9E1A}"/>
              </a:ext>
            </a:extLst>
          </p:cNvPr>
          <p:cNvSpPr/>
          <p:nvPr/>
        </p:nvSpPr>
        <p:spPr>
          <a:xfrm>
            <a:off x="9725288" y="3159355"/>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6AB4CC3F-0E1E-4E23-A933-866215811E3E}"/>
              </a:ext>
            </a:extLst>
          </p:cNvPr>
          <p:cNvSpPr/>
          <p:nvPr/>
        </p:nvSpPr>
        <p:spPr>
          <a:xfrm>
            <a:off x="9473007" y="3046450"/>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34408304-CA77-4ADD-92E1-A7D2F8C4BA33}"/>
              </a:ext>
            </a:extLst>
          </p:cNvPr>
          <p:cNvSpPr/>
          <p:nvPr/>
        </p:nvSpPr>
        <p:spPr>
          <a:xfrm>
            <a:off x="7507316" y="3032620"/>
            <a:ext cx="469376" cy="223857"/>
          </a:xfrm>
          <a:prstGeom prst="rect">
            <a:avLst/>
          </a:prstGeom>
          <a:solidFill>
            <a:schemeClr val="accent3">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TextBox 348">
            <a:extLst>
              <a:ext uri="{FF2B5EF4-FFF2-40B4-BE49-F238E27FC236}">
                <a16:creationId xmlns:a16="http://schemas.microsoft.com/office/drawing/2014/main" id="{2DB1240C-8240-4CE7-B31B-14EAD4B3E988}"/>
              </a:ext>
            </a:extLst>
          </p:cNvPr>
          <p:cNvSpPr txBox="1"/>
          <p:nvPr/>
        </p:nvSpPr>
        <p:spPr>
          <a:xfrm>
            <a:off x="7911236" y="2860225"/>
            <a:ext cx="319318" cy="369332"/>
          </a:xfrm>
          <a:prstGeom prst="rect">
            <a:avLst/>
          </a:prstGeom>
          <a:noFill/>
        </p:spPr>
        <p:txBody>
          <a:bodyPr wrap="none" rtlCol="0">
            <a:spAutoFit/>
          </a:bodyPr>
          <a:lstStyle/>
          <a:p>
            <a:r>
              <a:rPr lang="en-US" dirty="0"/>
              <a:t>=</a:t>
            </a:r>
          </a:p>
        </p:txBody>
      </p:sp>
      <p:sp>
        <p:nvSpPr>
          <p:cNvPr id="350" name="TextBox 349">
            <a:extLst>
              <a:ext uri="{FF2B5EF4-FFF2-40B4-BE49-F238E27FC236}">
                <a16:creationId xmlns:a16="http://schemas.microsoft.com/office/drawing/2014/main" id="{390CE0A3-F3A7-42F6-B0F1-E8C689A10B87}"/>
              </a:ext>
            </a:extLst>
          </p:cNvPr>
          <p:cNvSpPr txBox="1"/>
          <p:nvPr/>
        </p:nvSpPr>
        <p:spPr>
          <a:xfrm>
            <a:off x="8586151" y="2860789"/>
            <a:ext cx="319318" cy="369332"/>
          </a:xfrm>
          <a:prstGeom prst="rect">
            <a:avLst/>
          </a:prstGeom>
          <a:noFill/>
        </p:spPr>
        <p:txBody>
          <a:bodyPr wrap="none" rtlCol="0">
            <a:spAutoFit/>
          </a:bodyPr>
          <a:lstStyle/>
          <a:p>
            <a:r>
              <a:rPr lang="en-US" dirty="0"/>
              <a:t>+</a:t>
            </a:r>
          </a:p>
        </p:txBody>
      </p:sp>
      <p:sp>
        <p:nvSpPr>
          <p:cNvPr id="351" name="TextBox 350">
            <a:extLst>
              <a:ext uri="{FF2B5EF4-FFF2-40B4-BE49-F238E27FC236}">
                <a16:creationId xmlns:a16="http://schemas.microsoft.com/office/drawing/2014/main" id="{CE22B9B5-A3D4-4697-9AB2-C53CD1121AF1}"/>
              </a:ext>
            </a:extLst>
          </p:cNvPr>
          <p:cNvSpPr txBox="1"/>
          <p:nvPr/>
        </p:nvSpPr>
        <p:spPr>
          <a:xfrm>
            <a:off x="9241479" y="2857499"/>
            <a:ext cx="319318" cy="369332"/>
          </a:xfrm>
          <a:prstGeom prst="rect">
            <a:avLst/>
          </a:prstGeom>
          <a:noFill/>
        </p:spPr>
        <p:txBody>
          <a:bodyPr wrap="none" rtlCol="0">
            <a:spAutoFit/>
          </a:bodyPr>
          <a:lstStyle/>
          <a:p>
            <a:r>
              <a:rPr lang="en-US" dirty="0"/>
              <a:t>+</a:t>
            </a:r>
          </a:p>
        </p:txBody>
      </p:sp>
      <p:cxnSp>
        <p:nvCxnSpPr>
          <p:cNvPr id="3076" name="Straight Arrow Connector 3075">
            <a:extLst>
              <a:ext uri="{FF2B5EF4-FFF2-40B4-BE49-F238E27FC236}">
                <a16:creationId xmlns:a16="http://schemas.microsoft.com/office/drawing/2014/main" id="{8DB78352-69D1-4E15-9653-6C7FACD31CC1}"/>
              </a:ext>
            </a:extLst>
          </p:cNvPr>
          <p:cNvCxnSpPr/>
          <p:nvPr/>
        </p:nvCxnSpPr>
        <p:spPr>
          <a:xfrm>
            <a:off x="9707223" y="3385335"/>
            <a:ext cx="361451" cy="1356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6" name="Straight Arrow Connector 355">
            <a:extLst>
              <a:ext uri="{FF2B5EF4-FFF2-40B4-BE49-F238E27FC236}">
                <a16:creationId xmlns:a16="http://schemas.microsoft.com/office/drawing/2014/main" id="{EC2EC4EF-A2A8-4EA2-8A65-A0EDAD781076}"/>
              </a:ext>
            </a:extLst>
          </p:cNvPr>
          <p:cNvCxnSpPr>
            <a:cxnSpLocks/>
          </p:cNvCxnSpPr>
          <p:nvPr/>
        </p:nvCxnSpPr>
        <p:spPr>
          <a:xfrm flipH="1">
            <a:off x="6940193" y="3329821"/>
            <a:ext cx="2099494" cy="158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9800674A-86DE-4DC2-9357-29AD3DC8ED88}"/>
              </a:ext>
            </a:extLst>
          </p:cNvPr>
          <p:cNvSpPr/>
          <p:nvPr/>
        </p:nvSpPr>
        <p:spPr>
          <a:xfrm>
            <a:off x="8369902" y="2079717"/>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C974E55C-EABB-4E2B-81FA-8C6FE56EE735}"/>
              </a:ext>
            </a:extLst>
          </p:cNvPr>
          <p:cNvSpPr/>
          <p:nvPr/>
        </p:nvSpPr>
        <p:spPr>
          <a:xfrm>
            <a:off x="8376988" y="2196392"/>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F59E177-BE4D-4E62-9B3C-7A943D69709B}"/>
              </a:ext>
            </a:extLst>
          </p:cNvPr>
          <p:cNvSpPr/>
          <p:nvPr/>
        </p:nvSpPr>
        <p:spPr>
          <a:xfrm>
            <a:off x="8614066" y="2091536"/>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254DD99-2BEA-4110-B687-6D7CB256B356}"/>
              </a:ext>
            </a:extLst>
          </p:cNvPr>
          <p:cNvSpPr/>
          <p:nvPr/>
        </p:nvSpPr>
        <p:spPr>
          <a:xfrm>
            <a:off x="8614066" y="2197179"/>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7" name="Table 8">
            <a:extLst>
              <a:ext uri="{FF2B5EF4-FFF2-40B4-BE49-F238E27FC236}">
                <a16:creationId xmlns:a16="http://schemas.microsoft.com/office/drawing/2014/main" id="{64F77824-C089-47B9-ACAA-C42499309168}"/>
              </a:ext>
            </a:extLst>
          </p:cNvPr>
          <p:cNvGraphicFramePr>
            <a:graphicFrameLocks noGrp="1"/>
          </p:cNvGraphicFramePr>
          <p:nvPr>
            <p:extLst/>
          </p:nvPr>
        </p:nvGraphicFramePr>
        <p:xfrm>
          <a:off x="8369902" y="232593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0" name="Rectangle 129">
            <a:extLst>
              <a:ext uri="{FF2B5EF4-FFF2-40B4-BE49-F238E27FC236}">
                <a16:creationId xmlns:a16="http://schemas.microsoft.com/office/drawing/2014/main" id="{4A0509C9-8037-4917-98EC-B65D6EB3E993}"/>
              </a:ext>
            </a:extLst>
          </p:cNvPr>
          <p:cNvSpPr/>
          <p:nvPr/>
        </p:nvSpPr>
        <p:spPr>
          <a:xfrm>
            <a:off x="8375203" y="2325935"/>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941A7EEF-64DD-436B-9D3C-60A9FFA211FA}"/>
              </a:ext>
            </a:extLst>
          </p:cNvPr>
          <p:cNvSpPr/>
          <p:nvPr/>
        </p:nvSpPr>
        <p:spPr>
          <a:xfrm>
            <a:off x="8375203" y="2431578"/>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389E6949-7E8C-440A-A77B-B2D3EB1B47BF}"/>
              </a:ext>
            </a:extLst>
          </p:cNvPr>
          <p:cNvSpPr/>
          <p:nvPr/>
        </p:nvSpPr>
        <p:spPr>
          <a:xfrm>
            <a:off x="8612281" y="2326722"/>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5CAC754F-73F2-49B2-8875-88AFC3824429}"/>
              </a:ext>
            </a:extLst>
          </p:cNvPr>
          <p:cNvSpPr/>
          <p:nvPr/>
        </p:nvSpPr>
        <p:spPr>
          <a:xfrm>
            <a:off x="8612281" y="2432365"/>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41FE324E-9A19-45F5-A133-8311266468F9}"/>
              </a:ext>
            </a:extLst>
          </p:cNvPr>
          <p:cNvCxnSpPr>
            <a:cxnSpLocks/>
            <a:stCxn id="114" idx="0"/>
          </p:cNvCxnSpPr>
          <p:nvPr/>
        </p:nvCxnSpPr>
        <p:spPr>
          <a:xfrm flipV="1">
            <a:off x="8412473" y="2559617"/>
            <a:ext cx="74537" cy="232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35" name="Table 8">
            <a:extLst>
              <a:ext uri="{FF2B5EF4-FFF2-40B4-BE49-F238E27FC236}">
                <a16:creationId xmlns:a16="http://schemas.microsoft.com/office/drawing/2014/main" id="{E8D4CD0F-93F2-40C6-A13E-FD52DC3F2F2D}"/>
              </a:ext>
            </a:extLst>
          </p:cNvPr>
          <p:cNvGraphicFramePr>
            <a:graphicFrameLocks noGrp="1"/>
          </p:cNvGraphicFramePr>
          <p:nvPr>
            <p:extLst/>
          </p:nvPr>
        </p:nvGraphicFramePr>
        <p:xfrm>
          <a:off x="5470335" y="5470623"/>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6" name="Rectangle 135">
            <a:extLst>
              <a:ext uri="{FF2B5EF4-FFF2-40B4-BE49-F238E27FC236}">
                <a16:creationId xmlns:a16="http://schemas.microsoft.com/office/drawing/2014/main" id="{399F3CDC-E723-45C2-A93F-398C4D1F10B1}"/>
              </a:ext>
            </a:extLst>
          </p:cNvPr>
          <p:cNvSpPr/>
          <p:nvPr/>
        </p:nvSpPr>
        <p:spPr>
          <a:xfrm>
            <a:off x="5472061" y="5467970"/>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79C432B7-ACDD-41DA-A484-E693ECA6EAF4}"/>
              </a:ext>
            </a:extLst>
          </p:cNvPr>
          <p:cNvSpPr/>
          <p:nvPr/>
        </p:nvSpPr>
        <p:spPr>
          <a:xfrm>
            <a:off x="5472061" y="5573613"/>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BBB9029D-CB0D-4C04-9867-21F0FCFD56BB}"/>
              </a:ext>
            </a:extLst>
          </p:cNvPr>
          <p:cNvSpPr/>
          <p:nvPr/>
        </p:nvSpPr>
        <p:spPr>
          <a:xfrm>
            <a:off x="5709139" y="546875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7D536273-0C87-4216-B113-0AD9F2ACAA50}"/>
              </a:ext>
            </a:extLst>
          </p:cNvPr>
          <p:cNvSpPr/>
          <p:nvPr/>
        </p:nvSpPr>
        <p:spPr>
          <a:xfrm>
            <a:off x="5709139" y="557440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7" name="Table 8">
            <a:extLst>
              <a:ext uri="{FF2B5EF4-FFF2-40B4-BE49-F238E27FC236}">
                <a16:creationId xmlns:a16="http://schemas.microsoft.com/office/drawing/2014/main" id="{3F969495-6CA6-46D4-85CB-B59913E72DCB}"/>
              </a:ext>
            </a:extLst>
          </p:cNvPr>
          <p:cNvGraphicFramePr>
            <a:graphicFrameLocks noGrp="1"/>
          </p:cNvGraphicFramePr>
          <p:nvPr>
            <p:extLst/>
          </p:nvPr>
        </p:nvGraphicFramePr>
        <p:xfrm>
          <a:off x="5468550" y="5705809"/>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48" name="Rectangle 147">
            <a:extLst>
              <a:ext uri="{FF2B5EF4-FFF2-40B4-BE49-F238E27FC236}">
                <a16:creationId xmlns:a16="http://schemas.microsoft.com/office/drawing/2014/main" id="{898CA0A2-140C-4DFB-9267-CE74264D01C7}"/>
              </a:ext>
            </a:extLst>
          </p:cNvPr>
          <p:cNvSpPr/>
          <p:nvPr/>
        </p:nvSpPr>
        <p:spPr>
          <a:xfrm>
            <a:off x="5470276" y="5703156"/>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3BCC1D3F-8BD1-48E5-B1F2-62AC3965288F}"/>
              </a:ext>
            </a:extLst>
          </p:cNvPr>
          <p:cNvSpPr/>
          <p:nvPr/>
        </p:nvSpPr>
        <p:spPr>
          <a:xfrm>
            <a:off x="5470276" y="580879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48827B6B-A179-43E9-86AD-8E1C52942DE8}"/>
              </a:ext>
            </a:extLst>
          </p:cNvPr>
          <p:cNvSpPr/>
          <p:nvPr/>
        </p:nvSpPr>
        <p:spPr>
          <a:xfrm>
            <a:off x="5707354" y="570394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E5A4442E-AC95-408E-99AD-ACB8E9135388}"/>
              </a:ext>
            </a:extLst>
          </p:cNvPr>
          <p:cNvSpPr/>
          <p:nvPr/>
        </p:nvSpPr>
        <p:spPr>
          <a:xfrm>
            <a:off x="5707354" y="580958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2" name="Table 8">
            <a:extLst>
              <a:ext uri="{FF2B5EF4-FFF2-40B4-BE49-F238E27FC236}">
                <a16:creationId xmlns:a16="http://schemas.microsoft.com/office/drawing/2014/main" id="{8B2EEB3C-D5FE-488E-A69E-CCEA68AB9660}"/>
              </a:ext>
            </a:extLst>
          </p:cNvPr>
          <p:cNvGraphicFramePr>
            <a:graphicFrameLocks noGrp="1"/>
          </p:cNvGraphicFramePr>
          <p:nvPr>
            <p:extLst/>
          </p:nvPr>
        </p:nvGraphicFramePr>
        <p:xfrm>
          <a:off x="10113742" y="5440311"/>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53" name="Rectangle 152">
            <a:extLst>
              <a:ext uri="{FF2B5EF4-FFF2-40B4-BE49-F238E27FC236}">
                <a16:creationId xmlns:a16="http://schemas.microsoft.com/office/drawing/2014/main" id="{79ED1BEA-191F-4494-85F7-FAB4F6032521}"/>
              </a:ext>
            </a:extLst>
          </p:cNvPr>
          <p:cNvSpPr/>
          <p:nvPr/>
        </p:nvSpPr>
        <p:spPr>
          <a:xfrm>
            <a:off x="10116521" y="5566028"/>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D9F39416-244D-4374-9A6F-4D6F23C48647}"/>
              </a:ext>
            </a:extLst>
          </p:cNvPr>
          <p:cNvSpPr/>
          <p:nvPr/>
        </p:nvSpPr>
        <p:spPr>
          <a:xfrm>
            <a:off x="10365210" y="5451912"/>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2DF45FEA-F1D2-4616-9829-9C7C892960AA}"/>
              </a:ext>
            </a:extLst>
          </p:cNvPr>
          <p:cNvSpPr/>
          <p:nvPr/>
        </p:nvSpPr>
        <p:spPr>
          <a:xfrm>
            <a:off x="10353669" y="5558547"/>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4FC9579C-31CB-400F-B6B9-0B55FBAF51CA}"/>
              </a:ext>
            </a:extLst>
          </p:cNvPr>
          <p:cNvSpPr/>
          <p:nvPr/>
        </p:nvSpPr>
        <p:spPr>
          <a:xfrm>
            <a:off x="10101388" y="5445642"/>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7" name="Table 8">
            <a:extLst>
              <a:ext uri="{FF2B5EF4-FFF2-40B4-BE49-F238E27FC236}">
                <a16:creationId xmlns:a16="http://schemas.microsoft.com/office/drawing/2014/main" id="{398F63FC-753C-44C2-91A6-92FA47B2B42C}"/>
              </a:ext>
            </a:extLst>
          </p:cNvPr>
          <p:cNvGraphicFramePr>
            <a:graphicFrameLocks noGrp="1"/>
          </p:cNvGraphicFramePr>
          <p:nvPr>
            <p:extLst/>
          </p:nvPr>
        </p:nvGraphicFramePr>
        <p:xfrm>
          <a:off x="10111957" y="5675497"/>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58" name="Rectangle 157">
            <a:extLst>
              <a:ext uri="{FF2B5EF4-FFF2-40B4-BE49-F238E27FC236}">
                <a16:creationId xmlns:a16="http://schemas.microsoft.com/office/drawing/2014/main" id="{E80DF0AC-FD00-45BC-9C9F-3DFD93A3F640}"/>
              </a:ext>
            </a:extLst>
          </p:cNvPr>
          <p:cNvSpPr/>
          <p:nvPr/>
        </p:nvSpPr>
        <p:spPr>
          <a:xfrm>
            <a:off x="10114736" y="5801214"/>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0F0B057A-7C08-4F10-B12F-D6848F84B70E}"/>
              </a:ext>
            </a:extLst>
          </p:cNvPr>
          <p:cNvSpPr/>
          <p:nvPr/>
        </p:nvSpPr>
        <p:spPr>
          <a:xfrm>
            <a:off x="10363425" y="5687098"/>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6313D7C5-A8B8-4EA1-8623-2F53DE7E4A9E}"/>
              </a:ext>
            </a:extLst>
          </p:cNvPr>
          <p:cNvSpPr/>
          <p:nvPr/>
        </p:nvSpPr>
        <p:spPr>
          <a:xfrm>
            <a:off x="10351884" y="5793733"/>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7D093ECA-EF8F-4149-ABE7-B32875FB5702}"/>
              </a:ext>
            </a:extLst>
          </p:cNvPr>
          <p:cNvSpPr/>
          <p:nvPr/>
        </p:nvSpPr>
        <p:spPr>
          <a:xfrm>
            <a:off x="10099603" y="5680828"/>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506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84" name="Content Placeholder 2">
                <a:extLst>
                  <a:ext uri="{FF2B5EF4-FFF2-40B4-BE49-F238E27FC236}">
                    <a16:creationId xmlns:a16="http://schemas.microsoft.com/office/drawing/2014/main" id="{9C3AFD75-A51D-466A-8E40-331F4329670B}"/>
                  </a:ext>
                </a:extLst>
              </p:cNvPr>
              <p:cNvSpPr>
                <a:spLocks noGrp="1"/>
              </p:cNvSpPr>
              <p:nvPr>
                <p:ph idx="1"/>
              </p:nvPr>
            </p:nvSpPr>
            <p:spPr>
              <a:xfrm>
                <a:off x="798263" y="1602082"/>
                <a:ext cx="6730240" cy="5346602"/>
              </a:xfrm>
            </p:spPr>
            <p:txBody>
              <a:bodyPr>
                <a:normAutofit/>
              </a:bodyPr>
              <a:lstStyle/>
              <a:p>
                <a:r>
                  <a:rPr lang="en-US" dirty="0"/>
                  <a:t>Each party “Encrypts” their data</a:t>
                </a:r>
                <a:r>
                  <a:rPr lang="en-US" b="1" dirty="0"/>
                  <a:t> </a:t>
                </a:r>
                <a14:m>
                  <m:oMath xmlns:m="http://schemas.openxmlformats.org/officeDocument/2006/math">
                    <m:r>
                      <a:rPr lang="en-US" b="1" i="1" smtClean="0">
                        <a:latin typeface="Cambria Math" panose="02040503050406030204" pitchFamily="18" charset="0"/>
                      </a:rPr>
                      <m:t>𝒙</m:t>
                    </m:r>
                  </m:oMath>
                </a14:m>
                <a:r>
                  <a:rPr lang="en-US" dirty="0"/>
                  <a:t> such that</a:t>
                </a:r>
                <a:br>
                  <a:rPr lang="en-US" dirty="0"/>
                </a:b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oMath>
                </a14:m>
                <a:br>
                  <a:rPr lang="en-US" b="0" dirty="0"/>
                </a:b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r>
                      <a:rPr lang="en-US" b="0" i="1" smtClean="0">
                        <a:latin typeface="Cambria Math" panose="02040503050406030204" pitchFamily="18" charset="0"/>
                      </a:rPr>
                      <m:t>)</m:t>
                    </m:r>
                  </m:oMath>
                </a14:m>
                <a:endParaRPr lang="en-US" b="0" dirty="0"/>
              </a:p>
              <a:p>
                <a:pPr lvl="1"/>
                <a:endParaRPr lang="en-US" dirty="0"/>
              </a:p>
              <a:p>
                <a:r>
                  <a:rPr lang="en-US" dirty="0"/>
                  <a:t>Possible to compute any function / circuit </a:t>
                </a:r>
                <a:br>
                  <a:rPr lang="en-US" dirty="0"/>
                </a:br>
                <a:r>
                  <a:rPr lang="en-US" dirty="0"/>
                  <a:t>in this format</a:t>
                </a:r>
              </a:p>
              <a:p>
                <a:pPr marL="457177" lvl="1" indent="0">
                  <a:buNone/>
                </a:pPr>
                <a:endParaRPr lang="en-US" dirty="0"/>
              </a:p>
            </p:txBody>
          </p:sp>
        </mc:Choice>
        <mc:Fallback>
          <p:sp>
            <p:nvSpPr>
              <p:cNvPr id="284" name="Content Placeholder 2">
                <a:extLst>
                  <a:ext uri="{FF2B5EF4-FFF2-40B4-BE49-F238E27FC236}">
                    <a16:creationId xmlns:a16="http://schemas.microsoft.com/office/drawing/2014/main" id="{9C3AFD75-A51D-466A-8E40-331F4329670B}"/>
                  </a:ext>
                </a:extLst>
              </p:cNvPr>
              <p:cNvSpPr>
                <a:spLocks noGrp="1" noRot="1" noChangeAspect="1" noMove="1" noResize="1" noEditPoints="1" noAdjustHandles="1" noChangeArrowheads="1" noChangeShapeType="1" noTextEdit="1"/>
              </p:cNvSpPr>
              <p:nvPr>
                <p:ph idx="1"/>
              </p:nvPr>
            </p:nvSpPr>
            <p:spPr>
              <a:xfrm>
                <a:off x="798263" y="1602082"/>
                <a:ext cx="6730240" cy="5346602"/>
              </a:xfrm>
              <a:blipFill>
                <a:blip r:embed="rId2"/>
                <a:stretch>
                  <a:fillRect l="-1268" t="-228"/>
                </a:stretch>
              </a:blipFill>
            </p:spPr>
            <p:txBody>
              <a:bodyPr/>
              <a:lstStyle/>
              <a:p>
                <a:r>
                  <a:rPr lang="en-US">
                    <a:noFill/>
                  </a:rPr>
                  <a:t> </a:t>
                </a:r>
              </a:p>
            </p:txBody>
          </p:sp>
        </mc:Fallback>
      </mc:AlternateContent>
      <p:graphicFrame>
        <p:nvGraphicFramePr>
          <p:cNvPr id="44" name="Table 8">
            <a:extLst>
              <a:ext uri="{FF2B5EF4-FFF2-40B4-BE49-F238E27FC236}">
                <a16:creationId xmlns:a16="http://schemas.microsoft.com/office/drawing/2014/main" id="{AA94607A-FC68-414D-9B30-FD086778AE7C}"/>
              </a:ext>
            </a:extLst>
          </p:cNvPr>
          <p:cNvGraphicFramePr>
            <a:graphicFrameLocks noGrp="1"/>
          </p:cNvGraphicFramePr>
          <p:nvPr>
            <p:extLst/>
          </p:nvPr>
        </p:nvGraphicFramePr>
        <p:xfrm>
          <a:off x="4976202" y="5470589"/>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2" name="Title 1">
            <a:extLst>
              <a:ext uri="{FF2B5EF4-FFF2-40B4-BE49-F238E27FC236}">
                <a16:creationId xmlns:a16="http://schemas.microsoft.com/office/drawing/2014/main" id="{8750494D-C6FC-42A4-BA19-B6DC517317B5}"/>
              </a:ext>
            </a:extLst>
          </p:cNvPr>
          <p:cNvSpPr>
            <a:spLocks noGrp="1"/>
          </p:cNvSpPr>
          <p:nvPr>
            <p:ph type="title"/>
          </p:nvPr>
        </p:nvSpPr>
        <p:spPr>
          <a:xfrm>
            <a:off x="1451581" y="526148"/>
            <a:ext cx="9603275" cy="1049235"/>
          </a:xfrm>
        </p:spPr>
        <p:txBody>
          <a:bodyPr/>
          <a:lstStyle/>
          <a:p>
            <a:r>
              <a:rPr lang="en-US" dirty="0"/>
              <a:t>Always Encrypted</a:t>
            </a:r>
          </a:p>
        </p:txBody>
      </p:sp>
      <p:graphicFrame>
        <p:nvGraphicFramePr>
          <p:cNvPr id="28" name="Table 8">
            <a:extLst>
              <a:ext uri="{FF2B5EF4-FFF2-40B4-BE49-F238E27FC236}">
                <a16:creationId xmlns:a16="http://schemas.microsoft.com/office/drawing/2014/main" id="{CFCB7C49-97C8-42AB-A80C-4CF153660473}"/>
              </a:ext>
            </a:extLst>
          </p:cNvPr>
          <p:cNvGraphicFramePr>
            <a:graphicFrameLocks noGrp="1"/>
          </p:cNvGraphicFramePr>
          <p:nvPr>
            <p:extLst/>
          </p:nvPr>
        </p:nvGraphicFramePr>
        <p:xfrm>
          <a:off x="4980957" y="5475923"/>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pic>
        <p:nvPicPr>
          <p:cNvPr id="30" name="Picture 2" descr="http://mahdiz.com/images/visaresearch.png">
            <a:extLst>
              <a:ext uri="{FF2B5EF4-FFF2-40B4-BE49-F238E27FC236}">
                <a16:creationId xmlns:a16="http://schemas.microsoft.com/office/drawing/2014/main" id="{8266D8DF-205D-45CB-BA19-E32AC273E71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059350" y="1575383"/>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descr="Image result for amazon icon">
            <a:extLst>
              <a:ext uri="{FF2B5EF4-FFF2-40B4-BE49-F238E27FC236}">
                <a16:creationId xmlns:a16="http://schemas.microsoft.com/office/drawing/2014/main" id="{58327AE0-5023-4D2D-8E80-9711EF0C442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9628929" y="4563920"/>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2" descr="Image result for bank of america">
            <a:extLst>
              <a:ext uri="{FF2B5EF4-FFF2-40B4-BE49-F238E27FC236}">
                <a16:creationId xmlns:a16="http://schemas.microsoft.com/office/drawing/2014/main" id="{27635A13-4E11-4CEA-AF84-DFDDAF9B9E77}"/>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4529769" y="4621370"/>
            <a:ext cx="2231395" cy="10109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5" name="Table 8">
            <a:extLst>
              <a:ext uri="{FF2B5EF4-FFF2-40B4-BE49-F238E27FC236}">
                <a16:creationId xmlns:a16="http://schemas.microsoft.com/office/drawing/2014/main" id="{4B6AFBDB-2F90-4D33-AA43-5697FDBEA318}"/>
              </a:ext>
            </a:extLst>
          </p:cNvPr>
          <p:cNvGraphicFramePr>
            <a:graphicFrameLocks noGrp="1"/>
          </p:cNvGraphicFramePr>
          <p:nvPr>
            <p:extLst/>
          </p:nvPr>
        </p:nvGraphicFramePr>
        <p:xfrm>
          <a:off x="9627859" y="5437735"/>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graphicFrame>
        <p:nvGraphicFramePr>
          <p:cNvPr id="46" name="Table 8">
            <a:extLst>
              <a:ext uri="{FF2B5EF4-FFF2-40B4-BE49-F238E27FC236}">
                <a16:creationId xmlns:a16="http://schemas.microsoft.com/office/drawing/2014/main" id="{63988EE9-5226-4B64-9E4C-A2ED51A4760D}"/>
              </a:ext>
            </a:extLst>
          </p:cNvPr>
          <p:cNvGraphicFramePr>
            <a:graphicFrameLocks noGrp="1"/>
          </p:cNvGraphicFramePr>
          <p:nvPr>
            <p:extLst/>
          </p:nvPr>
        </p:nvGraphicFramePr>
        <p:xfrm>
          <a:off x="7889691" y="2092687"/>
          <a:ext cx="1448172" cy="46736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119775359"/>
                    </a:ext>
                  </a:extLst>
                </a:gridCol>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gridCol w="241362">
                  <a:extLst>
                    <a:ext uri="{9D8B030D-6E8A-4147-A177-3AD203B41FA5}">
                      <a16:colId xmlns:a16="http://schemas.microsoft.com/office/drawing/2014/main" val="4045204508"/>
                    </a:ext>
                  </a:extLst>
                </a:gridCol>
                <a:gridCol w="241362">
                  <a:extLst>
                    <a:ext uri="{9D8B030D-6E8A-4147-A177-3AD203B41FA5}">
                      <a16:colId xmlns:a16="http://schemas.microsoft.com/office/drawing/2014/main" val="1757353230"/>
                    </a:ext>
                  </a:extLst>
                </a:gridCol>
                <a:gridCol w="241362">
                  <a:extLst>
                    <a:ext uri="{9D8B030D-6E8A-4147-A177-3AD203B41FA5}">
                      <a16:colId xmlns:a16="http://schemas.microsoft.com/office/drawing/2014/main" val="1483445754"/>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3697675217"/>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985849122"/>
                  </a:ext>
                </a:extLst>
              </a:tr>
            </a:tbl>
          </a:graphicData>
        </a:graphic>
      </p:graphicFrame>
      <p:sp>
        <p:nvSpPr>
          <p:cNvPr id="51" name="Rectangle 50">
            <a:extLst>
              <a:ext uri="{FF2B5EF4-FFF2-40B4-BE49-F238E27FC236}">
                <a16:creationId xmlns:a16="http://schemas.microsoft.com/office/drawing/2014/main" id="{41A0213A-C40B-4A32-99C3-F06983C271CE}"/>
              </a:ext>
            </a:extLst>
          </p:cNvPr>
          <p:cNvSpPr/>
          <p:nvPr/>
        </p:nvSpPr>
        <p:spPr>
          <a:xfrm>
            <a:off x="4980241" y="5470606"/>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76EEFF6-79A4-4BDC-BF2C-19AF1525A7DB}"/>
              </a:ext>
            </a:extLst>
          </p:cNvPr>
          <p:cNvSpPr/>
          <p:nvPr/>
        </p:nvSpPr>
        <p:spPr>
          <a:xfrm>
            <a:off x="4980241" y="557624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3DAF8B2-CA57-416B-971C-5ED3D745E439}"/>
              </a:ext>
            </a:extLst>
          </p:cNvPr>
          <p:cNvSpPr/>
          <p:nvPr/>
        </p:nvSpPr>
        <p:spPr>
          <a:xfrm>
            <a:off x="4978460" y="5701853"/>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9052B37-C6BE-4A59-9ADC-FBDB80447C13}"/>
              </a:ext>
            </a:extLst>
          </p:cNvPr>
          <p:cNvSpPr/>
          <p:nvPr/>
        </p:nvSpPr>
        <p:spPr>
          <a:xfrm>
            <a:off x="4978460" y="5813149"/>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33D2D59-AC7F-4AD5-95B2-25EC8F6A44F5}"/>
              </a:ext>
            </a:extLst>
          </p:cNvPr>
          <p:cNvSpPr/>
          <p:nvPr/>
        </p:nvSpPr>
        <p:spPr>
          <a:xfrm>
            <a:off x="5217319" y="5471393"/>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EAF9968-A8A9-4CCD-8DC6-C67F30371307}"/>
              </a:ext>
            </a:extLst>
          </p:cNvPr>
          <p:cNvSpPr/>
          <p:nvPr/>
        </p:nvSpPr>
        <p:spPr>
          <a:xfrm>
            <a:off x="5217319" y="557703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6DAF06D-4D41-4F5E-8B55-1101A7A725E1}"/>
              </a:ext>
            </a:extLst>
          </p:cNvPr>
          <p:cNvSpPr/>
          <p:nvPr/>
        </p:nvSpPr>
        <p:spPr>
          <a:xfrm>
            <a:off x="5215538" y="5702640"/>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FB20890-E611-4727-8838-029A138465C7}"/>
              </a:ext>
            </a:extLst>
          </p:cNvPr>
          <p:cNvSpPr/>
          <p:nvPr/>
        </p:nvSpPr>
        <p:spPr>
          <a:xfrm>
            <a:off x="5215538" y="5813936"/>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CAE3B4ED-D199-411F-8032-53F3FCA03B8E}"/>
              </a:ext>
            </a:extLst>
          </p:cNvPr>
          <p:cNvSpPr/>
          <p:nvPr/>
        </p:nvSpPr>
        <p:spPr>
          <a:xfrm>
            <a:off x="7889778" y="2098760"/>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2BD38CB5-4D37-451E-8FAA-D0FF13FE7D7C}"/>
              </a:ext>
            </a:extLst>
          </p:cNvPr>
          <p:cNvSpPr/>
          <p:nvPr/>
        </p:nvSpPr>
        <p:spPr>
          <a:xfrm>
            <a:off x="7889778" y="2204403"/>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20C7E40-2410-4705-9263-362F7EC57C11}"/>
              </a:ext>
            </a:extLst>
          </p:cNvPr>
          <p:cNvSpPr/>
          <p:nvPr/>
        </p:nvSpPr>
        <p:spPr>
          <a:xfrm>
            <a:off x="7887997" y="2330007"/>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C26880A-3D90-4C27-B05A-8DA90B5F9261}"/>
              </a:ext>
            </a:extLst>
          </p:cNvPr>
          <p:cNvSpPr/>
          <p:nvPr/>
        </p:nvSpPr>
        <p:spPr>
          <a:xfrm>
            <a:off x="7887997" y="2441303"/>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F731BBD-32B8-4738-B6B3-83012F0E650C}"/>
              </a:ext>
            </a:extLst>
          </p:cNvPr>
          <p:cNvSpPr/>
          <p:nvPr/>
        </p:nvSpPr>
        <p:spPr>
          <a:xfrm>
            <a:off x="8126856" y="209954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E117119-C6AC-4573-B98F-0E2E23586925}"/>
              </a:ext>
            </a:extLst>
          </p:cNvPr>
          <p:cNvSpPr/>
          <p:nvPr/>
        </p:nvSpPr>
        <p:spPr>
          <a:xfrm>
            <a:off x="8126856" y="220519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94EA755-559B-445A-AD90-C03A9828F515}"/>
              </a:ext>
            </a:extLst>
          </p:cNvPr>
          <p:cNvSpPr/>
          <p:nvPr/>
        </p:nvSpPr>
        <p:spPr>
          <a:xfrm>
            <a:off x="8125075" y="2330794"/>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790AB8-99F7-4B3C-919A-CD45768D6FD9}"/>
              </a:ext>
            </a:extLst>
          </p:cNvPr>
          <p:cNvSpPr/>
          <p:nvPr/>
        </p:nvSpPr>
        <p:spPr>
          <a:xfrm>
            <a:off x="8125075" y="2442090"/>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33726939-8E4B-4581-8456-C244D56AB040}"/>
              </a:ext>
            </a:extLst>
          </p:cNvPr>
          <p:cNvSpPr/>
          <p:nvPr/>
        </p:nvSpPr>
        <p:spPr>
          <a:xfrm>
            <a:off x="9873495" y="5682251"/>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5474DFA5-A91F-4B5D-AC62-7EE2FE5B71B9}"/>
              </a:ext>
            </a:extLst>
          </p:cNvPr>
          <p:cNvSpPr/>
          <p:nvPr/>
        </p:nvSpPr>
        <p:spPr>
          <a:xfrm>
            <a:off x="9632008" y="5557259"/>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39FE9C82-C04F-487B-8E2F-F4912C1A924E}"/>
              </a:ext>
            </a:extLst>
          </p:cNvPr>
          <p:cNvSpPr/>
          <p:nvPr/>
        </p:nvSpPr>
        <p:spPr>
          <a:xfrm>
            <a:off x="9867322" y="5779202"/>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9BDA4A35-3B77-4BA1-A673-E18BE0B46390}"/>
              </a:ext>
            </a:extLst>
          </p:cNvPr>
          <p:cNvSpPr/>
          <p:nvPr/>
        </p:nvSpPr>
        <p:spPr>
          <a:xfrm>
            <a:off x="9880697" y="5443143"/>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BE7F07D-0176-454C-91B6-29D93D2DE32E}"/>
              </a:ext>
            </a:extLst>
          </p:cNvPr>
          <p:cNvSpPr/>
          <p:nvPr/>
        </p:nvSpPr>
        <p:spPr>
          <a:xfrm>
            <a:off x="9869156" y="5549778"/>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444CACA1-C0CC-42BA-B8ED-F5D6B7F95192}"/>
              </a:ext>
            </a:extLst>
          </p:cNvPr>
          <p:cNvSpPr/>
          <p:nvPr/>
        </p:nvSpPr>
        <p:spPr>
          <a:xfrm>
            <a:off x="9632820" y="577189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617A09EE-5BBC-4E39-B07C-491950ACE550}"/>
              </a:ext>
            </a:extLst>
          </p:cNvPr>
          <p:cNvSpPr/>
          <p:nvPr/>
        </p:nvSpPr>
        <p:spPr>
          <a:xfrm>
            <a:off x="9642557" y="5681757"/>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C4596C93-FE4D-47EF-8419-E22BFF621BE1}"/>
              </a:ext>
            </a:extLst>
          </p:cNvPr>
          <p:cNvSpPr/>
          <p:nvPr/>
        </p:nvSpPr>
        <p:spPr>
          <a:xfrm>
            <a:off x="9616875" y="543687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6A117F88-7C5C-44BC-ADA8-6388FC3AF1E6}"/>
              </a:ext>
            </a:extLst>
          </p:cNvPr>
          <p:cNvSpPr/>
          <p:nvPr/>
        </p:nvSpPr>
        <p:spPr>
          <a:xfrm>
            <a:off x="5945631" y="5488872"/>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D5933408-95C9-4191-89DD-8C55F54B617C}"/>
              </a:ext>
            </a:extLst>
          </p:cNvPr>
          <p:cNvSpPr/>
          <p:nvPr/>
        </p:nvSpPr>
        <p:spPr>
          <a:xfrm>
            <a:off x="5945631" y="5594515"/>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99A9FB4E-4E74-476D-B35D-CE96E5294932}"/>
              </a:ext>
            </a:extLst>
          </p:cNvPr>
          <p:cNvSpPr/>
          <p:nvPr/>
        </p:nvSpPr>
        <p:spPr>
          <a:xfrm>
            <a:off x="5943850" y="5720119"/>
            <a:ext cx="234216" cy="116274"/>
          </a:xfrm>
          <a:prstGeom prst="rect">
            <a:avLst/>
          </a:prstGeom>
          <a:solidFill>
            <a:srgbClr val="B71E42">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E45AFCFC-D714-47D7-A4A0-429E1E6C1015}"/>
              </a:ext>
            </a:extLst>
          </p:cNvPr>
          <p:cNvSpPr/>
          <p:nvPr/>
        </p:nvSpPr>
        <p:spPr>
          <a:xfrm>
            <a:off x="5943850" y="5831415"/>
            <a:ext cx="234216" cy="116274"/>
          </a:xfrm>
          <a:prstGeom prst="rect">
            <a:avLst/>
          </a:prstGeom>
          <a:solidFill>
            <a:srgbClr val="7030A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44D25F72-A8A9-4D6A-9831-7B25C9BDB531}"/>
              </a:ext>
            </a:extLst>
          </p:cNvPr>
          <p:cNvSpPr/>
          <p:nvPr/>
        </p:nvSpPr>
        <p:spPr>
          <a:xfrm>
            <a:off x="6182709" y="5489659"/>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DC6AC02D-4B54-4061-A539-B67313959977}"/>
              </a:ext>
            </a:extLst>
          </p:cNvPr>
          <p:cNvSpPr/>
          <p:nvPr/>
        </p:nvSpPr>
        <p:spPr>
          <a:xfrm>
            <a:off x="6182709" y="5595302"/>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C8AB33D-6DE8-4F2F-872E-094DF09EE538}"/>
              </a:ext>
            </a:extLst>
          </p:cNvPr>
          <p:cNvSpPr/>
          <p:nvPr/>
        </p:nvSpPr>
        <p:spPr>
          <a:xfrm>
            <a:off x="6180928" y="5720906"/>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DF6CF24E-A903-4C42-AD35-40D25ED3614D}"/>
              </a:ext>
            </a:extLst>
          </p:cNvPr>
          <p:cNvSpPr/>
          <p:nvPr/>
        </p:nvSpPr>
        <p:spPr>
          <a:xfrm>
            <a:off x="6180928" y="5832202"/>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664357BF-B4FE-46B7-AD9E-385A5D57D88D}"/>
              </a:ext>
            </a:extLst>
          </p:cNvPr>
          <p:cNvSpPr/>
          <p:nvPr/>
        </p:nvSpPr>
        <p:spPr>
          <a:xfrm>
            <a:off x="10600243" y="5446651"/>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1187C75C-ECB3-4C33-BB9F-9D8E5633B4D0}"/>
              </a:ext>
            </a:extLst>
          </p:cNvPr>
          <p:cNvSpPr/>
          <p:nvPr/>
        </p:nvSpPr>
        <p:spPr>
          <a:xfrm>
            <a:off x="10600243" y="5552294"/>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9E6E5199-CB1C-4527-B455-D1C1D25A01A9}"/>
              </a:ext>
            </a:extLst>
          </p:cNvPr>
          <p:cNvSpPr/>
          <p:nvPr/>
        </p:nvSpPr>
        <p:spPr>
          <a:xfrm>
            <a:off x="10598462" y="5677898"/>
            <a:ext cx="234216" cy="116274"/>
          </a:xfrm>
          <a:prstGeom prst="rect">
            <a:avLst/>
          </a:prstGeom>
          <a:solidFill>
            <a:schemeClr val="tx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5B3F6E74-4660-49EC-9F39-115E4718A3E0}"/>
              </a:ext>
            </a:extLst>
          </p:cNvPr>
          <p:cNvSpPr/>
          <p:nvPr/>
        </p:nvSpPr>
        <p:spPr>
          <a:xfrm>
            <a:off x="10598462" y="5789194"/>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EAEAA41-AEA5-4EA2-9F9F-89FB1F1F55E8}"/>
              </a:ext>
            </a:extLst>
          </p:cNvPr>
          <p:cNvSpPr/>
          <p:nvPr/>
        </p:nvSpPr>
        <p:spPr>
          <a:xfrm>
            <a:off x="10837321" y="5447438"/>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B06FA891-04FB-489E-AA55-BD19AF136473}"/>
              </a:ext>
            </a:extLst>
          </p:cNvPr>
          <p:cNvSpPr/>
          <p:nvPr/>
        </p:nvSpPr>
        <p:spPr>
          <a:xfrm>
            <a:off x="10837321" y="5553081"/>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EAD7E971-4BAC-473B-8A83-0750FCF4BCEE}"/>
              </a:ext>
            </a:extLst>
          </p:cNvPr>
          <p:cNvSpPr/>
          <p:nvPr/>
        </p:nvSpPr>
        <p:spPr>
          <a:xfrm>
            <a:off x="10835540" y="5678685"/>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79CED9C0-4080-4BE0-9842-DC526D7193D9}"/>
              </a:ext>
            </a:extLst>
          </p:cNvPr>
          <p:cNvSpPr/>
          <p:nvPr/>
        </p:nvSpPr>
        <p:spPr>
          <a:xfrm>
            <a:off x="10835540" y="5789981"/>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92E80C1C-3D16-437F-B64F-115752C3D70C}"/>
              </a:ext>
            </a:extLst>
          </p:cNvPr>
          <p:cNvSpPr/>
          <p:nvPr/>
        </p:nvSpPr>
        <p:spPr>
          <a:xfrm>
            <a:off x="9098082" y="2334627"/>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00797504-82BB-418C-8682-77DE8C607AB4}"/>
              </a:ext>
            </a:extLst>
          </p:cNvPr>
          <p:cNvSpPr/>
          <p:nvPr/>
        </p:nvSpPr>
        <p:spPr>
          <a:xfrm>
            <a:off x="8856595" y="2209635"/>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56991721-AEF0-4D29-A903-E114970D36C7}"/>
              </a:ext>
            </a:extLst>
          </p:cNvPr>
          <p:cNvSpPr/>
          <p:nvPr/>
        </p:nvSpPr>
        <p:spPr>
          <a:xfrm>
            <a:off x="9091909" y="2431578"/>
            <a:ext cx="234216" cy="116274"/>
          </a:xfrm>
          <a:prstGeom prst="rect">
            <a:avLst/>
          </a:prstGeom>
          <a:solidFill>
            <a:schemeClr val="accent2">
              <a:lumMod val="40000"/>
              <a:lumOff val="60000"/>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74A2B658-C9D5-4EAE-A898-2C544ED1971F}"/>
              </a:ext>
            </a:extLst>
          </p:cNvPr>
          <p:cNvSpPr/>
          <p:nvPr/>
        </p:nvSpPr>
        <p:spPr>
          <a:xfrm>
            <a:off x="9105284" y="2095519"/>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2CDA4A73-5F66-4FF2-BA98-29295A16743C}"/>
              </a:ext>
            </a:extLst>
          </p:cNvPr>
          <p:cNvSpPr/>
          <p:nvPr/>
        </p:nvSpPr>
        <p:spPr>
          <a:xfrm>
            <a:off x="9093743" y="2202154"/>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F163CCCE-9173-4FF6-94FB-A4F4F2ACE8B9}"/>
              </a:ext>
            </a:extLst>
          </p:cNvPr>
          <p:cNvSpPr/>
          <p:nvPr/>
        </p:nvSpPr>
        <p:spPr>
          <a:xfrm>
            <a:off x="8857407" y="2413992"/>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7AD29DCE-FBC1-4B17-8DD7-CA4B22BC76D0}"/>
              </a:ext>
            </a:extLst>
          </p:cNvPr>
          <p:cNvSpPr/>
          <p:nvPr/>
        </p:nvSpPr>
        <p:spPr>
          <a:xfrm>
            <a:off x="8867144" y="2334133"/>
            <a:ext cx="234216" cy="116274"/>
          </a:xfrm>
          <a:prstGeom prst="rect">
            <a:avLst/>
          </a:prstGeom>
          <a:solidFill>
            <a:srgbClr val="2828E7">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4E07A6AC-4141-4C4D-9A34-936860292F4E}"/>
              </a:ext>
            </a:extLst>
          </p:cNvPr>
          <p:cNvSpPr/>
          <p:nvPr/>
        </p:nvSpPr>
        <p:spPr>
          <a:xfrm>
            <a:off x="8841462" y="2089249"/>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9800674A-86DE-4DC2-9357-29AD3DC8ED88}"/>
              </a:ext>
            </a:extLst>
          </p:cNvPr>
          <p:cNvSpPr/>
          <p:nvPr/>
        </p:nvSpPr>
        <p:spPr>
          <a:xfrm>
            <a:off x="8369902" y="2079717"/>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C974E55C-EABB-4E2B-81FA-8C6FE56EE735}"/>
              </a:ext>
            </a:extLst>
          </p:cNvPr>
          <p:cNvSpPr/>
          <p:nvPr/>
        </p:nvSpPr>
        <p:spPr>
          <a:xfrm>
            <a:off x="8376988" y="2196392"/>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F59E177-BE4D-4E62-9B3C-7A943D69709B}"/>
              </a:ext>
            </a:extLst>
          </p:cNvPr>
          <p:cNvSpPr/>
          <p:nvPr/>
        </p:nvSpPr>
        <p:spPr>
          <a:xfrm>
            <a:off x="8614066" y="2091536"/>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B254DD99-2BEA-4110-B687-6D7CB256B356}"/>
              </a:ext>
            </a:extLst>
          </p:cNvPr>
          <p:cNvSpPr/>
          <p:nvPr/>
        </p:nvSpPr>
        <p:spPr>
          <a:xfrm>
            <a:off x="8614066" y="2197179"/>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7" name="Table 8">
            <a:extLst>
              <a:ext uri="{FF2B5EF4-FFF2-40B4-BE49-F238E27FC236}">
                <a16:creationId xmlns:a16="http://schemas.microsoft.com/office/drawing/2014/main" id="{64F77824-C089-47B9-ACAA-C42499309168}"/>
              </a:ext>
            </a:extLst>
          </p:cNvPr>
          <p:cNvGraphicFramePr>
            <a:graphicFrameLocks noGrp="1"/>
          </p:cNvGraphicFramePr>
          <p:nvPr>
            <p:extLst/>
          </p:nvPr>
        </p:nvGraphicFramePr>
        <p:xfrm>
          <a:off x="8369902" y="2325935"/>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0" name="Rectangle 129">
            <a:extLst>
              <a:ext uri="{FF2B5EF4-FFF2-40B4-BE49-F238E27FC236}">
                <a16:creationId xmlns:a16="http://schemas.microsoft.com/office/drawing/2014/main" id="{4A0509C9-8037-4917-98EC-B65D6EB3E993}"/>
              </a:ext>
            </a:extLst>
          </p:cNvPr>
          <p:cNvSpPr/>
          <p:nvPr/>
        </p:nvSpPr>
        <p:spPr>
          <a:xfrm>
            <a:off x="8375203" y="2325935"/>
            <a:ext cx="234216" cy="116274"/>
          </a:xfrm>
          <a:prstGeom prst="rect">
            <a:avLst/>
          </a:prstGeom>
          <a:solidFill>
            <a:schemeClr val="accent4">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941A7EEF-64DD-436B-9D3C-60A9FFA211FA}"/>
              </a:ext>
            </a:extLst>
          </p:cNvPr>
          <p:cNvSpPr/>
          <p:nvPr/>
        </p:nvSpPr>
        <p:spPr>
          <a:xfrm>
            <a:off x="8375203" y="2431578"/>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389E6949-7E8C-440A-A77B-B2D3EB1B47BF}"/>
              </a:ext>
            </a:extLst>
          </p:cNvPr>
          <p:cNvSpPr/>
          <p:nvPr/>
        </p:nvSpPr>
        <p:spPr>
          <a:xfrm>
            <a:off x="8612281" y="2326722"/>
            <a:ext cx="234216" cy="116274"/>
          </a:xfrm>
          <a:prstGeom prst="rect">
            <a:avLst/>
          </a:prstGeom>
          <a:solidFill>
            <a:srgbClr val="00206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5CAC754F-73F2-49B2-8875-88AFC3824429}"/>
              </a:ext>
            </a:extLst>
          </p:cNvPr>
          <p:cNvSpPr/>
          <p:nvPr/>
        </p:nvSpPr>
        <p:spPr>
          <a:xfrm>
            <a:off x="8612281" y="2432365"/>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5" name="Table 8">
            <a:extLst>
              <a:ext uri="{FF2B5EF4-FFF2-40B4-BE49-F238E27FC236}">
                <a16:creationId xmlns:a16="http://schemas.microsoft.com/office/drawing/2014/main" id="{E8D4CD0F-93F2-40C6-A13E-FD52DC3F2F2D}"/>
              </a:ext>
            </a:extLst>
          </p:cNvPr>
          <p:cNvGraphicFramePr>
            <a:graphicFrameLocks noGrp="1"/>
          </p:cNvGraphicFramePr>
          <p:nvPr>
            <p:extLst/>
          </p:nvPr>
        </p:nvGraphicFramePr>
        <p:xfrm>
          <a:off x="5470335" y="5470623"/>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36" name="Rectangle 135">
            <a:extLst>
              <a:ext uri="{FF2B5EF4-FFF2-40B4-BE49-F238E27FC236}">
                <a16:creationId xmlns:a16="http://schemas.microsoft.com/office/drawing/2014/main" id="{399F3CDC-E723-45C2-A93F-398C4D1F10B1}"/>
              </a:ext>
            </a:extLst>
          </p:cNvPr>
          <p:cNvSpPr/>
          <p:nvPr/>
        </p:nvSpPr>
        <p:spPr>
          <a:xfrm>
            <a:off x="5472061" y="5467970"/>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79C432B7-ACDD-41DA-A484-E693ECA6EAF4}"/>
              </a:ext>
            </a:extLst>
          </p:cNvPr>
          <p:cNvSpPr/>
          <p:nvPr/>
        </p:nvSpPr>
        <p:spPr>
          <a:xfrm>
            <a:off x="5472061" y="5573613"/>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BBB9029D-CB0D-4C04-9867-21F0FCFD56BB}"/>
              </a:ext>
            </a:extLst>
          </p:cNvPr>
          <p:cNvSpPr/>
          <p:nvPr/>
        </p:nvSpPr>
        <p:spPr>
          <a:xfrm>
            <a:off x="5709139" y="5468757"/>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7D536273-0C87-4216-B113-0AD9F2ACAA50}"/>
              </a:ext>
            </a:extLst>
          </p:cNvPr>
          <p:cNvSpPr/>
          <p:nvPr/>
        </p:nvSpPr>
        <p:spPr>
          <a:xfrm>
            <a:off x="5709139" y="5574400"/>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898CA0A2-140C-4DFB-9267-CE74264D01C7}"/>
              </a:ext>
            </a:extLst>
          </p:cNvPr>
          <p:cNvSpPr/>
          <p:nvPr/>
        </p:nvSpPr>
        <p:spPr>
          <a:xfrm>
            <a:off x="5470276" y="5703156"/>
            <a:ext cx="234216" cy="116274"/>
          </a:xfrm>
          <a:prstGeom prst="rect">
            <a:avLst/>
          </a:prstGeom>
          <a:solidFill>
            <a:srgbClr val="FF5F33">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3BCC1D3F-8BD1-48E5-B1F2-62AC3965288F}"/>
              </a:ext>
            </a:extLst>
          </p:cNvPr>
          <p:cNvSpPr/>
          <p:nvPr/>
        </p:nvSpPr>
        <p:spPr>
          <a:xfrm>
            <a:off x="5470276" y="5808799"/>
            <a:ext cx="234216" cy="116274"/>
          </a:xfrm>
          <a:prstGeom prst="rect">
            <a:avLst/>
          </a:prstGeom>
          <a:solidFill>
            <a:schemeClr val="accent2">
              <a:alpha val="4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48827B6B-A179-43E9-86AD-8E1C52942DE8}"/>
              </a:ext>
            </a:extLst>
          </p:cNvPr>
          <p:cNvSpPr/>
          <p:nvPr/>
        </p:nvSpPr>
        <p:spPr>
          <a:xfrm>
            <a:off x="5707354" y="5703943"/>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E5A4442E-AC95-408E-99AD-ACB8E9135388}"/>
              </a:ext>
            </a:extLst>
          </p:cNvPr>
          <p:cNvSpPr/>
          <p:nvPr/>
        </p:nvSpPr>
        <p:spPr>
          <a:xfrm>
            <a:off x="5707354" y="5809586"/>
            <a:ext cx="234216" cy="116274"/>
          </a:xfrm>
          <a:prstGeom prst="rect">
            <a:avLst/>
          </a:prstGeom>
          <a:solidFill>
            <a:srgbClr val="FFFF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2" name="Table 8">
            <a:extLst>
              <a:ext uri="{FF2B5EF4-FFF2-40B4-BE49-F238E27FC236}">
                <a16:creationId xmlns:a16="http://schemas.microsoft.com/office/drawing/2014/main" id="{8B2EEB3C-D5FE-488E-A69E-CCEA68AB9660}"/>
              </a:ext>
            </a:extLst>
          </p:cNvPr>
          <p:cNvGraphicFramePr>
            <a:graphicFrameLocks noGrp="1"/>
          </p:cNvGraphicFramePr>
          <p:nvPr>
            <p:extLst/>
          </p:nvPr>
        </p:nvGraphicFramePr>
        <p:xfrm>
          <a:off x="10113742" y="5440311"/>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53" name="Rectangle 152">
            <a:extLst>
              <a:ext uri="{FF2B5EF4-FFF2-40B4-BE49-F238E27FC236}">
                <a16:creationId xmlns:a16="http://schemas.microsoft.com/office/drawing/2014/main" id="{79ED1BEA-191F-4494-85F7-FAB4F6032521}"/>
              </a:ext>
            </a:extLst>
          </p:cNvPr>
          <p:cNvSpPr/>
          <p:nvPr/>
        </p:nvSpPr>
        <p:spPr>
          <a:xfrm>
            <a:off x="10116521" y="5566028"/>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D9F39416-244D-4374-9A6F-4D6F23C48647}"/>
              </a:ext>
            </a:extLst>
          </p:cNvPr>
          <p:cNvSpPr/>
          <p:nvPr/>
        </p:nvSpPr>
        <p:spPr>
          <a:xfrm>
            <a:off x="10365210" y="5451912"/>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2DF45FEA-F1D2-4616-9829-9C7C892960AA}"/>
              </a:ext>
            </a:extLst>
          </p:cNvPr>
          <p:cNvSpPr/>
          <p:nvPr/>
        </p:nvSpPr>
        <p:spPr>
          <a:xfrm>
            <a:off x="10353669" y="5558547"/>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4FC9579C-31CB-400F-B6B9-0B55FBAF51CA}"/>
              </a:ext>
            </a:extLst>
          </p:cNvPr>
          <p:cNvSpPr/>
          <p:nvPr/>
        </p:nvSpPr>
        <p:spPr>
          <a:xfrm>
            <a:off x="10101388" y="5445642"/>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7" name="Table 8">
            <a:extLst>
              <a:ext uri="{FF2B5EF4-FFF2-40B4-BE49-F238E27FC236}">
                <a16:creationId xmlns:a16="http://schemas.microsoft.com/office/drawing/2014/main" id="{398F63FC-753C-44C2-91A6-92FA47B2B42C}"/>
              </a:ext>
            </a:extLst>
          </p:cNvPr>
          <p:cNvGraphicFramePr>
            <a:graphicFrameLocks noGrp="1"/>
          </p:cNvGraphicFramePr>
          <p:nvPr>
            <p:extLst/>
          </p:nvPr>
        </p:nvGraphicFramePr>
        <p:xfrm>
          <a:off x="10111957" y="5675497"/>
          <a:ext cx="482724" cy="233680"/>
        </p:xfrm>
        <a:graphic>
          <a:graphicData uri="http://schemas.openxmlformats.org/drawingml/2006/table">
            <a:tbl>
              <a:tblPr firstRow="1" bandRow="1">
                <a:tableStyleId>{616DA210-FB5B-4158-B5E0-FEB733F419BA}</a:tableStyleId>
              </a:tblPr>
              <a:tblGrid>
                <a:gridCol w="241362">
                  <a:extLst>
                    <a:ext uri="{9D8B030D-6E8A-4147-A177-3AD203B41FA5}">
                      <a16:colId xmlns:a16="http://schemas.microsoft.com/office/drawing/2014/main" val="2895082810"/>
                    </a:ext>
                  </a:extLst>
                </a:gridCol>
                <a:gridCol w="241362">
                  <a:extLst>
                    <a:ext uri="{9D8B030D-6E8A-4147-A177-3AD203B41FA5}">
                      <a16:colId xmlns:a16="http://schemas.microsoft.com/office/drawing/2014/main" val="2913564863"/>
                    </a:ext>
                  </a:extLst>
                </a:gridCol>
              </a:tblGrid>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512438111"/>
                  </a:ext>
                </a:extLst>
              </a:tr>
              <a:tr h="0">
                <a:tc>
                  <a:txBody>
                    <a:bodyPr/>
                    <a:lstStyle/>
                    <a:p>
                      <a:pPr>
                        <a:buNone/>
                      </a:pPr>
                      <a:endParaRPr lang="en-US" sz="100" dirty="0">
                        <a:latin typeface="8"/>
                      </a:endParaRPr>
                    </a:p>
                  </a:txBody>
                  <a:tcPr>
                    <a:solidFill>
                      <a:schemeClr val="bg1">
                        <a:lumMod val="85000"/>
                      </a:schemeClr>
                    </a:solidFill>
                  </a:tcPr>
                </a:tc>
                <a:tc>
                  <a:txBody>
                    <a:bodyPr/>
                    <a:lstStyle/>
                    <a:p>
                      <a:pPr>
                        <a:buNone/>
                      </a:pPr>
                      <a:endParaRPr lang="en-US" sz="100" dirty="0">
                        <a:latin typeface="8"/>
                      </a:endParaRPr>
                    </a:p>
                  </a:txBody>
                  <a:tcPr>
                    <a:solidFill>
                      <a:schemeClr val="bg1">
                        <a:lumMod val="85000"/>
                      </a:schemeClr>
                    </a:solidFill>
                  </a:tcPr>
                </a:tc>
                <a:extLst>
                  <a:ext uri="{0D108BD9-81ED-4DB2-BD59-A6C34878D82A}">
                    <a16:rowId xmlns:a16="http://schemas.microsoft.com/office/drawing/2014/main" val="1702228232"/>
                  </a:ext>
                </a:extLst>
              </a:tr>
            </a:tbl>
          </a:graphicData>
        </a:graphic>
      </p:graphicFrame>
      <p:sp>
        <p:nvSpPr>
          <p:cNvPr id="158" name="Rectangle 157">
            <a:extLst>
              <a:ext uri="{FF2B5EF4-FFF2-40B4-BE49-F238E27FC236}">
                <a16:creationId xmlns:a16="http://schemas.microsoft.com/office/drawing/2014/main" id="{E80DF0AC-FD00-45BC-9C9F-3DFD93A3F640}"/>
              </a:ext>
            </a:extLst>
          </p:cNvPr>
          <p:cNvSpPr/>
          <p:nvPr/>
        </p:nvSpPr>
        <p:spPr>
          <a:xfrm>
            <a:off x="10114736" y="5801214"/>
            <a:ext cx="234216" cy="116274"/>
          </a:xfrm>
          <a:prstGeom prst="rect">
            <a:avLst/>
          </a:prstGeom>
          <a:solidFill>
            <a:srgbClr val="FFC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0F0B057A-7C08-4F10-B12F-D6848F84B70E}"/>
              </a:ext>
            </a:extLst>
          </p:cNvPr>
          <p:cNvSpPr/>
          <p:nvPr/>
        </p:nvSpPr>
        <p:spPr>
          <a:xfrm>
            <a:off x="10363425" y="5687098"/>
            <a:ext cx="234216" cy="116274"/>
          </a:xfrm>
          <a:prstGeom prst="rect">
            <a:avLst/>
          </a:prstGeom>
          <a:solidFill>
            <a:srgbClr val="FF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6313D7C5-A8B8-4EA1-8623-2F53DE7E4A9E}"/>
              </a:ext>
            </a:extLst>
          </p:cNvPr>
          <p:cNvSpPr/>
          <p:nvPr/>
        </p:nvSpPr>
        <p:spPr>
          <a:xfrm>
            <a:off x="10351884" y="5793733"/>
            <a:ext cx="234216" cy="116274"/>
          </a:xfrm>
          <a:prstGeom prst="rect">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7D093ECA-EF8F-4149-ABE7-B32875FB5702}"/>
              </a:ext>
            </a:extLst>
          </p:cNvPr>
          <p:cNvSpPr/>
          <p:nvPr/>
        </p:nvSpPr>
        <p:spPr>
          <a:xfrm>
            <a:off x="10099603" y="5680828"/>
            <a:ext cx="234216" cy="116274"/>
          </a:xfrm>
          <a:prstGeom prst="rect">
            <a:avLst/>
          </a:prstGeom>
          <a:solidFill>
            <a:srgbClr val="92D05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5C022A35-85E1-4753-99F0-491F2DC3C483}"/>
              </a:ext>
            </a:extLst>
          </p:cNvPr>
          <p:cNvCxnSpPr/>
          <p:nvPr/>
        </p:nvCxnSpPr>
        <p:spPr>
          <a:xfrm flipV="1">
            <a:off x="6761164" y="2820256"/>
            <a:ext cx="1126833" cy="1801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6E37503E-BABD-445D-A649-BDB4FCA3E3B6}"/>
              </a:ext>
            </a:extLst>
          </p:cNvPr>
          <p:cNvCxnSpPr/>
          <p:nvPr/>
        </p:nvCxnSpPr>
        <p:spPr>
          <a:xfrm flipV="1">
            <a:off x="6913564" y="2972656"/>
            <a:ext cx="1126833" cy="1801114"/>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17910C3-05A8-4209-9007-7201835C8984}"/>
              </a:ext>
            </a:extLst>
          </p:cNvPr>
          <p:cNvCxnSpPr/>
          <p:nvPr/>
        </p:nvCxnSpPr>
        <p:spPr>
          <a:xfrm>
            <a:off x="7094306" y="5270643"/>
            <a:ext cx="2003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A835B62B-1E69-4406-A3EE-7020ECA358B5}"/>
              </a:ext>
            </a:extLst>
          </p:cNvPr>
          <p:cNvCxnSpPr>
            <a:cxnSpLocks/>
          </p:cNvCxnSpPr>
          <p:nvPr/>
        </p:nvCxnSpPr>
        <p:spPr>
          <a:xfrm flipH="1">
            <a:off x="7094306" y="5491943"/>
            <a:ext cx="2003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8078E554-384C-45F8-AB0C-9C58D93C9FFC}"/>
              </a:ext>
            </a:extLst>
          </p:cNvPr>
          <p:cNvCxnSpPr>
            <a:cxnSpLocks/>
          </p:cNvCxnSpPr>
          <p:nvPr/>
        </p:nvCxnSpPr>
        <p:spPr>
          <a:xfrm flipH="1" flipV="1">
            <a:off x="8939517" y="2829202"/>
            <a:ext cx="1126833" cy="1801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86A03E87-5698-4811-9EF8-B1BDE8EF8F4D}"/>
              </a:ext>
            </a:extLst>
          </p:cNvPr>
          <p:cNvCxnSpPr>
            <a:cxnSpLocks/>
          </p:cNvCxnSpPr>
          <p:nvPr/>
        </p:nvCxnSpPr>
        <p:spPr>
          <a:xfrm flipH="1" flipV="1">
            <a:off x="9175068" y="2758826"/>
            <a:ext cx="1126833" cy="1801114"/>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2847E17-8E06-4877-A522-BD3794744A22}"/>
              </a:ext>
            </a:extLst>
          </p:cNvPr>
          <p:cNvSpPr txBox="1"/>
          <p:nvPr/>
        </p:nvSpPr>
        <p:spPr>
          <a:xfrm>
            <a:off x="7632050" y="4010960"/>
            <a:ext cx="1798965" cy="646331"/>
          </a:xfrm>
          <a:prstGeom prst="rect">
            <a:avLst/>
          </a:prstGeom>
          <a:solidFill>
            <a:schemeClr val="accent1">
              <a:lumMod val="20000"/>
              <a:lumOff val="80000"/>
            </a:schemeClr>
          </a:solidFill>
          <a:ln>
            <a:solidFill>
              <a:srgbClr val="C00000"/>
            </a:solidFill>
          </a:ln>
        </p:spPr>
        <p:txBody>
          <a:bodyPr wrap="square" rtlCol="0">
            <a:spAutoFit/>
          </a:bodyPr>
          <a:lstStyle/>
          <a:p>
            <a:pPr algn="ctr"/>
            <a:r>
              <a:rPr lang="en-US" dirty="0"/>
              <a:t>Multi-party Computation</a:t>
            </a:r>
          </a:p>
        </p:txBody>
      </p:sp>
    </p:spTree>
    <p:extLst>
      <p:ext uri="{BB962C8B-B14F-4D97-AF65-F5344CB8AC3E}">
        <p14:creationId xmlns:p14="http://schemas.microsoft.com/office/powerpoint/2010/main" val="3742246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2538-FFBC-46DD-9021-DF5516BDFB2A}"/>
              </a:ext>
            </a:extLst>
          </p:cNvPr>
          <p:cNvSpPr>
            <a:spLocks noGrp="1"/>
          </p:cNvSpPr>
          <p:nvPr>
            <p:ph type="title"/>
          </p:nvPr>
        </p:nvSpPr>
        <p:spPr/>
        <p:txBody>
          <a:bodyPr/>
          <a:lstStyle/>
          <a:p>
            <a:r>
              <a:rPr lang="en-US" dirty="0"/>
              <a:t>How to Compute on Shared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08B4535-06C2-4E3F-B371-35D6AD996756}"/>
                  </a:ext>
                </a:extLst>
              </p:cNvPr>
              <p:cNvSpPr>
                <a:spLocks noGrp="1"/>
              </p:cNvSpPr>
              <p:nvPr>
                <p:ph idx="1"/>
              </p:nvPr>
            </p:nvSpPr>
            <p:spPr>
              <a:xfrm>
                <a:off x="1451581" y="1694890"/>
                <a:ext cx="5771152" cy="4658285"/>
              </a:xfrm>
            </p:spPr>
            <p:txBody>
              <a:bodyPr/>
              <a:lstStyle/>
              <a:p>
                <a:r>
                  <a:rPr lang="en-US" dirty="0"/>
                  <a:t>Say we have shared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𝑦</m:t>
                        </m:r>
                      </m:e>
                    </m:d>
                  </m:oMath>
                </a14:m>
                <a:br>
                  <a:rPr lang="en-US" b="0" dirty="0"/>
                </a:br>
                <a:endParaRPr lang="en-US" b="0" dirty="0"/>
              </a:p>
              <a:p>
                <a:r>
                  <a:rPr lang="en-US" dirty="0"/>
                  <a:t>Addition </a:t>
                </a:r>
                <a14:m>
                  <m:oMath xmlns:m="http://schemas.openxmlformats.org/officeDocument/2006/math">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𝑧</m:t>
                        </m:r>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𝑦</m:t>
                        </m:r>
                      </m:e>
                    </m:d>
                  </m:oMath>
                </a14:m>
                <a:r>
                  <a:rPr lang="en-US" b="0" dirty="0"/>
                  <a:t>: </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endParaRPr lang="en-US" dirty="0"/>
              </a:p>
            </p:txBody>
          </p:sp>
        </mc:Choice>
        <mc:Fallback>
          <p:sp>
            <p:nvSpPr>
              <p:cNvPr id="3" name="Content Placeholder 2">
                <a:extLst>
                  <a:ext uri="{FF2B5EF4-FFF2-40B4-BE49-F238E27FC236}">
                    <a16:creationId xmlns:a16="http://schemas.microsoft.com/office/drawing/2014/main" id="{308B4535-06C2-4E3F-B371-35D6AD996756}"/>
                  </a:ext>
                </a:extLst>
              </p:cNvPr>
              <p:cNvSpPr>
                <a:spLocks noGrp="1" noRot="1" noChangeAspect="1" noMove="1" noResize="1" noEditPoints="1" noAdjustHandles="1" noChangeArrowheads="1" noChangeShapeType="1" noTextEdit="1"/>
              </p:cNvSpPr>
              <p:nvPr>
                <p:ph idx="1"/>
              </p:nvPr>
            </p:nvSpPr>
            <p:spPr>
              <a:xfrm>
                <a:off x="1451581" y="1694890"/>
                <a:ext cx="5771152" cy="4658285"/>
              </a:xfrm>
              <a:blipFill>
                <a:blip r:embed="rId2"/>
                <a:stretch>
                  <a:fillRect l="-1373" t="-262"/>
                </a:stretch>
              </a:blipFill>
            </p:spPr>
            <p:txBody>
              <a:bodyPr/>
              <a:lstStyle/>
              <a:p>
                <a:r>
                  <a:rPr lang="en-US">
                    <a:noFill/>
                  </a:rPr>
                  <a:t> </a:t>
                </a:r>
              </a:p>
            </p:txBody>
          </p:sp>
        </mc:Fallback>
      </mc:AlternateContent>
      <p:pic>
        <p:nvPicPr>
          <p:cNvPr id="4" name="Picture 2" descr="http://mahdiz.com/images/visaresearch.png">
            <a:extLst>
              <a:ext uri="{FF2B5EF4-FFF2-40B4-BE49-F238E27FC236}">
                <a16:creationId xmlns:a16="http://schemas.microsoft.com/office/drawing/2014/main" id="{491E43E7-00EE-4F68-BF93-379D145EE5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850460" y="1775729"/>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Image result for amazon icon">
            <a:extLst>
              <a:ext uri="{FF2B5EF4-FFF2-40B4-BE49-F238E27FC236}">
                <a16:creationId xmlns:a16="http://schemas.microsoft.com/office/drawing/2014/main" id="{71184F86-539B-4B2B-B537-6FD346C6416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10656344" y="4892693"/>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Image result for bank of america">
            <a:extLst>
              <a:ext uri="{FF2B5EF4-FFF2-40B4-BE49-F238E27FC236}">
                <a16:creationId xmlns:a16="http://schemas.microsoft.com/office/drawing/2014/main" id="{95229F7A-7426-4608-BBC2-901FAC531F5E}"/>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6343157" y="4907071"/>
            <a:ext cx="2231395" cy="10109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510F9D-27FA-44FB-B65F-1F26D67CDD3F}"/>
                  </a:ext>
                </a:extLst>
              </p:cNvPr>
              <p:cNvSpPr txBox="1"/>
              <p:nvPr>
                <p:extLst/>
              </p:nvPr>
            </p:nvSpPr>
            <p:spPr>
              <a:xfrm>
                <a:off x="7561597" y="456268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oMath>
                  </m:oMathPara>
                </a14:m>
                <a:endParaRPr lang="en-US" sz="2800" dirty="0"/>
              </a:p>
            </p:txBody>
          </p:sp>
        </mc:Choice>
        <mc:Fallback xmlns="">
          <p:sp>
            <p:nvSpPr>
              <p:cNvPr id="7" name="TextBox 6">
                <a:extLst>
                  <a:ext uri="{FF2B5EF4-FFF2-40B4-BE49-F238E27FC236}">
                    <a16:creationId xmlns:a16="http://schemas.microsoft.com/office/drawing/2014/main" id="{7F510F9D-27FA-44FB-B65F-1F26D67CDD3F}"/>
                  </a:ext>
                </a:extLst>
              </p:cNvPr>
              <p:cNvSpPr txBox="1">
                <a:spLocks noRot="1" noChangeAspect="1" noMove="1" noResize="1" noEditPoints="1" noAdjustHandles="1" noChangeArrowheads="1" noChangeShapeType="1" noTextEdit="1"/>
              </p:cNvSpPr>
              <p:nvPr>
                <p:extLst/>
              </p:nvPr>
            </p:nvSpPr>
            <p:spPr>
              <a:xfrm>
                <a:off x="7561597" y="4562683"/>
                <a:ext cx="1241509"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66E399-2F06-4F14-B460-9C3F854DDD9A}"/>
                  </a:ext>
                </a:extLst>
              </p:cNvPr>
              <p:cNvSpPr txBox="1"/>
              <p:nvPr>
                <p:extLst/>
              </p:nvPr>
            </p:nvSpPr>
            <p:spPr>
              <a:xfrm>
                <a:off x="10173990" y="4504496"/>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8" name="TextBox 7">
                <a:extLst>
                  <a:ext uri="{FF2B5EF4-FFF2-40B4-BE49-F238E27FC236}">
                    <a16:creationId xmlns:a16="http://schemas.microsoft.com/office/drawing/2014/main" id="{2566E399-2F06-4F14-B460-9C3F854DDD9A}"/>
                  </a:ext>
                </a:extLst>
              </p:cNvPr>
              <p:cNvSpPr txBox="1">
                <a:spLocks noRot="1" noChangeAspect="1" noMove="1" noResize="1" noEditPoints="1" noAdjustHandles="1" noChangeArrowheads="1" noChangeShapeType="1" noTextEdit="1"/>
              </p:cNvSpPr>
              <p:nvPr>
                <p:extLst/>
              </p:nvPr>
            </p:nvSpPr>
            <p:spPr>
              <a:xfrm>
                <a:off x="10173990" y="4504496"/>
                <a:ext cx="1241509"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E5BF90-5540-4BBF-A730-84690F97E508}"/>
                  </a:ext>
                </a:extLst>
              </p:cNvPr>
              <p:cNvSpPr txBox="1"/>
              <p:nvPr>
                <p:extLst/>
              </p:nvPr>
            </p:nvSpPr>
            <p:spPr>
              <a:xfrm>
                <a:off x="8850460" y="218506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9" name="TextBox 8">
                <a:extLst>
                  <a:ext uri="{FF2B5EF4-FFF2-40B4-BE49-F238E27FC236}">
                    <a16:creationId xmlns:a16="http://schemas.microsoft.com/office/drawing/2014/main" id="{D4E5BF90-5540-4BBF-A730-84690F97E508}"/>
                  </a:ext>
                </a:extLst>
              </p:cNvPr>
              <p:cNvSpPr txBox="1">
                <a:spLocks noRot="1" noChangeAspect="1" noMove="1" noResize="1" noEditPoints="1" noAdjustHandles="1" noChangeArrowheads="1" noChangeShapeType="1" noTextEdit="1"/>
              </p:cNvSpPr>
              <p:nvPr>
                <p:extLst/>
              </p:nvPr>
            </p:nvSpPr>
            <p:spPr>
              <a:xfrm>
                <a:off x="8850460" y="2185063"/>
                <a:ext cx="1241509" cy="523220"/>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46720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2538-FFBC-46DD-9021-DF5516BDFB2A}"/>
              </a:ext>
            </a:extLst>
          </p:cNvPr>
          <p:cNvSpPr>
            <a:spLocks noGrp="1"/>
          </p:cNvSpPr>
          <p:nvPr>
            <p:ph type="title"/>
          </p:nvPr>
        </p:nvSpPr>
        <p:spPr/>
        <p:txBody>
          <a:bodyPr/>
          <a:lstStyle/>
          <a:p>
            <a:r>
              <a:rPr lang="en-US" dirty="0"/>
              <a:t>How to Compute on Shared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08B4535-06C2-4E3F-B371-35D6AD996756}"/>
                  </a:ext>
                </a:extLst>
              </p:cNvPr>
              <p:cNvSpPr>
                <a:spLocks noGrp="1"/>
              </p:cNvSpPr>
              <p:nvPr>
                <p:ph idx="1"/>
              </p:nvPr>
            </p:nvSpPr>
            <p:spPr>
              <a:xfrm>
                <a:off x="1451581" y="1694890"/>
                <a:ext cx="5771152" cy="4658285"/>
              </a:xfrm>
            </p:spPr>
            <p:txBody>
              <a:bodyPr/>
              <a:lstStyle/>
              <a:p>
                <a:r>
                  <a:rPr lang="en-US" dirty="0"/>
                  <a:t>Multiplication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𝑧</m:t>
                        </m:r>
                      </m:e>
                    </m:d>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𝑦</m:t>
                        </m:r>
                      </m:e>
                    </m:d>
                  </m:oMath>
                </a14:m>
                <a:r>
                  <a:rPr lang="en-US" dirty="0"/>
                  <a:t>:</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endParaRPr lang="en-US" b="0" dirty="0"/>
              </a:p>
              <a:p>
                <a:pPr lvl="1"/>
                <a:r>
                  <a:rPr lang="en-US" dirty="0"/>
                  <a:t>Use “replicated secret sharing”</a:t>
                </a:r>
              </a:p>
            </p:txBody>
          </p:sp>
        </mc:Choice>
        <mc:Fallback>
          <p:sp>
            <p:nvSpPr>
              <p:cNvPr id="3" name="Content Placeholder 2">
                <a:extLst>
                  <a:ext uri="{FF2B5EF4-FFF2-40B4-BE49-F238E27FC236}">
                    <a16:creationId xmlns:a16="http://schemas.microsoft.com/office/drawing/2014/main" id="{308B4535-06C2-4E3F-B371-35D6AD996756}"/>
                  </a:ext>
                </a:extLst>
              </p:cNvPr>
              <p:cNvSpPr>
                <a:spLocks noGrp="1" noRot="1" noChangeAspect="1" noMove="1" noResize="1" noEditPoints="1" noAdjustHandles="1" noChangeArrowheads="1" noChangeShapeType="1" noTextEdit="1"/>
              </p:cNvSpPr>
              <p:nvPr>
                <p:ph idx="1"/>
              </p:nvPr>
            </p:nvSpPr>
            <p:spPr>
              <a:xfrm>
                <a:off x="1451581" y="1694890"/>
                <a:ext cx="5771152" cy="4658285"/>
              </a:xfrm>
              <a:blipFill>
                <a:blip r:embed="rId2"/>
                <a:stretch>
                  <a:fillRect l="-1373" t="-262"/>
                </a:stretch>
              </a:blipFill>
            </p:spPr>
            <p:txBody>
              <a:bodyPr/>
              <a:lstStyle/>
              <a:p>
                <a:r>
                  <a:rPr lang="en-US">
                    <a:noFill/>
                  </a:rPr>
                  <a:t> </a:t>
                </a:r>
              </a:p>
            </p:txBody>
          </p:sp>
        </mc:Fallback>
      </mc:AlternateContent>
      <p:pic>
        <p:nvPicPr>
          <p:cNvPr id="4" name="Picture 2" descr="http://mahdiz.com/images/visaresearch.png">
            <a:extLst>
              <a:ext uri="{FF2B5EF4-FFF2-40B4-BE49-F238E27FC236}">
                <a16:creationId xmlns:a16="http://schemas.microsoft.com/office/drawing/2014/main" id="{491E43E7-00EE-4F68-BF93-379D145EE5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850460" y="1775729"/>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Image result for amazon icon">
            <a:extLst>
              <a:ext uri="{FF2B5EF4-FFF2-40B4-BE49-F238E27FC236}">
                <a16:creationId xmlns:a16="http://schemas.microsoft.com/office/drawing/2014/main" id="{71184F86-539B-4B2B-B537-6FD346C6416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10656344" y="4892693"/>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Image result for bank of america">
            <a:extLst>
              <a:ext uri="{FF2B5EF4-FFF2-40B4-BE49-F238E27FC236}">
                <a16:creationId xmlns:a16="http://schemas.microsoft.com/office/drawing/2014/main" id="{95229F7A-7426-4608-BBC2-901FAC531F5E}"/>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6343157" y="4907071"/>
            <a:ext cx="2231395" cy="10109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510F9D-27FA-44FB-B65F-1F26D67CDD3F}"/>
                  </a:ext>
                </a:extLst>
              </p:cNvPr>
              <p:cNvSpPr txBox="1"/>
              <p:nvPr>
                <p:extLst/>
              </p:nvPr>
            </p:nvSpPr>
            <p:spPr>
              <a:xfrm>
                <a:off x="7561597" y="456268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oMath>
                  </m:oMathPara>
                </a14:m>
                <a:endParaRPr lang="en-US" sz="2800" dirty="0"/>
              </a:p>
            </p:txBody>
          </p:sp>
        </mc:Choice>
        <mc:Fallback xmlns="">
          <p:sp>
            <p:nvSpPr>
              <p:cNvPr id="7" name="TextBox 6">
                <a:extLst>
                  <a:ext uri="{FF2B5EF4-FFF2-40B4-BE49-F238E27FC236}">
                    <a16:creationId xmlns:a16="http://schemas.microsoft.com/office/drawing/2014/main" id="{7F510F9D-27FA-44FB-B65F-1F26D67CDD3F}"/>
                  </a:ext>
                </a:extLst>
              </p:cNvPr>
              <p:cNvSpPr txBox="1">
                <a:spLocks noRot="1" noChangeAspect="1" noMove="1" noResize="1" noEditPoints="1" noAdjustHandles="1" noChangeArrowheads="1" noChangeShapeType="1" noTextEdit="1"/>
              </p:cNvSpPr>
              <p:nvPr>
                <p:extLst/>
              </p:nvPr>
            </p:nvSpPr>
            <p:spPr>
              <a:xfrm>
                <a:off x="7561597" y="4562683"/>
                <a:ext cx="1241509"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66E399-2F06-4F14-B460-9C3F854DDD9A}"/>
                  </a:ext>
                </a:extLst>
              </p:cNvPr>
              <p:cNvSpPr txBox="1"/>
              <p:nvPr>
                <p:extLst/>
              </p:nvPr>
            </p:nvSpPr>
            <p:spPr>
              <a:xfrm>
                <a:off x="10173990" y="4504496"/>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8" name="TextBox 7">
                <a:extLst>
                  <a:ext uri="{FF2B5EF4-FFF2-40B4-BE49-F238E27FC236}">
                    <a16:creationId xmlns:a16="http://schemas.microsoft.com/office/drawing/2014/main" id="{2566E399-2F06-4F14-B460-9C3F854DDD9A}"/>
                  </a:ext>
                </a:extLst>
              </p:cNvPr>
              <p:cNvSpPr txBox="1">
                <a:spLocks noRot="1" noChangeAspect="1" noMove="1" noResize="1" noEditPoints="1" noAdjustHandles="1" noChangeArrowheads="1" noChangeShapeType="1" noTextEdit="1"/>
              </p:cNvSpPr>
              <p:nvPr>
                <p:extLst/>
              </p:nvPr>
            </p:nvSpPr>
            <p:spPr>
              <a:xfrm>
                <a:off x="10173990" y="4504496"/>
                <a:ext cx="1241509"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E5BF90-5540-4BBF-A730-84690F97E508}"/>
                  </a:ext>
                </a:extLst>
              </p:cNvPr>
              <p:cNvSpPr txBox="1"/>
              <p:nvPr>
                <p:extLst/>
              </p:nvPr>
            </p:nvSpPr>
            <p:spPr>
              <a:xfrm>
                <a:off x="8850460" y="218506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9" name="TextBox 8">
                <a:extLst>
                  <a:ext uri="{FF2B5EF4-FFF2-40B4-BE49-F238E27FC236}">
                    <a16:creationId xmlns:a16="http://schemas.microsoft.com/office/drawing/2014/main" id="{D4E5BF90-5540-4BBF-A730-84690F97E508}"/>
                  </a:ext>
                </a:extLst>
              </p:cNvPr>
              <p:cNvSpPr txBox="1">
                <a:spLocks noRot="1" noChangeAspect="1" noMove="1" noResize="1" noEditPoints="1" noAdjustHandles="1" noChangeArrowheads="1" noChangeShapeType="1" noTextEdit="1"/>
              </p:cNvSpPr>
              <p:nvPr>
                <p:extLst/>
              </p:nvPr>
            </p:nvSpPr>
            <p:spPr>
              <a:xfrm>
                <a:off x="8850460" y="2185063"/>
                <a:ext cx="1241509"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D8EC73-AF59-46AC-8B20-3A4B52923EAC}"/>
                  </a:ext>
                </a:extLst>
              </p:cNvPr>
              <p:cNvSpPr txBox="1"/>
              <p:nvPr>
                <p:extLst/>
              </p:nvPr>
            </p:nvSpPr>
            <p:spPr>
              <a:xfrm>
                <a:off x="7564887" y="456268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oMath>
                  </m:oMathPara>
                </a14:m>
                <a:endParaRPr lang="en-US" sz="2800" dirty="0"/>
              </a:p>
            </p:txBody>
          </p:sp>
        </mc:Choice>
        <mc:Fallback xmlns="">
          <p:sp>
            <p:nvSpPr>
              <p:cNvPr id="10" name="TextBox 9">
                <a:extLst>
                  <a:ext uri="{FF2B5EF4-FFF2-40B4-BE49-F238E27FC236}">
                    <a16:creationId xmlns:a16="http://schemas.microsoft.com/office/drawing/2014/main" id="{78D8EC73-AF59-46AC-8B20-3A4B52923EAC}"/>
                  </a:ext>
                </a:extLst>
              </p:cNvPr>
              <p:cNvSpPr txBox="1">
                <a:spLocks noRot="1" noChangeAspect="1" noMove="1" noResize="1" noEditPoints="1" noAdjustHandles="1" noChangeArrowheads="1" noChangeShapeType="1" noTextEdit="1"/>
              </p:cNvSpPr>
              <p:nvPr>
                <p:extLst/>
              </p:nvPr>
            </p:nvSpPr>
            <p:spPr>
              <a:xfrm>
                <a:off x="7564887" y="4562683"/>
                <a:ext cx="1241509"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A46CD0-9DBC-4E11-A5EF-12C1AFF44523}"/>
                  </a:ext>
                </a:extLst>
              </p:cNvPr>
              <p:cNvSpPr txBox="1"/>
              <p:nvPr>
                <p:extLst/>
              </p:nvPr>
            </p:nvSpPr>
            <p:spPr>
              <a:xfrm>
                <a:off x="10170700" y="4504496"/>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11" name="TextBox 10">
                <a:extLst>
                  <a:ext uri="{FF2B5EF4-FFF2-40B4-BE49-F238E27FC236}">
                    <a16:creationId xmlns:a16="http://schemas.microsoft.com/office/drawing/2014/main" id="{F3A46CD0-9DBC-4E11-A5EF-12C1AFF44523}"/>
                  </a:ext>
                </a:extLst>
              </p:cNvPr>
              <p:cNvSpPr txBox="1">
                <a:spLocks noRot="1" noChangeAspect="1" noMove="1" noResize="1" noEditPoints="1" noAdjustHandles="1" noChangeArrowheads="1" noChangeShapeType="1" noTextEdit="1"/>
              </p:cNvSpPr>
              <p:nvPr>
                <p:extLst/>
              </p:nvPr>
            </p:nvSpPr>
            <p:spPr>
              <a:xfrm>
                <a:off x="10170700" y="4504496"/>
                <a:ext cx="1241509"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08F250-ADC4-4D17-BEB9-ABC7C7800B79}"/>
                  </a:ext>
                </a:extLst>
              </p:cNvPr>
              <p:cNvSpPr txBox="1"/>
              <p:nvPr>
                <p:extLst/>
              </p:nvPr>
            </p:nvSpPr>
            <p:spPr>
              <a:xfrm>
                <a:off x="8850459" y="218506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12" name="TextBox 11">
                <a:extLst>
                  <a:ext uri="{FF2B5EF4-FFF2-40B4-BE49-F238E27FC236}">
                    <a16:creationId xmlns:a16="http://schemas.microsoft.com/office/drawing/2014/main" id="{4E08F250-ADC4-4D17-BEB9-ABC7C7800B79}"/>
                  </a:ext>
                </a:extLst>
              </p:cNvPr>
              <p:cNvSpPr txBox="1">
                <a:spLocks noRot="1" noChangeAspect="1" noMove="1" noResize="1" noEditPoints="1" noAdjustHandles="1" noChangeArrowheads="1" noChangeShapeType="1" noTextEdit="1"/>
              </p:cNvSpPr>
              <p:nvPr>
                <p:extLst/>
              </p:nvPr>
            </p:nvSpPr>
            <p:spPr>
              <a:xfrm>
                <a:off x="8850459" y="2185063"/>
                <a:ext cx="1241509" cy="523220"/>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5422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path" presetSubtype="0" accel="50000" decel="50000" fill="hold" grpId="0" nodeType="clickEffect">
                                  <p:stCondLst>
                                    <p:cond delay="0"/>
                                  </p:stCondLst>
                                  <p:childTnLst>
                                    <p:animMotion origin="layout" path="M -2.91667E-6 -2.96296E-6 L -0.10599 0.29537 " pathEditMode="relative" rAng="0" ptsTypes="AA">
                                      <p:cBhvr>
                                        <p:cTn id="12" dur="1000" fill="hold"/>
                                        <p:tgtEl>
                                          <p:spTgt spid="12"/>
                                        </p:tgtEl>
                                        <p:attrNameLst>
                                          <p:attrName>ppt_x</p:attrName>
                                          <p:attrName>ppt_y</p:attrName>
                                        </p:attrNameLst>
                                      </p:cBhvr>
                                      <p:rCtr x="-5299" y="14769"/>
                                    </p:animMotion>
                                  </p:childTnLst>
                                </p:cTn>
                              </p:par>
                              <p:par>
                                <p:cTn id="13" presetID="42" presetClass="path" presetSubtype="0" accel="50000" decel="50000" fill="hold" grpId="0" nodeType="withEffect">
                                  <p:stCondLst>
                                    <p:cond delay="0"/>
                                  </p:stCondLst>
                                  <p:childTnLst>
                                    <p:animMotion origin="layout" path="M -4.16667E-6 -2.22222E-6 L 0.21394 -0.06088 " pathEditMode="relative" rAng="0" ptsTypes="AA">
                                      <p:cBhvr>
                                        <p:cTn id="14" dur="1000" fill="hold"/>
                                        <p:tgtEl>
                                          <p:spTgt spid="10"/>
                                        </p:tgtEl>
                                        <p:attrNameLst>
                                          <p:attrName>ppt_x</p:attrName>
                                          <p:attrName>ppt_y</p:attrName>
                                        </p:attrNameLst>
                                      </p:cBhvr>
                                      <p:rCtr x="10690" y="-3056"/>
                                    </p:animMotion>
                                  </p:childTnLst>
                                </p:cTn>
                              </p:par>
                              <p:par>
                                <p:cTn id="15" presetID="42" presetClass="path" presetSubtype="0" accel="50000" decel="50000" fill="hold" grpId="0" nodeType="withEffect">
                                  <p:stCondLst>
                                    <p:cond delay="0"/>
                                  </p:stCondLst>
                                  <p:childTnLst>
                                    <p:animMotion origin="layout" path="M 3.75E-6 2.59259E-6 L -0.1069 -0.28727 " pathEditMode="relative" rAng="0" ptsTypes="AA">
                                      <p:cBhvr>
                                        <p:cTn id="16" dur="1000" fill="hold"/>
                                        <p:tgtEl>
                                          <p:spTgt spid="11"/>
                                        </p:tgtEl>
                                        <p:attrNameLst>
                                          <p:attrName>ppt_x</p:attrName>
                                          <p:attrName>ppt_y</p:attrName>
                                        </p:attrNameLst>
                                      </p:cBhvr>
                                      <p:rCtr x="-5352" y="-1437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2CA56C8-D69D-467D-A7FD-1B01FC253978}"/>
              </a:ext>
            </a:extLst>
          </p:cNvPr>
          <p:cNvSpPr/>
          <p:nvPr/>
        </p:nvSpPr>
        <p:spPr>
          <a:xfrm>
            <a:off x="8911376" y="2325575"/>
            <a:ext cx="1032552" cy="743111"/>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FAEC429-59EF-4B75-BF79-0DEB54FBC56C}"/>
              </a:ext>
            </a:extLst>
          </p:cNvPr>
          <p:cNvSpPr/>
          <p:nvPr/>
        </p:nvSpPr>
        <p:spPr>
          <a:xfrm>
            <a:off x="7656277" y="4380010"/>
            <a:ext cx="1032552" cy="743111"/>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FC370F4-01E4-4B2E-AE3B-363BF386AAA6}"/>
              </a:ext>
            </a:extLst>
          </p:cNvPr>
          <p:cNvSpPr/>
          <p:nvPr/>
        </p:nvSpPr>
        <p:spPr>
          <a:xfrm>
            <a:off x="10248093" y="4302519"/>
            <a:ext cx="1032552" cy="743111"/>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3F2538-FFBC-46DD-9021-DF5516BDFB2A}"/>
              </a:ext>
            </a:extLst>
          </p:cNvPr>
          <p:cNvSpPr>
            <a:spLocks noGrp="1"/>
          </p:cNvSpPr>
          <p:nvPr>
            <p:ph type="title"/>
          </p:nvPr>
        </p:nvSpPr>
        <p:spPr/>
        <p:txBody>
          <a:bodyPr/>
          <a:lstStyle/>
          <a:p>
            <a:r>
              <a:rPr lang="en-US" dirty="0"/>
              <a:t>How to Compute on Shared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08B4535-06C2-4E3F-B371-35D6AD996756}"/>
                  </a:ext>
                </a:extLst>
              </p:cNvPr>
              <p:cNvSpPr>
                <a:spLocks noGrp="1"/>
              </p:cNvSpPr>
              <p:nvPr>
                <p:ph idx="1"/>
              </p:nvPr>
            </p:nvSpPr>
            <p:spPr>
              <a:xfrm>
                <a:off x="1451581" y="1694890"/>
                <a:ext cx="5771152" cy="5476472"/>
              </a:xfrm>
            </p:spPr>
            <p:txBody>
              <a:bodyPr>
                <a:normAutofit/>
              </a:bodyPr>
              <a:lstStyle/>
              <a:p>
                <a:r>
                  <a:rPr lang="en-US" dirty="0"/>
                  <a:t>Multiplication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𝑧</m:t>
                        </m:r>
                      </m:e>
                    </m:d>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𝑦</m:t>
                        </m:r>
                      </m:e>
                    </m:d>
                  </m:oMath>
                </a14:m>
                <a:r>
                  <a:rPr lang="en-US" b="0" dirty="0"/>
                  <a:t>: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m:t>
                    </m:r>
                  </m:oMath>
                </a14:m>
                <a:endParaRPr lang="en-US" dirty="0"/>
              </a:p>
              <a:p>
                <a:pPr lvl="1"/>
                <a:r>
                  <a:rPr lang="en-US" dirty="0"/>
                  <a:t>Use “replicated secret sharing”</a:t>
                </a:r>
              </a:p>
              <a:p>
                <a:pPr lvl="1"/>
                <a:r>
                  <a:rPr lang="en-US" dirty="0"/>
                  <a:t>Observe:</a:t>
                </a:r>
                <a:br>
                  <a:rPr lang="en-US" dirty="0"/>
                </a:b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𝑥𝑦</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3</m:t>
                            </m:r>
                          </m:sub>
                        </m:sSub>
                      </m:e>
                    </m:d>
                  </m:oMath>
                </a14:m>
                <a:br>
                  <a:rPr lang="en-US" b="0" dirty="0"/>
                </a:br>
                <a14:m>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3</m:t>
                        </m:r>
                      </m:sub>
                    </m:sSub>
                  </m:oMath>
                </a14:m>
                <a:br>
                  <a:rPr lang="en-US" dirty="0"/>
                </a:br>
                <a14:m>
                  <m:oMath xmlns:m="http://schemas.openxmlformats.org/officeDocument/2006/math">
                    <m:r>
                      <a:rPr lang="en-US">
                        <a:latin typeface="Cambria Math" panose="02040503050406030204" pitchFamily="18" charset="0"/>
                      </a:rPr>
                      <m:t>              </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3</m:t>
                        </m:r>
                      </m:sub>
                    </m:sSub>
                  </m:oMath>
                </a14:m>
                <a:br>
                  <a:rPr lang="en-US" dirty="0"/>
                </a:b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3</m:t>
                        </m:r>
                      </m:sub>
                    </m:sSub>
                  </m:oMath>
                </a14:m>
                <a:endParaRPr lang="en-US" dirty="0"/>
              </a:p>
              <a:p>
                <a:pPr lvl="1"/>
                <a:r>
                  <a:rPr lang="en-US" dirty="0"/>
                  <a:t>Let </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oMath>
                </a14:m>
                <a:br>
                  <a:rPr lang="en-US" b="0"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oMath>
                </a14:m>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oMath>
                </a14:m>
                <a:endParaRPr lang="en-US" dirty="0"/>
              </a:p>
            </p:txBody>
          </p:sp>
        </mc:Choice>
        <mc:Fallback>
          <p:sp>
            <p:nvSpPr>
              <p:cNvPr id="3" name="Content Placeholder 2">
                <a:extLst>
                  <a:ext uri="{FF2B5EF4-FFF2-40B4-BE49-F238E27FC236}">
                    <a16:creationId xmlns:a16="http://schemas.microsoft.com/office/drawing/2014/main" id="{308B4535-06C2-4E3F-B371-35D6AD996756}"/>
                  </a:ext>
                </a:extLst>
              </p:cNvPr>
              <p:cNvSpPr>
                <a:spLocks noGrp="1" noRot="1" noChangeAspect="1" noMove="1" noResize="1" noEditPoints="1" noAdjustHandles="1" noChangeArrowheads="1" noChangeShapeType="1" noTextEdit="1"/>
              </p:cNvSpPr>
              <p:nvPr>
                <p:ph idx="1"/>
              </p:nvPr>
            </p:nvSpPr>
            <p:spPr>
              <a:xfrm>
                <a:off x="1451581" y="1694890"/>
                <a:ext cx="5771152" cy="5476472"/>
              </a:xfrm>
              <a:blipFill>
                <a:blip r:embed="rId2"/>
                <a:stretch>
                  <a:fillRect l="-1373" t="-223"/>
                </a:stretch>
              </a:blipFill>
            </p:spPr>
            <p:txBody>
              <a:bodyPr/>
              <a:lstStyle/>
              <a:p>
                <a:r>
                  <a:rPr lang="en-US">
                    <a:noFill/>
                  </a:rPr>
                  <a:t> </a:t>
                </a:r>
              </a:p>
            </p:txBody>
          </p:sp>
        </mc:Fallback>
      </mc:AlternateContent>
      <p:pic>
        <p:nvPicPr>
          <p:cNvPr id="4" name="Picture 2" descr="http://mahdiz.com/images/visaresearch.png">
            <a:extLst>
              <a:ext uri="{FF2B5EF4-FFF2-40B4-BE49-F238E27FC236}">
                <a16:creationId xmlns:a16="http://schemas.microsoft.com/office/drawing/2014/main" id="{491E43E7-00EE-4F68-BF93-379D145EE5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850460" y="1775729"/>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Image result for amazon icon">
            <a:extLst>
              <a:ext uri="{FF2B5EF4-FFF2-40B4-BE49-F238E27FC236}">
                <a16:creationId xmlns:a16="http://schemas.microsoft.com/office/drawing/2014/main" id="{71184F86-539B-4B2B-B537-6FD346C6416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10656344" y="4892693"/>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Image result for bank of america">
            <a:extLst>
              <a:ext uri="{FF2B5EF4-FFF2-40B4-BE49-F238E27FC236}">
                <a16:creationId xmlns:a16="http://schemas.microsoft.com/office/drawing/2014/main" id="{95229F7A-7426-4608-BBC2-901FAC531F5E}"/>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6343157" y="4907071"/>
            <a:ext cx="2231395" cy="10109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510F9D-27FA-44FB-B65F-1F26D67CDD3F}"/>
                  </a:ext>
                </a:extLst>
              </p:cNvPr>
              <p:cNvSpPr txBox="1"/>
              <p:nvPr>
                <p:extLst/>
              </p:nvPr>
            </p:nvSpPr>
            <p:spPr>
              <a:xfrm>
                <a:off x="7695344" y="4562683"/>
                <a:ext cx="110776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oMath>
                  </m:oMathPara>
                </a14:m>
                <a:endParaRPr lang="en-US" sz="2800" dirty="0"/>
              </a:p>
            </p:txBody>
          </p:sp>
        </mc:Choice>
        <mc:Fallback xmlns="">
          <p:sp>
            <p:nvSpPr>
              <p:cNvPr id="7" name="TextBox 6">
                <a:extLst>
                  <a:ext uri="{FF2B5EF4-FFF2-40B4-BE49-F238E27FC236}">
                    <a16:creationId xmlns:a16="http://schemas.microsoft.com/office/drawing/2014/main" id="{7F510F9D-27FA-44FB-B65F-1F26D67CDD3F}"/>
                  </a:ext>
                </a:extLst>
              </p:cNvPr>
              <p:cNvSpPr txBox="1">
                <a:spLocks noRot="1" noChangeAspect="1" noMove="1" noResize="1" noEditPoints="1" noAdjustHandles="1" noChangeArrowheads="1" noChangeShapeType="1" noTextEdit="1"/>
              </p:cNvSpPr>
              <p:nvPr>
                <p:extLst/>
              </p:nvPr>
            </p:nvSpPr>
            <p:spPr>
              <a:xfrm>
                <a:off x="7695344" y="4562683"/>
                <a:ext cx="1107762"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66E399-2F06-4F14-B460-9C3F854DDD9A}"/>
                  </a:ext>
                </a:extLst>
              </p:cNvPr>
              <p:cNvSpPr txBox="1"/>
              <p:nvPr>
                <p:extLst/>
              </p:nvPr>
            </p:nvSpPr>
            <p:spPr>
              <a:xfrm>
                <a:off x="10251383" y="4504496"/>
                <a:ext cx="1164116"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8" name="TextBox 7">
                <a:extLst>
                  <a:ext uri="{FF2B5EF4-FFF2-40B4-BE49-F238E27FC236}">
                    <a16:creationId xmlns:a16="http://schemas.microsoft.com/office/drawing/2014/main" id="{2566E399-2F06-4F14-B460-9C3F854DDD9A}"/>
                  </a:ext>
                </a:extLst>
              </p:cNvPr>
              <p:cNvSpPr txBox="1">
                <a:spLocks noRot="1" noChangeAspect="1" noMove="1" noResize="1" noEditPoints="1" noAdjustHandles="1" noChangeArrowheads="1" noChangeShapeType="1" noTextEdit="1"/>
              </p:cNvSpPr>
              <p:nvPr>
                <p:extLst/>
              </p:nvPr>
            </p:nvSpPr>
            <p:spPr>
              <a:xfrm>
                <a:off x="10251383" y="4504496"/>
                <a:ext cx="1164116"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E5BF90-5540-4BBF-A730-84690F97E508}"/>
                  </a:ext>
                </a:extLst>
              </p:cNvPr>
              <p:cNvSpPr txBox="1"/>
              <p:nvPr>
                <p:extLst/>
              </p:nvPr>
            </p:nvSpPr>
            <p:spPr>
              <a:xfrm>
                <a:off x="8932481" y="2183215"/>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9" name="TextBox 8">
                <a:extLst>
                  <a:ext uri="{FF2B5EF4-FFF2-40B4-BE49-F238E27FC236}">
                    <a16:creationId xmlns:a16="http://schemas.microsoft.com/office/drawing/2014/main" id="{D4E5BF90-5540-4BBF-A730-84690F97E508}"/>
                  </a:ext>
                </a:extLst>
              </p:cNvPr>
              <p:cNvSpPr txBox="1">
                <a:spLocks noRot="1" noChangeAspect="1" noMove="1" noResize="1" noEditPoints="1" noAdjustHandles="1" noChangeArrowheads="1" noChangeShapeType="1" noTextEdit="1"/>
              </p:cNvSpPr>
              <p:nvPr>
                <p:extLst/>
              </p:nvPr>
            </p:nvSpPr>
            <p:spPr>
              <a:xfrm>
                <a:off x="8932481" y="2183215"/>
                <a:ext cx="1241509"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D8EC73-AF59-46AC-8B20-3A4B52923EAC}"/>
                  </a:ext>
                </a:extLst>
              </p:cNvPr>
              <p:cNvSpPr txBox="1"/>
              <p:nvPr>
                <p:extLst/>
              </p:nvPr>
            </p:nvSpPr>
            <p:spPr>
              <a:xfrm>
                <a:off x="10248093" y="4175375"/>
                <a:ext cx="1155560"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oMath>
                  </m:oMathPara>
                </a14:m>
                <a:endParaRPr lang="en-US" sz="2800" dirty="0"/>
              </a:p>
            </p:txBody>
          </p:sp>
        </mc:Choice>
        <mc:Fallback xmlns="">
          <p:sp>
            <p:nvSpPr>
              <p:cNvPr id="10" name="TextBox 9">
                <a:extLst>
                  <a:ext uri="{FF2B5EF4-FFF2-40B4-BE49-F238E27FC236}">
                    <a16:creationId xmlns:a16="http://schemas.microsoft.com/office/drawing/2014/main" id="{78D8EC73-AF59-46AC-8B20-3A4B52923EAC}"/>
                  </a:ext>
                </a:extLst>
              </p:cNvPr>
              <p:cNvSpPr txBox="1">
                <a:spLocks noRot="1" noChangeAspect="1" noMove="1" noResize="1" noEditPoints="1" noAdjustHandles="1" noChangeArrowheads="1" noChangeShapeType="1" noTextEdit="1"/>
              </p:cNvSpPr>
              <p:nvPr>
                <p:extLst/>
              </p:nvPr>
            </p:nvSpPr>
            <p:spPr>
              <a:xfrm>
                <a:off x="10248093" y="4175375"/>
                <a:ext cx="1155560"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A46CD0-9DBC-4E11-A5EF-12C1AFF44523}"/>
                  </a:ext>
                </a:extLst>
              </p:cNvPr>
              <p:cNvSpPr txBox="1"/>
              <p:nvPr>
                <p:extLst/>
              </p:nvPr>
            </p:nvSpPr>
            <p:spPr>
              <a:xfrm>
                <a:off x="8920635" y="254581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11" name="TextBox 10">
                <a:extLst>
                  <a:ext uri="{FF2B5EF4-FFF2-40B4-BE49-F238E27FC236}">
                    <a16:creationId xmlns:a16="http://schemas.microsoft.com/office/drawing/2014/main" id="{F3A46CD0-9DBC-4E11-A5EF-12C1AFF44523}"/>
                  </a:ext>
                </a:extLst>
              </p:cNvPr>
              <p:cNvSpPr txBox="1">
                <a:spLocks noRot="1" noChangeAspect="1" noMove="1" noResize="1" noEditPoints="1" noAdjustHandles="1" noChangeArrowheads="1" noChangeShapeType="1" noTextEdit="1"/>
              </p:cNvSpPr>
              <p:nvPr>
                <p:extLst/>
              </p:nvPr>
            </p:nvSpPr>
            <p:spPr>
              <a:xfrm>
                <a:off x="8920635" y="2545813"/>
                <a:ext cx="1241509"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08F250-ADC4-4D17-BEB9-ABC7C7800B79}"/>
                  </a:ext>
                </a:extLst>
              </p:cNvPr>
              <p:cNvSpPr txBox="1"/>
              <p:nvPr>
                <p:extLst/>
              </p:nvPr>
            </p:nvSpPr>
            <p:spPr>
              <a:xfrm>
                <a:off x="7695344" y="4242886"/>
                <a:ext cx="111105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12" name="TextBox 11">
                <a:extLst>
                  <a:ext uri="{FF2B5EF4-FFF2-40B4-BE49-F238E27FC236}">
                    <a16:creationId xmlns:a16="http://schemas.microsoft.com/office/drawing/2014/main" id="{4E08F250-ADC4-4D17-BEB9-ABC7C7800B79}"/>
                  </a:ext>
                </a:extLst>
              </p:cNvPr>
              <p:cNvSpPr txBox="1">
                <a:spLocks noRot="1" noChangeAspect="1" noMove="1" noResize="1" noEditPoints="1" noAdjustHandles="1" noChangeArrowheads="1" noChangeShapeType="1" noTextEdit="1"/>
              </p:cNvSpPr>
              <p:nvPr>
                <p:extLst/>
              </p:nvPr>
            </p:nvSpPr>
            <p:spPr>
              <a:xfrm>
                <a:off x="7695344" y="4242886"/>
                <a:ext cx="1111052" cy="523220"/>
              </a:xfrm>
              <a:prstGeom prst="rect">
                <a:avLst/>
              </a:prstGeom>
              <a:blipFill>
                <a:blip r:embed="rId14"/>
                <a:stretch>
                  <a:fillRect/>
                </a:stretch>
              </a:blipFill>
            </p:spPr>
            <p:txBody>
              <a:bodyPr/>
              <a:lstStyle/>
              <a:p>
                <a:r>
                  <a:rPr lang="en-US">
                    <a:noFill/>
                  </a:rPr>
                  <a:t> </a:t>
                </a:r>
              </a:p>
            </p:txBody>
          </p:sp>
        </mc:Fallback>
      </mc:AlternateContent>
      <p:sp>
        <p:nvSpPr>
          <p:cNvPr id="17" name="Rectangle 16">
            <a:extLst>
              <a:ext uri="{FF2B5EF4-FFF2-40B4-BE49-F238E27FC236}">
                <a16:creationId xmlns:a16="http://schemas.microsoft.com/office/drawing/2014/main" id="{A843808F-618B-482A-811A-1AC7B8AA1B8F}"/>
              </a:ext>
            </a:extLst>
          </p:cNvPr>
          <p:cNvSpPr/>
          <p:nvPr/>
        </p:nvSpPr>
        <p:spPr>
          <a:xfrm>
            <a:off x="3171548" y="3843156"/>
            <a:ext cx="547698"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580AA46-6113-419C-BBCE-C2F3D3598359}"/>
              </a:ext>
            </a:extLst>
          </p:cNvPr>
          <p:cNvSpPr/>
          <p:nvPr/>
        </p:nvSpPr>
        <p:spPr>
          <a:xfrm>
            <a:off x="4787289" y="3843156"/>
            <a:ext cx="547698"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3DBA6F8-AE6A-401C-9C1C-8D11440C2219}"/>
              </a:ext>
            </a:extLst>
          </p:cNvPr>
          <p:cNvSpPr/>
          <p:nvPr/>
        </p:nvSpPr>
        <p:spPr>
          <a:xfrm>
            <a:off x="3171548" y="4578412"/>
            <a:ext cx="547698"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CF131FF-3EC6-4294-A456-D69DA7F55F03}"/>
              </a:ext>
            </a:extLst>
          </p:cNvPr>
          <p:cNvSpPr/>
          <p:nvPr/>
        </p:nvSpPr>
        <p:spPr>
          <a:xfrm>
            <a:off x="3979418" y="3843156"/>
            <a:ext cx="547698"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CDE897-E244-4E23-B6E5-3F9927D88228}"/>
              </a:ext>
            </a:extLst>
          </p:cNvPr>
          <p:cNvSpPr/>
          <p:nvPr/>
        </p:nvSpPr>
        <p:spPr>
          <a:xfrm>
            <a:off x="3168941" y="4218544"/>
            <a:ext cx="547698"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874D84E-EF16-4B9E-816F-DA36A31CA4FC}"/>
              </a:ext>
            </a:extLst>
          </p:cNvPr>
          <p:cNvSpPr/>
          <p:nvPr/>
        </p:nvSpPr>
        <p:spPr>
          <a:xfrm>
            <a:off x="3979418" y="4221990"/>
            <a:ext cx="547698"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A00F32C-73BE-47AB-A66A-917297B631C5}"/>
              </a:ext>
            </a:extLst>
          </p:cNvPr>
          <p:cNvSpPr/>
          <p:nvPr/>
        </p:nvSpPr>
        <p:spPr>
          <a:xfrm>
            <a:off x="4789493" y="4218544"/>
            <a:ext cx="547698"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F361A3D-3C53-4334-A660-692002AE386E}"/>
              </a:ext>
            </a:extLst>
          </p:cNvPr>
          <p:cNvSpPr/>
          <p:nvPr/>
        </p:nvSpPr>
        <p:spPr>
          <a:xfrm>
            <a:off x="4789988" y="4591900"/>
            <a:ext cx="547698"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F2D23E2-3914-4EFA-A057-08153D193149}"/>
              </a:ext>
            </a:extLst>
          </p:cNvPr>
          <p:cNvSpPr/>
          <p:nvPr/>
        </p:nvSpPr>
        <p:spPr>
          <a:xfrm>
            <a:off x="3973719" y="4583549"/>
            <a:ext cx="547698"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CD18003-B0C0-4484-A815-E2675BAE50CA}"/>
              </a:ext>
            </a:extLst>
          </p:cNvPr>
          <p:cNvSpPr/>
          <p:nvPr/>
        </p:nvSpPr>
        <p:spPr>
          <a:xfrm>
            <a:off x="2625423" y="5356560"/>
            <a:ext cx="2699290"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1C9AED4-95AA-4B92-B8A3-54FE2C482826}"/>
              </a:ext>
            </a:extLst>
          </p:cNvPr>
          <p:cNvSpPr/>
          <p:nvPr/>
        </p:nvSpPr>
        <p:spPr>
          <a:xfrm>
            <a:off x="2619707" y="5731948"/>
            <a:ext cx="2705006"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11F06CD-A503-442B-BF07-E1085EC2E63D}"/>
              </a:ext>
            </a:extLst>
          </p:cNvPr>
          <p:cNvSpPr/>
          <p:nvPr/>
        </p:nvSpPr>
        <p:spPr>
          <a:xfrm>
            <a:off x="2613667" y="6100076"/>
            <a:ext cx="2711045"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91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0" grpId="0" animBg="1"/>
      <p:bldP spid="24" grpId="0" animBg="1"/>
      <p:bldP spid="17" grpId="0" animBg="1"/>
      <p:bldP spid="18" grpId="0" animBg="1"/>
      <p:bldP spid="19" grpId="0" animBg="1"/>
      <p:bldP spid="21" grpId="0" animBg="1"/>
      <p:bldP spid="22" grpId="0" animBg="1"/>
      <p:bldP spid="23" grpId="0" animBg="1"/>
      <p:bldP spid="25" grpId="0" animBg="1"/>
      <p:bldP spid="26" grpId="0" animBg="1"/>
      <p:bldP spid="27" grpId="0" animBg="1"/>
      <p:bldP spid="28"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2CA56C8-D69D-467D-A7FD-1B01FC253978}"/>
              </a:ext>
            </a:extLst>
          </p:cNvPr>
          <p:cNvSpPr/>
          <p:nvPr/>
        </p:nvSpPr>
        <p:spPr>
          <a:xfrm>
            <a:off x="8911375" y="2325575"/>
            <a:ext cx="1417877" cy="743111"/>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FAEC429-59EF-4B75-BF79-0DEB54FBC56C}"/>
              </a:ext>
            </a:extLst>
          </p:cNvPr>
          <p:cNvSpPr/>
          <p:nvPr/>
        </p:nvSpPr>
        <p:spPr>
          <a:xfrm>
            <a:off x="7656277" y="4380010"/>
            <a:ext cx="1419694" cy="743111"/>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FC370F4-01E4-4B2E-AE3B-363BF386AAA6}"/>
              </a:ext>
            </a:extLst>
          </p:cNvPr>
          <p:cNvSpPr/>
          <p:nvPr/>
        </p:nvSpPr>
        <p:spPr>
          <a:xfrm>
            <a:off x="10248093" y="4302519"/>
            <a:ext cx="1409424" cy="743111"/>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3F2538-FFBC-46DD-9021-DF5516BDFB2A}"/>
              </a:ext>
            </a:extLst>
          </p:cNvPr>
          <p:cNvSpPr>
            <a:spLocks noGrp="1"/>
          </p:cNvSpPr>
          <p:nvPr>
            <p:ph type="title"/>
          </p:nvPr>
        </p:nvSpPr>
        <p:spPr/>
        <p:txBody>
          <a:bodyPr/>
          <a:lstStyle/>
          <a:p>
            <a:r>
              <a:rPr lang="en-US" dirty="0"/>
              <a:t>How to Compute on Shared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08B4535-06C2-4E3F-B371-35D6AD996756}"/>
                  </a:ext>
                </a:extLst>
              </p:cNvPr>
              <p:cNvSpPr>
                <a:spLocks noGrp="1"/>
              </p:cNvSpPr>
              <p:nvPr>
                <p:ph idx="1"/>
              </p:nvPr>
            </p:nvSpPr>
            <p:spPr>
              <a:xfrm>
                <a:off x="1451581" y="1694890"/>
                <a:ext cx="5771152" cy="5476472"/>
              </a:xfrm>
            </p:spPr>
            <p:txBody>
              <a:bodyPr>
                <a:normAutofit/>
              </a:bodyPr>
              <a:lstStyle/>
              <a:p>
                <a:r>
                  <a:rPr lang="en-US" dirty="0"/>
                  <a:t>Multiplication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𝑧</m:t>
                        </m:r>
                      </m:e>
                    </m:d>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𝑦</m:t>
                        </m:r>
                      </m:e>
                    </m:d>
                  </m:oMath>
                </a14:m>
                <a:r>
                  <a:rPr lang="en-US" b="0" dirty="0"/>
                  <a:t>: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m:t>
                    </m:r>
                  </m:oMath>
                </a14:m>
                <a:endParaRPr lang="en-US" dirty="0"/>
              </a:p>
              <a:p>
                <a:pPr lvl="1"/>
                <a:r>
                  <a:rPr lang="en-US" dirty="0"/>
                  <a:t>Use “replicated secret sharing”</a:t>
                </a:r>
              </a:p>
              <a:p>
                <a:pPr lvl="1"/>
                <a:r>
                  <a:rPr lang="en-US" dirty="0"/>
                  <a:t>Observe:</a:t>
                </a:r>
                <a:br>
                  <a:rPr lang="en-US" dirty="0"/>
                </a:b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𝑥𝑦</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e>
                    </m:d>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3</m:t>
                            </m:r>
                          </m:sub>
                        </m:sSub>
                      </m:e>
                    </m:d>
                  </m:oMath>
                </a14:m>
                <a:br>
                  <a:rPr lang="en-US" b="0" dirty="0"/>
                </a:br>
                <a14:m>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3</m:t>
                        </m:r>
                      </m:sub>
                    </m:sSub>
                  </m:oMath>
                </a14:m>
                <a:br>
                  <a:rPr lang="en-US" dirty="0"/>
                </a:br>
                <a14:m>
                  <m:oMath xmlns:m="http://schemas.openxmlformats.org/officeDocument/2006/math">
                    <m:r>
                      <a:rPr lang="en-US">
                        <a:latin typeface="Cambria Math" panose="02040503050406030204" pitchFamily="18" charset="0"/>
                      </a:rPr>
                      <m:t>              </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3</m:t>
                        </m:r>
                      </m:sub>
                    </m:sSub>
                  </m:oMath>
                </a14:m>
                <a:br>
                  <a:rPr lang="en-US" dirty="0"/>
                </a:b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3</m:t>
                        </m:r>
                      </m:sub>
                    </m:sSub>
                  </m:oMath>
                </a14:m>
                <a:endParaRPr lang="en-US" dirty="0"/>
              </a:p>
              <a:p>
                <a:pPr lvl="1"/>
                <a:r>
                  <a:rPr lang="en-US" dirty="0"/>
                  <a:t>Let </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oMath>
                </a14:m>
                <a:br>
                  <a:rPr lang="en-US" b="0"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oMath>
                </a14:m>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oMath>
                </a14:m>
                <a:endParaRPr lang="en-US" dirty="0"/>
              </a:p>
            </p:txBody>
          </p:sp>
        </mc:Choice>
        <mc:Fallback>
          <p:sp>
            <p:nvSpPr>
              <p:cNvPr id="3" name="Content Placeholder 2">
                <a:extLst>
                  <a:ext uri="{FF2B5EF4-FFF2-40B4-BE49-F238E27FC236}">
                    <a16:creationId xmlns:a16="http://schemas.microsoft.com/office/drawing/2014/main" id="{308B4535-06C2-4E3F-B371-35D6AD996756}"/>
                  </a:ext>
                </a:extLst>
              </p:cNvPr>
              <p:cNvSpPr>
                <a:spLocks noGrp="1" noRot="1" noChangeAspect="1" noMove="1" noResize="1" noEditPoints="1" noAdjustHandles="1" noChangeArrowheads="1" noChangeShapeType="1" noTextEdit="1"/>
              </p:cNvSpPr>
              <p:nvPr>
                <p:ph idx="1"/>
              </p:nvPr>
            </p:nvSpPr>
            <p:spPr>
              <a:xfrm>
                <a:off x="1451581" y="1694890"/>
                <a:ext cx="5771152" cy="5476472"/>
              </a:xfrm>
              <a:blipFill>
                <a:blip r:embed="rId2"/>
                <a:stretch>
                  <a:fillRect l="-1373" t="-223"/>
                </a:stretch>
              </a:blipFill>
            </p:spPr>
            <p:txBody>
              <a:bodyPr/>
              <a:lstStyle/>
              <a:p>
                <a:r>
                  <a:rPr lang="en-US">
                    <a:noFill/>
                  </a:rPr>
                  <a:t> </a:t>
                </a:r>
              </a:p>
            </p:txBody>
          </p:sp>
        </mc:Fallback>
      </mc:AlternateContent>
      <p:pic>
        <p:nvPicPr>
          <p:cNvPr id="4" name="Picture 2" descr="http://mahdiz.com/images/visaresearch.png">
            <a:extLst>
              <a:ext uri="{FF2B5EF4-FFF2-40B4-BE49-F238E27FC236}">
                <a16:creationId xmlns:a16="http://schemas.microsoft.com/office/drawing/2014/main" id="{491E43E7-00EE-4F68-BF93-379D145EE5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850460" y="1775729"/>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Image result for amazon icon">
            <a:extLst>
              <a:ext uri="{FF2B5EF4-FFF2-40B4-BE49-F238E27FC236}">
                <a16:creationId xmlns:a16="http://schemas.microsoft.com/office/drawing/2014/main" id="{71184F86-539B-4B2B-B537-6FD346C6416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10656344" y="4892693"/>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Image result for bank of america">
            <a:extLst>
              <a:ext uri="{FF2B5EF4-FFF2-40B4-BE49-F238E27FC236}">
                <a16:creationId xmlns:a16="http://schemas.microsoft.com/office/drawing/2014/main" id="{95229F7A-7426-4608-BBC2-901FAC531F5E}"/>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6343157" y="4907071"/>
            <a:ext cx="2231395" cy="10109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510F9D-27FA-44FB-B65F-1F26D67CDD3F}"/>
                  </a:ext>
                </a:extLst>
              </p:cNvPr>
              <p:cNvSpPr txBox="1"/>
              <p:nvPr>
                <p:extLst/>
              </p:nvPr>
            </p:nvSpPr>
            <p:spPr>
              <a:xfrm>
                <a:off x="7695344" y="4562683"/>
                <a:ext cx="110776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2</m:t>
                          </m:r>
                        </m:sub>
                      </m:sSub>
                    </m:oMath>
                  </m:oMathPara>
                </a14:m>
                <a:endParaRPr lang="en-US" sz="2800" dirty="0"/>
              </a:p>
            </p:txBody>
          </p:sp>
        </mc:Choice>
        <mc:Fallback xmlns="">
          <p:sp>
            <p:nvSpPr>
              <p:cNvPr id="7" name="TextBox 6">
                <a:extLst>
                  <a:ext uri="{FF2B5EF4-FFF2-40B4-BE49-F238E27FC236}">
                    <a16:creationId xmlns:a16="http://schemas.microsoft.com/office/drawing/2014/main" id="{7F510F9D-27FA-44FB-B65F-1F26D67CDD3F}"/>
                  </a:ext>
                </a:extLst>
              </p:cNvPr>
              <p:cNvSpPr txBox="1">
                <a:spLocks noRot="1" noChangeAspect="1" noMove="1" noResize="1" noEditPoints="1" noAdjustHandles="1" noChangeArrowheads="1" noChangeShapeType="1" noTextEdit="1"/>
              </p:cNvSpPr>
              <p:nvPr>
                <p:extLst/>
              </p:nvPr>
            </p:nvSpPr>
            <p:spPr>
              <a:xfrm>
                <a:off x="7695344" y="4562683"/>
                <a:ext cx="1107762" cy="523220"/>
              </a:xfrm>
              <a:prstGeom prst="rect">
                <a:avLst/>
              </a:prstGeom>
              <a:blipFill>
                <a:blip r:embed="rId9"/>
                <a:stretch>
                  <a:fillRect r="-219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66E399-2F06-4F14-B460-9C3F854DDD9A}"/>
                  </a:ext>
                </a:extLst>
              </p:cNvPr>
              <p:cNvSpPr txBox="1"/>
              <p:nvPr>
                <p:extLst/>
              </p:nvPr>
            </p:nvSpPr>
            <p:spPr>
              <a:xfrm>
                <a:off x="10251383" y="4504496"/>
                <a:ext cx="1164116"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8" name="TextBox 7">
                <a:extLst>
                  <a:ext uri="{FF2B5EF4-FFF2-40B4-BE49-F238E27FC236}">
                    <a16:creationId xmlns:a16="http://schemas.microsoft.com/office/drawing/2014/main" id="{2566E399-2F06-4F14-B460-9C3F854DDD9A}"/>
                  </a:ext>
                </a:extLst>
              </p:cNvPr>
              <p:cNvSpPr txBox="1">
                <a:spLocks noRot="1" noChangeAspect="1" noMove="1" noResize="1" noEditPoints="1" noAdjustHandles="1" noChangeArrowheads="1" noChangeShapeType="1" noTextEdit="1"/>
              </p:cNvSpPr>
              <p:nvPr>
                <p:extLst/>
              </p:nvPr>
            </p:nvSpPr>
            <p:spPr>
              <a:xfrm>
                <a:off x="10251383" y="4504496"/>
                <a:ext cx="1164116" cy="523220"/>
              </a:xfrm>
              <a:prstGeom prst="rect">
                <a:avLst/>
              </a:prstGeom>
              <a:blipFill>
                <a:blip r:embed="rId10"/>
                <a:stretch>
                  <a:fillRect r="-1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E5BF90-5540-4BBF-A730-84690F97E508}"/>
                  </a:ext>
                </a:extLst>
              </p:cNvPr>
              <p:cNvSpPr txBox="1"/>
              <p:nvPr>
                <p:extLst/>
              </p:nvPr>
            </p:nvSpPr>
            <p:spPr>
              <a:xfrm>
                <a:off x="8932481" y="2183215"/>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9" name="TextBox 8">
                <a:extLst>
                  <a:ext uri="{FF2B5EF4-FFF2-40B4-BE49-F238E27FC236}">
                    <a16:creationId xmlns:a16="http://schemas.microsoft.com/office/drawing/2014/main" id="{D4E5BF90-5540-4BBF-A730-84690F97E508}"/>
                  </a:ext>
                </a:extLst>
              </p:cNvPr>
              <p:cNvSpPr txBox="1">
                <a:spLocks noRot="1" noChangeAspect="1" noMove="1" noResize="1" noEditPoints="1" noAdjustHandles="1" noChangeArrowheads="1" noChangeShapeType="1" noTextEdit="1"/>
              </p:cNvSpPr>
              <p:nvPr>
                <p:extLst/>
              </p:nvPr>
            </p:nvSpPr>
            <p:spPr>
              <a:xfrm>
                <a:off x="8932481" y="2183215"/>
                <a:ext cx="1241509" cy="523220"/>
              </a:xfrm>
              <a:prstGeom prst="rect">
                <a:avLst/>
              </a:prstGeom>
              <a:blipFill>
                <a:blip r:embed="rId11"/>
                <a:stretch>
                  <a:fillRect r="-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D8EC73-AF59-46AC-8B20-3A4B52923EAC}"/>
                  </a:ext>
                </a:extLst>
              </p:cNvPr>
              <p:cNvSpPr txBox="1"/>
              <p:nvPr>
                <p:extLst/>
              </p:nvPr>
            </p:nvSpPr>
            <p:spPr>
              <a:xfrm>
                <a:off x="10248093" y="4175375"/>
                <a:ext cx="1155560"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oMath>
                  </m:oMathPara>
                </a14:m>
                <a:endParaRPr lang="en-US" sz="2800" dirty="0"/>
              </a:p>
            </p:txBody>
          </p:sp>
        </mc:Choice>
        <mc:Fallback xmlns="">
          <p:sp>
            <p:nvSpPr>
              <p:cNvPr id="10" name="TextBox 9">
                <a:extLst>
                  <a:ext uri="{FF2B5EF4-FFF2-40B4-BE49-F238E27FC236}">
                    <a16:creationId xmlns:a16="http://schemas.microsoft.com/office/drawing/2014/main" id="{78D8EC73-AF59-46AC-8B20-3A4B52923EAC}"/>
                  </a:ext>
                </a:extLst>
              </p:cNvPr>
              <p:cNvSpPr txBox="1">
                <a:spLocks noRot="1" noChangeAspect="1" noMove="1" noResize="1" noEditPoints="1" noAdjustHandles="1" noChangeArrowheads="1" noChangeShapeType="1" noTextEdit="1"/>
              </p:cNvSpPr>
              <p:nvPr>
                <p:extLst/>
              </p:nvPr>
            </p:nvSpPr>
            <p:spPr>
              <a:xfrm>
                <a:off x="10248093" y="4175375"/>
                <a:ext cx="1155560"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A46CD0-9DBC-4E11-A5EF-12C1AFF44523}"/>
                  </a:ext>
                </a:extLst>
              </p:cNvPr>
              <p:cNvSpPr txBox="1"/>
              <p:nvPr>
                <p:extLst/>
              </p:nvPr>
            </p:nvSpPr>
            <p:spPr>
              <a:xfrm>
                <a:off x="8920635" y="254581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oMath>
                  </m:oMathPara>
                </a14:m>
                <a:endParaRPr lang="en-US" sz="2800" dirty="0"/>
              </a:p>
            </p:txBody>
          </p:sp>
        </mc:Choice>
        <mc:Fallback xmlns="">
          <p:sp>
            <p:nvSpPr>
              <p:cNvPr id="11" name="TextBox 10">
                <a:extLst>
                  <a:ext uri="{FF2B5EF4-FFF2-40B4-BE49-F238E27FC236}">
                    <a16:creationId xmlns:a16="http://schemas.microsoft.com/office/drawing/2014/main" id="{F3A46CD0-9DBC-4E11-A5EF-12C1AFF44523}"/>
                  </a:ext>
                </a:extLst>
              </p:cNvPr>
              <p:cNvSpPr txBox="1">
                <a:spLocks noRot="1" noChangeAspect="1" noMove="1" noResize="1" noEditPoints="1" noAdjustHandles="1" noChangeArrowheads="1" noChangeShapeType="1" noTextEdit="1"/>
              </p:cNvSpPr>
              <p:nvPr>
                <p:extLst/>
              </p:nvPr>
            </p:nvSpPr>
            <p:spPr>
              <a:xfrm>
                <a:off x="8920635" y="2545813"/>
                <a:ext cx="1241509"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08F250-ADC4-4D17-BEB9-ABC7C7800B79}"/>
                  </a:ext>
                </a:extLst>
              </p:cNvPr>
              <p:cNvSpPr txBox="1"/>
              <p:nvPr>
                <p:extLst/>
              </p:nvPr>
            </p:nvSpPr>
            <p:spPr>
              <a:xfrm>
                <a:off x="7695344" y="4242886"/>
                <a:ext cx="111105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oMath>
                  </m:oMathPara>
                </a14:m>
                <a:endParaRPr lang="en-US" sz="2800" dirty="0"/>
              </a:p>
            </p:txBody>
          </p:sp>
        </mc:Choice>
        <mc:Fallback xmlns="">
          <p:sp>
            <p:nvSpPr>
              <p:cNvPr id="12" name="TextBox 11">
                <a:extLst>
                  <a:ext uri="{FF2B5EF4-FFF2-40B4-BE49-F238E27FC236}">
                    <a16:creationId xmlns:a16="http://schemas.microsoft.com/office/drawing/2014/main" id="{4E08F250-ADC4-4D17-BEB9-ABC7C7800B79}"/>
                  </a:ext>
                </a:extLst>
              </p:cNvPr>
              <p:cNvSpPr txBox="1">
                <a:spLocks noRot="1" noChangeAspect="1" noMove="1" noResize="1" noEditPoints="1" noAdjustHandles="1" noChangeArrowheads="1" noChangeShapeType="1" noTextEdit="1"/>
              </p:cNvSpPr>
              <p:nvPr>
                <p:extLst/>
              </p:nvPr>
            </p:nvSpPr>
            <p:spPr>
              <a:xfrm>
                <a:off x="7695344" y="4242886"/>
                <a:ext cx="1111052"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BEE43968-0F9F-4326-B080-DB12E084258D}"/>
                  </a:ext>
                </a:extLst>
              </p:cNvPr>
              <p:cNvSpPr/>
              <p:nvPr/>
            </p:nvSpPr>
            <p:spPr>
              <a:xfrm>
                <a:off x="8612855" y="4562683"/>
                <a:ext cx="6155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a:latin typeface="Cambria Math" panose="02040503050406030204" pitchFamily="18" charset="0"/>
                            </a:rPr>
                          </m:ctrlPr>
                        </m:sSubPr>
                        <m:e>
                          <m:r>
                            <a:rPr lang="en-US" sz="2800" i="1" dirty="0">
                              <a:latin typeface="Cambria Math" panose="02040503050406030204" pitchFamily="18" charset="0"/>
                            </a:rPr>
                            <m:t>𝑧</m:t>
                          </m:r>
                        </m:e>
                        <m:sub>
                          <m:r>
                            <a:rPr lang="en-US" sz="2800" i="1" dirty="0">
                              <a:latin typeface="Cambria Math" panose="02040503050406030204" pitchFamily="18" charset="0"/>
                            </a:rPr>
                            <m:t>2</m:t>
                          </m:r>
                        </m:sub>
                      </m:sSub>
                    </m:oMath>
                  </m:oMathPara>
                </a14:m>
                <a:endParaRPr lang="en-US" sz="2800" dirty="0"/>
              </a:p>
            </p:txBody>
          </p:sp>
        </mc:Choice>
        <mc:Fallback xmlns="">
          <p:sp>
            <p:nvSpPr>
              <p:cNvPr id="13" name="Rectangle 12">
                <a:extLst>
                  <a:ext uri="{FF2B5EF4-FFF2-40B4-BE49-F238E27FC236}">
                    <a16:creationId xmlns:a16="http://schemas.microsoft.com/office/drawing/2014/main" id="{BEE43968-0F9F-4326-B080-DB12E084258D}"/>
                  </a:ext>
                </a:extLst>
              </p:cNvPr>
              <p:cNvSpPr>
                <a:spLocks noRot="1" noChangeAspect="1" noMove="1" noResize="1" noEditPoints="1" noAdjustHandles="1" noChangeArrowheads="1" noChangeShapeType="1" noTextEdit="1"/>
              </p:cNvSpPr>
              <p:nvPr/>
            </p:nvSpPr>
            <p:spPr>
              <a:xfrm>
                <a:off x="8612855" y="4562683"/>
                <a:ext cx="615553" cy="52322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28FB34FB-2A95-4F29-B5C0-F11BD2AB10F5}"/>
                  </a:ext>
                </a:extLst>
              </p:cNvPr>
              <p:cNvSpPr/>
              <p:nvPr/>
            </p:nvSpPr>
            <p:spPr>
              <a:xfrm>
                <a:off x="11168896" y="4501967"/>
                <a:ext cx="6155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𝑧</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31" name="Rectangle 30">
                <a:extLst>
                  <a:ext uri="{FF2B5EF4-FFF2-40B4-BE49-F238E27FC236}">
                    <a16:creationId xmlns:a16="http://schemas.microsoft.com/office/drawing/2014/main" id="{28FB34FB-2A95-4F29-B5C0-F11BD2AB10F5}"/>
                  </a:ext>
                </a:extLst>
              </p:cNvPr>
              <p:cNvSpPr>
                <a:spLocks noRot="1" noChangeAspect="1" noMove="1" noResize="1" noEditPoints="1" noAdjustHandles="1" noChangeArrowheads="1" noChangeShapeType="1" noTextEdit="1"/>
              </p:cNvSpPr>
              <p:nvPr/>
            </p:nvSpPr>
            <p:spPr>
              <a:xfrm>
                <a:off x="11168896" y="4501967"/>
                <a:ext cx="615553" cy="52322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95C2D84-AD53-40F4-B8AF-3A745C5E7254}"/>
                  </a:ext>
                </a:extLst>
              </p:cNvPr>
              <p:cNvSpPr/>
              <p:nvPr/>
            </p:nvSpPr>
            <p:spPr>
              <a:xfrm>
                <a:off x="9838248" y="2187276"/>
                <a:ext cx="60728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𝑧</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32" name="Rectangle 31">
                <a:extLst>
                  <a:ext uri="{FF2B5EF4-FFF2-40B4-BE49-F238E27FC236}">
                    <a16:creationId xmlns:a16="http://schemas.microsoft.com/office/drawing/2014/main" id="{695C2D84-AD53-40F4-B8AF-3A745C5E7254}"/>
                  </a:ext>
                </a:extLst>
              </p:cNvPr>
              <p:cNvSpPr>
                <a:spLocks noRot="1" noChangeAspect="1" noMove="1" noResize="1" noEditPoints="1" noAdjustHandles="1" noChangeArrowheads="1" noChangeShapeType="1" noTextEdit="1"/>
              </p:cNvSpPr>
              <p:nvPr/>
            </p:nvSpPr>
            <p:spPr>
              <a:xfrm>
                <a:off x="9838248" y="2187276"/>
                <a:ext cx="607282" cy="523220"/>
              </a:xfrm>
              <a:prstGeom prst="rect">
                <a:avLst/>
              </a:prstGeom>
              <a:blipFill>
                <a:blip r:embed="rId17"/>
                <a:stretch>
                  <a:fillRect/>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C6389A04-E214-4D56-8AD7-746113B9E252}"/>
              </a:ext>
            </a:extLst>
          </p:cNvPr>
          <p:cNvSpPr/>
          <p:nvPr/>
        </p:nvSpPr>
        <p:spPr>
          <a:xfrm>
            <a:off x="3171548" y="3843156"/>
            <a:ext cx="547698"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95779D5-9D08-423D-930A-D81F04ADAC17}"/>
              </a:ext>
            </a:extLst>
          </p:cNvPr>
          <p:cNvSpPr/>
          <p:nvPr/>
        </p:nvSpPr>
        <p:spPr>
          <a:xfrm>
            <a:off x="4787289" y="3843156"/>
            <a:ext cx="547698"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060B5D1-D341-4018-9118-43496687B39B}"/>
              </a:ext>
            </a:extLst>
          </p:cNvPr>
          <p:cNvSpPr/>
          <p:nvPr/>
        </p:nvSpPr>
        <p:spPr>
          <a:xfrm>
            <a:off x="3171548" y="4578412"/>
            <a:ext cx="547698"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ABD314E-14CC-42E6-8D20-7CCE22B5F90D}"/>
              </a:ext>
            </a:extLst>
          </p:cNvPr>
          <p:cNvSpPr/>
          <p:nvPr/>
        </p:nvSpPr>
        <p:spPr>
          <a:xfrm>
            <a:off x="3979418" y="3843156"/>
            <a:ext cx="547698"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15D8281-EC96-4412-90E5-FDB2F26AF2DE}"/>
              </a:ext>
            </a:extLst>
          </p:cNvPr>
          <p:cNvSpPr/>
          <p:nvPr/>
        </p:nvSpPr>
        <p:spPr>
          <a:xfrm>
            <a:off x="3168941" y="4218544"/>
            <a:ext cx="547698"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029B5EA-EBED-4BD2-935F-B133DE3219E1}"/>
              </a:ext>
            </a:extLst>
          </p:cNvPr>
          <p:cNvSpPr/>
          <p:nvPr/>
        </p:nvSpPr>
        <p:spPr>
          <a:xfrm>
            <a:off x="3979418" y="4221990"/>
            <a:ext cx="547698"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285F856-3F49-49D1-890D-F2929099F84E}"/>
              </a:ext>
            </a:extLst>
          </p:cNvPr>
          <p:cNvSpPr/>
          <p:nvPr/>
        </p:nvSpPr>
        <p:spPr>
          <a:xfrm>
            <a:off x="4789493" y="4218544"/>
            <a:ext cx="547698"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383B2A1-56B2-4473-AF24-E9C1C8941E75}"/>
              </a:ext>
            </a:extLst>
          </p:cNvPr>
          <p:cNvSpPr/>
          <p:nvPr/>
        </p:nvSpPr>
        <p:spPr>
          <a:xfrm>
            <a:off x="4789988" y="4591900"/>
            <a:ext cx="547698"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C4ED1F2-BA90-4588-A290-14FD32447AEC}"/>
              </a:ext>
            </a:extLst>
          </p:cNvPr>
          <p:cNvSpPr/>
          <p:nvPr/>
        </p:nvSpPr>
        <p:spPr>
          <a:xfrm>
            <a:off x="3973719" y="4583549"/>
            <a:ext cx="547698"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3719074-AF8F-445C-8CE6-A7D516B8D08C}"/>
              </a:ext>
            </a:extLst>
          </p:cNvPr>
          <p:cNvSpPr/>
          <p:nvPr/>
        </p:nvSpPr>
        <p:spPr>
          <a:xfrm>
            <a:off x="2625423" y="5356560"/>
            <a:ext cx="2699290"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6267083-1728-4797-A57E-64C3784CB4A8}"/>
              </a:ext>
            </a:extLst>
          </p:cNvPr>
          <p:cNvSpPr/>
          <p:nvPr/>
        </p:nvSpPr>
        <p:spPr>
          <a:xfrm>
            <a:off x="2619707" y="5731948"/>
            <a:ext cx="2705006"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D8ADB35-9E9F-4148-8DF6-F8218D3F278E}"/>
              </a:ext>
            </a:extLst>
          </p:cNvPr>
          <p:cNvSpPr/>
          <p:nvPr/>
        </p:nvSpPr>
        <p:spPr>
          <a:xfrm>
            <a:off x="2613667" y="6100076"/>
            <a:ext cx="2711045"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212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6.25E-7 -2.22222E-6 L 0.20899 -0.05208 " pathEditMode="relative" rAng="0" ptsTypes="AA">
                                      <p:cBhvr>
                                        <p:cTn id="6" dur="1000" fill="hold"/>
                                        <p:tgtEl>
                                          <p:spTgt spid="13"/>
                                        </p:tgtEl>
                                        <p:attrNameLst>
                                          <p:attrName>ppt_x</p:attrName>
                                          <p:attrName>ppt_y</p:attrName>
                                        </p:attrNameLst>
                                      </p:cBhvr>
                                      <p:rCtr x="10443" y="-2616"/>
                                    </p:animMotion>
                                  </p:childTnLst>
                                </p:cTn>
                              </p:par>
                              <p:par>
                                <p:cTn id="7" presetID="42" presetClass="path" presetSubtype="0" accel="50000" decel="50000" fill="hold" grpId="0" nodeType="withEffect">
                                  <p:stCondLst>
                                    <p:cond delay="0"/>
                                  </p:stCondLst>
                                  <p:childTnLst>
                                    <p:animMotion origin="layout" path="M 3.95833E-6 -4.44444E-6 L -0.10912 -0.28125 " pathEditMode="relative" rAng="0" ptsTypes="AA">
                                      <p:cBhvr>
                                        <p:cTn id="8" dur="1000" fill="hold"/>
                                        <p:tgtEl>
                                          <p:spTgt spid="31"/>
                                        </p:tgtEl>
                                        <p:attrNameLst>
                                          <p:attrName>ppt_x</p:attrName>
                                          <p:attrName>ppt_y</p:attrName>
                                        </p:attrNameLst>
                                      </p:cBhvr>
                                      <p:rCtr x="-5456" y="-14074"/>
                                    </p:animMotion>
                                  </p:childTnLst>
                                </p:cTn>
                              </p:par>
                              <p:par>
                                <p:cTn id="9" presetID="42" presetClass="path" presetSubtype="0" accel="50000" decel="50000" fill="hold" grpId="0" nodeType="withEffect">
                                  <p:stCondLst>
                                    <p:cond delay="0"/>
                                  </p:stCondLst>
                                  <p:childTnLst>
                                    <p:animMotion origin="layout" path="M -8.33333E-7 -4.44444E-6 L -0.10312 0.30672 " pathEditMode="relative" rAng="0" ptsTypes="AA">
                                      <p:cBhvr>
                                        <p:cTn id="10" dur="1000" fill="hold"/>
                                        <p:tgtEl>
                                          <p:spTgt spid="32"/>
                                        </p:tgtEl>
                                        <p:attrNameLst>
                                          <p:attrName>ppt_x</p:attrName>
                                          <p:attrName>ppt_y</p:attrName>
                                        </p:attrNameLst>
                                      </p:cBhvr>
                                      <p:rCtr x="-5156" y="1532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1"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0" name="Content Placeholder 2">
                <a:extLst>
                  <a:ext uri="{FF2B5EF4-FFF2-40B4-BE49-F238E27FC236}">
                    <a16:creationId xmlns:a16="http://schemas.microsoft.com/office/drawing/2014/main" id="{24273660-3D0B-42A8-A109-132B287DEF01}"/>
                  </a:ext>
                </a:extLst>
              </p:cNvPr>
              <p:cNvSpPr>
                <a:spLocks noGrp="1"/>
              </p:cNvSpPr>
              <p:nvPr>
                <p:ph idx="1"/>
              </p:nvPr>
            </p:nvSpPr>
            <p:spPr>
              <a:xfrm>
                <a:off x="1451581" y="1694890"/>
                <a:ext cx="5771152" cy="5476472"/>
              </a:xfrm>
            </p:spPr>
            <p:txBody>
              <a:bodyPr>
                <a:normAutofit/>
              </a:bodyPr>
              <a:lstStyle/>
              <a:p>
                <a:r>
                  <a:rPr lang="en-US" dirty="0"/>
                  <a:t>Treat bottom bits as factional bits</a:t>
                </a:r>
              </a:p>
              <a:p>
                <a:r>
                  <a:rPr lang="en-US" dirty="0"/>
                  <a:t>Multiplication drops top/bottom </a:t>
                </a:r>
                <a14:m>
                  <m:oMath xmlns:m="http://schemas.openxmlformats.org/officeDocument/2006/math">
                    <m:r>
                      <a:rPr lang="en-US" b="0" i="1" smtClean="0">
                        <a:latin typeface="Cambria Math" panose="02040503050406030204" pitchFamily="18" charset="0"/>
                      </a:rPr>
                      <m:t>𝑑</m:t>
                    </m:r>
                  </m:oMath>
                </a14:m>
                <a:r>
                  <a:rPr lang="en-US" dirty="0"/>
                  <a:t> bits</a:t>
                </a:r>
              </a:p>
            </p:txBody>
          </p:sp>
        </mc:Choice>
        <mc:Fallback>
          <p:sp>
            <p:nvSpPr>
              <p:cNvPr id="30" name="Content Placeholder 2">
                <a:extLst>
                  <a:ext uri="{FF2B5EF4-FFF2-40B4-BE49-F238E27FC236}">
                    <a16:creationId xmlns:a16="http://schemas.microsoft.com/office/drawing/2014/main" id="{24273660-3D0B-42A8-A109-132B287DEF01}"/>
                  </a:ext>
                </a:extLst>
              </p:cNvPr>
              <p:cNvSpPr>
                <a:spLocks noGrp="1" noRot="1" noChangeAspect="1" noMove="1" noResize="1" noEditPoints="1" noAdjustHandles="1" noChangeArrowheads="1" noChangeShapeType="1" noTextEdit="1"/>
              </p:cNvSpPr>
              <p:nvPr>
                <p:ph idx="1"/>
              </p:nvPr>
            </p:nvSpPr>
            <p:spPr>
              <a:xfrm>
                <a:off x="1451581" y="1694890"/>
                <a:ext cx="5771152" cy="5476472"/>
              </a:xfrm>
              <a:blipFill>
                <a:blip r:embed="rId3"/>
                <a:stretch>
                  <a:fillRect l="-1373" t="-223"/>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dirty="0"/>
              <a:t>Decimal Multiplications in Integer Group</a:t>
            </a:r>
          </a:p>
        </p:txBody>
      </p:sp>
      <mc:AlternateContent xmlns:mc="http://schemas.openxmlformats.org/markup-compatibility/2006">
        <mc:Choice xmlns:a14="http://schemas.microsoft.com/office/drawing/2010/main" Requires="a14">
          <p:sp>
            <p:nvSpPr>
              <p:cNvPr id="4" name="TextBox 3"/>
              <p:cNvSpPr txBox="1"/>
              <p:nvPr/>
            </p:nvSpPr>
            <p:spPr>
              <a:xfrm>
                <a:off x="10069408" y="2246687"/>
                <a:ext cx="1435582" cy="395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ℤ</m:t>
                          </m:r>
                        </m:e>
                        <m:sub>
                          <m:sSup>
                            <m:sSupPr>
                              <m:ctrlPr>
                                <a:rPr lang="en-US" sz="2400" b="0" i="1" dirty="0" smtClean="0">
                                  <a:latin typeface="Cambria Math" panose="02040503050406030204" pitchFamily="18" charset="0"/>
                                  <a:ea typeface="Cambria Math" panose="02040503050406030204" pitchFamily="18" charset="0"/>
                                </a:rPr>
                              </m:ctrlPr>
                            </m:sSupPr>
                            <m:e>
                              <m:r>
                                <a:rPr lang="en-US" sz="2400" b="0" i="1" dirty="0" smtClean="0">
                                  <a:latin typeface="Cambria Math" panose="02040503050406030204" pitchFamily="18" charset="0"/>
                                  <a:ea typeface="Cambria Math" panose="02040503050406030204" pitchFamily="18" charset="0"/>
                                </a:rPr>
                                <m:t>2</m:t>
                              </m:r>
                            </m:e>
                            <m:sup>
                              <m:r>
                                <a:rPr lang="en-US" sz="2400" b="0" i="1" dirty="0" smtClean="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4" name="TextBox 3"/>
              <p:cNvSpPr txBox="1">
                <a:spLocks noRot="1" noChangeAspect="1" noMove="1" noResize="1" noEditPoints="1" noAdjustHandles="1" noChangeArrowheads="1" noChangeShapeType="1" noTextEdit="1"/>
              </p:cNvSpPr>
              <p:nvPr/>
            </p:nvSpPr>
            <p:spPr>
              <a:xfrm>
                <a:off x="10069408" y="2246687"/>
                <a:ext cx="1435582" cy="395972"/>
              </a:xfrm>
              <a:prstGeom prst="rect">
                <a:avLst/>
              </a:prstGeom>
              <a:blipFill>
                <a:blip r:embed="rId4"/>
                <a:stretch>
                  <a:fillRect b="-18462"/>
                </a:stretch>
              </a:blipFill>
            </p:spPr>
            <p:txBody>
              <a:bodyPr/>
              <a:lstStyle/>
              <a:p>
                <a:r>
                  <a:rPr lang="en-US">
                    <a:noFill/>
                  </a:rPr>
                  <a:t> </a:t>
                </a:r>
              </a:p>
            </p:txBody>
          </p:sp>
        </mc:Fallback>
      </mc:AlternateContent>
      <p:sp>
        <p:nvSpPr>
          <p:cNvPr id="5" name="Rectangle 4"/>
          <p:cNvSpPr/>
          <p:nvPr/>
        </p:nvSpPr>
        <p:spPr>
          <a:xfrm>
            <a:off x="8172198" y="2315235"/>
            <a:ext cx="898502" cy="24366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9400029" y="2315233"/>
            <a:ext cx="894057" cy="24366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9117020" y="2239079"/>
            <a:ext cx="312192" cy="395972"/>
          </a:xfrm>
          <a:prstGeom prst="rect">
            <a:avLst/>
          </a:prstGeom>
          <a:noFill/>
        </p:spPr>
        <p:txBody>
          <a:bodyPr wrap="square" rtlCol="0">
            <a:spAutoFit/>
          </a:bodyPr>
          <a:lstStyle/>
          <a:p>
            <a:r>
              <a:rPr lang="en-US" sz="2400" b="1" dirty="0"/>
              <a:t>.</a:t>
            </a:r>
          </a:p>
        </p:txBody>
      </p:sp>
      <p:sp>
        <p:nvSpPr>
          <p:cNvPr id="8" name="Right Brace 7"/>
          <p:cNvSpPr/>
          <p:nvPr/>
        </p:nvSpPr>
        <p:spPr>
          <a:xfrm rot="5400000" flipH="1">
            <a:off x="9741406" y="1236862"/>
            <a:ext cx="195880" cy="974961"/>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0" name="TextBox 9"/>
              <p:cNvSpPr txBox="1"/>
              <p:nvPr/>
            </p:nvSpPr>
            <p:spPr>
              <a:xfrm>
                <a:off x="10245939" y="1779322"/>
                <a:ext cx="1078391" cy="395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ℤ</m:t>
                          </m:r>
                        </m:e>
                        <m:sub>
                          <m:sSup>
                            <m:sSupPr>
                              <m:ctrlPr>
                                <a:rPr lang="en-US" sz="2400" i="1" dirty="0">
                                  <a:latin typeface="Cambria Math" panose="02040503050406030204" pitchFamily="18" charset="0"/>
                                  <a:ea typeface="Cambria Math" panose="02040503050406030204" pitchFamily="18" charset="0"/>
                                </a:rPr>
                              </m:ctrlPr>
                            </m:sSupPr>
                            <m:e>
                              <m:r>
                                <a:rPr lang="en-US" sz="2400" i="1" dirty="0">
                                  <a:latin typeface="Cambria Math" panose="02040503050406030204" pitchFamily="18" charset="0"/>
                                  <a:ea typeface="Cambria Math" panose="02040503050406030204" pitchFamily="18" charset="0"/>
                                </a:rPr>
                                <m:t>2</m:t>
                              </m:r>
                            </m:e>
                            <m:sup>
                              <m:r>
                                <a:rPr lang="en-US" sz="2400" i="1" dirty="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10" name="TextBox 9"/>
              <p:cNvSpPr txBox="1">
                <a:spLocks noRot="1" noChangeAspect="1" noMove="1" noResize="1" noEditPoints="1" noAdjustHandles="1" noChangeArrowheads="1" noChangeShapeType="1" noTextEdit="1"/>
              </p:cNvSpPr>
              <p:nvPr/>
            </p:nvSpPr>
            <p:spPr>
              <a:xfrm>
                <a:off x="10245939" y="1779322"/>
                <a:ext cx="1078391" cy="395972"/>
              </a:xfrm>
              <a:prstGeom prst="rect">
                <a:avLst/>
              </a:prstGeom>
              <a:blipFill>
                <a:blip r:embed="rId5"/>
                <a:stretch>
                  <a:fillRect b="-18462"/>
                </a:stretch>
              </a:blipFill>
            </p:spPr>
            <p:txBody>
              <a:bodyPr/>
              <a:lstStyle/>
              <a:p>
                <a:r>
                  <a:rPr lang="en-US">
                    <a:noFill/>
                  </a:rPr>
                  <a:t> </a:t>
                </a:r>
              </a:p>
            </p:txBody>
          </p:sp>
        </mc:Fallback>
      </mc:AlternateContent>
      <p:sp>
        <p:nvSpPr>
          <p:cNvPr id="11" name="Rectangle 10"/>
          <p:cNvSpPr/>
          <p:nvPr/>
        </p:nvSpPr>
        <p:spPr>
          <a:xfrm>
            <a:off x="8172198" y="1891390"/>
            <a:ext cx="898502" cy="24366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2" name="Rectangle 11"/>
          <p:cNvSpPr/>
          <p:nvPr/>
        </p:nvSpPr>
        <p:spPr>
          <a:xfrm>
            <a:off x="9400029" y="1891388"/>
            <a:ext cx="894057" cy="24366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3" name="TextBox 12"/>
          <p:cNvSpPr txBox="1"/>
          <p:nvPr/>
        </p:nvSpPr>
        <p:spPr>
          <a:xfrm>
            <a:off x="9117020" y="1815233"/>
            <a:ext cx="312192" cy="395972"/>
          </a:xfrm>
          <a:prstGeom prst="rect">
            <a:avLst/>
          </a:prstGeom>
          <a:noFill/>
        </p:spPr>
        <p:txBody>
          <a:bodyPr wrap="square" rtlCol="0">
            <a:spAutoFit/>
          </a:bodyPr>
          <a:lstStyle/>
          <a:p>
            <a:r>
              <a:rPr lang="en-US" sz="2400" b="1" dirty="0"/>
              <a:t>.</a:t>
            </a:r>
          </a:p>
        </p:txBody>
      </p:sp>
      <p:sp>
        <p:nvSpPr>
          <p:cNvPr id="16" name="TextBox 15"/>
          <p:cNvSpPr txBox="1"/>
          <p:nvPr/>
        </p:nvSpPr>
        <p:spPr>
          <a:xfrm>
            <a:off x="7827012" y="2241239"/>
            <a:ext cx="345186" cy="395972"/>
          </a:xfrm>
          <a:prstGeom prst="rect">
            <a:avLst/>
          </a:prstGeom>
          <a:noFill/>
        </p:spPr>
        <p:txBody>
          <a:bodyPr wrap="square" rtlCol="0">
            <a:spAutoFit/>
          </a:bodyPr>
          <a:lstStyle/>
          <a:p>
            <a:r>
              <a:rPr lang="en-US" sz="2400" b="1" dirty="0">
                <a:latin typeface="Georgia" panose="02040502050405020303" pitchFamily="18" charset="0"/>
              </a:rPr>
              <a:t>×</a:t>
            </a:r>
            <a:endParaRPr lang="en-US" sz="2400" b="1" dirty="0"/>
          </a:p>
        </p:txBody>
      </p:sp>
      <p:sp>
        <p:nvSpPr>
          <p:cNvPr id="19" name="Rectangle 18"/>
          <p:cNvSpPr/>
          <p:nvPr/>
        </p:nvSpPr>
        <p:spPr>
          <a:xfrm>
            <a:off x="9400029" y="2885743"/>
            <a:ext cx="1803578"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0" name="TextBox 19"/>
          <p:cNvSpPr txBox="1"/>
          <p:nvPr/>
        </p:nvSpPr>
        <p:spPr>
          <a:xfrm>
            <a:off x="9117020" y="2809588"/>
            <a:ext cx="312192" cy="395972"/>
          </a:xfrm>
          <a:prstGeom prst="rect">
            <a:avLst/>
          </a:prstGeom>
          <a:noFill/>
        </p:spPr>
        <p:txBody>
          <a:bodyPr wrap="square" rtlCol="0">
            <a:spAutoFit/>
          </a:bodyPr>
          <a:lstStyle/>
          <a:p>
            <a:r>
              <a:rPr lang="en-US" sz="2400" b="1" dirty="0"/>
              <a:t>.</a:t>
            </a:r>
          </a:p>
        </p:txBody>
      </p:sp>
      <p:sp>
        <p:nvSpPr>
          <p:cNvPr id="21" name="Right Brace 20"/>
          <p:cNvSpPr/>
          <p:nvPr/>
        </p:nvSpPr>
        <p:spPr>
          <a:xfrm rot="5400000">
            <a:off x="10211836" y="2421485"/>
            <a:ext cx="164498" cy="1844031"/>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TextBox 21"/>
          <p:cNvSpPr txBox="1"/>
          <p:nvPr/>
        </p:nvSpPr>
        <p:spPr>
          <a:xfrm>
            <a:off x="9950684" y="3422051"/>
            <a:ext cx="898502" cy="369332"/>
          </a:xfrm>
          <a:prstGeom prst="rect">
            <a:avLst/>
          </a:prstGeom>
          <a:noFill/>
        </p:spPr>
        <p:txBody>
          <a:bodyPr wrap="square" rtlCol="0">
            <a:spAutoFit/>
          </a:bodyPr>
          <a:lstStyle/>
          <a:p>
            <a:r>
              <a:rPr lang="en-US" dirty="0"/>
              <a:t>32 bits</a:t>
            </a:r>
          </a:p>
        </p:txBody>
      </p:sp>
      <p:sp>
        <p:nvSpPr>
          <p:cNvPr id="24" name="Rectangle 23"/>
          <p:cNvSpPr/>
          <p:nvPr/>
        </p:nvSpPr>
        <p:spPr>
          <a:xfrm>
            <a:off x="8172198" y="3824815"/>
            <a:ext cx="898502"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5" name="Rectangle 24"/>
          <p:cNvSpPr/>
          <p:nvPr/>
        </p:nvSpPr>
        <p:spPr>
          <a:xfrm>
            <a:off x="9400029" y="3824813"/>
            <a:ext cx="1024136"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6" name="TextBox 25"/>
          <p:cNvSpPr txBox="1"/>
          <p:nvPr/>
        </p:nvSpPr>
        <p:spPr>
          <a:xfrm>
            <a:off x="9117020" y="3748658"/>
            <a:ext cx="312192" cy="395972"/>
          </a:xfrm>
          <a:prstGeom prst="rect">
            <a:avLst/>
          </a:prstGeom>
          <a:noFill/>
        </p:spPr>
        <p:txBody>
          <a:bodyPr wrap="square" rtlCol="0">
            <a:spAutoFit/>
          </a:bodyPr>
          <a:lstStyle/>
          <a:p>
            <a:r>
              <a:rPr lang="en-US" sz="2400" b="1" dirty="0"/>
              <a:t>.</a:t>
            </a:r>
          </a:p>
        </p:txBody>
      </p:sp>
      <p:sp>
        <p:nvSpPr>
          <p:cNvPr id="27" name="Right Brace 26"/>
          <p:cNvSpPr/>
          <p:nvPr/>
        </p:nvSpPr>
        <p:spPr>
          <a:xfrm rot="5400000">
            <a:off x="9830173" y="3750189"/>
            <a:ext cx="123395" cy="1064588"/>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8" name="TextBox 27"/>
          <p:cNvSpPr txBox="1"/>
          <p:nvPr/>
        </p:nvSpPr>
        <p:spPr>
          <a:xfrm>
            <a:off x="9509800" y="4344181"/>
            <a:ext cx="804593" cy="316778"/>
          </a:xfrm>
          <a:prstGeom prst="rect">
            <a:avLst/>
          </a:prstGeom>
          <a:noFill/>
        </p:spPr>
        <p:txBody>
          <a:bodyPr wrap="square" rtlCol="0">
            <a:spAutoFit/>
          </a:bodyPr>
          <a:lstStyle/>
          <a:p>
            <a:r>
              <a:rPr lang="en-US" dirty="0"/>
              <a:t>16 bits</a:t>
            </a:r>
          </a:p>
        </p:txBody>
      </p:sp>
      <p:cxnSp>
        <p:nvCxnSpPr>
          <p:cNvPr id="31" name="Straight Connector 30">
            <a:extLst>
              <a:ext uri="{FF2B5EF4-FFF2-40B4-BE49-F238E27FC236}">
                <a16:creationId xmlns:a16="http://schemas.microsoft.com/office/drawing/2014/main" id="{3E615738-B903-42B9-B49E-9C8686D3D29C}"/>
              </a:ext>
            </a:extLst>
          </p:cNvPr>
          <p:cNvCxnSpPr>
            <a:cxnSpLocks/>
          </p:cNvCxnSpPr>
          <p:nvPr/>
        </p:nvCxnSpPr>
        <p:spPr>
          <a:xfrm>
            <a:off x="7203877" y="2741714"/>
            <a:ext cx="409473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E152B3F-687A-44BE-904F-26A29A39CF03}"/>
              </a:ext>
            </a:extLst>
          </p:cNvPr>
          <p:cNvSpPr/>
          <p:nvPr/>
        </p:nvSpPr>
        <p:spPr>
          <a:xfrm>
            <a:off x="7262096" y="2882978"/>
            <a:ext cx="1808605"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573DDEFD-12C0-4E65-B53E-D4D1DC739323}"/>
                  </a:ext>
                </a:extLst>
              </p:cNvPr>
              <p:cNvSpPr txBox="1"/>
              <p:nvPr/>
            </p:nvSpPr>
            <p:spPr>
              <a:xfrm>
                <a:off x="11027979" y="2806821"/>
                <a:ext cx="1435582" cy="395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ℤ</m:t>
                          </m:r>
                        </m:e>
                        <m:sub>
                          <m:sSup>
                            <m:sSupPr>
                              <m:ctrlPr>
                                <a:rPr lang="en-US" sz="2400" b="0" i="1" dirty="0" smtClean="0">
                                  <a:latin typeface="Cambria Math" panose="02040503050406030204" pitchFamily="18" charset="0"/>
                                  <a:ea typeface="Cambria Math" panose="02040503050406030204" pitchFamily="18" charset="0"/>
                                </a:rPr>
                              </m:ctrlPr>
                            </m:sSupPr>
                            <m:e>
                              <m:r>
                                <a:rPr lang="en-US" sz="2400" b="0" i="1" dirty="0" smtClean="0">
                                  <a:latin typeface="Cambria Math" panose="02040503050406030204" pitchFamily="18" charset="0"/>
                                  <a:ea typeface="Cambria Math" panose="02040503050406030204" pitchFamily="18" charset="0"/>
                                </a:rPr>
                                <m:t>2</m:t>
                              </m:r>
                            </m:e>
                            <m:sup>
                              <m:r>
                                <a:rPr lang="en-US" sz="2400" b="0" i="1" dirty="0" smtClean="0">
                                  <a:solidFill>
                                    <a:srgbClr val="FF0000"/>
                                  </a:solidFill>
                                  <a:latin typeface="Cambria Math" panose="02040503050406030204" pitchFamily="18" charset="0"/>
                                  <a:ea typeface="Cambria Math" panose="02040503050406030204" pitchFamily="18" charset="0"/>
                                </a:rPr>
                                <m:t>2</m:t>
                              </m:r>
                              <m:r>
                                <a:rPr lang="en-US" sz="2400" b="0" i="1" dirty="0" smtClean="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36" name="TextBox 35">
                <a:extLst>
                  <a:ext uri="{FF2B5EF4-FFF2-40B4-BE49-F238E27FC236}">
                    <a16:creationId xmlns:a16="http://schemas.microsoft.com/office/drawing/2014/main" id="{573DDEFD-12C0-4E65-B53E-D4D1DC739323}"/>
                  </a:ext>
                </a:extLst>
              </p:cNvPr>
              <p:cNvSpPr txBox="1">
                <a:spLocks noRot="1" noChangeAspect="1" noMove="1" noResize="1" noEditPoints="1" noAdjustHandles="1" noChangeArrowheads="1" noChangeShapeType="1" noTextEdit="1"/>
              </p:cNvSpPr>
              <p:nvPr/>
            </p:nvSpPr>
            <p:spPr>
              <a:xfrm>
                <a:off x="11027979" y="2806821"/>
                <a:ext cx="1435582" cy="395972"/>
              </a:xfrm>
              <a:prstGeom prst="rect">
                <a:avLst/>
              </a:prstGeom>
              <a:blipFill>
                <a:blip r:embed="rId6"/>
                <a:stretch>
                  <a:fillRect b="-23077"/>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F80FD9AD-5ADF-49B9-894C-427F53E8DF99}"/>
              </a:ext>
            </a:extLst>
          </p:cNvPr>
          <p:cNvSpPr/>
          <p:nvPr/>
        </p:nvSpPr>
        <p:spPr>
          <a:xfrm>
            <a:off x="7261432" y="3826270"/>
            <a:ext cx="898502" cy="243661"/>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51119D0-9345-41B6-B076-6F2831520AAC}"/>
              </a:ext>
            </a:extLst>
          </p:cNvPr>
          <p:cNvSpPr/>
          <p:nvPr/>
        </p:nvSpPr>
        <p:spPr>
          <a:xfrm>
            <a:off x="10425827" y="3824813"/>
            <a:ext cx="790274" cy="243661"/>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B3C3C612-41B7-4C34-9C71-50722ED78261}"/>
                  </a:ext>
                </a:extLst>
              </p:cNvPr>
              <p:cNvSpPr txBox="1"/>
              <p:nvPr/>
            </p:nvSpPr>
            <p:spPr>
              <a:xfrm>
                <a:off x="11212166" y="3689481"/>
                <a:ext cx="1078391" cy="395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ℤ</m:t>
                          </m:r>
                        </m:e>
                        <m:sub>
                          <m:sSup>
                            <m:sSupPr>
                              <m:ctrlPr>
                                <a:rPr lang="en-US" sz="2400" i="1" dirty="0">
                                  <a:latin typeface="Cambria Math" panose="02040503050406030204" pitchFamily="18" charset="0"/>
                                  <a:ea typeface="Cambria Math" panose="02040503050406030204" pitchFamily="18" charset="0"/>
                                </a:rPr>
                              </m:ctrlPr>
                            </m:sSupPr>
                            <m:e>
                              <m:r>
                                <a:rPr lang="en-US" sz="2400" i="1" dirty="0">
                                  <a:latin typeface="Cambria Math" panose="02040503050406030204" pitchFamily="18" charset="0"/>
                                  <a:ea typeface="Cambria Math" panose="02040503050406030204" pitchFamily="18" charset="0"/>
                                </a:rPr>
                                <m:t>2</m:t>
                              </m:r>
                            </m:e>
                            <m:sup>
                              <m:r>
                                <a:rPr lang="en-US" sz="2400" i="1" dirty="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33" name="TextBox 32">
                <a:extLst>
                  <a:ext uri="{FF2B5EF4-FFF2-40B4-BE49-F238E27FC236}">
                    <a16:creationId xmlns:a16="http://schemas.microsoft.com/office/drawing/2014/main" id="{B3C3C612-41B7-4C34-9C71-50722ED78261}"/>
                  </a:ext>
                </a:extLst>
              </p:cNvPr>
              <p:cNvSpPr txBox="1">
                <a:spLocks noRot="1" noChangeAspect="1" noMove="1" noResize="1" noEditPoints="1" noAdjustHandles="1" noChangeArrowheads="1" noChangeShapeType="1" noTextEdit="1"/>
              </p:cNvSpPr>
              <p:nvPr/>
            </p:nvSpPr>
            <p:spPr>
              <a:xfrm>
                <a:off x="11212166" y="3689481"/>
                <a:ext cx="1078391" cy="395972"/>
              </a:xfrm>
              <a:prstGeom prst="rect">
                <a:avLst/>
              </a:prstGeom>
              <a:blipFill>
                <a:blip r:embed="rId7"/>
                <a:stretch>
                  <a:fillRect b="-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176EA3FC-4234-46EB-AFA8-16BFE8D43591}"/>
                  </a:ext>
                </a:extLst>
              </p:cNvPr>
              <p:cNvSpPr txBox="1"/>
              <p:nvPr/>
            </p:nvSpPr>
            <p:spPr>
              <a:xfrm>
                <a:off x="9351865" y="1304105"/>
                <a:ext cx="1265417" cy="369332"/>
              </a:xfrm>
              <a:prstGeom prst="rect">
                <a:avLst/>
              </a:prstGeom>
              <a:noFill/>
            </p:spPr>
            <p:txBody>
              <a:bodyPr wrap="square" rtlCol="0">
                <a:spAutoFit/>
              </a:bodyPr>
              <a:lstStyle/>
              <a:p>
                <a14:m>
                  <m:oMath xmlns:m="http://schemas.openxmlformats.org/officeDocument/2006/math">
                    <m:r>
                      <a:rPr lang="en-US" i="1">
                        <a:latin typeface="Cambria Math" panose="02040503050406030204" pitchFamily="18" charset="0"/>
                      </a:rPr>
                      <m:t>ℓ =</m:t>
                    </m:r>
                  </m:oMath>
                </a14:m>
                <a:r>
                  <a:rPr lang="en-US" dirty="0"/>
                  <a:t>16 bits</a:t>
                </a:r>
              </a:p>
            </p:txBody>
          </p:sp>
        </mc:Choice>
        <mc:Fallback>
          <p:sp>
            <p:nvSpPr>
              <p:cNvPr id="35" name="TextBox 34">
                <a:extLst>
                  <a:ext uri="{FF2B5EF4-FFF2-40B4-BE49-F238E27FC236}">
                    <a16:creationId xmlns:a16="http://schemas.microsoft.com/office/drawing/2014/main" id="{176EA3FC-4234-46EB-AFA8-16BFE8D43591}"/>
                  </a:ext>
                </a:extLst>
              </p:cNvPr>
              <p:cNvSpPr txBox="1">
                <a:spLocks noRot="1" noChangeAspect="1" noMove="1" noResize="1" noEditPoints="1" noAdjustHandles="1" noChangeArrowheads="1" noChangeShapeType="1" noTextEdit="1"/>
              </p:cNvSpPr>
              <p:nvPr/>
            </p:nvSpPr>
            <p:spPr>
              <a:xfrm>
                <a:off x="9351865" y="1304105"/>
                <a:ext cx="1265417" cy="369332"/>
              </a:xfrm>
              <a:prstGeom prst="rect">
                <a:avLst/>
              </a:prstGeom>
              <a:blipFill>
                <a:blip r:embed="rId8"/>
                <a:stretch>
                  <a:fillRect t="-9836"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D33B6EF-7FBE-4E85-8D63-69F422CF03A9}"/>
                  </a:ext>
                </a:extLst>
              </p:cNvPr>
              <p:cNvSpPr txBox="1"/>
              <p:nvPr/>
            </p:nvSpPr>
            <p:spPr>
              <a:xfrm>
                <a:off x="7036663" y="1804034"/>
                <a:ext cx="841829"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m:t>
                      </m:r>
                    </m:oMath>
                  </m:oMathPara>
                </a14:m>
                <a:endParaRPr lang="en-US" sz="2000" dirty="0"/>
              </a:p>
            </p:txBody>
          </p:sp>
        </mc:Choice>
        <mc:Fallback>
          <p:sp>
            <p:nvSpPr>
              <p:cNvPr id="14" name="TextBox 13">
                <a:extLst>
                  <a:ext uri="{FF2B5EF4-FFF2-40B4-BE49-F238E27FC236}">
                    <a16:creationId xmlns:a16="http://schemas.microsoft.com/office/drawing/2014/main" id="{0D33B6EF-7FBE-4E85-8D63-69F422CF03A9}"/>
                  </a:ext>
                </a:extLst>
              </p:cNvPr>
              <p:cNvSpPr txBox="1">
                <a:spLocks noRot="1" noChangeAspect="1" noMove="1" noResize="1" noEditPoints="1" noAdjustHandles="1" noChangeArrowheads="1" noChangeShapeType="1" noTextEdit="1"/>
              </p:cNvSpPr>
              <p:nvPr/>
            </p:nvSpPr>
            <p:spPr>
              <a:xfrm>
                <a:off x="7036663" y="1804034"/>
                <a:ext cx="841829"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D4BBA29C-8CC7-4968-9C4F-F573106C4FE0}"/>
                  </a:ext>
                </a:extLst>
              </p:cNvPr>
              <p:cNvSpPr txBox="1"/>
              <p:nvPr/>
            </p:nvSpPr>
            <p:spPr>
              <a:xfrm>
                <a:off x="7040475" y="2223060"/>
                <a:ext cx="841829" cy="40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m:t>
                      </m:r>
                    </m:oMath>
                  </m:oMathPara>
                </a14:m>
                <a:endParaRPr lang="en-US" sz="2000" dirty="0"/>
              </a:p>
            </p:txBody>
          </p:sp>
        </mc:Choice>
        <mc:Fallback>
          <p:sp>
            <p:nvSpPr>
              <p:cNvPr id="37" name="TextBox 36">
                <a:extLst>
                  <a:ext uri="{FF2B5EF4-FFF2-40B4-BE49-F238E27FC236}">
                    <a16:creationId xmlns:a16="http://schemas.microsoft.com/office/drawing/2014/main" id="{D4BBA29C-8CC7-4968-9C4F-F573106C4FE0}"/>
                  </a:ext>
                </a:extLst>
              </p:cNvPr>
              <p:cNvSpPr txBox="1">
                <a:spLocks noRot="1" noChangeAspect="1" noMove="1" noResize="1" noEditPoints="1" noAdjustHandles="1" noChangeArrowheads="1" noChangeShapeType="1" noTextEdit="1"/>
              </p:cNvSpPr>
              <p:nvPr/>
            </p:nvSpPr>
            <p:spPr>
              <a:xfrm>
                <a:off x="7040475" y="2223060"/>
                <a:ext cx="841829" cy="400110"/>
              </a:xfrm>
              <a:prstGeom prst="rect">
                <a:avLst/>
              </a:prstGeom>
              <a:blipFill>
                <a:blip r:embed="rId10"/>
                <a:stretch>
                  <a:fillRect b="-9231"/>
                </a:stretch>
              </a:blipFill>
            </p:spPr>
            <p:txBody>
              <a:bodyPr/>
              <a:lstStyle/>
              <a:p>
                <a:r>
                  <a:rPr lang="en-US">
                    <a:noFill/>
                  </a:rPr>
                  <a:t> </a:t>
                </a:r>
              </a:p>
            </p:txBody>
          </p:sp>
        </mc:Fallback>
      </mc:AlternateContent>
    </p:spTree>
    <p:extLst>
      <p:ext uri="{BB962C8B-B14F-4D97-AF65-F5344CB8AC3E}">
        <p14:creationId xmlns:p14="http://schemas.microsoft.com/office/powerpoint/2010/main" val="90784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p:bldP spid="16" grpId="0"/>
      <p:bldP spid="19" grpId="0" animBg="1"/>
      <p:bldP spid="20" grpId="0"/>
      <p:bldP spid="21" grpId="0" animBg="1"/>
      <p:bldP spid="22" grpId="0"/>
      <p:bldP spid="24" grpId="0" animBg="1"/>
      <p:bldP spid="25" grpId="0" animBg="1"/>
      <p:bldP spid="26" grpId="0"/>
      <p:bldP spid="27" grpId="0" animBg="1"/>
      <p:bldP spid="28" grpId="0"/>
      <p:bldP spid="34" grpId="0" animBg="1"/>
      <p:bldP spid="36" grpId="0"/>
      <p:bldP spid="44" grpId="0" animBg="1"/>
      <p:bldP spid="45" grpId="0" animBg="1"/>
      <p:bldP spid="33" grpId="0"/>
      <p:bldP spid="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1A880DA-DD5A-44FE-B8A5-F98C389B2041}"/>
              </a:ext>
            </a:extLst>
          </p:cNvPr>
          <p:cNvSpPr/>
          <p:nvPr/>
        </p:nvSpPr>
        <p:spPr>
          <a:xfrm>
            <a:off x="8274053" y="2408277"/>
            <a:ext cx="898502" cy="24366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F4C5602-C7AD-4159-AA8B-370716374AD2}"/>
              </a:ext>
            </a:extLst>
          </p:cNvPr>
          <p:cNvSpPr/>
          <p:nvPr/>
        </p:nvSpPr>
        <p:spPr>
          <a:xfrm>
            <a:off x="9501884" y="2408276"/>
            <a:ext cx="894057" cy="24366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C12BCE3-6E55-4421-B155-448869262E22}"/>
              </a:ext>
            </a:extLst>
          </p:cNvPr>
          <p:cNvSpPr/>
          <p:nvPr/>
        </p:nvSpPr>
        <p:spPr>
          <a:xfrm>
            <a:off x="8274053" y="1984432"/>
            <a:ext cx="898502" cy="24366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38" name="Rectangle 37">
            <a:extLst>
              <a:ext uri="{FF2B5EF4-FFF2-40B4-BE49-F238E27FC236}">
                <a16:creationId xmlns:a16="http://schemas.microsoft.com/office/drawing/2014/main" id="{854E7640-BA70-4175-893E-E48F2B43AAB7}"/>
              </a:ext>
            </a:extLst>
          </p:cNvPr>
          <p:cNvSpPr/>
          <p:nvPr/>
        </p:nvSpPr>
        <p:spPr>
          <a:xfrm>
            <a:off x="9501884" y="1984431"/>
            <a:ext cx="894057" cy="24366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39" name="Rectangle 38">
            <a:extLst>
              <a:ext uri="{FF2B5EF4-FFF2-40B4-BE49-F238E27FC236}">
                <a16:creationId xmlns:a16="http://schemas.microsoft.com/office/drawing/2014/main" id="{D2C394EB-ED2A-49AA-91F2-997FD10FE8B7}"/>
              </a:ext>
            </a:extLst>
          </p:cNvPr>
          <p:cNvSpPr/>
          <p:nvPr/>
        </p:nvSpPr>
        <p:spPr>
          <a:xfrm>
            <a:off x="9501884" y="2978785"/>
            <a:ext cx="1803578"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40" name="Rectangle 39">
            <a:extLst>
              <a:ext uri="{FF2B5EF4-FFF2-40B4-BE49-F238E27FC236}">
                <a16:creationId xmlns:a16="http://schemas.microsoft.com/office/drawing/2014/main" id="{C18CBD04-ABEF-462A-ADEC-4D3F4F216D98}"/>
              </a:ext>
            </a:extLst>
          </p:cNvPr>
          <p:cNvSpPr/>
          <p:nvPr/>
        </p:nvSpPr>
        <p:spPr>
          <a:xfrm>
            <a:off x="8274053" y="3917857"/>
            <a:ext cx="898502"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41" name="Rectangle 40">
            <a:extLst>
              <a:ext uri="{FF2B5EF4-FFF2-40B4-BE49-F238E27FC236}">
                <a16:creationId xmlns:a16="http://schemas.microsoft.com/office/drawing/2014/main" id="{5AA5DF0C-21C8-432F-8F15-82AD65D4A781}"/>
              </a:ext>
            </a:extLst>
          </p:cNvPr>
          <p:cNvSpPr/>
          <p:nvPr/>
        </p:nvSpPr>
        <p:spPr>
          <a:xfrm>
            <a:off x="9501884" y="3917855"/>
            <a:ext cx="1024136"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42" name="Rectangle 41">
            <a:extLst>
              <a:ext uri="{FF2B5EF4-FFF2-40B4-BE49-F238E27FC236}">
                <a16:creationId xmlns:a16="http://schemas.microsoft.com/office/drawing/2014/main" id="{6FAFEFCA-1F3D-49C4-8AE4-9C1C862755F1}"/>
              </a:ext>
            </a:extLst>
          </p:cNvPr>
          <p:cNvSpPr/>
          <p:nvPr/>
        </p:nvSpPr>
        <p:spPr>
          <a:xfrm>
            <a:off x="7363951" y="2976020"/>
            <a:ext cx="1808605"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43" name="Rectangle 42">
            <a:extLst>
              <a:ext uri="{FF2B5EF4-FFF2-40B4-BE49-F238E27FC236}">
                <a16:creationId xmlns:a16="http://schemas.microsoft.com/office/drawing/2014/main" id="{1B69A86E-CFC8-47BC-BB5E-027933A82F54}"/>
              </a:ext>
            </a:extLst>
          </p:cNvPr>
          <p:cNvSpPr/>
          <p:nvPr/>
        </p:nvSpPr>
        <p:spPr>
          <a:xfrm>
            <a:off x="7363287" y="3919312"/>
            <a:ext cx="898502" cy="243661"/>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6004B8D-A2CD-4ACC-9A3F-3E6460E8EFF2}"/>
              </a:ext>
            </a:extLst>
          </p:cNvPr>
          <p:cNvSpPr/>
          <p:nvPr/>
        </p:nvSpPr>
        <p:spPr>
          <a:xfrm>
            <a:off x="10527682" y="3917855"/>
            <a:ext cx="790274" cy="243661"/>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0" name="Content Placeholder 2">
                <a:extLst>
                  <a:ext uri="{FF2B5EF4-FFF2-40B4-BE49-F238E27FC236}">
                    <a16:creationId xmlns:a16="http://schemas.microsoft.com/office/drawing/2014/main" id="{24273660-3D0B-42A8-A109-132B287DEF01}"/>
                  </a:ext>
                </a:extLst>
              </p:cNvPr>
              <p:cNvSpPr>
                <a:spLocks noGrp="1"/>
              </p:cNvSpPr>
              <p:nvPr>
                <p:ph idx="1"/>
              </p:nvPr>
            </p:nvSpPr>
            <p:spPr>
              <a:xfrm>
                <a:off x="1451581" y="1694891"/>
                <a:ext cx="6353702" cy="4389554"/>
              </a:xfrm>
            </p:spPr>
            <p:txBody>
              <a:bodyPr>
                <a:normAutofit lnSpcReduction="10000"/>
              </a:bodyPr>
              <a:lstStyle/>
              <a:p>
                <a:r>
                  <a:rPr lang="en-US" dirty="0"/>
                  <a:t>Treat bottom bits as factional bits</a:t>
                </a:r>
              </a:p>
              <a:p>
                <a:r>
                  <a:rPr lang="en-US" dirty="0"/>
                  <a:t>Multiplication drops top/bottom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 </m:t>
                    </m:r>
                  </m:oMath>
                </a14:m>
                <a:r>
                  <a:rPr lang="en-US" dirty="0"/>
                  <a:t>bits</a:t>
                </a:r>
              </a:p>
              <a:p>
                <a:endParaRPr lang="en-US" dirty="0"/>
              </a:p>
              <a:p>
                <a:r>
                  <a:rPr lang="en-US" dirty="0" err="1"/>
                  <a:t>Mohassel</a:t>
                </a:r>
                <a:r>
                  <a:rPr lang="en-US" dirty="0"/>
                  <a:t> Zhang ‘17 </a:t>
                </a:r>
              </a:p>
              <a:p>
                <a:pPr lvl="1"/>
                <a:r>
                  <a:rPr lang="en-US" dirty="0"/>
                  <a:t>Introduced secret shared version</a:t>
                </a:r>
              </a:p>
              <a:p>
                <a:pPr lvl="1"/>
                <a:r>
                  <a:rPr lang="en-US" dirty="0"/>
                  <a:t>Adds small rounding errors</a:t>
                </a:r>
              </a:p>
              <a:p>
                <a:pPr lvl="1"/>
                <a:r>
                  <a:rPr lang="en-US" dirty="0"/>
                  <a:t>Only works on </a:t>
                </a:r>
                <a:r>
                  <a:rPr lang="en-US" dirty="0">
                    <a:solidFill>
                      <a:srgbClr val="FF0000"/>
                    </a:solidFill>
                  </a:rPr>
                  <a:t>2-out-of-2 secret sharing</a:t>
                </a:r>
              </a:p>
              <a:p>
                <a:r>
                  <a:rPr lang="en-US" dirty="0"/>
                  <a:t>We extend to </a:t>
                </a:r>
                <a:r>
                  <a:rPr lang="en-US" b="1" dirty="0"/>
                  <a:t>any honest majority</a:t>
                </a:r>
              </a:p>
              <a:p>
                <a:pPr lvl="1"/>
                <a:r>
                  <a:rPr lang="en-US" dirty="0"/>
                  <a:t>Briefly switch to 2-out-of-2 sharing</a:t>
                </a:r>
              </a:p>
            </p:txBody>
          </p:sp>
        </mc:Choice>
        <mc:Fallback>
          <p:sp>
            <p:nvSpPr>
              <p:cNvPr id="30" name="Content Placeholder 2">
                <a:extLst>
                  <a:ext uri="{FF2B5EF4-FFF2-40B4-BE49-F238E27FC236}">
                    <a16:creationId xmlns:a16="http://schemas.microsoft.com/office/drawing/2014/main" id="{24273660-3D0B-42A8-A109-132B287DEF01}"/>
                  </a:ext>
                </a:extLst>
              </p:cNvPr>
              <p:cNvSpPr>
                <a:spLocks noGrp="1" noRot="1" noChangeAspect="1" noMove="1" noResize="1" noEditPoints="1" noAdjustHandles="1" noChangeArrowheads="1" noChangeShapeType="1" noTextEdit="1"/>
              </p:cNvSpPr>
              <p:nvPr>
                <p:ph idx="1"/>
              </p:nvPr>
            </p:nvSpPr>
            <p:spPr>
              <a:xfrm>
                <a:off x="1451581" y="1694891"/>
                <a:ext cx="6353702" cy="4389554"/>
              </a:xfrm>
              <a:blipFill>
                <a:blip r:embed="rId3"/>
                <a:stretch>
                  <a:fillRect l="-1248" t="-833"/>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dirty="0"/>
              <a:t>Decimal Multiplications in Integer Group</a:t>
            </a:r>
          </a:p>
        </p:txBody>
      </p:sp>
      <p:grpSp>
        <p:nvGrpSpPr>
          <p:cNvPr id="3" name="Group 2">
            <a:extLst>
              <a:ext uri="{FF2B5EF4-FFF2-40B4-BE49-F238E27FC236}">
                <a16:creationId xmlns:a16="http://schemas.microsoft.com/office/drawing/2014/main" id="{50AAE4B8-E8B3-4B87-A32D-BEDA9331BAC1}"/>
              </a:ext>
            </a:extLst>
          </p:cNvPr>
          <p:cNvGrpSpPr/>
          <p:nvPr/>
        </p:nvGrpSpPr>
        <p:grpSpPr>
          <a:xfrm>
            <a:off x="7203877" y="1304105"/>
            <a:ext cx="5259684" cy="3356853"/>
            <a:chOff x="6331284" y="1304105"/>
            <a:chExt cx="6132277" cy="3913762"/>
          </a:xfrm>
        </p:grpSpPr>
        <mc:AlternateContent xmlns:mc="http://schemas.openxmlformats.org/markup-compatibility/2006">
          <mc:Choice xmlns:a14="http://schemas.microsoft.com/office/drawing/2010/main" Requires="a14">
            <p:sp>
              <p:nvSpPr>
                <p:cNvPr id="4" name="TextBox 3"/>
                <p:cNvSpPr txBox="1"/>
                <p:nvPr/>
              </p:nvSpPr>
              <p:spPr>
                <a:xfrm>
                  <a:off x="9672213" y="2403062"/>
                  <a:ext cx="167374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ℤ</m:t>
                            </m:r>
                          </m:e>
                          <m:sub>
                            <m:sSup>
                              <m:sSupPr>
                                <m:ctrlPr>
                                  <a:rPr lang="en-US" sz="2400" b="0" i="1" dirty="0" smtClean="0">
                                    <a:latin typeface="Cambria Math" panose="02040503050406030204" pitchFamily="18" charset="0"/>
                                    <a:ea typeface="Cambria Math" panose="02040503050406030204" pitchFamily="18" charset="0"/>
                                  </a:rPr>
                                </m:ctrlPr>
                              </m:sSupPr>
                              <m:e>
                                <m:r>
                                  <a:rPr lang="en-US" sz="2400" b="0" i="1" dirty="0" smtClean="0">
                                    <a:latin typeface="Cambria Math" panose="02040503050406030204" pitchFamily="18" charset="0"/>
                                    <a:ea typeface="Cambria Math" panose="02040503050406030204" pitchFamily="18" charset="0"/>
                                  </a:rPr>
                                  <m:t>2</m:t>
                                </m:r>
                              </m:e>
                              <m:sup>
                                <m:r>
                                  <a:rPr lang="en-US" sz="2400" b="0" i="1" dirty="0" smtClean="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4" name="TextBox 3"/>
                <p:cNvSpPr txBox="1">
                  <a:spLocks noRot="1" noChangeAspect="1" noMove="1" noResize="1" noEditPoints="1" noAdjustHandles="1" noChangeArrowheads="1" noChangeShapeType="1" noTextEdit="1"/>
                </p:cNvSpPr>
                <p:nvPr/>
              </p:nvSpPr>
              <p:spPr>
                <a:xfrm>
                  <a:off x="9672213" y="2403062"/>
                  <a:ext cx="1673748" cy="461665"/>
                </a:xfrm>
                <a:prstGeom prst="rect">
                  <a:avLst/>
                </a:prstGeom>
                <a:blipFill>
                  <a:blip r:embed="rId4"/>
                  <a:stretch>
                    <a:fillRect b="-18462"/>
                  </a:stretch>
                </a:blipFill>
              </p:spPr>
              <p:txBody>
                <a:bodyPr/>
                <a:lstStyle/>
                <a:p>
                  <a:r>
                    <a:rPr lang="en-US">
                      <a:noFill/>
                    </a:rPr>
                    <a:t> </a:t>
                  </a:r>
                </a:p>
              </p:txBody>
            </p:sp>
          </mc:Fallback>
        </mc:AlternateContent>
        <p:sp>
          <p:nvSpPr>
            <p:cNvPr id="5" name="Rectangle 4"/>
            <p:cNvSpPr/>
            <p:nvPr/>
          </p:nvSpPr>
          <p:spPr>
            <a:xfrm>
              <a:off x="7460252" y="2482983"/>
              <a:ext cx="1047566" cy="284085"/>
            </a:xfrm>
            <a:prstGeom prst="rect">
              <a:avLst/>
            </a:prstGeom>
            <a:solidFill>
              <a:srgbClr val="FF0000"/>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891782" y="2482981"/>
              <a:ext cx="1042383" cy="284085"/>
            </a:xfrm>
            <a:prstGeom prst="rect">
              <a:avLst/>
            </a:prstGeom>
            <a:solidFill>
              <a:srgbClr val="FF0000"/>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561822" y="2394192"/>
              <a:ext cx="363985" cy="461665"/>
            </a:xfrm>
            <a:prstGeom prst="rect">
              <a:avLst/>
            </a:prstGeom>
            <a:noFill/>
          </p:spPr>
          <p:txBody>
            <a:bodyPr wrap="square" rtlCol="0">
              <a:spAutoFit/>
            </a:bodyPr>
            <a:lstStyle/>
            <a:p>
              <a:r>
                <a:rPr lang="en-US" sz="2400" b="1" dirty="0"/>
                <a:t>.</a:t>
              </a:r>
            </a:p>
          </p:txBody>
        </p:sp>
        <p:sp>
          <p:nvSpPr>
            <p:cNvPr id="8" name="Right Brace 7"/>
            <p:cNvSpPr/>
            <p:nvPr/>
          </p:nvSpPr>
          <p:spPr>
            <a:xfrm rot="5400000" flipH="1">
              <a:off x="9289795" y="1225705"/>
              <a:ext cx="228377" cy="1136709"/>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TextBox 8"/>
                <p:cNvSpPr txBox="1"/>
                <p:nvPr/>
              </p:nvSpPr>
              <p:spPr>
                <a:xfrm>
                  <a:off x="8835628" y="1304105"/>
                  <a:ext cx="1475352" cy="430605"/>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ℓ=</m:t>
                      </m:r>
                    </m:oMath>
                  </a14:m>
                  <a:r>
                    <a:rPr lang="en-US" dirty="0"/>
                    <a:t>16 bits</a:t>
                  </a:r>
                </a:p>
              </p:txBody>
            </p:sp>
          </mc:Choice>
          <mc:Fallback>
            <p:sp>
              <p:nvSpPr>
                <p:cNvPr id="9" name="TextBox 8"/>
                <p:cNvSpPr txBox="1">
                  <a:spLocks noRot="1" noChangeAspect="1" noMove="1" noResize="1" noEditPoints="1" noAdjustHandles="1" noChangeArrowheads="1" noChangeShapeType="1" noTextEdit="1"/>
                </p:cNvSpPr>
                <p:nvPr/>
              </p:nvSpPr>
              <p:spPr>
                <a:xfrm>
                  <a:off x="8835628" y="1304105"/>
                  <a:ext cx="1475352" cy="430605"/>
                </a:xfrm>
                <a:prstGeom prst="rect">
                  <a:avLst/>
                </a:prstGeom>
                <a:blipFill>
                  <a:blip r:embed="rId5"/>
                  <a:stretch>
                    <a:fillRect t="-9836"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9878031" y="1858161"/>
                  <a:ext cx="125729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ℤ</m:t>
                            </m:r>
                          </m:e>
                          <m:sub>
                            <m:sSup>
                              <m:sSupPr>
                                <m:ctrlPr>
                                  <a:rPr lang="en-US" sz="2400" i="1" dirty="0">
                                    <a:latin typeface="Cambria Math" panose="02040503050406030204" pitchFamily="18" charset="0"/>
                                    <a:ea typeface="Cambria Math" panose="02040503050406030204" pitchFamily="18" charset="0"/>
                                  </a:rPr>
                                </m:ctrlPr>
                              </m:sSupPr>
                              <m:e>
                                <m:r>
                                  <a:rPr lang="en-US" sz="2400" i="1" dirty="0">
                                    <a:latin typeface="Cambria Math" panose="02040503050406030204" pitchFamily="18" charset="0"/>
                                    <a:ea typeface="Cambria Math" panose="02040503050406030204" pitchFamily="18" charset="0"/>
                                  </a:rPr>
                                  <m:t>2</m:t>
                                </m:r>
                              </m:e>
                              <m:sup>
                                <m:r>
                                  <a:rPr lang="en-US" sz="2400" i="1" dirty="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10" name="TextBox 9"/>
                <p:cNvSpPr txBox="1">
                  <a:spLocks noRot="1" noChangeAspect="1" noMove="1" noResize="1" noEditPoints="1" noAdjustHandles="1" noChangeArrowheads="1" noChangeShapeType="1" noTextEdit="1"/>
                </p:cNvSpPr>
                <p:nvPr/>
              </p:nvSpPr>
              <p:spPr>
                <a:xfrm>
                  <a:off x="9878031" y="1858161"/>
                  <a:ext cx="1257298" cy="461665"/>
                </a:xfrm>
                <a:prstGeom prst="rect">
                  <a:avLst/>
                </a:prstGeom>
                <a:blipFill>
                  <a:blip r:embed="rId6"/>
                  <a:stretch>
                    <a:fillRect b="-18462"/>
                  </a:stretch>
                </a:blipFill>
              </p:spPr>
              <p:txBody>
                <a:bodyPr/>
                <a:lstStyle/>
                <a:p>
                  <a:r>
                    <a:rPr lang="en-US">
                      <a:noFill/>
                    </a:rPr>
                    <a:t> </a:t>
                  </a:r>
                </a:p>
              </p:txBody>
            </p:sp>
          </mc:Fallback>
        </mc:AlternateContent>
        <p:sp>
          <p:nvSpPr>
            <p:cNvPr id="11" name="Rectangle 10"/>
            <p:cNvSpPr/>
            <p:nvPr/>
          </p:nvSpPr>
          <p:spPr>
            <a:xfrm>
              <a:off x="7460252" y="1988821"/>
              <a:ext cx="1047566" cy="284085"/>
            </a:xfrm>
            <a:prstGeom prst="rect">
              <a:avLst/>
            </a:pr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2" name="Rectangle 11"/>
            <p:cNvSpPr/>
            <p:nvPr/>
          </p:nvSpPr>
          <p:spPr>
            <a:xfrm>
              <a:off x="8891782" y="1988819"/>
              <a:ext cx="1042383" cy="284085"/>
            </a:xfrm>
            <a:prstGeom prst="rect">
              <a:avLst/>
            </a:pr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3" name="TextBox 12"/>
            <p:cNvSpPr txBox="1"/>
            <p:nvPr/>
          </p:nvSpPr>
          <p:spPr>
            <a:xfrm>
              <a:off x="8561822" y="1900030"/>
              <a:ext cx="363985" cy="461665"/>
            </a:xfrm>
            <a:prstGeom prst="rect">
              <a:avLst/>
            </a:prstGeom>
            <a:noFill/>
          </p:spPr>
          <p:txBody>
            <a:bodyPr wrap="square" rtlCol="0">
              <a:spAutoFit/>
            </a:bodyPr>
            <a:lstStyle/>
            <a:p>
              <a:r>
                <a:rPr lang="en-US" sz="2400" b="1" dirty="0"/>
                <a:t>.</a:t>
              </a:r>
            </a:p>
          </p:txBody>
        </p:sp>
        <p:sp>
          <p:nvSpPr>
            <p:cNvPr id="16" name="TextBox 15"/>
            <p:cNvSpPr txBox="1"/>
            <p:nvPr/>
          </p:nvSpPr>
          <p:spPr>
            <a:xfrm>
              <a:off x="7057799" y="2396711"/>
              <a:ext cx="402453" cy="461665"/>
            </a:xfrm>
            <a:prstGeom prst="rect">
              <a:avLst/>
            </a:prstGeom>
            <a:noFill/>
          </p:spPr>
          <p:txBody>
            <a:bodyPr wrap="square" rtlCol="0">
              <a:spAutoFit/>
            </a:bodyPr>
            <a:lstStyle/>
            <a:p>
              <a:r>
                <a:rPr lang="en-US" sz="2400" b="1" dirty="0">
                  <a:latin typeface="Georgia" panose="02040502050405020303" pitchFamily="18" charset="0"/>
                </a:rPr>
                <a:t>×</a:t>
              </a:r>
              <a:endParaRPr lang="en-US" sz="2400" b="1" dirty="0"/>
            </a:p>
          </p:txBody>
        </p:sp>
        <p:sp>
          <p:nvSpPr>
            <p:cNvPr id="19" name="Rectangle 18"/>
            <p:cNvSpPr/>
            <p:nvPr/>
          </p:nvSpPr>
          <p:spPr>
            <a:xfrm>
              <a:off x="8891782" y="3148139"/>
              <a:ext cx="2102796" cy="284085"/>
            </a:xfrm>
            <a:prstGeom prst="rect">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0" name="TextBox 19"/>
            <p:cNvSpPr txBox="1"/>
            <p:nvPr/>
          </p:nvSpPr>
          <p:spPr>
            <a:xfrm>
              <a:off x="8561822" y="3059350"/>
              <a:ext cx="363985" cy="461665"/>
            </a:xfrm>
            <a:prstGeom prst="rect">
              <a:avLst/>
            </a:prstGeom>
            <a:noFill/>
          </p:spPr>
          <p:txBody>
            <a:bodyPr wrap="square" rtlCol="0">
              <a:spAutoFit/>
            </a:bodyPr>
            <a:lstStyle/>
            <a:p>
              <a:r>
                <a:rPr lang="en-US" sz="2400" b="1" dirty="0"/>
                <a:t>.</a:t>
              </a:r>
            </a:p>
          </p:txBody>
        </p:sp>
        <p:sp>
          <p:nvSpPr>
            <p:cNvPr id="21" name="Right Brace 20"/>
            <p:cNvSpPr/>
            <p:nvPr/>
          </p:nvSpPr>
          <p:spPr>
            <a:xfrm rot="5400000">
              <a:off x="9838270" y="2606860"/>
              <a:ext cx="191789" cy="2149960"/>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TextBox 21"/>
            <p:cNvSpPr txBox="1"/>
            <p:nvPr/>
          </p:nvSpPr>
          <p:spPr>
            <a:xfrm>
              <a:off x="9533792" y="3773422"/>
              <a:ext cx="1047565" cy="430605"/>
            </a:xfrm>
            <a:prstGeom prst="rect">
              <a:avLst/>
            </a:prstGeom>
            <a:noFill/>
          </p:spPr>
          <p:txBody>
            <a:bodyPr wrap="square" rtlCol="0">
              <a:spAutoFit/>
            </a:bodyPr>
            <a:lstStyle/>
            <a:p>
              <a:r>
                <a:rPr lang="en-US" dirty="0"/>
                <a:t>32 bits</a:t>
              </a:r>
            </a:p>
          </p:txBody>
        </p:sp>
        <p:sp>
          <p:nvSpPr>
            <p:cNvPr id="25" name="Rectangle 24"/>
            <p:cNvSpPr/>
            <p:nvPr/>
          </p:nvSpPr>
          <p:spPr>
            <a:xfrm>
              <a:off x="8891782" y="4243003"/>
              <a:ext cx="1194042" cy="284085"/>
            </a:xfrm>
            <a:prstGeom prst="rect">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6" name="TextBox 25"/>
            <p:cNvSpPr txBox="1"/>
            <p:nvPr/>
          </p:nvSpPr>
          <p:spPr>
            <a:xfrm>
              <a:off x="8561822" y="4154214"/>
              <a:ext cx="363985" cy="461665"/>
            </a:xfrm>
            <a:prstGeom prst="rect">
              <a:avLst/>
            </a:prstGeom>
            <a:noFill/>
          </p:spPr>
          <p:txBody>
            <a:bodyPr wrap="square" rtlCol="0">
              <a:spAutoFit/>
            </a:bodyPr>
            <a:lstStyle/>
            <a:p>
              <a:r>
                <a:rPr lang="en-US" sz="2400" b="1" dirty="0"/>
                <a:t>.</a:t>
              </a:r>
            </a:p>
          </p:txBody>
        </p:sp>
        <p:sp>
          <p:nvSpPr>
            <p:cNvPr id="27" name="Right Brace 26"/>
            <p:cNvSpPr/>
            <p:nvPr/>
          </p:nvSpPr>
          <p:spPr>
            <a:xfrm rot="5400000">
              <a:off x="9393288" y="4155998"/>
              <a:ext cx="143866" cy="1241206"/>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8" name="TextBox 27"/>
            <p:cNvSpPr txBox="1"/>
            <p:nvPr/>
          </p:nvSpPr>
          <p:spPr>
            <a:xfrm>
              <a:off x="9019765" y="4848535"/>
              <a:ext cx="938077" cy="369332"/>
            </a:xfrm>
            <a:prstGeom prst="rect">
              <a:avLst/>
            </a:prstGeom>
            <a:noFill/>
          </p:spPr>
          <p:txBody>
            <a:bodyPr wrap="square" rtlCol="0">
              <a:spAutoFit/>
            </a:bodyPr>
            <a:lstStyle/>
            <a:p>
              <a:r>
                <a:rPr lang="en-US" dirty="0"/>
                <a:t>16 bits</a:t>
              </a:r>
            </a:p>
          </p:txBody>
        </p:sp>
        <p:cxnSp>
          <p:nvCxnSpPr>
            <p:cNvPr id="31" name="Straight Connector 30">
              <a:extLst>
                <a:ext uri="{FF2B5EF4-FFF2-40B4-BE49-F238E27FC236}">
                  <a16:creationId xmlns:a16="http://schemas.microsoft.com/office/drawing/2014/main" id="{3E615738-B903-42B9-B49E-9C8686D3D29C}"/>
                </a:ext>
              </a:extLst>
            </p:cNvPr>
            <p:cNvCxnSpPr>
              <a:cxnSpLocks/>
            </p:cNvCxnSpPr>
            <p:nvPr/>
          </p:nvCxnSpPr>
          <p:spPr>
            <a:xfrm>
              <a:off x="6331284" y="2980215"/>
              <a:ext cx="47740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E152B3F-687A-44BE-904F-26A29A39CF03}"/>
                </a:ext>
              </a:extLst>
            </p:cNvPr>
            <p:cNvSpPr/>
            <p:nvPr/>
          </p:nvSpPr>
          <p:spPr>
            <a:xfrm>
              <a:off x="6399162" y="3144915"/>
              <a:ext cx="2108656" cy="284085"/>
            </a:xfrm>
            <a:prstGeom prst="rect">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573DDEFD-12C0-4E65-B53E-D4D1DC739323}"/>
                    </a:ext>
                  </a:extLst>
                </p:cNvPr>
                <p:cNvSpPr txBox="1"/>
                <p:nvPr/>
              </p:nvSpPr>
              <p:spPr>
                <a:xfrm>
                  <a:off x="10789813" y="3056124"/>
                  <a:ext cx="167374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ℤ</m:t>
                            </m:r>
                          </m:e>
                          <m:sub>
                            <m:sSup>
                              <m:sSupPr>
                                <m:ctrlPr>
                                  <a:rPr lang="en-US" sz="2400" b="0" i="1" dirty="0" smtClean="0">
                                    <a:latin typeface="Cambria Math" panose="02040503050406030204" pitchFamily="18" charset="0"/>
                                    <a:ea typeface="Cambria Math" panose="02040503050406030204" pitchFamily="18" charset="0"/>
                                  </a:rPr>
                                </m:ctrlPr>
                              </m:sSupPr>
                              <m:e>
                                <m:r>
                                  <a:rPr lang="en-US" sz="2400" b="0" i="1" dirty="0" smtClean="0">
                                    <a:latin typeface="Cambria Math" panose="02040503050406030204" pitchFamily="18" charset="0"/>
                                    <a:ea typeface="Cambria Math" panose="02040503050406030204" pitchFamily="18" charset="0"/>
                                  </a:rPr>
                                  <m:t>2</m:t>
                                </m:r>
                              </m:e>
                              <m:sup>
                                <m:r>
                                  <a:rPr lang="en-US" sz="2400" b="0" i="1" dirty="0" smtClean="0">
                                    <a:solidFill>
                                      <a:srgbClr val="FF0000"/>
                                    </a:solidFill>
                                    <a:latin typeface="Cambria Math" panose="02040503050406030204" pitchFamily="18" charset="0"/>
                                    <a:ea typeface="Cambria Math" panose="02040503050406030204" pitchFamily="18" charset="0"/>
                                  </a:rPr>
                                  <m:t>2</m:t>
                                </m:r>
                                <m:r>
                                  <a:rPr lang="en-US" sz="2400" b="0" i="1" dirty="0" smtClean="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36" name="TextBox 35">
                  <a:extLst>
                    <a:ext uri="{FF2B5EF4-FFF2-40B4-BE49-F238E27FC236}">
                      <a16:creationId xmlns:a16="http://schemas.microsoft.com/office/drawing/2014/main" id="{573DDEFD-12C0-4E65-B53E-D4D1DC739323}"/>
                    </a:ext>
                  </a:extLst>
                </p:cNvPr>
                <p:cNvSpPr txBox="1">
                  <a:spLocks noRot="1" noChangeAspect="1" noMove="1" noResize="1" noEditPoints="1" noAdjustHandles="1" noChangeArrowheads="1" noChangeShapeType="1" noTextEdit="1"/>
                </p:cNvSpPr>
                <p:nvPr/>
              </p:nvSpPr>
              <p:spPr>
                <a:xfrm>
                  <a:off x="10789813" y="3056124"/>
                  <a:ext cx="1673748" cy="461665"/>
                </a:xfrm>
                <a:prstGeom prst="rect">
                  <a:avLst/>
                </a:prstGeom>
                <a:blipFill>
                  <a:blip r:embed="rId7"/>
                  <a:stretch>
                    <a:fillRect b="-23077"/>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F80FD9AD-5ADF-49B9-894C-427F53E8DF99}"/>
                </a:ext>
              </a:extLst>
            </p:cNvPr>
            <p:cNvSpPr/>
            <p:nvPr/>
          </p:nvSpPr>
          <p:spPr>
            <a:xfrm>
              <a:off x="6398387" y="4244701"/>
              <a:ext cx="1047566" cy="284085"/>
            </a:xfrm>
            <a:prstGeom prst="rect">
              <a:avLst/>
            </a:prstGeom>
            <a:pattFill prst="wdUpDiag">
              <a:fgClr>
                <a:srgbClr val="FFC000"/>
              </a:fgClr>
              <a:bgClr>
                <a:schemeClr val="bg1"/>
              </a:bgClr>
            </a:patt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51119D0-9345-41B6-B076-6F2831520AAC}"/>
                </a:ext>
              </a:extLst>
            </p:cNvPr>
            <p:cNvSpPr/>
            <p:nvPr/>
          </p:nvSpPr>
          <p:spPr>
            <a:xfrm>
              <a:off x="10087763" y="4243003"/>
              <a:ext cx="921382" cy="284085"/>
            </a:xfrm>
            <a:prstGeom prst="rect">
              <a:avLst/>
            </a:prstGeom>
            <a:pattFill prst="wdUpDiag">
              <a:fgClr>
                <a:srgbClr val="FFC000"/>
              </a:fgClr>
              <a:bgClr>
                <a:schemeClr val="bg1"/>
              </a:bgClr>
            </a:patt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7460252" y="4243005"/>
              <a:ext cx="1047566" cy="284085"/>
            </a:xfrm>
            <a:prstGeom prst="rect">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gr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B3C3C612-41B7-4C34-9C71-50722ED78261}"/>
                  </a:ext>
                </a:extLst>
              </p:cNvPr>
              <p:cNvSpPr txBox="1"/>
              <p:nvPr/>
            </p:nvSpPr>
            <p:spPr>
              <a:xfrm>
                <a:off x="11212166" y="3689481"/>
                <a:ext cx="1078391" cy="395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ℤ</m:t>
                          </m:r>
                        </m:e>
                        <m:sub>
                          <m:sSup>
                            <m:sSupPr>
                              <m:ctrlPr>
                                <a:rPr lang="en-US" sz="2400" i="1" dirty="0">
                                  <a:latin typeface="Cambria Math" panose="02040503050406030204" pitchFamily="18" charset="0"/>
                                  <a:ea typeface="Cambria Math" panose="02040503050406030204" pitchFamily="18" charset="0"/>
                                </a:rPr>
                              </m:ctrlPr>
                            </m:sSupPr>
                            <m:e>
                              <m:r>
                                <a:rPr lang="en-US" sz="2400" i="1" dirty="0">
                                  <a:latin typeface="Cambria Math" panose="02040503050406030204" pitchFamily="18" charset="0"/>
                                  <a:ea typeface="Cambria Math" panose="02040503050406030204" pitchFamily="18" charset="0"/>
                                </a:rPr>
                                <m:t>2</m:t>
                              </m:r>
                            </m:e>
                            <m:sup>
                              <m:r>
                                <a:rPr lang="en-US" sz="2400" i="1" dirty="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33" name="TextBox 32">
                <a:extLst>
                  <a:ext uri="{FF2B5EF4-FFF2-40B4-BE49-F238E27FC236}">
                    <a16:creationId xmlns:a16="http://schemas.microsoft.com/office/drawing/2014/main" id="{B3C3C612-41B7-4C34-9C71-50722ED78261}"/>
                  </a:ext>
                </a:extLst>
              </p:cNvPr>
              <p:cNvSpPr txBox="1">
                <a:spLocks noRot="1" noChangeAspect="1" noMove="1" noResize="1" noEditPoints="1" noAdjustHandles="1" noChangeArrowheads="1" noChangeShapeType="1" noTextEdit="1"/>
              </p:cNvSpPr>
              <p:nvPr/>
            </p:nvSpPr>
            <p:spPr>
              <a:xfrm>
                <a:off x="11212166" y="3689481"/>
                <a:ext cx="1078391" cy="395972"/>
              </a:xfrm>
              <a:prstGeom prst="rect">
                <a:avLst/>
              </a:prstGeom>
              <a:blipFill>
                <a:blip r:embed="rId8"/>
                <a:stretch>
                  <a:fillRect b="-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5817B656-5AEC-417F-892D-AAD4886F70E9}"/>
                  </a:ext>
                </a:extLst>
              </p:cNvPr>
              <p:cNvSpPr txBox="1"/>
              <p:nvPr/>
            </p:nvSpPr>
            <p:spPr>
              <a:xfrm>
                <a:off x="8038840" y="5368811"/>
                <a:ext cx="2893869" cy="1500988"/>
              </a:xfrm>
              <a:prstGeom prst="rect">
                <a:avLst/>
              </a:prstGeom>
              <a:noFill/>
            </p:spPr>
            <p:txBody>
              <a:bodyPr wrap="none" rtlCol="0">
                <a:spAutoFit/>
              </a:bodyPr>
              <a:lstStyle/>
              <a:p>
                <a:pPr marL="342900" indent="-342900">
                  <a:buFont typeface="+mj-lt"/>
                  <a:buAutoNum type="arabicPeriod"/>
                </a:pPr>
                <a14:m>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𝑧</m:t>
                        </m:r>
                        <m:r>
                          <a:rPr lang="en-US" b="0" i="1" smtClean="0">
                            <a:latin typeface="Cambria Math" panose="02040503050406030204" pitchFamily="18" charset="0"/>
                          </a:rPr>
                          <m:t>′</m:t>
                        </m:r>
                      </m:e>
                    </m:d>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𝑦</m:t>
                        </m:r>
                      </m:e>
                    </m:d>
                  </m:oMath>
                </a14:m>
                <a:endParaRPr lang="en-US" i="1" dirty="0">
                  <a:latin typeface="Cambria Math" panose="02040503050406030204" pitchFamily="18" charset="0"/>
                </a:endParaRPr>
              </a:p>
              <a:p>
                <a:pPr marL="342900" indent="-342900">
                  <a:buFont typeface="+mj-lt"/>
                  <a:buAutoNum type="arabicPeriod"/>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   = </m:t>
                    </m:r>
                  </m:oMath>
                </a14:m>
                <a:r>
                  <a:rPr lang="en-US" dirty="0"/>
                  <a:t>Reveal(</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𝑧</m:t>
                        </m:r>
                        <m:r>
                          <a:rPr lang="en-US" i="1">
                            <a:latin typeface="Cambria Math" panose="02040503050406030204" pitchFamily="18" charset="0"/>
                          </a:rPr>
                          <m:t>′</m:t>
                        </m:r>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𝑟</m:t>
                        </m:r>
                      </m:e>
                    </m:d>
                  </m:oMath>
                </a14:m>
                <a:r>
                  <a:rPr lang="en-US" dirty="0"/>
                  <a:t>)</a:t>
                </a:r>
              </a:p>
              <a:p>
                <a:pPr marL="342900" indent="-342900">
                  <a:buFont typeface="+mj-lt"/>
                  <a:buAutoNum type="arabicPeriod"/>
                </a:pPr>
                <a14:m>
                  <m:oMath xmlns:m="http://schemas.openxmlformats.org/officeDocument/2006/math">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 </m:t>
                    </m:r>
                    <m:r>
                      <a:rPr lang="en-US" b="0" i="0"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i="1">
                            <a:latin typeface="Cambria Math" panose="02040503050406030204" pitchFamily="18" charset="0"/>
                          </a:rPr>
                          <m:t>ℓ</m:t>
                        </m:r>
                      </m:sup>
                    </m:sSup>
                    <m:r>
                      <a:rPr lang="en-US" b="0" i="1" dirty="0" smtClean="0">
                        <a:latin typeface="Cambria Math" panose="02040503050406030204" pitchFamily="18" charset="0"/>
                      </a:rPr>
                      <m:t>+ </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𝑟</m:t>
                        </m:r>
                        <m:r>
                          <a:rPr lang="en-US" i="1">
                            <a:latin typeface="Cambria Math" panose="02040503050406030204" pitchFamily="18" charset="0"/>
                          </a:rPr>
                          <m:t>′</m:t>
                        </m:r>
                      </m:e>
                    </m:d>
                  </m:oMath>
                </a14:m>
                <a:endParaRPr lang="en-US" i="1" dirty="0"/>
              </a:p>
              <a:p>
                <a:pPr marL="342900" indent="-342900">
                  <a:buFont typeface="+mj-lt"/>
                  <a:buAutoNum type="arabicPeriod"/>
                </a:pPr>
                <a:endParaRPr lang="en-US" dirty="0"/>
              </a:p>
              <a:p>
                <a:endParaRPr lang="en-US" dirty="0"/>
              </a:p>
            </p:txBody>
          </p:sp>
        </mc:Choice>
        <mc:Fallback>
          <p:sp>
            <p:nvSpPr>
              <p:cNvPr id="14" name="TextBox 13">
                <a:extLst>
                  <a:ext uri="{FF2B5EF4-FFF2-40B4-BE49-F238E27FC236}">
                    <a16:creationId xmlns:a16="http://schemas.microsoft.com/office/drawing/2014/main" id="{5817B656-5AEC-417F-892D-AAD4886F70E9}"/>
                  </a:ext>
                </a:extLst>
              </p:cNvPr>
              <p:cNvSpPr txBox="1">
                <a:spLocks noRot="1" noChangeAspect="1" noMove="1" noResize="1" noEditPoints="1" noAdjustHandles="1" noChangeArrowheads="1" noChangeShapeType="1" noTextEdit="1"/>
              </p:cNvSpPr>
              <p:nvPr/>
            </p:nvSpPr>
            <p:spPr>
              <a:xfrm>
                <a:off x="8038840" y="5368811"/>
                <a:ext cx="2893869" cy="1500988"/>
              </a:xfrm>
              <a:prstGeom prst="rect">
                <a:avLst/>
              </a:prstGeom>
              <a:blipFill>
                <a:blip r:embed="rId9"/>
                <a:stretch>
                  <a:fillRect l="-1688" t="-1626" r="-633"/>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B18A84F6-1303-4D72-A6A6-FEF80A4F2AFA}"/>
              </a:ext>
            </a:extLst>
          </p:cNvPr>
          <p:cNvCxnSpPr>
            <a:cxnSpLocks/>
          </p:cNvCxnSpPr>
          <p:nvPr/>
        </p:nvCxnSpPr>
        <p:spPr>
          <a:xfrm>
            <a:off x="7027737" y="4793306"/>
            <a:ext cx="4688663"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6A8A1B74-48CD-43C5-A8DF-7742A5FF540E}"/>
                  </a:ext>
                </a:extLst>
              </p:cNvPr>
              <p:cNvSpPr txBox="1"/>
              <p:nvPr/>
            </p:nvSpPr>
            <p:spPr>
              <a:xfrm>
                <a:off x="7267596" y="4864134"/>
                <a:ext cx="4318618" cy="392993"/>
              </a:xfrm>
              <a:prstGeom prst="rect">
                <a:avLst/>
              </a:prstGeom>
              <a:noFill/>
            </p:spPr>
            <p:txBody>
              <a:bodyPr wrap="none" rtlCol="0">
                <a:spAutoFit/>
              </a:bodyPr>
              <a:lstStyle/>
              <a:p>
                <a:r>
                  <a:rPr lang="en-US" dirty="0"/>
                  <a:t>Preprocess: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ℤ</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𝑚</m:t>
                            </m:r>
                          </m:sup>
                        </m:sSup>
                      </m:sub>
                    </m:sSub>
                    <m:r>
                      <a:rPr lang="en-US" b="0" i="0" smtClean="0">
                        <a:latin typeface="Cambria Math" panose="02040503050406030204" pitchFamily="18" charset="0"/>
                      </a:rPr>
                      <m:t>,</m:t>
                    </m:r>
                  </m:oMath>
                </a14:m>
                <a:r>
                  <a:rPr lang="en-US" dirty="0"/>
                  <a:t>       </a:t>
                </a:r>
                <a14:m>
                  <m:oMath xmlns:m="http://schemas.openxmlformats.org/officeDocument/2006/math">
                    <m:d>
                      <m:dPr>
                        <m:begChr m:val="⟦"/>
                        <m:endChr m:val="⟧"/>
                        <m:ctrlPr>
                          <a:rPr lang="en-US" i="1" dirty="0" smtClean="0">
                            <a:latin typeface="Cambria Math" panose="02040503050406030204" pitchFamily="18" charset="0"/>
                          </a:rPr>
                        </m:ctrlPr>
                      </m:dPr>
                      <m:e>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𝑟</m:t>
                            </m:r>
                          </m:e>
                          <m:sup>
                            <m:r>
                              <a:rPr lang="en-US" b="0" i="1" dirty="0" smtClean="0">
                                <a:latin typeface="Cambria Math" panose="02040503050406030204" pitchFamily="18" charset="0"/>
                              </a:rPr>
                              <m:t>′</m:t>
                            </m:r>
                          </m:sup>
                        </m:sSup>
                      </m:e>
                    </m:d>
                    <m:r>
                      <a:rPr lang="en-US" b="0" i="1" dirty="0" smtClean="0">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𝑟</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i="1">
                            <a:latin typeface="Cambria Math" panose="02040503050406030204" pitchFamily="18" charset="0"/>
                          </a:rPr>
                          <m:t>ℓ</m:t>
                        </m:r>
                      </m:sup>
                    </m:sSup>
                  </m:oMath>
                </a14:m>
                <a:endParaRPr lang="en-US" dirty="0"/>
              </a:p>
            </p:txBody>
          </p:sp>
        </mc:Choice>
        <mc:Fallback>
          <p:sp>
            <p:nvSpPr>
              <p:cNvPr id="23" name="TextBox 22">
                <a:extLst>
                  <a:ext uri="{FF2B5EF4-FFF2-40B4-BE49-F238E27FC236}">
                    <a16:creationId xmlns:a16="http://schemas.microsoft.com/office/drawing/2014/main" id="{6A8A1B74-48CD-43C5-A8DF-7742A5FF540E}"/>
                  </a:ext>
                </a:extLst>
              </p:cNvPr>
              <p:cNvSpPr txBox="1">
                <a:spLocks noRot="1" noChangeAspect="1" noMove="1" noResize="1" noEditPoints="1" noAdjustHandles="1" noChangeArrowheads="1" noChangeShapeType="1" noTextEdit="1"/>
              </p:cNvSpPr>
              <p:nvPr/>
            </p:nvSpPr>
            <p:spPr>
              <a:xfrm>
                <a:off x="7267596" y="4864134"/>
                <a:ext cx="4318618" cy="392993"/>
              </a:xfrm>
              <a:prstGeom prst="rect">
                <a:avLst/>
              </a:prstGeom>
              <a:blipFill>
                <a:blip r:embed="rId10"/>
                <a:stretch>
                  <a:fillRect l="-1128" t="-6250" b="-21875"/>
                </a:stretch>
              </a:blipFill>
            </p:spPr>
            <p:txBody>
              <a:bodyPr/>
              <a:lstStyle/>
              <a:p>
                <a:r>
                  <a:rPr lang="en-US">
                    <a:noFill/>
                  </a:rPr>
                  <a:t> </a:t>
                </a:r>
              </a:p>
            </p:txBody>
          </p:sp>
        </mc:Fallback>
      </mc:AlternateContent>
    </p:spTree>
    <p:extLst>
      <p:ext uri="{BB962C8B-B14F-4D97-AF65-F5344CB8AC3E}">
        <p14:creationId xmlns:p14="http://schemas.microsoft.com/office/powerpoint/2010/main" val="99862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1A880DA-DD5A-44FE-B8A5-F98C389B2041}"/>
              </a:ext>
            </a:extLst>
          </p:cNvPr>
          <p:cNvSpPr/>
          <p:nvPr/>
        </p:nvSpPr>
        <p:spPr>
          <a:xfrm>
            <a:off x="8274053" y="2408277"/>
            <a:ext cx="898502" cy="24366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F4C5602-C7AD-4159-AA8B-370716374AD2}"/>
              </a:ext>
            </a:extLst>
          </p:cNvPr>
          <p:cNvSpPr/>
          <p:nvPr/>
        </p:nvSpPr>
        <p:spPr>
          <a:xfrm>
            <a:off x="9501884" y="2408276"/>
            <a:ext cx="894057" cy="243661"/>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C12BCE3-6E55-4421-B155-448869262E22}"/>
              </a:ext>
            </a:extLst>
          </p:cNvPr>
          <p:cNvSpPr/>
          <p:nvPr/>
        </p:nvSpPr>
        <p:spPr>
          <a:xfrm>
            <a:off x="8274053" y="1984432"/>
            <a:ext cx="898502" cy="24366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38" name="Rectangle 37">
            <a:extLst>
              <a:ext uri="{FF2B5EF4-FFF2-40B4-BE49-F238E27FC236}">
                <a16:creationId xmlns:a16="http://schemas.microsoft.com/office/drawing/2014/main" id="{854E7640-BA70-4175-893E-E48F2B43AAB7}"/>
              </a:ext>
            </a:extLst>
          </p:cNvPr>
          <p:cNvSpPr/>
          <p:nvPr/>
        </p:nvSpPr>
        <p:spPr>
          <a:xfrm>
            <a:off x="9501884" y="1984431"/>
            <a:ext cx="894057" cy="24366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39" name="Rectangle 38">
            <a:extLst>
              <a:ext uri="{FF2B5EF4-FFF2-40B4-BE49-F238E27FC236}">
                <a16:creationId xmlns:a16="http://schemas.microsoft.com/office/drawing/2014/main" id="{D2C394EB-ED2A-49AA-91F2-997FD10FE8B7}"/>
              </a:ext>
            </a:extLst>
          </p:cNvPr>
          <p:cNvSpPr/>
          <p:nvPr/>
        </p:nvSpPr>
        <p:spPr>
          <a:xfrm>
            <a:off x="9501884" y="2978785"/>
            <a:ext cx="1803578"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40" name="Rectangle 39">
            <a:extLst>
              <a:ext uri="{FF2B5EF4-FFF2-40B4-BE49-F238E27FC236}">
                <a16:creationId xmlns:a16="http://schemas.microsoft.com/office/drawing/2014/main" id="{C18CBD04-ABEF-462A-ADEC-4D3F4F216D98}"/>
              </a:ext>
            </a:extLst>
          </p:cNvPr>
          <p:cNvSpPr/>
          <p:nvPr/>
        </p:nvSpPr>
        <p:spPr>
          <a:xfrm>
            <a:off x="8274053" y="3917857"/>
            <a:ext cx="898502"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41" name="Rectangle 40">
            <a:extLst>
              <a:ext uri="{FF2B5EF4-FFF2-40B4-BE49-F238E27FC236}">
                <a16:creationId xmlns:a16="http://schemas.microsoft.com/office/drawing/2014/main" id="{5AA5DF0C-21C8-432F-8F15-82AD65D4A781}"/>
              </a:ext>
            </a:extLst>
          </p:cNvPr>
          <p:cNvSpPr/>
          <p:nvPr/>
        </p:nvSpPr>
        <p:spPr>
          <a:xfrm>
            <a:off x="9501884" y="3917855"/>
            <a:ext cx="1024136"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42" name="Rectangle 41">
            <a:extLst>
              <a:ext uri="{FF2B5EF4-FFF2-40B4-BE49-F238E27FC236}">
                <a16:creationId xmlns:a16="http://schemas.microsoft.com/office/drawing/2014/main" id="{6FAFEFCA-1F3D-49C4-8AE4-9C1C862755F1}"/>
              </a:ext>
            </a:extLst>
          </p:cNvPr>
          <p:cNvSpPr/>
          <p:nvPr/>
        </p:nvSpPr>
        <p:spPr>
          <a:xfrm>
            <a:off x="7363951" y="2976020"/>
            <a:ext cx="1808605" cy="243661"/>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43" name="Rectangle 42">
            <a:extLst>
              <a:ext uri="{FF2B5EF4-FFF2-40B4-BE49-F238E27FC236}">
                <a16:creationId xmlns:a16="http://schemas.microsoft.com/office/drawing/2014/main" id="{1B69A86E-CFC8-47BC-BB5E-027933A82F54}"/>
              </a:ext>
            </a:extLst>
          </p:cNvPr>
          <p:cNvSpPr/>
          <p:nvPr/>
        </p:nvSpPr>
        <p:spPr>
          <a:xfrm>
            <a:off x="7363287" y="3919312"/>
            <a:ext cx="898502" cy="243661"/>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6004B8D-A2CD-4ACC-9A3F-3E6460E8EFF2}"/>
              </a:ext>
            </a:extLst>
          </p:cNvPr>
          <p:cNvSpPr/>
          <p:nvPr/>
        </p:nvSpPr>
        <p:spPr>
          <a:xfrm>
            <a:off x="10527682" y="3917855"/>
            <a:ext cx="790274" cy="243661"/>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0" name="Content Placeholder 2">
                <a:extLst>
                  <a:ext uri="{FF2B5EF4-FFF2-40B4-BE49-F238E27FC236}">
                    <a16:creationId xmlns:a16="http://schemas.microsoft.com/office/drawing/2014/main" id="{24273660-3D0B-42A8-A109-132B287DEF01}"/>
                  </a:ext>
                </a:extLst>
              </p:cNvPr>
              <p:cNvSpPr>
                <a:spLocks noGrp="1"/>
              </p:cNvSpPr>
              <p:nvPr>
                <p:ph idx="1"/>
              </p:nvPr>
            </p:nvSpPr>
            <p:spPr>
              <a:xfrm>
                <a:off x="1451581" y="1694890"/>
                <a:ext cx="6353702" cy="5163109"/>
              </a:xfrm>
            </p:spPr>
            <p:txBody>
              <a:bodyPr>
                <a:normAutofit lnSpcReduction="10000"/>
              </a:bodyPr>
              <a:lstStyle/>
              <a:p>
                <a:r>
                  <a:rPr lang="en-US" dirty="0"/>
                  <a:t>Treat bottom bits as factional bits</a:t>
                </a:r>
              </a:p>
              <a:p>
                <a:r>
                  <a:rPr lang="en-US" dirty="0"/>
                  <a:t>Multiplication drops top/bottom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 </m:t>
                    </m:r>
                  </m:oMath>
                </a14:m>
                <a:r>
                  <a:rPr lang="en-US" dirty="0"/>
                  <a:t>bits</a:t>
                </a:r>
              </a:p>
              <a:p>
                <a:endParaRPr lang="en-US" dirty="0"/>
              </a:p>
              <a:p>
                <a:r>
                  <a:rPr lang="en-US" dirty="0" err="1"/>
                  <a:t>Mohassel</a:t>
                </a:r>
                <a:r>
                  <a:rPr lang="en-US" dirty="0"/>
                  <a:t> Zhang ‘17 </a:t>
                </a:r>
              </a:p>
              <a:p>
                <a:pPr lvl="1"/>
                <a:r>
                  <a:rPr lang="en-US" dirty="0"/>
                  <a:t>Introduced secret shared version</a:t>
                </a:r>
              </a:p>
              <a:p>
                <a:pPr lvl="1"/>
                <a:r>
                  <a:rPr lang="en-US" dirty="0"/>
                  <a:t>Adds small rounding errors</a:t>
                </a:r>
              </a:p>
              <a:p>
                <a:pPr lvl="1"/>
                <a:r>
                  <a:rPr lang="en-US" dirty="0"/>
                  <a:t>Only works on </a:t>
                </a:r>
                <a:r>
                  <a:rPr lang="en-US" dirty="0">
                    <a:solidFill>
                      <a:srgbClr val="FF0000"/>
                    </a:solidFill>
                  </a:rPr>
                  <a:t>2-out-of-2 secret sharing</a:t>
                </a:r>
              </a:p>
              <a:p>
                <a:r>
                  <a:rPr lang="en-US" dirty="0"/>
                  <a:t>We extend to </a:t>
                </a:r>
                <a:r>
                  <a:rPr lang="en-US" b="1" dirty="0"/>
                  <a:t>any honest majority</a:t>
                </a:r>
              </a:p>
              <a:p>
                <a:pPr lvl="1"/>
                <a:r>
                  <a:rPr lang="en-US" dirty="0"/>
                  <a:t>Briefly switch to 2-out-of-2 sharing</a:t>
                </a:r>
              </a:p>
              <a:p>
                <a:pPr lvl="1"/>
                <a:r>
                  <a:rPr lang="en-US" dirty="0"/>
                  <a:t>Round preserving</a:t>
                </a:r>
              </a:p>
              <a:p>
                <a:pPr lvl="1"/>
                <a:r>
                  <a:rPr lang="en-US" dirty="0"/>
                  <a:t>Malicious secure</a:t>
                </a:r>
              </a:p>
            </p:txBody>
          </p:sp>
        </mc:Choice>
        <mc:Fallback>
          <p:sp>
            <p:nvSpPr>
              <p:cNvPr id="30" name="Content Placeholder 2">
                <a:extLst>
                  <a:ext uri="{FF2B5EF4-FFF2-40B4-BE49-F238E27FC236}">
                    <a16:creationId xmlns:a16="http://schemas.microsoft.com/office/drawing/2014/main" id="{24273660-3D0B-42A8-A109-132B287DEF01}"/>
                  </a:ext>
                </a:extLst>
              </p:cNvPr>
              <p:cNvSpPr>
                <a:spLocks noGrp="1" noRot="1" noChangeAspect="1" noMove="1" noResize="1" noEditPoints="1" noAdjustHandles="1" noChangeArrowheads="1" noChangeShapeType="1" noTextEdit="1"/>
              </p:cNvSpPr>
              <p:nvPr>
                <p:ph idx="1"/>
              </p:nvPr>
            </p:nvSpPr>
            <p:spPr>
              <a:xfrm>
                <a:off x="1451581" y="1694890"/>
                <a:ext cx="6353702" cy="5163109"/>
              </a:xfrm>
              <a:blipFill>
                <a:blip r:embed="rId3"/>
                <a:stretch>
                  <a:fillRect l="-1248" t="-708"/>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dirty="0"/>
              <a:t>Decimal Multiplications in Integer Group</a:t>
            </a:r>
          </a:p>
        </p:txBody>
      </p:sp>
      <p:grpSp>
        <p:nvGrpSpPr>
          <p:cNvPr id="3" name="Group 2">
            <a:extLst>
              <a:ext uri="{FF2B5EF4-FFF2-40B4-BE49-F238E27FC236}">
                <a16:creationId xmlns:a16="http://schemas.microsoft.com/office/drawing/2014/main" id="{50AAE4B8-E8B3-4B87-A32D-BEDA9331BAC1}"/>
              </a:ext>
            </a:extLst>
          </p:cNvPr>
          <p:cNvGrpSpPr/>
          <p:nvPr/>
        </p:nvGrpSpPr>
        <p:grpSpPr>
          <a:xfrm>
            <a:off x="7203877" y="1304105"/>
            <a:ext cx="5259684" cy="3356853"/>
            <a:chOff x="6331284" y="1304105"/>
            <a:chExt cx="6132277" cy="3913762"/>
          </a:xfrm>
        </p:grpSpPr>
        <mc:AlternateContent xmlns:mc="http://schemas.openxmlformats.org/markup-compatibility/2006">
          <mc:Choice xmlns:a14="http://schemas.microsoft.com/office/drawing/2010/main" Requires="a14">
            <p:sp>
              <p:nvSpPr>
                <p:cNvPr id="4" name="TextBox 3"/>
                <p:cNvSpPr txBox="1"/>
                <p:nvPr/>
              </p:nvSpPr>
              <p:spPr>
                <a:xfrm>
                  <a:off x="9672213" y="2403062"/>
                  <a:ext cx="167374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ℤ</m:t>
                            </m:r>
                          </m:e>
                          <m:sub>
                            <m:sSup>
                              <m:sSupPr>
                                <m:ctrlPr>
                                  <a:rPr lang="en-US" sz="2400" b="0" i="1" dirty="0" smtClean="0">
                                    <a:latin typeface="Cambria Math" panose="02040503050406030204" pitchFamily="18" charset="0"/>
                                    <a:ea typeface="Cambria Math" panose="02040503050406030204" pitchFamily="18" charset="0"/>
                                  </a:rPr>
                                </m:ctrlPr>
                              </m:sSupPr>
                              <m:e>
                                <m:r>
                                  <a:rPr lang="en-US" sz="2400" b="0" i="1" dirty="0" smtClean="0">
                                    <a:latin typeface="Cambria Math" panose="02040503050406030204" pitchFamily="18" charset="0"/>
                                    <a:ea typeface="Cambria Math" panose="02040503050406030204" pitchFamily="18" charset="0"/>
                                  </a:rPr>
                                  <m:t>2</m:t>
                                </m:r>
                              </m:e>
                              <m:sup>
                                <m:r>
                                  <a:rPr lang="en-US" sz="2400" b="0" i="1" dirty="0" smtClean="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4" name="TextBox 3"/>
                <p:cNvSpPr txBox="1">
                  <a:spLocks noRot="1" noChangeAspect="1" noMove="1" noResize="1" noEditPoints="1" noAdjustHandles="1" noChangeArrowheads="1" noChangeShapeType="1" noTextEdit="1"/>
                </p:cNvSpPr>
                <p:nvPr/>
              </p:nvSpPr>
              <p:spPr>
                <a:xfrm>
                  <a:off x="9672213" y="2403062"/>
                  <a:ext cx="1673748" cy="461665"/>
                </a:xfrm>
                <a:prstGeom prst="rect">
                  <a:avLst/>
                </a:prstGeom>
                <a:blipFill>
                  <a:blip r:embed="rId4"/>
                  <a:stretch>
                    <a:fillRect b="-18462"/>
                  </a:stretch>
                </a:blipFill>
              </p:spPr>
              <p:txBody>
                <a:bodyPr/>
                <a:lstStyle/>
                <a:p>
                  <a:r>
                    <a:rPr lang="en-US">
                      <a:noFill/>
                    </a:rPr>
                    <a:t> </a:t>
                  </a:r>
                </a:p>
              </p:txBody>
            </p:sp>
          </mc:Fallback>
        </mc:AlternateContent>
        <p:sp>
          <p:nvSpPr>
            <p:cNvPr id="5" name="Rectangle 4"/>
            <p:cNvSpPr/>
            <p:nvPr/>
          </p:nvSpPr>
          <p:spPr>
            <a:xfrm>
              <a:off x="7460252" y="2482983"/>
              <a:ext cx="1047566" cy="284085"/>
            </a:xfrm>
            <a:prstGeom prst="rect">
              <a:avLst/>
            </a:prstGeom>
            <a:solidFill>
              <a:srgbClr val="FF0000"/>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891782" y="2482981"/>
              <a:ext cx="1042383" cy="284085"/>
            </a:xfrm>
            <a:prstGeom prst="rect">
              <a:avLst/>
            </a:prstGeom>
            <a:solidFill>
              <a:srgbClr val="FF0000"/>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561822" y="2394192"/>
              <a:ext cx="363985" cy="461665"/>
            </a:xfrm>
            <a:prstGeom prst="rect">
              <a:avLst/>
            </a:prstGeom>
            <a:noFill/>
          </p:spPr>
          <p:txBody>
            <a:bodyPr wrap="square" rtlCol="0">
              <a:spAutoFit/>
            </a:bodyPr>
            <a:lstStyle/>
            <a:p>
              <a:r>
                <a:rPr lang="en-US" sz="2400" b="1" dirty="0"/>
                <a:t>.</a:t>
              </a:r>
            </a:p>
          </p:txBody>
        </p:sp>
        <p:sp>
          <p:nvSpPr>
            <p:cNvPr id="8" name="Right Brace 7"/>
            <p:cNvSpPr/>
            <p:nvPr/>
          </p:nvSpPr>
          <p:spPr>
            <a:xfrm rot="5400000" flipH="1">
              <a:off x="9289795" y="1225705"/>
              <a:ext cx="228377" cy="1136709"/>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TextBox 8"/>
                <p:cNvSpPr txBox="1"/>
                <p:nvPr/>
              </p:nvSpPr>
              <p:spPr>
                <a:xfrm>
                  <a:off x="8835628" y="1304105"/>
                  <a:ext cx="1475352" cy="430605"/>
                </a:xfrm>
                <a:prstGeom prst="rect">
                  <a:avLst/>
                </a:prstGeom>
                <a:noFill/>
              </p:spPr>
              <p:txBody>
                <a:bodyPr wrap="square" rtlCol="0">
                  <a:spAutoFit/>
                </a:bodyPr>
                <a:lstStyle/>
                <a:p>
                  <a14:m>
                    <m:oMath xmlns:m="http://schemas.openxmlformats.org/officeDocument/2006/math">
                      <m:r>
                        <a:rPr lang="en-US" i="1">
                          <a:latin typeface="Cambria Math" panose="02040503050406030204" pitchFamily="18" charset="0"/>
                        </a:rPr>
                        <m:t>ℓ =</m:t>
                      </m:r>
                    </m:oMath>
                  </a14:m>
                  <a:r>
                    <a:rPr lang="en-US" dirty="0"/>
                    <a:t>16 bits</a:t>
                  </a:r>
                </a:p>
              </p:txBody>
            </p:sp>
          </mc:Choice>
          <mc:Fallback>
            <p:sp>
              <p:nvSpPr>
                <p:cNvPr id="9" name="TextBox 8"/>
                <p:cNvSpPr txBox="1">
                  <a:spLocks noRot="1" noChangeAspect="1" noMove="1" noResize="1" noEditPoints="1" noAdjustHandles="1" noChangeArrowheads="1" noChangeShapeType="1" noTextEdit="1"/>
                </p:cNvSpPr>
                <p:nvPr/>
              </p:nvSpPr>
              <p:spPr>
                <a:xfrm>
                  <a:off x="8835628" y="1304105"/>
                  <a:ext cx="1475352" cy="430605"/>
                </a:xfrm>
                <a:prstGeom prst="rect">
                  <a:avLst/>
                </a:prstGeom>
                <a:blipFill>
                  <a:blip r:embed="rId5"/>
                  <a:stretch>
                    <a:fillRect t="-9836"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9878031" y="1858161"/>
                  <a:ext cx="125729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ℤ</m:t>
                            </m:r>
                          </m:e>
                          <m:sub>
                            <m:sSup>
                              <m:sSupPr>
                                <m:ctrlPr>
                                  <a:rPr lang="en-US" sz="2400" i="1" dirty="0">
                                    <a:latin typeface="Cambria Math" panose="02040503050406030204" pitchFamily="18" charset="0"/>
                                    <a:ea typeface="Cambria Math" panose="02040503050406030204" pitchFamily="18" charset="0"/>
                                  </a:rPr>
                                </m:ctrlPr>
                              </m:sSupPr>
                              <m:e>
                                <m:r>
                                  <a:rPr lang="en-US" sz="2400" i="1" dirty="0">
                                    <a:latin typeface="Cambria Math" panose="02040503050406030204" pitchFamily="18" charset="0"/>
                                    <a:ea typeface="Cambria Math" panose="02040503050406030204" pitchFamily="18" charset="0"/>
                                  </a:rPr>
                                  <m:t>2</m:t>
                                </m:r>
                              </m:e>
                              <m:sup>
                                <m:r>
                                  <a:rPr lang="en-US" sz="2400" i="1" dirty="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10" name="TextBox 9"/>
                <p:cNvSpPr txBox="1">
                  <a:spLocks noRot="1" noChangeAspect="1" noMove="1" noResize="1" noEditPoints="1" noAdjustHandles="1" noChangeArrowheads="1" noChangeShapeType="1" noTextEdit="1"/>
                </p:cNvSpPr>
                <p:nvPr/>
              </p:nvSpPr>
              <p:spPr>
                <a:xfrm>
                  <a:off x="9878031" y="1858161"/>
                  <a:ext cx="1257298" cy="461665"/>
                </a:xfrm>
                <a:prstGeom prst="rect">
                  <a:avLst/>
                </a:prstGeom>
                <a:blipFill>
                  <a:blip r:embed="rId6"/>
                  <a:stretch>
                    <a:fillRect b="-18462"/>
                  </a:stretch>
                </a:blipFill>
              </p:spPr>
              <p:txBody>
                <a:bodyPr/>
                <a:lstStyle/>
                <a:p>
                  <a:r>
                    <a:rPr lang="en-US">
                      <a:noFill/>
                    </a:rPr>
                    <a:t> </a:t>
                  </a:r>
                </a:p>
              </p:txBody>
            </p:sp>
          </mc:Fallback>
        </mc:AlternateContent>
        <p:sp>
          <p:nvSpPr>
            <p:cNvPr id="11" name="Rectangle 10"/>
            <p:cNvSpPr/>
            <p:nvPr/>
          </p:nvSpPr>
          <p:spPr>
            <a:xfrm>
              <a:off x="7460252" y="1988821"/>
              <a:ext cx="1047566" cy="284085"/>
            </a:xfrm>
            <a:prstGeom prst="rect">
              <a:avLst/>
            </a:pr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2" name="Rectangle 11"/>
            <p:cNvSpPr/>
            <p:nvPr/>
          </p:nvSpPr>
          <p:spPr>
            <a:xfrm>
              <a:off x="8891782" y="1988819"/>
              <a:ext cx="1042383" cy="284085"/>
            </a:xfrm>
            <a:prstGeom prst="rect">
              <a:avLst/>
            </a:pr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3" name="TextBox 12"/>
            <p:cNvSpPr txBox="1"/>
            <p:nvPr/>
          </p:nvSpPr>
          <p:spPr>
            <a:xfrm>
              <a:off x="8561822" y="1900030"/>
              <a:ext cx="363985" cy="461665"/>
            </a:xfrm>
            <a:prstGeom prst="rect">
              <a:avLst/>
            </a:prstGeom>
            <a:noFill/>
          </p:spPr>
          <p:txBody>
            <a:bodyPr wrap="square" rtlCol="0">
              <a:spAutoFit/>
            </a:bodyPr>
            <a:lstStyle/>
            <a:p>
              <a:r>
                <a:rPr lang="en-US" sz="2400" b="1" dirty="0"/>
                <a:t>.</a:t>
              </a:r>
            </a:p>
          </p:txBody>
        </p:sp>
        <p:sp>
          <p:nvSpPr>
            <p:cNvPr id="16" name="TextBox 15"/>
            <p:cNvSpPr txBox="1"/>
            <p:nvPr/>
          </p:nvSpPr>
          <p:spPr>
            <a:xfrm>
              <a:off x="7057799" y="2396711"/>
              <a:ext cx="402453" cy="461665"/>
            </a:xfrm>
            <a:prstGeom prst="rect">
              <a:avLst/>
            </a:prstGeom>
            <a:noFill/>
          </p:spPr>
          <p:txBody>
            <a:bodyPr wrap="square" rtlCol="0">
              <a:spAutoFit/>
            </a:bodyPr>
            <a:lstStyle/>
            <a:p>
              <a:r>
                <a:rPr lang="en-US" sz="2400" b="1" dirty="0">
                  <a:latin typeface="Georgia" panose="02040502050405020303" pitchFamily="18" charset="0"/>
                </a:rPr>
                <a:t>×</a:t>
              </a:r>
              <a:endParaRPr lang="en-US" sz="2400" b="1" dirty="0"/>
            </a:p>
          </p:txBody>
        </p:sp>
        <p:sp>
          <p:nvSpPr>
            <p:cNvPr id="19" name="Rectangle 18"/>
            <p:cNvSpPr/>
            <p:nvPr/>
          </p:nvSpPr>
          <p:spPr>
            <a:xfrm>
              <a:off x="8891782" y="3148139"/>
              <a:ext cx="2102796" cy="284085"/>
            </a:xfrm>
            <a:prstGeom prst="rect">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0" name="TextBox 19"/>
            <p:cNvSpPr txBox="1"/>
            <p:nvPr/>
          </p:nvSpPr>
          <p:spPr>
            <a:xfrm>
              <a:off x="8561822" y="3059350"/>
              <a:ext cx="363985" cy="461665"/>
            </a:xfrm>
            <a:prstGeom prst="rect">
              <a:avLst/>
            </a:prstGeom>
            <a:noFill/>
          </p:spPr>
          <p:txBody>
            <a:bodyPr wrap="square" rtlCol="0">
              <a:spAutoFit/>
            </a:bodyPr>
            <a:lstStyle/>
            <a:p>
              <a:r>
                <a:rPr lang="en-US" sz="2400" b="1" dirty="0"/>
                <a:t>.</a:t>
              </a:r>
            </a:p>
          </p:txBody>
        </p:sp>
        <p:sp>
          <p:nvSpPr>
            <p:cNvPr id="21" name="Right Brace 20"/>
            <p:cNvSpPr/>
            <p:nvPr/>
          </p:nvSpPr>
          <p:spPr>
            <a:xfrm rot="5400000">
              <a:off x="9838270" y="2606860"/>
              <a:ext cx="191789" cy="2149960"/>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TextBox 21"/>
            <p:cNvSpPr txBox="1"/>
            <p:nvPr/>
          </p:nvSpPr>
          <p:spPr>
            <a:xfrm>
              <a:off x="9533792" y="3773422"/>
              <a:ext cx="1047565" cy="430605"/>
            </a:xfrm>
            <a:prstGeom prst="rect">
              <a:avLst/>
            </a:prstGeom>
            <a:noFill/>
          </p:spPr>
          <p:txBody>
            <a:bodyPr wrap="square" rtlCol="0">
              <a:spAutoFit/>
            </a:bodyPr>
            <a:lstStyle/>
            <a:p>
              <a:r>
                <a:rPr lang="en-US" dirty="0"/>
                <a:t>32 bits</a:t>
              </a:r>
            </a:p>
          </p:txBody>
        </p:sp>
        <p:sp>
          <p:nvSpPr>
            <p:cNvPr id="25" name="Rectangle 24"/>
            <p:cNvSpPr/>
            <p:nvPr/>
          </p:nvSpPr>
          <p:spPr>
            <a:xfrm>
              <a:off x="8891782" y="4243003"/>
              <a:ext cx="1194042" cy="284085"/>
            </a:xfrm>
            <a:prstGeom prst="rect">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6" name="TextBox 25"/>
            <p:cNvSpPr txBox="1"/>
            <p:nvPr/>
          </p:nvSpPr>
          <p:spPr>
            <a:xfrm>
              <a:off x="8561822" y="4154214"/>
              <a:ext cx="363985" cy="461665"/>
            </a:xfrm>
            <a:prstGeom prst="rect">
              <a:avLst/>
            </a:prstGeom>
            <a:noFill/>
          </p:spPr>
          <p:txBody>
            <a:bodyPr wrap="square" rtlCol="0">
              <a:spAutoFit/>
            </a:bodyPr>
            <a:lstStyle/>
            <a:p>
              <a:r>
                <a:rPr lang="en-US" sz="2400" b="1" dirty="0"/>
                <a:t>.</a:t>
              </a:r>
            </a:p>
          </p:txBody>
        </p:sp>
        <p:sp>
          <p:nvSpPr>
            <p:cNvPr id="27" name="Right Brace 26"/>
            <p:cNvSpPr/>
            <p:nvPr/>
          </p:nvSpPr>
          <p:spPr>
            <a:xfrm rot="5400000">
              <a:off x="9393288" y="4155998"/>
              <a:ext cx="143866" cy="1241206"/>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8" name="TextBox 27"/>
            <p:cNvSpPr txBox="1"/>
            <p:nvPr/>
          </p:nvSpPr>
          <p:spPr>
            <a:xfrm>
              <a:off x="9019765" y="4848535"/>
              <a:ext cx="938077" cy="369332"/>
            </a:xfrm>
            <a:prstGeom prst="rect">
              <a:avLst/>
            </a:prstGeom>
            <a:noFill/>
          </p:spPr>
          <p:txBody>
            <a:bodyPr wrap="square" rtlCol="0">
              <a:spAutoFit/>
            </a:bodyPr>
            <a:lstStyle/>
            <a:p>
              <a:r>
                <a:rPr lang="en-US" dirty="0"/>
                <a:t>16 bits</a:t>
              </a:r>
            </a:p>
          </p:txBody>
        </p:sp>
        <p:cxnSp>
          <p:nvCxnSpPr>
            <p:cNvPr id="31" name="Straight Connector 30">
              <a:extLst>
                <a:ext uri="{FF2B5EF4-FFF2-40B4-BE49-F238E27FC236}">
                  <a16:creationId xmlns:a16="http://schemas.microsoft.com/office/drawing/2014/main" id="{3E615738-B903-42B9-B49E-9C8686D3D29C}"/>
                </a:ext>
              </a:extLst>
            </p:cNvPr>
            <p:cNvCxnSpPr>
              <a:cxnSpLocks/>
            </p:cNvCxnSpPr>
            <p:nvPr/>
          </p:nvCxnSpPr>
          <p:spPr>
            <a:xfrm>
              <a:off x="6331284" y="2980215"/>
              <a:ext cx="47740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E152B3F-687A-44BE-904F-26A29A39CF03}"/>
                </a:ext>
              </a:extLst>
            </p:cNvPr>
            <p:cNvSpPr/>
            <p:nvPr/>
          </p:nvSpPr>
          <p:spPr>
            <a:xfrm>
              <a:off x="6399162" y="3144915"/>
              <a:ext cx="2108656" cy="284085"/>
            </a:xfrm>
            <a:prstGeom prst="rect">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573DDEFD-12C0-4E65-B53E-D4D1DC739323}"/>
                    </a:ext>
                  </a:extLst>
                </p:cNvPr>
                <p:cNvSpPr txBox="1"/>
                <p:nvPr/>
              </p:nvSpPr>
              <p:spPr>
                <a:xfrm>
                  <a:off x="10789813" y="3056124"/>
                  <a:ext cx="167374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ℤ</m:t>
                            </m:r>
                          </m:e>
                          <m:sub>
                            <m:sSup>
                              <m:sSupPr>
                                <m:ctrlPr>
                                  <a:rPr lang="en-US" sz="2400" b="0" i="1" dirty="0" smtClean="0">
                                    <a:latin typeface="Cambria Math" panose="02040503050406030204" pitchFamily="18" charset="0"/>
                                    <a:ea typeface="Cambria Math" panose="02040503050406030204" pitchFamily="18" charset="0"/>
                                  </a:rPr>
                                </m:ctrlPr>
                              </m:sSupPr>
                              <m:e>
                                <m:r>
                                  <a:rPr lang="en-US" sz="2400" b="0" i="1" dirty="0" smtClean="0">
                                    <a:latin typeface="Cambria Math" panose="02040503050406030204" pitchFamily="18" charset="0"/>
                                    <a:ea typeface="Cambria Math" panose="02040503050406030204" pitchFamily="18" charset="0"/>
                                  </a:rPr>
                                  <m:t>2</m:t>
                                </m:r>
                              </m:e>
                              <m:sup>
                                <m:r>
                                  <a:rPr lang="en-US" sz="2400" b="0" i="1" dirty="0" smtClean="0">
                                    <a:solidFill>
                                      <a:srgbClr val="FF0000"/>
                                    </a:solidFill>
                                    <a:latin typeface="Cambria Math" panose="02040503050406030204" pitchFamily="18" charset="0"/>
                                    <a:ea typeface="Cambria Math" panose="02040503050406030204" pitchFamily="18" charset="0"/>
                                  </a:rPr>
                                  <m:t>2</m:t>
                                </m:r>
                                <m:r>
                                  <a:rPr lang="en-US" sz="2400" b="0" i="1" dirty="0" smtClean="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36" name="TextBox 35">
                  <a:extLst>
                    <a:ext uri="{FF2B5EF4-FFF2-40B4-BE49-F238E27FC236}">
                      <a16:creationId xmlns:a16="http://schemas.microsoft.com/office/drawing/2014/main" id="{573DDEFD-12C0-4E65-B53E-D4D1DC739323}"/>
                    </a:ext>
                  </a:extLst>
                </p:cNvPr>
                <p:cNvSpPr txBox="1">
                  <a:spLocks noRot="1" noChangeAspect="1" noMove="1" noResize="1" noEditPoints="1" noAdjustHandles="1" noChangeArrowheads="1" noChangeShapeType="1" noTextEdit="1"/>
                </p:cNvSpPr>
                <p:nvPr/>
              </p:nvSpPr>
              <p:spPr>
                <a:xfrm>
                  <a:off x="10789813" y="3056124"/>
                  <a:ext cx="1673748" cy="461665"/>
                </a:xfrm>
                <a:prstGeom prst="rect">
                  <a:avLst/>
                </a:prstGeom>
                <a:blipFill>
                  <a:blip r:embed="rId7"/>
                  <a:stretch>
                    <a:fillRect b="-23077"/>
                  </a:stretch>
                </a:blipFill>
              </p:spPr>
              <p:txBody>
                <a:bodyPr/>
                <a:lstStyle/>
                <a:p>
                  <a:r>
                    <a:rPr lang="en-US">
                      <a:noFill/>
                    </a:rPr>
                    <a:t> </a:t>
                  </a:r>
                </a:p>
              </p:txBody>
            </p:sp>
          </mc:Fallback>
        </mc:AlternateContent>
        <p:sp>
          <p:nvSpPr>
            <p:cNvPr id="44" name="Rectangle 43">
              <a:extLst>
                <a:ext uri="{FF2B5EF4-FFF2-40B4-BE49-F238E27FC236}">
                  <a16:creationId xmlns:a16="http://schemas.microsoft.com/office/drawing/2014/main" id="{F80FD9AD-5ADF-49B9-894C-427F53E8DF99}"/>
                </a:ext>
              </a:extLst>
            </p:cNvPr>
            <p:cNvSpPr/>
            <p:nvPr/>
          </p:nvSpPr>
          <p:spPr>
            <a:xfrm>
              <a:off x="6398387" y="4244701"/>
              <a:ext cx="1047566" cy="284085"/>
            </a:xfrm>
            <a:prstGeom prst="rect">
              <a:avLst/>
            </a:prstGeom>
            <a:pattFill prst="wdUpDiag">
              <a:fgClr>
                <a:srgbClr val="FFC000"/>
              </a:fgClr>
              <a:bgClr>
                <a:schemeClr val="bg1"/>
              </a:bgClr>
            </a:patt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51119D0-9345-41B6-B076-6F2831520AAC}"/>
                </a:ext>
              </a:extLst>
            </p:cNvPr>
            <p:cNvSpPr/>
            <p:nvPr/>
          </p:nvSpPr>
          <p:spPr>
            <a:xfrm>
              <a:off x="10087763" y="4243003"/>
              <a:ext cx="921382" cy="284085"/>
            </a:xfrm>
            <a:prstGeom prst="rect">
              <a:avLst/>
            </a:prstGeom>
            <a:pattFill prst="wdUpDiag">
              <a:fgClr>
                <a:srgbClr val="FFC000"/>
              </a:fgClr>
              <a:bgClr>
                <a:schemeClr val="bg1"/>
              </a:bgClr>
            </a:patt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7460252" y="4243005"/>
              <a:ext cx="1047566" cy="284085"/>
            </a:xfrm>
            <a:prstGeom prst="rect">
              <a:avLst/>
            </a:prstGeom>
            <a:solidFill>
              <a:srgbClr val="FFC000"/>
            </a:solidFill>
            <a:ln>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gr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B3C3C612-41B7-4C34-9C71-50722ED78261}"/>
                  </a:ext>
                </a:extLst>
              </p:cNvPr>
              <p:cNvSpPr txBox="1"/>
              <p:nvPr/>
            </p:nvSpPr>
            <p:spPr>
              <a:xfrm>
                <a:off x="11212166" y="3689481"/>
                <a:ext cx="1078391" cy="3959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ℤ</m:t>
                          </m:r>
                        </m:e>
                        <m:sub>
                          <m:sSup>
                            <m:sSupPr>
                              <m:ctrlPr>
                                <a:rPr lang="en-US" sz="2400" i="1" dirty="0">
                                  <a:latin typeface="Cambria Math" panose="02040503050406030204" pitchFamily="18" charset="0"/>
                                  <a:ea typeface="Cambria Math" panose="02040503050406030204" pitchFamily="18" charset="0"/>
                                </a:rPr>
                              </m:ctrlPr>
                            </m:sSupPr>
                            <m:e>
                              <m:r>
                                <a:rPr lang="en-US" sz="2400" i="1" dirty="0">
                                  <a:latin typeface="Cambria Math" panose="02040503050406030204" pitchFamily="18" charset="0"/>
                                  <a:ea typeface="Cambria Math" panose="02040503050406030204" pitchFamily="18" charset="0"/>
                                </a:rPr>
                                <m:t>2</m:t>
                              </m:r>
                            </m:e>
                            <m:sup>
                              <m:r>
                                <a:rPr lang="en-US" sz="2400" i="1" dirty="0">
                                  <a:latin typeface="Cambria Math" panose="02040503050406030204" pitchFamily="18" charset="0"/>
                                  <a:ea typeface="Cambria Math" panose="02040503050406030204" pitchFamily="18" charset="0"/>
                                </a:rPr>
                                <m:t>𝑚</m:t>
                              </m:r>
                            </m:sup>
                          </m:sSup>
                        </m:sub>
                      </m:sSub>
                    </m:oMath>
                  </m:oMathPara>
                </a14:m>
                <a:endParaRPr lang="en-US" sz="2400" i="1" dirty="0"/>
              </a:p>
            </p:txBody>
          </p:sp>
        </mc:Choice>
        <mc:Fallback>
          <p:sp>
            <p:nvSpPr>
              <p:cNvPr id="33" name="TextBox 32">
                <a:extLst>
                  <a:ext uri="{FF2B5EF4-FFF2-40B4-BE49-F238E27FC236}">
                    <a16:creationId xmlns:a16="http://schemas.microsoft.com/office/drawing/2014/main" id="{B3C3C612-41B7-4C34-9C71-50722ED78261}"/>
                  </a:ext>
                </a:extLst>
              </p:cNvPr>
              <p:cNvSpPr txBox="1">
                <a:spLocks noRot="1" noChangeAspect="1" noMove="1" noResize="1" noEditPoints="1" noAdjustHandles="1" noChangeArrowheads="1" noChangeShapeType="1" noTextEdit="1"/>
              </p:cNvSpPr>
              <p:nvPr/>
            </p:nvSpPr>
            <p:spPr>
              <a:xfrm>
                <a:off x="11212166" y="3689481"/>
                <a:ext cx="1078391" cy="395972"/>
              </a:xfrm>
              <a:prstGeom prst="rect">
                <a:avLst/>
              </a:prstGeom>
              <a:blipFill>
                <a:blip r:embed="rId8"/>
                <a:stretch>
                  <a:fillRect b="-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5817B656-5AEC-417F-892D-AAD4886F70E9}"/>
                  </a:ext>
                </a:extLst>
              </p:cNvPr>
              <p:cNvSpPr txBox="1"/>
              <p:nvPr/>
            </p:nvSpPr>
            <p:spPr>
              <a:xfrm>
                <a:off x="8038840" y="5368811"/>
                <a:ext cx="2893869" cy="1500988"/>
              </a:xfrm>
              <a:prstGeom prst="rect">
                <a:avLst/>
              </a:prstGeom>
              <a:noFill/>
            </p:spPr>
            <p:txBody>
              <a:bodyPr wrap="none" rtlCol="0">
                <a:spAutoFit/>
              </a:bodyPr>
              <a:lstStyle/>
              <a:p>
                <a:pPr marL="342900" indent="-342900">
                  <a:buFont typeface="+mj-lt"/>
                  <a:buAutoNum type="arabicPeriod"/>
                </a:pPr>
                <a14:m>
                  <m:oMath xmlns:m="http://schemas.openxmlformats.org/officeDocument/2006/math">
                    <m:d>
                      <m:dPr>
                        <m:begChr m:val="⟦"/>
                        <m:endChr m:val="⟧"/>
                        <m:ctrlPr>
                          <a:rPr lang="en-US" i="1" smtClean="0">
                            <a:latin typeface="Cambria Math" panose="02040503050406030204" pitchFamily="18" charset="0"/>
                          </a:rPr>
                        </m:ctrlPr>
                      </m:dPr>
                      <m:e>
                        <m:r>
                          <a:rPr lang="en-US" i="1">
                            <a:latin typeface="Cambria Math" panose="02040503050406030204" pitchFamily="18" charset="0"/>
                          </a:rPr>
                          <m:t>𝑧</m:t>
                        </m:r>
                        <m:r>
                          <a:rPr lang="en-US" b="0" i="1" smtClean="0">
                            <a:latin typeface="Cambria Math" panose="02040503050406030204" pitchFamily="18" charset="0"/>
                          </a:rPr>
                          <m:t>′</m:t>
                        </m:r>
                      </m:e>
                    </m:d>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𝑦</m:t>
                        </m:r>
                      </m:e>
                    </m:d>
                  </m:oMath>
                </a14:m>
                <a:endParaRPr lang="en-US" i="1" dirty="0">
                  <a:latin typeface="Cambria Math" panose="02040503050406030204" pitchFamily="18" charset="0"/>
                </a:endParaRPr>
              </a:p>
              <a:p>
                <a:pPr marL="342900" indent="-342900">
                  <a:buFont typeface="+mj-lt"/>
                  <a:buAutoNum type="arabicPeriod"/>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   = </m:t>
                    </m:r>
                  </m:oMath>
                </a14:m>
                <a:r>
                  <a:rPr lang="en-US" dirty="0"/>
                  <a:t>Reveal(</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𝑧</m:t>
                        </m:r>
                        <m:r>
                          <a:rPr lang="en-US" i="1">
                            <a:latin typeface="Cambria Math" panose="02040503050406030204" pitchFamily="18" charset="0"/>
                          </a:rPr>
                          <m:t>′</m:t>
                        </m:r>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𝑟</m:t>
                        </m:r>
                      </m:e>
                    </m:d>
                  </m:oMath>
                </a14:m>
                <a:r>
                  <a:rPr lang="en-US" dirty="0"/>
                  <a:t>)</a:t>
                </a:r>
              </a:p>
              <a:p>
                <a:pPr marL="342900" indent="-342900">
                  <a:buFont typeface="+mj-lt"/>
                  <a:buAutoNum type="arabicPeriod"/>
                </a:pPr>
                <a14:m>
                  <m:oMath xmlns:m="http://schemas.openxmlformats.org/officeDocument/2006/math">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 </m:t>
                    </m:r>
                    <m:r>
                      <a:rPr lang="en-US" b="0" i="0" smtClean="0">
                        <a:latin typeface="Cambria Math" panose="02040503050406030204" pitchFamily="18" charset="0"/>
                      </a:rPr>
                      <m:t> </m:t>
                    </m:r>
                    <m:r>
                      <a:rPr lang="en-US" b="0" i="1" smtClean="0">
                        <a:solidFill>
                          <a:srgbClr val="C00000"/>
                        </a:solidFill>
                        <a:latin typeface="Cambria Math" panose="02040503050406030204" pitchFamily="18" charset="0"/>
                      </a:rPr>
                      <m:t>𝑡</m:t>
                    </m:r>
                    <m:r>
                      <a:rPr lang="en-US" b="0" i="1"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2</m:t>
                        </m:r>
                      </m:e>
                      <m:sup>
                        <m:r>
                          <a:rPr lang="en-US" i="1">
                            <a:solidFill>
                              <a:srgbClr val="C00000"/>
                            </a:solidFill>
                            <a:latin typeface="Cambria Math" panose="02040503050406030204" pitchFamily="18" charset="0"/>
                          </a:rPr>
                          <m:t>ℓ</m:t>
                        </m:r>
                      </m:sup>
                    </m:sSup>
                    <m:r>
                      <a:rPr lang="en-US" b="0" i="1" dirty="0" smtClean="0">
                        <a:latin typeface="Cambria Math" panose="02040503050406030204" pitchFamily="18" charset="0"/>
                      </a:rPr>
                      <m:t>+ </m:t>
                    </m:r>
                    <m:d>
                      <m:dPr>
                        <m:begChr m:val="⟦"/>
                        <m:endChr m:val="⟧"/>
                        <m:ctrlPr>
                          <a:rPr lang="en-US" i="1" smtClean="0">
                            <a:solidFill>
                              <a:schemeClr val="accent6">
                                <a:lumMod val="90000"/>
                                <a:lumOff val="10000"/>
                              </a:schemeClr>
                            </a:solidFill>
                            <a:latin typeface="Cambria Math" panose="02040503050406030204" pitchFamily="18" charset="0"/>
                          </a:rPr>
                        </m:ctrlPr>
                      </m:dPr>
                      <m:e>
                        <m:r>
                          <a:rPr lang="en-US" b="0" i="1" smtClean="0">
                            <a:solidFill>
                              <a:schemeClr val="accent6">
                                <a:lumMod val="90000"/>
                                <a:lumOff val="10000"/>
                              </a:schemeClr>
                            </a:solidFill>
                            <a:latin typeface="Cambria Math" panose="02040503050406030204" pitchFamily="18" charset="0"/>
                          </a:rPr>
                          <m:t>𝑟</m:t>
                        </m:r>
                        <m:r>
                          <a:rPr lang="en-US" i="1">
                            <a:solidFill>
                              <a:schemeClr val="accent6">
                                <a:lumMod val="90000"/>
                                <a:lumOff val="10000"/>
                              </a:schemeClr>
                            </a:solidFill>
                            <a:latin typeface="Cambria Math" panose="02040503050406030204" pitchFamily="18" charset="0"/>
                          </a:rPr>
                          <m:t>′</m:t>
                        </m:r>
                      </m:e>
                    </m:d>
                  </m:oMath>
                </a14:m>
                <a:endParaRPr lang="en-US" i="1" dirty="0"/>
              </a:p>
              <a:p>
                <a:pPr marL="342900" indent="-342900">
                  <a:buFont typeface="+mj-lt"/>
                  <a:buAutoNum type="arabicPeriod"/>
                </a:pPr>
                <a:endParaRPr lang="en-US" dirty="0"/>
              </a:p>
              <a:p>
                <a:endParaRPr lang="en-US" dirty="0"/>
              </a:p>
            </p:txBody>
          </p:sp>
        </mc:Choice>
        <mc:Fallback>
          <p:sp>
            <p:nvSpPr>
              <p:cNvPr id="14" name="TextBox 13">
                <a:extLst>
                  <a:ext uri="{FF2B5EF4-FFF2-40B4-BE49-F238E27FC236}">
                    <a16:creationId xmlns:a16="http://schemas.microsoft.com/office/drawing/2014/main" id="{5817B656-5AEC-417F-892D-AAD4886F70E9}"/>
                  </a:ext>
                </a:extLst>
              </p:cNvPr>
              <p:cNvSpPr txBox="1">
                <a:spLocks noRot="1" noChangeAspect="1" noMove="1" noResize="1" noEditPoints="1" noAdjustHandles="1" noChangeArrowheads="1" noChangeShapeType="1" noTextEdit="1"/>
              </p:cNvSpPr>
              <p:nvPr/>
            </p:nvSpPr>
            <p:spPr>
              <a:xfrm>
                <a:off x="8038840" y="5368811"/>
                <a:ext cx="2893869" cy="1500988"/>
              </a:xfrm>
              <a:prstGeom prst="rect">
                <a:avLst/>
              </a:prstGeom>
              <a:blipFill>
                <a:blip r:embed="rId9"/>
                <a:stretch>
                  <a:fillRect l="-1688" t="-1626" r="-633"/>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B18A84F6-1303-4D72-A6A6-FEF80A4F2AFA}"/>
              </a:ext>
            </a:extLst>
          </p:cNvPr>
          <p:cNvCxnSpPr>
            <a:cxnSpLocks/>
          </p:cNvCxnSpPr>
          <p:nvPr/>
        </p:nvCxnSpPr>
        <p:spPr>
          <a:xfrm>
            <a:off x="7027737" y="4793306"/>
            <a:ext cx="4688663"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6A8A1B74-48CD-43C5-A8DF-7742A5FF540E}"/>
                  </a:ext>
                </a:extLst>
              </p:cNvPr>
              <p:cNvSpPr txBox="1"/>
              <p:nvPr/>
            </p:nvSpPr>
            <p:spPr>
              <a:xfrm>
                <a:off x="7267596" y="4864134"/>
                <a:ext cx="4318618" cy="392993"/>
              </a:xfrm>
              <a:prstGeom prst="rect">
                <a:avLst/>
              </a:prstGeom>
              <a:noFill/>
            </p:spPr>
            <p:txBody>
              <a:bodyPr wrap="none" rtlCol="0">
                <a:spAutoFit/>
              </a:bodyPr>
              <a:lstStyle/>
              <a:p>
                <a:r>
                  <a:rPr lang="en-US" dirty="0"/>
                  <a:t>Preprocess: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ℤ</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𝑚</m:t>
                            </m:r>
                          </m:sup>
                        </m:sSup>
                      </m:sub>
                    </m:sSub>
                    <m:r>
                      <a:rPr lang="en-US" b="0" i="0" smtClean="0">
                        <a:latin typeface="Cambria Math" panose="02040503050406030204" pitchFamily="18" charset="0"/>
                      </a:rPr>
                      <m:t>,</m:t>
                    </m:r>
                  </m:oMath>
                </a14:m>
                <a:r>
                  <a:rPr lang="en-US" dirty="0"/>
                  <a:t>       </a:t>
                </a:r>
                <a14:m>
                  <m:oMath xmlns:m="http://schemas.openxmlformats.org/officeDocument/2006/math">
                    <m:d>
                      <m:dPr>
                        <m:begChr m:val="⟦"/>
                        <m:endChr m:val="⟧"/>
                        <m:ctrlPr>
                          <a:rPr lang="en-US" i="1" dirty="0" smtClean="0">
                            <a:latin typeface="Cambria Math" panose="02040503050406030204" pitchFamily="18" charset="0"/>
                          </a:rPr>
                        </m:ctrlPr>
                      </m:dPr>
                      <m:e>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𝑟</m:t>
                            </m:r>
                          </m:e>
                          <m:sup>
                            <m:r>
                              <a:rPr lang="en-US" b="0" i="1" dirty="0" smtClean="0">
                                <a:latin typeface="Cambria Math" panose="02040503050406030204" pitchFamily="18" charset="0"/>
                              </a:rPr>
                              <m:t>′</m:t>
                            </m:r>
                          </m:sup>
                        </m:sSup>
                      </m:e>
                    </m:d>
                    <m:r>
                      <a:rPr lang="en-US" b="0" i="1" dirty="0" smtClean="0">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𝑟</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i="1">
                            <a:latin typeface="Cambria Math" panose="02040503050406030204" pitchFamily="18" charset="0"/>
                          </a:rPr>
                          <m:t>ℓ</m:t>
                        </m:r>
                      </m:sup>
                    </m:sSup>
                  </m:oMath>
                </a14:m>
                <a:endParaRPr lang="en-US" dirty="0"/>
              </a:p>
            </p:txBody>
          </p:sp>
        </mc:Choice>
        <mc:Fallback>
          <p:sp>
            <p:nvSpPr>
              <p:cNvPr id="23" name="TextBox 22">
                <a:extLst>
                  <a:ext uri="{FF2B5EF4-FFF2-40B4-BE49-F238E27FC236}">
                    <a16:creationId xmlns:a16="http://schemas.microsoft.com/office/drawing/2014/main" id="{6A8A1B74-48CD-43C5-A8DF-7742A5FF540E}"/>
                  </a:ext>
                </a:extLst>
              </p:cNvPr>
              <p:cNvSpPr txBox="1">
                <a:spLocks noRot="1" noChangeAspect="1" noMove="1" noResize="1" noEditPoints="1" noAdjustHandles="1" noChangeArrowheads="1" noChangeShapeType="1" noTextEdit="1"/>
              </p:cNvSpPr>
              <p:nvPr/>
            </p:nvSpPr>
            <p:spPr>
              <a:xfrm>
                <a:off x="7267596" y="4864134"/>
                <a:ext cx="4318618" cy="392993"/>
              </a:xfrm>
              <a:prstGeom prst="rect">
                <a:avLst/>
              </a:prstGeom>
              <a:blipFill>
                <a:blip r:embed="rId10"/>
                <a:stretch>
                  <a:fillRect l="-1128" t="-6250" b="-21875"/>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B875BF93-5335-4EBD-9B0A-24896F19AA43}"/>
              </a:ext>
            </a:extLst>
          </p:cNvPr>
          <p:cNvCxnSpPr/>
          <p:nvPr/>
        </p:nvCxnSpPr>
        <p:spPr>
          <a:xfrm flipV="1">
            <a:off x="8844038" y="6303975"/>
            <a:ext cx="328517" cy="256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8E2B166E-20B2-4BA6-9A33-551D927D77F3}"/>
                  </a:ext>
                </a:extLst>
              </p:cNvPr>
              <p:cNvSpPr txBox="1"/>
              <p:nvPr/>
            </p:nvSpPr>
            <p:spPr>
              <a:xfrm>
                <a:off x="8307800" y="6488668"/>
                <a:ext cx="1028038" cy="369332"/>
              </a:xfrm>
              <a:prstGeom prst="rect">
                <a:avLst/>
              </a:prstGeom>
              <a:noFill/>
            </p:spPr>
            <p:txBody>
              <a:bodyPr wrap="none" rtlCol="0">
                <a:spAutoFit/>
              </a:bodyPr>
              <a:lstStyle/>
              <a:p>
                <a:r>
                  <a:rPr lang="en-US" dirty="0">
                    <a:solidFill>
                      <a:srgbClr val="C00000"/>
                    </a:solidFill>
                  </a:rPr>
                  <a:t>Share #</a:t>
                </a:r>
                <a14:m>
                  <m:oMath xmlns:m="http://schemas.openxmlformats.org/officeDocument/2006/math">
                    <m:r>
                      <a:rPr lang="en-US" b="0" i="1" smtClean="0">
                        <a:solidFill>
                          <a:srgbClr val="C00000"/>
                        </a:solidFill>
                        <a:latin typeface="Cambria Math" panose="02040503050406030204" pitchFamily="18" charset="0"/>
                      </a:rPr>
                      <m:t>1</m:t>
                    </m:r>
                  </m:oMath>
                </a14:m>
                <a:endParaRPr lang="en-US" dirty="0">
                  <a:solidFill>
                    <a:srgbClr val="C00000"/>
                  </a:solidFill>
                </a:endParaRPr>
              </a:p>
            </p:txBody>
          </p:sp>
        </mc:Choice>
        <mc:Fallback>
          <p:sp>
            <p:nvSpPr>
              <p:cNvPr id="48" name="TextBox 47">
                <a:extLst>
                  <a:ext uri="{FF2B5EF4-FFF2-40B4-BE49-F238E27FC236}">
                    <a16:creationId xmlns:a16="http://schemas.microsoft.com/office/drawing/2014/main" id="{8E2B166E-20B2-4BA6-9A33-551D927D77F3}"/>
                  </a:ext>
                </a:extLst>
              </p:cNvPr>
              <p:cNvSpPr txBox="1">
                <a:spLocks noRot="1" noChangeAspect="1" noMove="1" noResize="1" noEditPoints="1" noAdjustHandles="1" noChangeArrowheads="1" noChangeShapeType="1" noTextEdit="1"/>
              </p:cNvSpPr>
              <p:nvPr/>
            </p:nvSpPr>
            <p:spPr>
              <a:xfrm>
                <a:off x="8307800" y="6488668"/>
                <a:ext cx="1028038" cy="369332"/>
              </a:xfrm>
              <a:prstGeom prst="rect">
                <a:avLst/>
              </a:prstGeom>
              <a:blipFill>
                <a:blip r:embed="rId11"/>
                <a:stretch>
                  <a:fillRect l="-5357" t="-8197" b="-24590"/>
                </a:stretch>
              </a:blipFill>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F5FEB8FD-3CAE-47CB-9822-F586913D961A}"/>
              </a:ext>
            </a:extLst>
          </p:cNvPr>
          <p:cNvCxnSpPr>
            <a:cxnSpLocks/>
          </p:cNvCxnSpPr>
          <p:nvPr/>
        </p:nvCxnSpPr>
        <p:spPr>
          <a:xfrm flipH="1" flipV="1">
            <a:off x="10266546" y="6283194"/>
            <a:ext cx="372955" cy="26523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C611EA34-1DF5-4D69-96A4-F94A6E7E8A50}"/>
                  </a:ext>
                </a:extLst>
              </p:cNvPr>
              <p:cNvSpPr txBox="1"/>
              <p:nvPr/>
            </p:nvSpPr>
            <p:spPr>
              <a:xfrm>
                <a:off x="10103263" y="6476638"/>
                <a:ext cx="1028038" cy="369332"/>
              </a:xfrm>
              <a:prstGeom prst="rect">
                <a:avLst/>
              </a:prstGeom>
              <a:noFill/>
            </p:spPr>
            <p:txBody>
              <a:bodyPr wrap="none" rtlCol="0">
                <a:spAutoFit/>
              </a:bodyPr>
              <a:lstStyle/>
              <a:p>
                <a:r>
                  <a:rPr lang="en-US" dirty="0">
                    <a:solidFill>
                      <a:schemeClr val="accent6">
                        <a:lumMod val="90000"/>
                        <a:lumOff val="10000"/>
                      </a:schemeClr>
                    </a:solidFill>
                  </a:rPr>
                  <a:t>Share #</a:t>
                </a:r>
                <a14:m>
                  <m:oMath xmlns:m="http://schemas.openxmlformats.org/officeDocument/2006/math">
                    <m:r>
                      <a:rPr lang="en-US" b="0" i="1" smtClean="0">
                        <a:solidFill>
                          <a:schemeClr val="accent6">
                            <a:lumMod val="90000"/>
                            <a:lumOff val="10000"/>
                          </a:schemeClr>
                        </a:solidFill>
                        <a:latin typeface="Cambria Math" panose="02040503050406030204" pitchFamily="18" charset="0"/>
                      </a:rPr>
                      <m:t>2</m:t>
                    </m:r>
                  </m:oMath>
                </a14:m>
                <a:endParaRPr lang="en-US" dirty="0">
                  <a:solidFill>
                    <a:schemeClr val="accent6">
                      <a:lumMod val="90000"/>
                      <a:lumOff val="10000"/>
                    </a:schemeClr>
                  </a:solidFill>
                </a:endParaRPr>
              </a:p>
            </p:txBody>
          </p:sp>
        </mc:Choice>
        <mc:Fallback>
          <p:sp>
            <p:nvSpPr>
              <p:cNvPr id="51" name="TextBox 50">
                <a:extLst>
                  <a:ext uri="{FF2B5EF4-FFF2-40B4-BE49-F238E27FC236}">
                    <a16:creationId xmlns:a16="http://schemas.microsoft.com/office/drawing/2014/main" id="{C611EA34-1DF5-4D69-96A4-F94A6E7E8A50}"/>
                  </a:ext>
                </a:extLst>
              </p:cNvPr>
              <p:cNvSpPr txBox="1">
                <a:spLocks noRot="1" noChangeAspect="1" noMove="1" noResize="1" noEditPoints="1" noAdjustHandles="1" noChangeArrowheads="1" noChangeShapeType="1" noTextEdit="1"/>
              </p:cNvSpPr>
              <p:nvPr/>
            </p:nvSpPr>
            <p:spPr>
              <a:xfrm>
                <a:off x="10103263" y="6476638"/>
                <a:ext cx="1028038" cy="369332"/>
              </a:xfrm>
              <a:prstGeom prst="rect">
                <a:avLst/>
              </a:prstGeom>
              <a:blipFill>
                <a:blip r:embed="rId12"/>
                <a:stretch>
                  <a:fillRect l="-4734"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76932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BAF0D40-FB15-4413-B54D-9CF48559DD5B}"/>
              </a:ext>
            </a:extLst>
          </p:cNvPr>
          <p:cNvSpPr/>
          <p:nvPr/>
        </p:nvSpPr>
        <p:spPr>
          <a:xfrm>
            <a:off x="6052275" y="1908202"/>
            <a:ext cx="339378" cy="1249936"/>
          </a:xfrm>
          <a:prstGeom prst="rect">
            <a:avLst/>
          </a:prstGeom>
          <a:solidFill>
            <a:srgbClr val="FFFF00">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9B866D41-D831-477E-BA40-34435B288FEF}"/>
              </a:ext>
            </a:extLst>
          </p:cNvPr>
          <p:cNvSpPr/>
          <p:nvPr/>
        </p:nvSpPr>
        <p:spPr>
          <a:xfrm>
            <a:off x="7100412" y="3719912"/>
            <a:ext cx="263817" cy="271503"/>
          </a:xfrm>
          <a:prstGeom prst="rect">
            <a:avLst/>
          </a:prstGeom>
          <a:solidFill>
            <a:srgbClr val="FFFF00">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943AF077-3CB8-479E-96E4-217503FC0ABF}"/>
              </a:ext>
            </a:extLst>
          </p:cNvPr>
          <p:cNvSpPr/>
          <p:nvPr/>
        </p:nvSpPr>
        <p:spPr>
          <a:xfrm>
            <a:off x="5323390" y="5531515"/>
            <a:ext cx="263817" cy="271503"/>
          </a:xfrm>
          <a:prstGeom prst="rect">
            <a:avLst/>
          </a:prstGeom>
          <a:solidFill>
            <a:srgbClr val="FFFF00">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extLst/>
          </p:nvPr>
        </p:nvSpPr>
        <p:spPr/>
        <p:txBody>
          <a:bodyPr/>
          <a:lstStyle/>
          <a:p>
            <a:r>
              <a:rPr lang="en-US" dirty="0"/>
              <a:t>Matrix Multiplication </a:t>
            </a:r>
            <a:r>
              <a:rPr lang="en-US" dirty="0">
                <a:solidFill>
                  <a:srgbClr val="404040"/>
                </a:solidFill>
              </a:rPr>
              <a:t>on Shared Data</a:t>
            </a:r>
            <a:endParaRPr lang="en-US" dirty="0">
              <a:solidFill>
                <a:schemeClr val="tx1"/>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extLst/>
              </p:nvPr>
            </p:nvSpPr>
            <p:spPr>
              <a:xfrm>
                <a:off x="1450975" y="1695450"/>
                <a:ext cx="9670106" cy="5003930"/>
              </a:xfrm>
            </p:spPr>
            <p:txBody>
              <a:bodyPr>
                <a:noAutofit/>
              </a:bodyPr>
              <a:lstStyle/>
              <a:p>
                <a:r>
                  <a:rPr lang="en-US" sz="2000" dirty="0"/>
                  <a:t>Given, </a:t>
                </a:r>
                <a14:m>
                  <m:oMath xmlns:m="http://schemas.openxmlformats.org/officeDocument/2006/math">
                    <m:r>
                      <a:rPr lang="en-US" sz="2000" b="0" i="0" smtClean="0">
                        <a:latin typeface="Cambria Math" panose="02040503050406030204" pitchFamily="18" charset="0"/>
                      </a:rPr>
                      <m:t>  </m:t>
                    </m:r>
                    <m:r>
                      <m:rPr>
                        <m:sty m:val="p"/>
                      </m:rPr>
                      <a:rPr lang="en-US" sz="2000" b="0" i="0" smtClean="0">
                        <a:latin typeface="Cambria Math" panose="02040503050406030204" pitchFamily="18" charset="0"/>
                      </a:rPr>
                      <m:t>X</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4"/>
                                  <m:mcJc m:val="center"/>
                                </m:mcPr>
                              </m:mc>
                            </m:mcs>
                            <m:ctrlPr>
                              <a:rPr lang="en-US" sz="2000" b="0" i="1" smtClean="0">
                                <a:latin typeface="Cambria Math" panose="02040503050406030204" pitchFamily="18" charset="0"/>
                              </a:rPr>
                            </m:ctrlPr>
                          </m:mPr>
                          <m:mr>
                            <m:e>
                              <m:sSub>
                                <m:sSubPr>
                                  <m:ctrlPr>
                                    <a:rPr lang="en-US" sz="2000" b="0" i="1" smtClean="0">
                                      <a:latin typeface="Cambria Math" panose="02040503050406030204" pitchFamily="18" charset="0"/>
                                    </a:rPr>
                                  </m:ctrlPr>
                                </m:sSubPr>
                                <m:e>
                                  <m:r>
                                    <m:rPr>
                                      <m:brk m:alnAt="7"/>
                                    </m:rPr>
                                    <a:rPr lang="en-US" sz="2000" b="0" i="1" smtClean="0">
                                      <a:latin typeface="Cambria Math" panose="02040503050406030204" pitchFamily="18" charset="0"/>
                                    </a:rPr>
                                    <m:t>𝑥</m:t>
                                  </m:r>
                                </m:e>
                                <m:sub>
                                  <m:r>
                                    <m:rPr>
                                      <m:brk m:alnAt="7"/>
                                    </m:rPr>
                                    <a:rPr lang="en-US" sz="2000" b="0" i="1" smtClean="0">
                                      <a:latin typeface="Cambria Math" panose="02040503050406030204" pitchFamily="18" charset="0"/>
                                    </a:rPr>
                                    <m:t>1</m:t>
                                  </m:r>
                                  <m:r>
                                    <a:rPr lang="en-US" sz="2000" b="0" i="1" smtClean="0">
                                      <a:latin typeface="Cambria Math" panose="02040503050406030204" pitchFamily="18" charset="0"/>
                                    </a:rPr>
                                    <m:t>1</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12</m:t>
                                  </m:r>
                                </m:sub>
                              </m:sSub>
                            </m:e>
                            <m:e>
                              <m:r>
                                <a:rPr lang="en-US" sz="2000" b="0" i="1" smtClean="0">
                                  <a:latin typeface="Cambria Math" panose="02040503050406030204" pitchFamily="18" charset="0"/>
                                </a:rPr>
                                <m:t>⋯</m:t>
                              </m:r>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r>
                                    <a:rPr lang="en-US" sz="2000" b="0" i="1" smtClean="0">
                                      <a:latin typeface="Cambria Math" panose="02040503050406030204" pitchFamily="18" charset="0"/>
                                    </a:rPr>
                                    <m:t>𝑑</m:t>
                                  </m:r>
                                </m:sub>
                              </m:sSub>
                            </m:e>
                          </m:mr>
                          <m:m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21</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22</m:t>
                                  </m:r>
                                </m:sub>
                              </m:sSub>
                            </m:e>
                            <m:e>
                              <m:r>
                                <a:rPr lang="en-US" sz="2000" i="1">
                                  <a:latin typeface="Cambria Math" panose="02040503050406030204" pitchFamily="18" charset="0"/>
                                </a:rPr>
                                <m:t>⋯</m:t>
                              </m:r>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r>
                                    <a:rPr lang="en-US" sz="2000" b="0" i="1" smtClean="0">
                                      <a:latin typeface="Cambria Math" panose="02040503050406030204" pitchFamily="18" charset="0"/>
                                    </a:rPr>
                                    <m:t>𝑑</m:t>
                                  </m:r>
                                </m:sub>
                              </m:sSub>
                            </m:e>
                          </m:mr>
                          <m:mr>
                            <m:e>
                              <m:r>
                                <a:rPr lang="en-US" sz="2000" i="1">
                                  <a:latin typeface="Cambria Math" panose="02040503050406030204" pitchFamily="18" charset="0"/>
                                </a:rPr>
                                <m:t>⋮</m:t>
                              </m:r>
                            </m:e>
                            <m:e>
                              <m:r>
                                <a:rPr lang="en-US" sz="2000" b="0" i="1" smtClean="0">
                                  <a:latin typeface="Cambria Math" panose="02040503050406030204" pitchFamily="18" charset="0"/>
                                </a:rPr>
                                <m:t>⋮</m:t>
                              </m:r>
                            </m:e>
                            <m:e>
                              <m:r>
                                <a:rPr lang="en-US" sz="2000" b="0" i="1" smtClean="0">
                                  <a:latin typeface="Cambria Math" panose="02040503050406030204" pitchFamily="18" charset="0"/>
                                </a:rPr>
                                <m:t>⋱</m:t>
                              </m:r>
                            </m:e>
                            <m:e>
                              <m:r>
                                <a:rPr lang="en-US" sz="2000" b="0" i="1" smtClean="0">
                                  <a:latin typeface="Cambria Math" panose="02040503050406030204" pitchFamily="18" charset="0"/>
                                </a:rPr>
                                <m:t>⋮</m:t>
                              </m:r>
                            </m:e>
                          </m:mr>
                          <m:m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𝑛</m:t>
                                  </m:r>
                                  <m:r>
                                    <a:rPr lang="en-US" sz="2000" b="0" i="1" smtClean="0">
                                      <a:latin typeface="Cambria Math" panose="02040503050406030204" pitchFamily="18" charset="0"/>
                                    </a:rPr>
                                    <m:t>1</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𝑛</m:t>
                                  </m:r>
                                  <m:r>
                                    <a:rPr lang="en-US" sz="2000" b="0" i="1" smtClean="0">
                                      <a:latin typeface="Cambria Math" panose="02040503050406030204" pitchFamily="18" charset="0"/>
                                    </a:rPr>
                                    <m:t>2</m:t>
                                  </m:r>
                                </m:sub>
                              </m:sSub>
                            </m:e>
                            <m:e>
                              <m:r>
                                <a:rPr lang="en-US" sz="2000" b="0" i="1" smtClean="0">
                                  <a:latin typeface="Cambria Math" panose="02040503050406030204" pitchFamily="18" charset="0"/>
                                </a:rPr>
                                <m:t>⋯</m:t>
                              </m:r>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𝑛𝑑</m:t>
                                  </m:r>
                                </m:sub>
                              </m:sSub>
                            </m:e>
                          </m:mr>
                        </m:m>
                      </m:e>
                    </m:d>
                    <m:r>
                      <a:rPr lang="en-US" sz="2000" b="0" i="1" smtClean="0">
                        <a:latin typeface="Cambria Math" panose="02040503050406030204" pitchFamily="18" charset="0"/>
                      </a:rPr>
                      <m:t>, </m:t>
                    </m:r>
                    <m:r>
                      <a:rPr lang="en-US" sz="2000" b="0" i="1" smtClean="0">
                        <a:latin typeface="Cambria Math" panose="02040503050406030204" pitchFamily="18" charset="0"/>
                      </a:rPr>
                      <m:t>𝑌</m:t>
                    </m:r>
                    <m:r>
                      <a:rPr lang="en-US" sz="2000" b="0" i="1" smtClean="0">
                        <a:latin typeface="Cambria Math" panose="02040503050406030204" pitchFamily="18" charset="0"/>
                      </a:rPr>
                      <m:t>=</m:t>
                    </m:r>
                  </m:oMath>
                </a14:m>
                <a:r>
                  <a:rPr lang="en-US" sz="2000" dirty="0"/>
                  <a:t> </a:t>
                </a:r>
                <a14:m>
                  <m:oMath xmlns:m="http://schemas.openxmlformats.org/officeDocument/2006/math">
                    <m:d>
                      <m:dPr>
                        <m:begChr m:val="["/>
                        <m:endChr m:val="]"/>
                        <m:ctrlPr>
                          <a:rPr lang="en-US" sz="2000" i="1">
                            <a:latin typeface="Cambria Math" panose="02040503050406030204" pitchFamily="18" charset="0"/>
                          </a:rPr>
                        </m:ctrlPr>
                      </m:dPr>
                      <m:e>
                        <m:eqArr>
                          <m:eqArrPr>
                            <m:ctrlPr>
                              <a:rPr lang="en-US" sz="2000" b="0" i="1" smtClean="0">
                                <a:latin typeface="Cambria Math" panose="02040503050406030204" pitchFamily="18" charset="0"/>
                              </a:rPr>
                            </m:ctrlPr>
                          </m:eqArr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1</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2</m:t>
                                </m:r>
                              </m:sub>
                            </m:sSub>
                          </m:e>
                          <m:e>
                            <m:r>
                              <a:rPr lang="en-US" sz="2000" i="1">
                                <a:latin typeface="Cambria Math" panose="02040503050406030204" pitchFamily="18" charset="0"/>
                              </a:rPr>
                              <m:t>⋮</m:t>
                            </m:r>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i="1">
                                    <a:latin typeface="Cambria Math" panose="02040503050406030204" pitchFamily="18" charset="0"/>
                                  </a:rPr>
                                  <m:t>𝑑</m:t>
                                </m:r>
                              </m:sub>
                            </m:sSub>
                          </m:e>
                        </m:eqArr>
                      </m:e>
                    </m:d>
                  </m:oMath>
                </a14:m>
                <a:endParaRPr lang="en-US" sz="2000" dirty="0"/>
              </a:p>
              <a:p>
                <a:r>
                  <a:rPr lang="en-US" sz="2000" dirty="0"/>
                  <a:t>Compute </a:t>
                </a:r>
                <a14:m>
                  <m:oMath xmlns:m="http://schemas.openxmlformats.org/officeDocument/2006/math">
                    <m:r>
                      <m:rPr>
                        <m:sty m:val="p"/>
                      </m:rPr>
                      <a:rPr lang="en-US" sz="2000" b="0" i="0" smtClean="0">
                        <a:latin typeface="Cambria Math" panose="02040503050406030204" pitchFamily="18" charset="0"/>
                      </a:rPr>
                      <m:t>Z</m:t>
                    </m:r>
                    <m:r>
                      <a:rPr lang="en-US" sz="2000" b="0" i="0"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𝑌</m:t>
                    </m:r>
                  </m:oMath>
                </a14:m>
                <a:endParaRPr lang="en-US" sz="2000" dirty="0"/>
              </a:p>
              <a:p>
                <a:pPr lvl="1"/>
                <a:r>
                  <a:rPr lang="en-US" sz="1800" dirty="0"/>
                  <a:t>Classic “rows </a:t>
                </a:r>
                <a14:m>
                  <m:oMath xmlns:m="http://schemas.openxmlformats.org/officeDocument/2006/math">
                    <m:r>
                      <a:rPr lang="en-US" sz="1800" b="0" i="1" smtClean="0">
                        <a:latin typeface="Cambria Math" panose="02040503050406030204" pitchFamily="18" charset="0"/>
                      </a:rPr>
                      <m:t>×</m:t>
                    </m:r>
                  </m:oMath>
                </a14:m>
                <a:r>
                  <a:rPr lang="en-US" sz="1800" dirty="0"/>
                  <a:t> columns” algorithm. E.g. </a:t>
                </a:r>
                <a14:m>
                  <m:oMath xmlns:m="http://schemas.openxmlformats.org/officeDocument/2006/math">
                    <m:r>
                      <a:rPr lang="en-US" sz="1800" b="0" i="0"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nary>
                      <m:naryPr>
                        <m:chr m:val="∑"/>
                        <m:supHide m:val="on"/>
                        <m:ctrlPr>
                          <a:rPr lang="en-US" sz="1800" b="0" i="1" smtClean="0">
                            <a:latin typeface="Cambria Math" panose="02040503050406030204" pitchFamily="18" charset="0"/>
                          </a:rPr>
                        </m:ctrlPr>
                      </m:naryPr>
                      <m:sub>
                        <m:r>
                          <a:rPr lang="en-US" sz="1800" b="0" i="1" smtClean="0">
                            <a:latin typeface="Cambria Math" panose="02040503050406030204" pitchFamily="18" charset="0"/>
                          </a:rPr>
                          <m:t>𝑖</m:t>
                        </m:r>
                      </m:sub>
                      <m:sup/>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𝑖𝑗</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𝑗</m:t>
                            </m:r>
                          </m:sub>
                        </m:sSub>
                      </m:e>
                    </m:nary>
                  </m:oMath>
                </a14:m>
                <a:endParaRPr lang="en-US" sz="1800" b="0" dirty="0"/>
              </a:p>
              <a:p>
                <a:r>
                  <a:rPr lang="en-US" sz="2000" dirty="0"/>
                  <a:t>Each multiplication requires communication</a:t>
                </a:r>
              </a:p>
              <a:p>
                <a:pPr lvl="1"/>
                <a:r>
                  <a:rPr lang="en-US" sz="1800" dirty="0"/>
                  <a:t>Communication = </a:t>
                </a:r>
                <a14:m>
                  <m:oMath xmlns:m="http://schemas.openxmlformats.org/officeDocument/2006/math">
                    <m:r>
                      <a:rPr lang="en-US" sz="1800" b="0" i="1" smtClean="0">
                        <a:latin typeface="Cambria Math" panose="02040503050406030204" pitchFamily="18" charset="0"/>
                      </a:rPr>
                      <m:t>𝑛𝑑</m:t>
                    </m:r>
                  </m:oMath>
                </a14:m>
                <a:r>
                  <a:rPr lang="en-US" sz="1800" dirty="0"/>
                  <a:t> numbers!</a:t>
                </a:r>
              </a:p>
              <a:p>
                <a:r>
                  <a:rPr lang="en-US" sz="2000" dirty="0"/>
                  <a:t>Recall “half” a multiplication is done locally.</a:t>
                </a:r>
              </a:p>
              <a:p>
                <a:pPr lvl="1"/>
                <a:r>
                  <a:rPr lang="en-US" sz="1800" dirty="0"/>
                  <a:t>Do half multiplies for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𝑖</m:t>
                        </m:r>
                      </m:sub>
                    </m:sSub>
                    <m:r>
                      <a:rPr lang="en-US" sz="1800" i="1">
                        <a:latin typeface="Cambria Math" panose="02040503050406030204" pitchFamily="18" charset="0"/>
                      </a:rPr>
                      <m:t>=</m:t>
                    </m:r>
                    <m:nary>
                      <m:naryPr>
                        <m:chr m:val="∑"/>
                        <m:supHide m:val="on"/>
                        <m:ctrlPr>
                          <a:rPr lang="en-US" sz="1800" i="1">
                            <a:latin typeface="Cambria Math" panose="02040503050406030204" pitchFamily="18" charset="0"/>
                          </a:rPr>
                        </m:ctrlPr>
                      </m:naryPr>
                      <m:sub>
                        <m:r>
                          <a:rPr lang="en-US" sz="1800" i="1">
                            <a:latin typeface="Cambria Math" panose="02040503050406030204" pitchFamily="18" charset="0"/>
                          </a:rPr>
                          <m:t>𝑖</m:t>
                        </m:r>
                      </m:sub>
                      <m:sup/>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𝑖𝑗</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𝑗</m:t>
                            </m:r>
                          </m:sub>
                        </m:sSub>
                      </m:e>
                    </m:nary>
                  </m:oMath>
                </a14:m>
                <a:endParaRPr lang="en-US" sz="1800" b="0" dirty="0"/>
              </a:p>
              <a:p>
                <a:pPr lvl="1"/>
                <a:r>
                  <a:rPr lang="en-US" sz="1800" dirty="0"/>
                  <a:t>Only send final result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𝑧</m:t>
                        </m:r>
                      </m:e>
                      <m:sub>
                        <m:r>
                          <a:rPr lang="en-US" sz="1800" i="1">
                            <a:latin typeface="Cambria Math" panose="02040503050406030204" pitchFamily="18" charset="0"/>
                          </a:rPr>
                          <m:t>𝑖</m:t>
                        </m:r>
                      </m:sub>
                    </m:sSub>
                  </m:oMath>
                </a14:m>
                <a:endParaRPr lang="en-US" sz="1800" b="0" dirty="0"/>
              </a:p>
              <a:p>
                <a:pPr lvl="1"/>
                <a14:m>
                  <m:oMath xmlns:m="http://schemas.openxmlformats.org/officeDocument/2006/math">
                    <m:r>
                      <a:rPr lang="en-US" sz="1800" b="1" i="1">
                        <a:latin typeface="Cambria Math" panose="02040503050406030204" pitchFamily="18" charset="0"/>
                      </a:rPr>
                      <m:t>𝒅</m:t>
                    </m:r>
                  </m:oMath>
                </a14:m>
                <a:r>
                  <a:rPr lang="en-US" sz="1800" b="1" dirty="0"/>
                  <a:t> times less communication</a:t>
                </a:r>
              </a:p>
              <a:p>
                <a:pPr lvl="1"/>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extLst/>
              </p:nvPr>
            </p:nvSpPr>
            <p:spPr>
              <a:xfrm>
                <a:off x="1450975" y="1695450"/>
                <a:ext cx="9670106" cy="5003930"/>
              </a:xfrm>
              <a:blipFill>
                <a:blip r:embed="rId2"/>
                <a:stretch>
                  <a:fillRect l="-567"/>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46F530CF-9484-4F2E-8E03-AA9335E77E6C}"/>
              </a:ext>
            </a:extLst>
          </p:cNvPr>
          <p:cNvSpPr/>
          <p:nvPr/>
        </p:nvSpPr>
        <p:spPr>
          <a:xfrm>
            <a:off x="9688021" y="4349530"/>
            <a:ext cx="1417877" cy="743111"/>
          </a:xfrm>
          <a:prstGeom prst="rect">
            <a:avLst/>
          </a:prstGeom>
          <a:solidFill>
            <a:srgbClr val="E2B4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01F7A62D-B5E4-4082-99F3-2767F382DCF8}"/>
              </a:ext>
            </a:extLst>
          </p:cNvPr>
          <p:cNvSpPr/>
          <p:nvPr/>
        </p:nvSpPr>
        <p:spPr>
          <a:xfrm>
            <a:off x="8872649" y="5361011"/>
            <a:ext cx="1419694" cy="743111"/>
          </a:xfrm>
          <a:prstGeom prst="rect">
            <a:avLst/>
          </a:prstGeom>
          <a:solidFill>
            <a:srgbClr val="ADCF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DAF9E74-FE4A-46FF-9F73-10597070042E}"/>
              </a:ext>
            </a:extLst>
          </p:cNvPr>
          <p:cNvSpPr/>
          <p:nvPr/>
        </p:nvSpPr>
        <p:spPr>
          <a:xfrm>
            <a:off x="10550212" y="5348198"/>
            <a:ext cx="1409424" cy="743111"/>
          </a:xfrm>
          <a:prstGeom prst="rect">
            <a:avLst/>
          </a:prstGeom>
          <a:solidFill>
            <a:srgbClr val="F7D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2" descr="http://mahdiz.com/images/visaresearch.png">
            <a:extLst>
              <a:ext uri="{FF2B5EF4-FFF2-40B4-BE49-F238E27FC236}">
                <a16:creationId xmlns:a16="http://schemas.microsoft.com/office/drawing/2014/main" id="{5A34A9D7-C8C1-45CE-BFA6-B94460579659}"/>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9627106" y="3799684"/>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10" descr="Image result for amazon icon">
            <a:extLst>
              <a:ext uri="{FF2B5EF4-FFF2-40B4-BE49-F238E27FC236}">
                <a16:creationId xmlns:a16="http://schemas.microsoft.com/office/drawing/2014/main" id="{B48F3943-374C-48E0-BBB6-D0D7BF040B7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10958463" y="5938372"/>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2" descr="Image result for bank of america">
            <a:extLst>
              <a:ext uri="{FF2B5EF4-FFF2-40B4-BE49-F238E27FC236}">
                <a16:creationId xmlns:a16="http://schemas.microsoft.com/office/drawing/2014/main" id="{01BA0BEA-2C41-40C4-BB12-073CFEEF6365}"/>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8266101" y="5932741"/>
            <a:ext cx="2231395" cy="10109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5862D68-F8C9-4015-A70E-7383DD920281}"/>
                  </a:ext>
                </a:extLst>
              </p:cNvPr>
              <p:cNvSpPr txBox="1"/>
              <p:nvPr>
                <p:extLst/>
              </p:nvPr>
            </p:nvSpPr>
            <p:spPr>
              <a:xfrm>
                <a:off x="8911716" y="5543684"/>
                <a:ext cx="110776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2</m:t>
                          </m:r>
                        </m:sub>
                      </m:sSub>
                    </m:oMath>
                  </m:oMathPara>
                </a14:m>
                <a:endParaRPr lang="en-US" sz="2800" dirty="0"/>
              </a:p>
            </p:txBody>
          </p:sp>
        </mc:Choice>
        <mc:Fallback xmlns="">
          <p:sp>
            <p:nvSpPr>
              <p:cNvPr id="59" name="TextBox 58">
                <a:extLst>
                  <a:ext uri="{FF2B5EF4-FFF2-40B4-BE49-F238E27FC236}">
                    <a16:creationId xmlns:a16="http://schemas.microsoft.com/office/drawing/2014/main" id="{55862D68-F8C9-4015-A70E-7383DD920281}"/>
                  </a:ext>
                </a:extLst>
              </p:cNvPr>
              <p:cNvSpPr txBox="1">
                <a:spLocks noRot="1" noChangeAspect="1" noMove="1" noResize="1" noEditPoints="1" noAdjustHandles="1" noChangeArrowheads="1" noChangeShapeType="1" noTextEdit="1"/>
              </p:cNvSpPr>
              <p:nvPr>
                <p:extLst/>
              </p:nvPr>
            </p:nvSpPr>
            <p:spPr>
              <a:xfrm>
                <a:off x="8911716" y="5543684"/>
                <a:ext cx="1107762" cy="523220"/>
              </a:xfrm>
              <a:prstGeom prst="rect">
                <a:avLst/>
              </a:prstGeom>
              <a:blipFill>
                <a:blip r:embed="rId9"/>
                <a:stretch>
                  <a:fillRect r="-219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BBB022A-D789-4DF9-8513-632683EF4E9A}"/>
                  </a:ext>
                </a:extLst>
              </p:cNvPr>
              <p:cNvSpPr txBox="1"/>
              <p:nvPr>
                <p:extLst/>
              </p:nvPr>
            </p:nvSpPr>
            <p:spPr>
              <a:xfrm>
                <a:off x="10553502" y="5550175"/>
                <a:ext cx="1164116"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60" name="TextBox 59">
                <a:extLst>
                  <a:ext uri="{FF2B5EF4-FFF2-40B4-BE49-F238E27FC236}">
                    <a16:creationId xmlns:a16="http://schemas.microsoft.com/office/drawing/2014/main" id="{0BBB022A-D789-4DF9-8513-632683EF4E9A}"/>
                  </a:ext>
                </a:extLst>
              </p:cNvPr>
              <p:cNvSpPr txBox="1">
                <a:spLocks noRot="1" noChangeAspect="1" noMove="1" noResize="1" noEditPoints="1" noAdjustHandles="1" noChangeArrowheads="1" noChangeShapeType="1" noTextEdit="1"/>
              </p:cNvSpPr>
              <p:nvPr>
                <p:extLst/>
              </p:nvPr>
            </p:nvSpPr>
            <p:spPr>
              <a:xfrm>
                <a:off x="10553502" y="5550175"/>
                <a:ext cx="1164116" cy="523220"/>
              </a:xfrm>
              <a:prstGeom prst="rect">
                <a:avLst/>
              </a:prstGeom>
              <a:blipFill>
                <a:blip r:embed="rId10"/>
                <a:stretch>
                  <a:fillRect r="-1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DBFE7AB3-7AC7-4CAC-B6E5-5BD49BD74AF4}"/>
                  </a:ext>
                </a:extLst>
              </p:cNvPr>
              <p:cNvSpPr txBox="1"/>
              <p:nvPr>
                <p:extLst/>
              </p:nvPr>
            </p:nvSpPr>
            <p:spPr>
              <a:xfrm>
                <a:off x="9709127" y="4207170"/>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61" name="TextBox 60">
                <a:extLst>
                  <a:ext uri="{FF2B5EF4-FFF2-40B4-BE49-F238E27FC236}">
                    <a16:creationId xmlns:a16="http://schemas.microsoft.com/office/drawing/2014/main" id="{DBFE7AB3-7AC7-4CAC-B6E5-5BD49BD74AF4}"/>
                  </a:ext>
                </a:extLst>
              </p:cNvPr>
              <p:cNvSpPr txBox="1">
                <a:spLocks noRot="1" noChangeAspect="1" noMove="1" noResize="1" noEditPoints="1" noAdjustHandles="1" noChangeArrowheads="1" noChangeShapeType="1" noTextEdit="1"/>
              </p:cNvSpPr>
              <p:nvPr>
                <p:extLst/>
              </p:nvPr>
            </p:nvSpPr>
            <p:spPr>
              <a:xfrm>
                <a:off x="9709127" y="4207170"/>
                <a:ext cx="1241509" cy="523220"/>
              </a:xfrm>
              <a:prstGeom prst="rect">
                <a:avLst/>
              </a:prstGeom>
              <a:blipFill>
                <a:blip r:embed="rId11"/>
                <a:stretch>
                  <a:fillRect r="-7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7D0FDDCF-CA59-44A0-9FAE-FADED38DEB6A}"/>
                  </a:ext>
                </a:extLst>
              </p:cNvPr>
              <p:cNvSpPr txBox="1"/>
              <p:nvPr>
                <p:extLst/>
              </p:nvPr>
            </p:nvSpPr>
            <p:spPr>
              <a:xfrm>
                <a:off x="10550212" y="5221054"/>
                <a:ext cx="1155560"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oMath>
                  </m:oMathPara>
                </a14:m>
                <a:endParaRPr lang="en-US" sz="2800" dirty="0"/>
              </a:p>
            </p:txBody>
          </p:sp>
        </mc:Choice>
        <mc:Fallback xmlns="">
          <p:sp>
            <p:nvSpPr>
              <p:cNvPr id="62" name="TextBox 61">
                <a:extLst>
                  <a:ext uri="{FF2B5EF4-FFF2-40B4-BE49-F238E27FC236}">
                    <a16:creationId xmlns:a16="http://schemas.microsoft.com/office/drawing/2014/main" id="{7D0FDDCF-CA59-44A0-9FAE-FADED38DEB6A}"/>
                  </a:ext>
                </a:extLst>
              </p:cNvPr>
              <p:cNvSpPr txBox="1">
                <a:spLocks noRot="1" noChangeAspect="1" noMove="1" noResize="1" noEditPoints="1" noAdjustHandles="1" noChangeArrowheads="1" noChangeShapeType="1" noTextEdit="1"/>
              </p:cNvSpPr>
              <p:nvPr>
                <p:extLst/>
              </p:nvPr>
            </p:nvSpPr>
            <p:spPr>
              <a:xfrm>
                <a:off x="10550212" y="5221054"/>
                <a:ext cx="1155560"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1A47451A-051C-4DA1-9F68-B085FE3944E8}"/>
                  </a:ext>
                </a:extLst>
              </p:cNvPr>
              <p:cNvSpPr txBox="1"/>
              <p:nvPr>
                <p:extLst/>
              </p:nvPr>
            </p:nvSpPr>
            <p:spPr>
              <a:xfrm>
                <a:off x="9697281" y="4569768"/>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oMath>
                  </m:oMathPara>
                </a14:m>
                <a:endParaRPr lang="en-US" sz="2800" dirty="0"/>
              </a:p>
            </p:txBody>
          </p:sp>
        </mc:Choice>
        <mc:Fallback xmlns="">
          <p:sp>
            <p:nvSpPr>
              <p:cNvPr id="63" name="TextBox 62">
                <a:extLst>
                  <a:ext uri="{FF2B5EF4-FFF2-40B4-BE49-F238E27FC236}">
                    <a16:creationId xmlns:a16="http://schemas.microsoft.com/office/drawing/2014/main" id="{1A47451A-051C-4DA1-9F68-B085FE3944E8}"/>
                  </a:ext>
                </a:extLst>
              </p:cNvPr>
              <p:cNvSpPr txBox="1">
                <a:spLocks noRot="1" noChangeAspect="1" noMove="1" noResize="1" noEditPoints="1" noAdjustHandles="1" noChangeArrowheads="1" noChangeShapeType="1" noTextEdit="1"/>
              </p:cNvSpPr>
              <p:nvPr>
                <p:extLst/>
              </p:nvPr>
            </p:nvSpPr>
            <p:spPr>
              <a:xfrm>
                <a:off x="9697281" y="4569768"/>
                <a:ext cx="1241509"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11283DE-BB70-4352-BE30-EEEC67FFD268}"/>
                  </a:ext>
                </a:extLst>
              </p:cNvPr>
              <p:cNvSpPr txBox="1"/>
              <p:nvPr>
                <p:extLst/>
              </p:nvPr>
            </p:nvSpPr>
            <p:spPr>
              <a:xfrm>
                <a:off x="8911716" y="5223887"/>
                <a:ext cx="111105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oMath>
                  </m:oMathPara>
                </a14:m>
                <a:endParaRPr lang="en-US" sz="2800" dirty="0"/>
              </a:p>
            </p:txBody>
          </p:sp>
        </mc:Choice>
        <mc:Fallback xmlns="">
          <p:sp>
            <p:nvSpPr>
              <p:cNvPr id="64" name="TextBox 63">
                <a:extLst>
                  <a:ext uri="{FF2B5EF4-FFF2-40B4-BE49-F238E27FC236}">
                    <a16:creationId xmlns:a16="http://schemas.microsoft.com/office/drawing/2014/main" id="{F11283DE-BB70-4352-BE30-EEEC67FFD268}"/>
                  </a:ext>
                </a:extLst>
              </p:cNvPr>
              <p:cNvSpPr txBox="1">
                <a:spLocks noRot="1" noChangeAspect="1" noMove="1" noResize="1" noEditPoints="1" noAdjustHandles="1" noChangeArrowheads="1" noChangeShapeType="1" noTextEdit="1"/>
              </p:cNvSpPr>
              <p:nvPr>
                <p:extLst/>
              </p:nvPr>
            </p:nvSpPr>
            <p:spPr>
              <a:xfrm>
                <a:off x="8911716" y="5223887"/>
                <a:ext cx="1111052"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4B5B2FB0-2727-4D83-8879-8CF45800C7DA}"/>
                  </a:ext>
                </a:extLst>
              </p:cNvPr>
              <p:cNvSpPr/>
              <p:nvPr/>
            </p:nvSpPr>
            <p:spPr>
              <a:xfrm>
                <a:off x="9829227" y="5543684"/>
                <a:ext cx="6155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a:latin typeface="Cambria Math" panose="02040503050406030204" pitchFamily="18" charset="0"/>
                            </a:rPr>
                          </m:ctrlPr>
                        </m:sSubPr>
                        <m:e>
                          <m:r>
                            <a:rPr lang="en-US" sz="2800" i="1" dirty="0">
                              <a:latin typeface="Cambria Math" panose="02040503050406030204" pitchFamily="18" charset="0"/>
                            </a:rPr>
                            <m:t>𝑧</m:t>
                          </m:r>
                        </m:e>
                        <m:sub>
                          <m:r>
                            <a:rPr lang="en-US" sz="2800" i="1" dirty="0">
                              <a:latin typeface="Cambria Math" panose="02040503050406030204" pitchFamily="18" charset="0"/>
                            </a:rPr>
                            <m:t>2</m:t>
                          </m:r>
                        </m:sub>
                      </m:sSub>
                    </m:oMath>
                  </m:oMathPara>
                </a14:m>
                <a:endParaRPr lang="en-US" sz="2800" dirty="0"/>
              </a:p>
            </p:txBody>
          </p:sp>
        </mc:Choice>
        <mc:Fallback xmlns="">
          <p:sp>
            <p:nvSpPr>
              <p:cNvPr id="65" name="Rectangle 64">
                <a:extLst>
                  <a:ext uri="{FF2B5EF4-FFF2-40B4-BE49-F238E27FC236}">
                    <a16:creationId xmlns:a16="http://schemas.microsoft.com/office/drawing/2014/main" id="{4B5B2FB0-2727-4D83-8879-8CF45800C7DA}"/>
                  </a:ext>
                </a:extLst>
              </p:cNvPr>
              <p:cNvSpPr>
                <a:spLocks noRot="1" noChangeAspect="1" noMove="1" noResize="1" noEditPoints="1" noAdjustHandles="1" noChangeArrowheads="1" noChangeShapeType="1" noTextEdit="1"/>
              </p:cNvSpPr>
              <p:nvPr/>
            </p:nvSpPr>
            <p:spPr>
              <a:xfrm>
                <a:off x="9829227" y="5543684"/>
                <a:ext cx="615553" cy="52322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8B676514-CED0-4A47-9720-506A58A59E76}"/>
                  </a:ext>
                </a:extLst>
              </p:cNvPr>
              <p:cNvSpPr/>
              <p:nvPr/>
            </p:nvSpPr>
            <p:spPr>
              <a:xfrm>
                <a:off x="11471015" y="5547646"/>
                <a:ext cx="6155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𝑧</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66" name="Rectangle 65">
                <a:extLst>
                  <a:ext uri="{FF2B5EF4-FFF2-40B4-BE49-F238E27FC236}">
                    <a16:creationId xmlns:a16="http://schemas.microsoft.com/office/drawing/2014/main" id="{8B676514-CED0-4A47-9720-506A58A59E76}"/>
                  </a:ext>
                </a:extLst>
              </p:cNvPr>
              <p:cNvSpPr>
                <a:spLocks noRot="1" noChangeAspect="1" noMove="1" noResize="1" noEditPoints="1" noAdjustHandles="1" noChangeArrowheads="1" noChangeShapeType="1" noTextEdit="1"/>
              </p:cNvSpPr>
              <p:nvPr/>
            </p:nvSpPr>
            <p:spPr>
              <a:xfrm>
                <a:off x="11471015" y="5547646"/>
                <a:ext cx="615553" cy="52322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5E4ACDEC-010D-49FD-AD4B-19B200B14312}"/>
                  </a:ext>
                </a:extLst>
              </p:cNvPr>
              <p:cNvSpPr/>
              <p:nvPr/>
            </p:nvSpPr>
            <p:spPr>
              <a:xfrm>
                <a:off x="10614894" y="4211231"/>
                <a:ext cx="60728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𝑧</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67" name="Rectangle 66">
                <a:extLst>
                  <a:ext uri="{FF2B5EF4-FFF2-40B4-BE49-F238E27FC236}">
                    <a16:creationId xmlns:a16="http://schemas.microsoft.com/office/drawing/2014/main" id="{5E4ACDEC-010D-49FD-AD4B-19B200B14312}"/>
                  </a:ext>
                </a:extLst>
              </p:cNvPr>
              <p:cNvSpPr>
                <a:spLocks noRot="1" noChangeAspect="1" noMove="1" noResize="1" noEditPoints="1" noAdjustHandles="1" noChangeArrowheads="1" noChangeShapeType="1" noTextEdit="1"/>
              </p:cNvSpPr>
              <p:nvPr/>
            </p:nvSpPr>
            <p:spPr>
              <a:xfrm>
                <a:off x="10614894" y="4211231"/>
                <a:ext cx="607282" cy="523220"/>
              </a:xfrm>
              <a:prstGeom prst="rect">
                <a:avLst/>
              </a:prstGeom>
              <a:blipFill>
                <a:blip r:embed="rId17"/>
                <a:stretch>
                  <a:fillRect/>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E1B06C56-3962-417A-A86D-5DBB73BDA74C}"/>
              </a:ext>
            </a:extLst>
          </p:cNvPr>
          <p:cNvSpPr/>
          <p:nvPr/>
        </p:nvSpPr>
        <p:spPr>
          <a:xfrm>
            <a:off x="3139208" y="1908202"/>
            <a:ext cx="2179242" cy="318704"/>
          </a:xfrm>
          <a:prstGeom prst="rect">
            <a:avLst/>
          </a:prstGeom>
          <a:solidFill>
            <a:schemeClr val="accent2">
              <a:lumMod val="40000"/>
              <a:lumOff val="60000"/>
              <a:alpha val="270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81575EC-EA31-4D3D-A9BC-CB6CFD10EBDA}"/>
              </a:ext>
            </a:extLst>
          </p:cNvPr>
          <p:cNvSpPr/>
          <p:nvPr/>
        </p:nvSpPr>
        <p:spPr>
          <a:xfrm>
            <a:off x="6773913" y="3722952"/>
            <a:ext cx="322657" cy="268463"/>
          </a:xfrm>
          <a:prstGeom prst="rect">
            <a:avLst/>
          </a:prstGeom>
          <a:solidFill>
            <a:schemeClr val="accent2">
              <a:lumMod val="40000"/>
              <a:lumOff val="60000"/>
              <a:alpha val="270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AFA5B1E0-2A59-4935-A056-909ED3C1C25B}"/>
              </a:ext>
            </a:extLst>
          </p:cNvPr>
          <p:cNvSpPr/>
          <p:nvPr/>
        </p:nvSpPr>
        <p:spPr>
          <a:xfrm>
            <a:off x="4996891" y="5534555"/>
            <a:ext cx="322657" cy="268463"/>
          </a:xfrm>
          <a:prstGeom prst="rect">
            <a:avLst/>
          </a:prstGeom>
          <a:solidFill>
            <a:schemeClr val="accent2">
              <a:lumMod val="40000"/>
              <a:lumOff val="60000"/>
              <a:alpha val="270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09570DBC-7EA6-419A-BDEF-39C0DEFC1517}"/>
              </a:ext>
            </a:extLst>
          </p:cNvPr>
          <p:cNvSpPr/>
          <p:nvPr/>
        </p:nvSpPr>
        <p:spPr>
          <a:xfrm>
            <a:off x="8838048" y="1839130"/>
            <a:ext cx="3120695"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40A920E-8472-4928-8036-EA0DD62C797F}"/>
              </a:ext>
            </a:extLst>
          </p:cNvPr>
          <p:cNvSpPr/>
          <p:nvPr/>
        </p:nvSpPr>
        <p:spPr>
          <a:xfrm>
            <a:off x="8832332" y="2214518"/>
            <a:ext cx="3127303"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678E93F-4177-4BAE-8D29-AB5A3E50C0FF}"/>
              </a:ext>
            </a:extLst>
          </p:cNvPr>
          <p:cNvSpPr/>
          <p:nvPr/>
        </p:nvSpPr>
        <p:spPr>
          <a:xfrm>
            <a:off x="8826293" y="2582646"/>
            <a:ext cx="3134285"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1096CA1F-A91C-4EC2-BC9D-C7CDE0FDB937}"/>
                  </a:ext>
                </a:extLst>
              </p:cNvPr>
              <p:cNvSpPr/>
              <p:nvPr/>
            </p:nvSpPr>
            <p:spPr>
              <a:xfrm>
                <a:off x="8732520" y="1814617"/>
                <a:ext cx="3328878" cy="1107996"/>
              </a:xfrm>
              <a:prstGeom prst="rect">
                <a:avLst/>
              </a:prstGeom>
            </p:spPr>
            <p:txBody>
              <a:bodyPr wrap="square">
                <a:spAutoFit/>
              </a:bodyPr>
              <a:lstStyle/>
              <a:p>
                <a:pPr>
                  <a:spcBef>
                    <a:spcPts val="600"/>
                  </a:spcBef>
                </a:pPr>
                <a14:m>
                  <m:oMathPara xmlns:m="http://schemas.openxmlformats.org/officeDocument/2006/math">
                    <m:oMathParaPr>
                      <m:jc m:val="centerGroup"/>
                    </m:oMathParaPr>
                    <m:oMath xmlns:m="http://schemas.openxmlformats.org/officeDocument/2006/math">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𝑧</m:t>
                          </m:r>
                        </m:e>
                        <m:sub>
                          <m:r>
                            <a:rPr lang="en-US" sz="2200" i="1">
                              <a:solidFill>
                                <a:srgbClr val="454545"/>
                              </a:solidFill>
                              <a:latin typeface="Cambria Math" panose="02040503050406030204" pitchFamily="18" charset="0"/>
                            </a:rPr>
                            <m:t>1</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1</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1</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1</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3</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3</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1</m:t>
                          </m:r>
                        </m:sub>
                      </m:sSub>
                    </m:oMath>
                    <m:oMath xmlns:m="http://schemas.openxmlformats.org/officeDocument/2006/math">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𝑧</m:t>
                          </m:r>
                        </m:e>
                        <m:sub>
                          <m:r>
                            <a:rPr lang="en-US" sz="2200" i="1">
                              <a:solidFill>
                                <a:srgbClr val="454545"/>
                              </a:solidFill>
                              <a:latin typeface="Cambria Math" panose="02040503050406030204" pitchFamily="18" charset="0"/>
                            </a:rPr>
                            <m:t>2</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1</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2</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2</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2</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2</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2</m:t>
                          </m:r>
                        </m:sub>
                      </m:sSub>
                    </m:oMath>
                    <m:oMath xmlns:m="http://schemas.openxmlformats.org/officeDocument/2006/math">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𝑧</m:t>
                          </m:r>
                        </m:e>
                        <m:sub>
                          <m:r>
                            <a:rPr lang="en-US" sz="2200" i="1">
                              <a:solidFill>
                                <a:srgbClr val="454545"/>
                              </a:solidFill>
                              <a:latin typeface="Cambria Math" panose="02040503050406030204" pitchFamily="18" charset="0"/>
                            </a:rPr>
                            <m:t>3</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2</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3</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3</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2</m:t>
                          </m:r>
                        </m:sub>
                      </m:sSub>
                      <m:r>
                        <a:rPr lang="en-US" sz="2200" i="1">
                          <a:solidFill>
                            <a:srgbClr val="454545"/>
                          </a:solidFill>
                          <a:latin typeface="Cambria Math" panose="02040503050406030204" pitchFamily="18" charset="0"/>
                        </a:rPr>
                        <m:t>+</m:t>
                      </m:r>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𝑥</m:t>
                          </m:r>
                        </m:e>
                        <m:sub>
                          <m:r>
                            <a:rPr lang="en-US" sz="2200" i="1">
                              <a:solidFill>
                                <a:srgbClr val="454545"/>
                              </a:solidFill>
                              <a:latin typeface="Cambria Math" panose="02040503050406030204" pitchFamily="18" charset="0"/>
                            </a:rPr>
                            <m:t>3</m:t>
                          </m:r>
                        </m:sub>
                      </m:sSub>
                      <m:sSub>
                        <m:sSubPr>
                          <m:ctrlPr>
                            <a:rPr lang="en-US" sz="2200" i="1">
                              <a:solidFill>
                                <a:srgbClr val="454545"/>
                              </a:solidFill>
                              <a:latin typeface="Cambria Math" panose="02040503050406030204" pitchFamily="18" charset="0"/>
                            </a:rPr>
                          </m:ctrlPr>
                        </m:sSubPr>
                        <m:e>
                          <m:r>
                            <a:rPr lang="en-US" sz="2200" i="1">
                              <a:solidFill>
                                <a:srgbClr val="454545"/>
                              </a:solidFill>
                              <a:latin typeface="Cambria Math" panose="02040503050406030204" pitchFamily="18" charset="0"/>
                            </a:rPr>
                            <m:t>𝑦</m:t>
                          </m:r>
                        </m:e>
                        <m:sub>
                          <m:r>
                            <a:rPr lang="en-US" sz="2200" i="1">
                              <a:solidFill>
                                <a:srgbClr val="454545"/>
                              </a:solidFill>
                              <a:latin typeface="Cambria Math" panose="02040503050406030204" pitchFamily="18" charset="0"/>
                            </a:rPr>
                            <m:t>3</m:t>
                          </m:r>
                        </m:sub>
                      </m:sSub>
                    </m:oMath>
                  </m:oMathPara>
                </a14:m>
                <a:endParaRPr lang="en-US" sz="2200" dirty="0"/>
              </a:p>
            </p:txBody>
          </p:sp>
        </mc:Choice>
        <mc:Fallback>
          <p:sp>
            <p:nvSpPr>
              <p:cNvPr id="6" name="Rectangle 5">
                <a:extLst>
                  <a:ext uri="{FF2B5EF4-FFF2-40B4-BE49-F238E27FC236}">
                    <a16:creationId xmlns:a16="http://schemas.microsoft.com/office/drawing/2014/main" id="{1096CA1F-A91C-4EC2-BC9D-C7CDE0FDB937}"/>
                  </a:ext>
                </a:extLst>
              </p:cNvPr>
              <p:cNvSpPr>
                <a:spLocks noRot="1" noChangeAspect="1" noMove="1" noResize="1" noEditPoints="1" noAdjustHandles="1" noChangeArrowheads="1" noChangeShapeType="1" noTextEdit="1"/>
              </p:cNvSpPr>
              <p:nvPr/>
            </p:nvSpPr>
            <p:spPr>
              <a:xfrm>
                <a:off x="8732520" y="1814617"/>
                <a:ext cx="3328878" cy="1107996"/>
              </a:xfrm>
              <a:prstGeom prst="rect">
                <a:avLst/>
              </a:prstGeom>
              <a:blipFill>
                <a:blip r:embed="rId18"/>
                <a:stretch>
                  <a:fillRect b="-3867"/>
                </a:stretch>
              </a:blipFill>
            </p:spPr>
            <p:txBody>
              <a:bodyPr/>
              <a:lstStyle/>
              <a:p>
                <a:r>
                  <a:rPr lang="en-US">
                    <a:noFill/>
                  </a:rPr>
                  <a:t> </a:t>
                </a:r>
              </a:p>
            </p:txBody>
          </p:sp>
        </mc:Fallback>
      </mc:AlternateContent>
    </p:spTree>
    <p:extLst>
      <p:ext uri="{BB962C8B-B14F-4D97-AF65-F5344CB8AC3E}">
        <p14:creationId xmlns:p14="http://schemas.microsoft.com/office/powerpoint/2010/main" val="53382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6" end="6"/>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
                                            <p:txEl>
                                              <p:pRg st="7" end="7"/>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42" presetClass="path" presetSubtype="0" accel="50000" decel="50000" fill="hold" grpId="0" nodeType="clickEffect">
                                  <p:stCondLst>
                                    <p:cond delay="0"/>
                                  </p:stCondLst>
                                  <p:childTnLst>
                                    <p:animMotion origin="layout" path="M -2.08333E-7 2.22222E-6 L 0.13451 -0.04121 " pathEditMode="relative" rAng="0" ptsTypes="AA">
                                      <p:cBhvr>
                                        <p:cTn id="82" dur="1000" fill="hold"/>
                                        <p:tgtEl>
                                          <p:spTgt spid="65"/>
                                        </p:tgtEl>
                                        <p:attrNameLst>
                                          <p:attrName>ppt_x</p:attrName>
                                          <p:attrName>ppt_y</p:attrName>
                                        </p:attrNameLst>
                                      </p:cBhvr>
                                      <p:rCtr x="6719" y="-2060"/>
                                    </p:animMotion>
                                  </p:childTnLst>
                                </p:cTn>
                              </p:par>
                              <p:par>
                                <p:cTn id="83" presetID="42" presetClass="path" presetSubtype="0" accel="50000" decel="50000" fill="hold" grpId="0" nodeType="withEffect">
                                  <p:stCondLst>
                                    <p:cond delay="0"/>
                                  </p:stCondLst>
                                  <p:childTnLst>
                                    <p:animMotion origin="layout" path="M 4.16667E-6 -7.40741E-7 L -0.07227 -0.14514 " pathEditMode="relative" rAng="0" ptsTypes="AA">
                                      <p:cBhvr>
                                        <p:cTn id="84" dur="1000" fill="hold"/>
                                        <p:tgtEl>
                                          <p:spTgt spid="66"/>
                                        </p:tgtEl>
                                        <p:attrNameLst>
                                          <p:attrName>ppt_x</p:attrName>
                                          <p:attrName>ppt_y</p:attrName>
                                        </p:attrNameLst>
                                      </p:cBhvr>
                                      <p:rCtr x="-3620" y="-7269"/>
                                    </p:animMotion>
                                  </p:childTnLst>
                                </p:cTn>
                              </p:par>
                              <p:par>
                                <p:cTn id="85" presetID="42" presetClass="path" presetSubtype="0" accel="50000" decel="50000" fill="hold" grpId="0" nodeType="withEffect">
                                  <p:stCondLst>
                                    <p:cond delay="0"/>
                                  </p:stCondLst>
                                  <p:childTnLst>
                                    <p:animMotion origin="layout" path="M -2.91667E-6 -3.33333E-6 L -0.06484 0.15371 " pathEditMode="relative" rAng="0" ptsTypes="AA">
                                      <p:cBhvr>
                                        <p:cTn id="86" dur="1000" fill="hold"/>
                                        <p:tgtEl>
                                          <p:spTgt spid="67"/>
                                        </p:tgtEl>
                                        <p:attrNameLst>
                                          <p:attrName>ppt_x</p:attrName>
                                          <p:attrName>ppt_y</p:attrName>
                                        </p:attrNameLst>
                                      </p:cBhvr>
                                      <p:rCtr x="-3242" y="76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6" grpId="0" animBg="1"/>
      <p:bldP spid="53" grpId="0" animBg="1"/>
      <p:bldP spid="54" grpId="0" animBg="1"/>
      <p:bldP spid="55" grpId="0" animBg="1"/>
      <p:bldP spid="59" grpId="0"/>
      <p:bldP spid="60" grpId="0"/>
      <p:bldP spid="61" grpId="0"/>
      <p:bldP spid="62" grpId="0"/>
      <p:bldP spid="63" grpId="0"/>
      <p:bldP spid="64" grpId="0"/>
      <p:bldP spid="65" grpId="0"/>
      <p:bldP spid="65" grpId="1"/>
      <p:bldP spid="66" grpId="0"/>
      <p:bldP spid="66" grpId="1"/>
      <p:bldP spid="67" grpId="0"/>
      <p:bldP spid="67" grpId="1"/>
      <p:bldP spid="19" grpId="0" animBg="1"/>
      <p:bldP spid="22" grpId="0" animBg="1"/>
      <p:bldP spid="27" grpId="0" animBg="1"/>
      <p:bldP spid="25" grpId="0" animBg="1"/>
      <p:bldP spid="28" grpId="0" animBg="1"/>
      <p:bldP spid="29" grpId="0" animBg="1"/>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7045-2D0A-4811-BB7E-3F8939D0420A}"/>
              </a:ext>
            </a:extLst>
          </p:cNvPr>
          <p:cNvSpPr>
            <a:spLocks noGrp="1"/>
          </p:cNvSpPr>
          <p:nvPr>
            <p:ph type="title"/>
          </p:nvPr>
        </p:nvSpPr>
        <p:spPr>
          <a:xfrm>
            <a:off x="1451581" y="526148"/>
            <a:ext cx="9603275" cy="1049235"/>
          </a:xfrm>
        </p:spPr>
        <p:txBody>
          <a:bodyPr/>
          <a:lstStyle/>
          <a:p>
            <a:r>
              <a:rPr lang="en-US" dirty="0"/>
              <a:t>Piece-wise Polynomial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C008D37-6FBB-40CC-AB09-62D322700FF9}"/>
                  </a:ext>
                </a:extLst>
              </p:cNvPr>
              <p:cNvSpPr>
                <a:spLocks noGrp="1"/>
              </p:cNvSpPr>
              <p:nvPr>
                <p:ph idx="1"/>
              </p:nvPr>
            </p:nvSpPr>
            <p:spPr>
              <a:xfrm>
                <a:off x="1451582" y="1694891"/>
                <a:ext cx="6993546" cy="5002124"/>
              </a:xfrm>
            </p:spPr>
            <p:txBody>
              <a:bodyPr>
                <a:normAutofit/>
              </a:bodyPr>
              <a:lstStyle/>
              <a:p>
                <a:r>
                  <a:rPr lang="en-US" sz="2000" dirty="0"/>
                  <a:t>Let </a:t>
                </a:r>
              </a:p>
              <a:p>
                <a:pPr lvl="1">
                  <a:spcBef>
                    <a:spcPts val="0"/>
                  </a:spcBef>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oMath>
                </a14:m>
                <a:endParaRPr lang="en-US" sz="1600" b="0" dirty="0">
                  <a:ea typeface="Cambria Math" panose="02040503050406030204" pitchFamily="18" charset="0"/>
                </a:endParaRPr>
              </a:p>
              <a:p>
                <a:pPr lvl="1">
                  <a:spcBef>
                    <a:spcPts val="0"/>
                  </a:spcBef>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oMath>
                </a14:m>
                <a:r>
                  <a:rPr lang="en-US" sz="1600" dirty="0"/>
                  <a:t> first threshold</a:t>
                </a:r>
              </a:p>
              <a:p>
                <a:pPr lvl="1">
                  <a:spcBef>
                    <a:spcPts val="0"/>
                  </a:spcBef>
                </a:pPr>
                <a:r>
                  <a:rPr lang="en-US" sz="1600" dirty="0"/>
                  <a:t>…</a:t>
                </a:r>
              </a:p>
              <a:p>
                <a:pPr lvl="1">
                  <a:spcBef>
                    <a:spcPts val="0"/>
                  </a:spcBef>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𝑡</m:t>
                        </m:r>
                      </m:e>
                      <m:sub>
                        <m:r>
                          <a:rPr lang="en-US" sz="1600" b="0" i="1" smtClean="0">
                            <a:latin typeface="Cambria Math" panose="02040503050406030204" pitchFamily="18" charset="0"/>
                          </a:rPr>
                          <m:t>𝑚</m:t>
                        </m:r>
                      </m:sub>
                    </m:sSub>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oMath>
                </a14:m>
                <a:endParaRPr lang="en-US" sz="1600" dirty="0"/>
              </a:p>
              <a:p>
                <a:r>
                  <a:rPr lang="en-US" sz="2000" dirty="0"/>
                  <a:t>Strategy:</a:t>
                </a:r>
                <a:br>
                  <a:rPr lang="en-US" sz="1800" b="0" i="1" dirty="0">
                    <a:latin typeface="Cambria Math" panose="02040503050406030204" pitchFamily="18" charset="0"/>
                  </a:rPr>
                </a:br>
                <a:br>
                  <a:rPr lang="en-US" sz="1400" dirty="0"/>
                </a:br>
                <a:endParaRPr lang="en-US" sz="900" dirty="0"/>
              </a:p>
              <a:p>
                <a:pPr lvl="1"/>
                <a:r>
                  <a:rPr lang="en-US" sz="1600" b="0" dirty="0"/>
                  <a:t>Polynomial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𝑓</m:t>
                        </m:r>
                      </m:e>
                      <m:sub>
                        <m:r>
                          <a:rPr lang="en-US" sz="1600" b="0" i="1" smtClean="0">
                            <a:latin typeface="Cambria Math" panose="02040503050406030204" pitchFamily="18" charset="0"/>
                          </a:rPr>
                          <m:t>𝑖</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m:t>
                        </m:r>
                      </m:e>
                    </m:d>
                  </m:oMath>
                </a14:m>
                <a:r>
                  <a:rPr lang="en-US" sz="1600" dirty="0"/>
                  <a:t> easy to compute</a:t>
                </a:r>
              </a:p>
              <a:p>
                <a:pPr lvl="1"/>
                <a:r>
                  <a:rPr lang="en-US" sz="1600" dirty="0"/>
                  <a:t>How to compute </a:t>
                </a:r>
                <a14:m>
                  <m:oMath xmlns:m="http://schemas.openxmlformats.org/officeDocument/2006/math">
                    <m:sSub>
                      <m:sSubPr>
                        <m:ctrlPr>
                          <a:rPr lang="en-US" sz="1600" i="1" smtClean="0">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𝑐</m:t>
                        </m:r>
                      </m:e>
                      <m:sub>
                        <m:r>
                          <a:rPr lang="en-US" sz="1600" i="1">
                            <a:solidFill>
                              <a:srgbClr val="FF0000"/>
                            </a:solidFill>
                            <a:latin typeface="Cambria Math" panose="02040503050406030204" pitchFamily="18" charset="0"/>
                          </a:rPr>
                          <m:t>𝑖</m:t>
                        </m:r>
                      </m:sub>
                    </m:sSub>
                    <m:r>
                      <a:rPr lang="en-US" sz="1600" b="0" i="1" smtClean="0">
                        <a:solidFill>
                          <a:srgbClr val="FF0000"/>
                        </a:solidFill>
                        <a:latin typeface="Cambria Math" panose="02040503050406030204" pitchFamily="18" charset="0"/>
                      </a:rPr>
                      <m:t>=</m:t>
                    </m:r>
                    <m:d>
                      <m:dPr>
                        <m:begChr m:val="⟦"/>
                        <m:endChr m:val="⟧"/>
                        <m:ctrlPr>
                          <a:rPr lang="en-US" sz="1600" i="1" smtClean="0">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𝑥</m:t>
                        </m:r>
                      </m:e>
                    </m:d>
                    <m:r>
                      <a:rPr lang="en-US" sz="1600" i="1">
                        <a:solidFill>
                          <a:srgbClr val="FF0000"/>
                        </a:solidFill>
                        <a:latin typeface="Cambria Math" panose="02040503050406030204" pitchFamily="18" charset="0"/>
                      </a:rPr>
                      <m:t>&gt;</m:t>
                    </m:r>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𝑡</m:t>
                        </m:r>
                      </m:e>
                      <m:sub>
                        <m:r>
                          <a:rPr lang="en-US" sz="1600" i="1">
                            <a:solidFill>
                              <a:srgbClr val="FF0000"/>
                            </a:solidFill>
                            <a:latin typeface="Cambria Math" panose="02040503050406030204" pitchFamily="18" charset="0"/>
                          </a:rPr>
                          <m:t>𝑖</m:t>
                        </m:r>
                      </m:sub>
                    </m:sSub>
                    <m:r>
                      <a:rPr lang="en-US" sz="1600" i="1">
                        <a:solidFill>
                          <a:srgbClr val="FF0000"/>
                        </a:solidFill>
                        <a:latin typeface="Cambria Math" panose="02040503050406030204" pitchFamily="18" charset="0"/>
                      </a:rPr>
                      <m:t> </m:t>
                    </m:r>
                    <m:nary>
                      <m:naryPr>
                        <m:chr m:val="⋀"/>
                        <m:subHide m:val="on"/>
                        <m:supHide m:val="on"/>
                        <m:ctrlPr>
                          <a:rPr lang="en-US" sz="1600" i="1">
                            <a:solidFill>
                              <a:srgbClr val="FF0000"/>
                            </a:solidFill>
                            <a:latin typeface="Cambria Math" panose="02040503050406030204" pitchFamily="18" charset="0"/>
                            <a:ea typeface="Cambria Math" panose="02040503050406030204" pitchFamily="18" charset="0"/>
                          </a:rPr>
                        </m:ctrlPr>
                      </m:naryPr>
                      <m:sub/>
                      <m:sup/>
                      <m:e>
                        <m:d>
                          <m:dPr>
                            <m:begChr m:val="⟦"/>
                            <m:endChr m:val="⟧"/>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𝑥</m:t>
                            </m:r>
                          </m:e>
                        </m:d>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𝑡</m:t>
                            </m:r>
                          </m:e>
                          <m:sub>
                            <m:r>
                              <a:rPr lang="en-US" sz="1600" i="1">
                                <a:solidFill>
                                  <a:srgbClr val="FF0000"/>
                                </a:solidFill>
                                <a:latin typeface="Cambria Math" panose="02040503050406030204" pitchFamily="18" charset="0"/>
                              </a:rPr>
                              <m:t>𝑖</m:t>
                            </m:r>
                            <m:r>
                              <a:rPr lang="en-US" sz="1600" i="1">
                                <a:solidFill>
                                  <a:srgbClr val="FF0000"/>
                                </a:solidFill>
                                <a:latin typeface="Cambria Math" panose="02040503050406030204" pitchFamily="18" charset="0"/>
                              </a:rPr>
                              <m:t>+1</m:t>
                            </m:r>
                          </m:sub>
                        </m:sSub>
                      </m:e>
                    </m:nary>
                  </m:oMath>
                </a14:m>
                <a:r>
                  <a:rPr lang="en-US" sz="1600" dirty="0"/>
                  <a:t>?</a:t>
                </a:r>
              </a:p>
              <a:p>
                <a:pPr lvl="2"/>
                <a14:m>
                  <m:oMath xmlns:m="http://schemas.openxmlformats.org/officeDocument/2006/math">
                    <m:sSup>
                      <m:sSupPr>
                        <m:ctrlPr>
                          <a:rPr lang="en-US" sz="1400" i="1">
                            <a:latin typeface="Cambria Math" panose="02040503050406030204" pitchFamily="18" charset="0"/>
                          </a:rPr>
                        </m:ctrlPr>
                      </m:sSupPr>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𝑡</m:t>
                                </m:r>
                              </m:e>
                              <m:sub>
                                <m:r>
                                  <a:rPr lang="en-US" sz="1400" i="1">
                                    <a:latin typeface="Cambria Math" panose="02040503050406030204" pitchFamily="18" charset="0"/>
                                  </a:rPr>
                                  <m:t>𝑖</m:t>
                                </m:r>
                              </m:sub>
                            </m:sSub>
                            <m:r>
                              <a:rPr lang="en-US" sz="1400" i="1">
                                <a:latin typeface="Cambria Math" panose="02040503050406030204" pitchFamily="18" charset="0"/>
                              </a:rPr>
                              <m:t>−</m:t>
                            </m:r>
                            <m:r>
                              <a:rPr lang="en-US" sz="1400" i="1">
                                <a:latin typeface="Cambria Math" panose="02040503050406030204" pitchFamily="18" charset="0"/>
                              </a:rPr>
                              <m:t>𝑥</m:t>
                            </m:r>
                          </m:e>
                        </m:d>
                      </m:e>
                      <m:sup>
                        <m:r>
                          <m:rPr>
                            <m:sty m:val="p"/>
                          </m:rPr>
                          <a:rPr lang="en-US" sz="1400">
                            <a:latin typeface="Cambria Math" panose="02040503050406030204" pitchFamily="18" charset="0"/>
                          </a:rPr>
                          <m:t>B</m:t>
                        </m:r>
                      </m:sup>
                    </m:sSup>
                    <m:r>
                      <a:rPr lang="en-US" sz="1400" i="1">
                        <a:latin typeface="Cambria Math" panose="02040503050406030204" pitchFamily="18" charset="0"/>
                      </a:rPr>
                      <m:t> </m:t>
                    </m:r>
                  </m:oMath>
                </a14:m>
                <a:r>
                  <a:rPr lang="en-US" sz="1400" dirty="0"/>
                  <a:t>= </a:t>
                </a:r>
                <a:r>
                  <a:rPr lang="en-US" sz="1400" i="1" dirty="0"/>
                  <a:t>Convert-to-binary</a:t>
                </a:r>
                <a14:m>
                  <m:oMath xmlns:m="http://schemas.openxmlformats.org/officeDocument/2006/math">
                    <m:d>
                      <m:dPr>
                        <m:ctrlPr>
                          <a:rPr lang="en-US" sz="1400" b="0" i="0" smtClean="0">
                            <a:latin typeface="Cambria Math" panose="02040503050406030204" pitchFamily="18" charset="0"/>
                          </a:rPr>
                        </m:ctrlPr>
                      </m:dPr>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𝑡</m:t>
                                </m:r>
                              </m:e>
                              <m:sub>
                                <m:r>
                                  <a:rPr lang="en-US" sz="1400" i="1">
                                    <a:latin typeface="Cambria Math" panose="02040503050406030204" pitchFamily="18" charset="0"/>
                                  </a:rPr>
                                  <m:t>𝑖</m:t>
                                </m:r>
                              </m:sub>
                            </m:sSub>
                            <m:r>
                              <a:rPr lang="en-US" sz="1400" i="1">
                                <a:latin typeface="Cambria Math" panose="02040503050406030204" pitchFamily="18" charset="0"/>
                              </a:rPr>
                              <m:t>−</m:t>
                            </m:r>
                            <m:r>
                              <a:rPr lang="en-US" sz="1400" i="1">
                                <a:latin typeface="Cambria Math" panose="02040503050406030204" pitchFamily="18" charset="0"/>
                              </a:rPr>
                              <m:t>𝑥</m:t>
                            </m:r>
                          </m:e>
                        </m:d>
                      </m:e>
                    </m:d>
                  </m:oMath>
                </a14:m>
                <a:endParaRPr lang="en-US" sz="1400" dirty="0"/>
              </a:p>
              <a:p>
                <a:pPr lvl="2"/>
                <a14:m>
                  <m:oMath xmlns:m="http://schemas.openxmlformats.org/officeDocument/2006/math">
                    <m:sSup>
                      <m:sSupPr>
                        <m:ctrlPr>
                          <a:rPr lang="en-US" sz="1400" i="1">
                            <a:latin typeface="Cambria Math" panose="02040503050406030204" pitchFamily="18" charset="0"/>
                          </a:rPr>
                        </m:ctrlPr>
                      </m:sSupPr>
                      <m:e>
                        <m:d>
                          <m:dPr>
                            <m:begChr m:val="⟦"/>
                            <m:endChr m:val="⟧"/>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𝑏</m:t>
                                </m:r>
                              </m:e>
                              <m:sub>
                                <m:r>
                                  <a:rPr lang="en-US" sz="1400" b="0" i="1" smtClean="0">
                                    <a:latin typeface="Cambria Math" panose="02040503050406030204" pitchFamily="18" charset="0"/>
                                  </a:rPr>
                                  <m:t>𝑖</m:t>
                                </m:r>
                              </m:sub>
                            </m:sSub>
                          </m:e>
                        </m:d>
                      </m:e>
                      <m:sup>
                        <m:r>
                          <m:rPr>
                            <m:sty m:val="p"/>
                          </m:rPr>
                          <a:rPr lang="en-US" sz="1400">
                            <a:latin typeface="Cambria Math" panose="02040503050406030204" pitchFamily="18" charset="0"/>
                          </a:rPr>
                          <m:t>B</m:t>
                        </m:r>
                      </m:sup>
                    </m:sSup>
                    <m:r>
                      <a:rPr lang="en-US" sz="1400" i="1">
                        <a:latin typeface="Cambria Math" panose="02040503050406030204" pitchFamily="18" charset="0"/>
                      </a:rPr>
                      <m:t> </m:t>
                    </m:r>
                    <m:r>
                      <a:rPr lang="en-US" sz="1400" b="0" i="1" smtClean="0">
                        <a:latin typeface="Cambria Math" panose="02040503050406030204" pitchFamily="18" charset="0"/>
                      </a:rPr>
                      <m:t>     </m:t>
                    </m:r>
                  </m:oMath>
                </a14:m>
                <a:r>
                  <a:rPr lang="en-US" sz="1400" dirty="0"/>
                  <a:t>  = </a:t>
                </a:r>
                <a:r>
                  <a:rPr lang="en-US" sz="1400" i="1" dirty="0"/>
                  <a:t>Most-significant-bit</a:t>
                </a:r>
                <a14:m>
                  <m:oMath xmlns:m="http://schemas.openxmlformats.org/officeDocument/2006/math">
                    <m:d>
                      <m:dPr>
                        <m:ctrlPr>
                          <a:rPr lang="en-US" sz="1400" i="1">
                            <a:latin typeface="Cambria Math" panose="02040503050406030204" pitchFamily="18" charset="0"/>
                          </a:rPr>
                        </m:ctrlPr>
                      </m:dPr>
                      <m:e>
                        <m:sSup>
                          <m:sSupPr>
                            <m:ctrlPr>
                              <a:rPr lang="en-US" sz="1400" i="1">
                                <a:latin typeface="Cambria Math" panose="02040503050406030204" pitchFamily="18" charset="0"/>
                              </a:rPr>
                            </m:ctrlPr>
                          </m:sSupPr>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𝑡</m:t>
                                    </m:r>
                                  </m:e>
                                  <m:sub>
                                    <m:r>
                                      <a:rPr lang="en-US" sz="1400" i="1">
                                        <a:latin typeface="Cambria Math" panose="02040503050406030204" pitchFamily="18" charset="0"/>
                                      </a:rPr>
                                      <m:t>𝑖</m:t>
                                    </m:r>
                                  </m:sub>
                                </m:sSub>
                                <m:r>
                                  <a:rPr lang="en-US" sz="1400" i="1">
                                    <a:latin typeface="Cambria Math" panose="02040503050406030204" pitchFamily="18" charset="0"/>
                                  </a:rPr>
                                  <m:t>−</m:t>
                                </m:r>
                                <m:r>
                                  <a:rPr lang="en-US" sz="1400" i="1">
                                    <a:latin typeface="Cambria Math" panose="02040503050406030204" pitchFamily="18" charset="0"/>
                                  </a:rPr>
                                  <m:t>𝑥</m:t>
                                </m:r>
                              </m:e>
                            </m:d>
                          </m:e>
                          <m:sup>
                            <m:r>
                              <m:rPr>
                                <m:sty m:val="p"/>
                              </m:rPr>
                              <a:rPr lang="en-US" sz="1400">
                                <a:latin typeface="Cambria Math" panose="02040503050406030204" pitchFamily="18" charset="0"/>
                              </a:rPr>
                              <m:t>B</m:t>
                            </m:r>
                          </m:sup>
                        </m:sSup>
                      </m:e>
                    </m:d>
                  </m:oMath>
                </a14:m>
                <a:endParaRPr lang="en-US" sz="1400" dirty="0"/>
              </a:p>
              <a:p>
                <a:pPr lvl="2"/>
                <a14:m>
                  <m:oMath xmlns:m="http://schemas.openxmlformats.org/officeDocument/2006/math">
                    <m:d>
                      <m:dPr>
                        <m:begChr m:val="⟦"/>
                        <m:endChr m:val="⟧"/>
                        <m:ctrlPr>
                          <a:rPr lang="en-US" sz="1400" i="1" smtClean="0">
                            <a:solidFill>
                              <a:srgbClr val="FF0000"/>
                            </a:solidFill>
                            <a:latin typeface="Cambria Math" panose="02040503050406030204" pitchFamily="18" charset="0"/>
                          </a:rPr>
                        </m:ctrlPr>
                      </m:dPr>
                      <m:e>
                        <m:sSub>
                          <m:sSubPr>
                            <m:ctrlPr>
                              <a:rPr lang="en-US" sz="1400" i="1">
                                <a:solidFill>
                                  <a:srgbClr val="FF0000"/>
                                </a:solidFill>
                                <a:latin typeface="Cambria Math" panose="02040503050406030204" pitchFamily="18" charset="0"/>
                              </a:rPr>
                            </m:ctrlPr>
                          </m:sSubPr>
                          <m:e>
                            <m:r>
                              <a:rPr lang="en-US" sz="1400" i="1">
                                <a:solidFill>
                                  <a:srgbClr val="FF0000"/>
                                </a:solidFill>
                                <a:latin typeface="Cambria Math" panose="02040503050406030204" pitchFamily="18" charset="0"/>
                              </a:rPr>
                              <m:t>𝑐</m:t>
                            </m:r>
                          </m:e>
                          <m:sub>
                            <m:r>
                              <a:rPr lang="en-US" sz="1400" i="1">
                                <a:solidFill>
                                  <a:srgbClr val="FF0000"/>
                                </a:solidFill>
                                <a:latin typeface="Cambria Math" panose="02040503050406030204" pitchFamily="18" charset="0"/>
                              </a:rPr>
                              <m:t>𝑖</m:t>
                            </m:r>
                          </m:sub>
                        </m:sSub>
                      </m:e>
                    </m:d>
                  </m:oMath>
                </a14:m>
                <a:r>
                  <a:rPr lang="en-US" sz="1400" dirty="0">
                    <a:solidFill>
                      <a:srgbClr val="FF0000"/>
                    </a:solidFill>
                  </a:rPr>
                  <a:t>   </a:t>
                </a:r>
                <a:r>
                  <a:rPr lang="en-US" sz="1400" dirty="0"/>
                  <a:t>      = </a:t>
                </a:r>
                <a:r>
                  <a:rPr lang="en-US" sz="1400" i="1" dirty="0"/>
                  <a:t>Converty-to-arithmetic</a:t>
                </a:r>
                <a14:m>
                  <m:oMath xmlns:m="http://schemas.openxmlformats.org/officeDocument/2006/math">
                    <m:d>
                      <m:dPr>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𝑏</m:t>
                                </m:r>
                              </m:e>
                              <m:sub>
                                <m:r>
                                  <a:rPr lang="en-US" sz="1400" b="0" i="1" smtClean="0">
                                    <a:latin typeface="Cambria Math" panose="02040503050406030204" pitchFamily="18" charset="0"/>
                                  </a:rPr>
                                  <m:t>𝑖</m:t>
                                </m:r>
                              </m:sub>
                            </m:sSub>
                          </m:e>
                        </m:d>
                        <m:r>
                          <a:rPr lang="en-US" sz="1400" b="0" i="1" smtClean="0">
                            <a:latin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m:t>
                        </m:r>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𝑏</m:t>
                                </m:r>
                              </m:e>
                              <m:sub>
                                <m:r>
                                  <a:rPr lang="en-US" sz="1400" i="1">
                                    <a:latin typeface="Cambria Math" panose="02040503050406030204" pitchFamily="18" charset="0"/>
                                  </a:rPr>
                                  <m:t>𝑖</m:t>
                                </m:r>
                                <m:r>
                                  <a:rPr lang="en-US" sz="1400" b="0" i="1" smtClean="0">
                                    <a:latin typeface="Cambria Math" panose="02040503050406030204" pitchFamily="18" charset="0"/>
                                  </a:rPr>
                                  <m:t>+1 </m:t>
                                </m:r>
                              </m:sub>
                            </m:sSub>
                          </m:e>
                        </m:d>
                      </m:e>
                    </m:d>
                  </m:oMath>
                </a14:m>
                <a:endParaRPr lang="en-US" sz="1400" dirty="0"/>
              </a:p>
              <a:p>
                <a:r>
                  <a:rPr lang="en-US" sz="2000" dirty="0"/>
                  <a:t>Total cost: </a:t>
                </a:r>
                <a14:m>
                  <m:oMath xmlns:m="http://schemas.openxmlformats.org/officeDocument/2006/math">
                    <m:r>
                      <a:rPr lang="en-US" sz="2000" b="0" i="1" smtClean="0">
                        <a:latin typeface="Cambria Math" panose="02040503050406030204" pitchFamily="18" charset="0"/>
                      </a:rPr>
                      <m:t>𝑂</m:t>
                    </m:r>
                    <m:d>
                      <m:dPr>
                        <m:ctrlPr>
                          <a:rPr lang="en-US" sz="2000" b="0" i="1" smtClean="0">
                            <a:latin typeface="Cambria Math" panose="02040503050406030204" pitchFamily="18" charset="0"/>
                          </a:rPr>
                        </m:ctrlPr>
                      </m:dPr>
                      <m:e>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r>
                              <a:rPr lang="en-US" sz="2000" b="0" i="1" smtClean="0">
                                <a:latin typeface="Cambria Math" panose="02040503050406030204" pitchFamily="18" charset="0"/>
                              </a:rPr>
                              <m:t>𝑚</m:t>
                            </m:r>
                          </m:e>
                        </m:func>
                      </m:e>
                    </m:d>
                  </m:oMath>
                </a14:m>
                <a:r>
                  <a:rPr lang="en-US" sz="2000" dirty="0"/>
                  <a:t> rounds and </a:t>
                </a:r>
                <a14:m>
                  <m:oMath xmlns:m="http://schemas.openxmlformats.org/officeDocument/2006/math">
                    <m:r>
                      <a:rPr lang="en-US" sz="2000" b="0" i="1" smtClean="0">
                        <a:latin typeface="Cambria Math" panose="02040503050406030204" pitchFamily="18" charset="0"/>
                      </a:rPr>
                      <m:t>𝑂</m:t>
                    </m:r>
                    <m:r>
                      <a:rPr lang="en-US" sz="2000" b="0" i="1" smtClean="0">
                        <a:latin typeface="Cambria Math" panose="02040503050406030204" pitchFamily="18" charset="0"/>
                      </a:rPr>
                      <m:t>(</m:t>
                    </m:r>
                    <m:r>
                      <a:rPr lang="en-US" sz="2000" b="0" i="1" smtClean="0">
                        <a:latin typeface="Cambria Math" panose="02040503050406030204" pitchFamily="18" charset="0"/>
                      </a:rPr>
                      <m:t>𝑚</m:t>
                    </m:r>
                    <m:r>
                      <a:rPr lang="en-US" sz="2000" b="0" i="1" smtClean="0">
                        <a:latin typeface="Cambria Math" panose="02040503050406030204" pitchFamily="18" charset="0"/>
                      </a:rPr>
                      <m:t>)</m:t>
                    </m:r>
                  </m:oMath>
                </a14:m>
                <a:r>
                  <a:rPr lang="en-US" sz="2000" dirty="0"/>
                  <a:t> bits of communication</a:t>
                </a:r>
              </a:p>
            </p:txBody>
          </p:sp>
        </mc:Choice>
        <mc:Fallback>
          <p:sp>
            <p:nvSpPr>
              <p:cNvPr id="3" name="Content Placeholder 2">
                <a:extLst>
                  <a:ext uri="{FF2B5EF4-FFF2-40B4-BE49-F238E27FC236}">
                    <a16:creationId xmlns:a16="http://schemas.microsoft.com/office/drawing/2014/main" id="{DC008D37-6FBB-40CC-AB09-62D322700FF9}"/>
                  </a:ext>
                </a:extLst>
              </p:cNvPr>
              <p:cNvSpPr>
                <a:spLocks noGrp="1" noRot="1" noChangeAspect="1" noMove="1" noResize="1" noEditPoints="1" noAdjustHandles="1" noChangeArrowheads="1" noChangeShapeType="1" noTextEdit="1"/>
              </p:cNvSpPr>
              <p:nvPr>
                <p:ph idx="1"/>
              </p:nvPr>
            </p:nvSpPr>
            <p:spPr>
              <a:xfrm>
                <a:off x="1451582" y="1694891"/>
                <a:ext cx="6993546" cy="5002124"/>
              </a:xfrm>
              <a:blipFill>
                <a:blip r:embed="rId2"/>
                <a:stretch>
                  <a:fillRect l="-7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51794B32-67BF-44C4-93FF-67A2DD8A7C86}"/>
                  </a:ext>
                </a:extLst>
              </p:cNvPr>
              <p:cNvSpPr/>
              <p:nvPr/>
            </p:nvSpPr>
            <p:spPr>
              <a:xfrm>
                <a:off x="3113301" y="3213081"/>
                <a:ext cx="4796057" cy="7843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𝑓</m:t>
                      </m:r>
                      <m:d>
                        <m:dPr>
                          <m:ctrlPr>
                            <a:rPr lang="en-US" sz="1600" i="1">
                              <a:latin typeface="Cambria Math" panose="02040503050406030204" pitchFamily="18" charset="0"/>
                            </a:rPr>
                          </m:ctrlPr>
                        </m:dPr>
                        <m:e>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𝑥</m:t>
                              </m:r>
                            </m:e>
                          </m:d>
                        </m:e>
                      </m:d>
                      <m:r>
                        <a:rPr lang="en-US" sz="1600" i="1">
                          <a:latin typeface="Cambria Math" panose="02040503050406030204" pitchFamily="18" charset="0"/>
                        </a:rPr>
                        <m:t>=</m:t>
                      </m:r>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𝑖</m:t>
                          </m:r>
                          <m:r>
                            <a:rPr lang="en-US" sz="1600" i="1">
                              <a:latin typeface="Cambria Math" panose="02040503050406030204" pitchFamily="18" charset="0"/>
                            </a:rPr>
                            <m:t>=0</m:t>
                          </m:r>
                        </m:sub>
                        <m:sup>
                          <m:r>
                            <a:rPr lang="en-US" sz="1600" i="1">
                              <a:latin typeface="Cambria Math" panose="02040503050406030204" pitchFamily="18" charset="0"/>
                            </a:rPr>
                            <m:t>𝑚</m:t>
                          </m:r>
                          <m:r>
                            <a:rPr lang="en-US" sz="1600" i="1">
                              <a:latin typeface="Cambria Math" panose="02040503050406030204" pitchFamily="18" charset="0"/>
                            </a:rPr>
                            <m:t>−1</m:t>
                          </m:r>
                        </m:sup>
                        <m:e>
                          <m:d>
                            <m:dPr>
                              <m:ctrlPr>
                                <a:rPr lang="en-US" sz="1600" i="1" smtClean="0">
                                  <a:solidFill>
                                    <a:srgbClr val="FF0000"/>
                                  </a:solidFill>
                                  <a:latin typeface="Cambria Math" panose="02040503050406030204" pitchFamily="18" charset="0"/>
                                </a:rPr>
                              </m:ctrlPr>
                            </m:dPr>
                            <m:e>
                              <m:d>
                                <m:dPr>
                                  <m:begChr m:val="⟦"/>
                                  <m:endChr m:val="⟧"/>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𝑥</m:t>
                                  </m:r>
                                </m:e>
                              </m:d>
                              <m:r>
                                <a:rPr lang="en-US" sz="1600" i="1">
                                  <a:solidFill>
                                    <a:srgbClr val="FF0000"/>
                                  </a:solidFill>
                                  <a:latin typeface="Cambria Math" panose="02040503050406030204" pitchFamily="18" charset="0"/>
                                </a:rPr>
                                <m:t>&gt;</m:t>
                              </m:r>
                              <m:sSub>
                                <m:sSubPr>
                                  <m:ctrlPr>
                                    <a:rPr lang="en-US" sz="1600" i="1">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𝑡</m:t>
                                  </m:r>
                                </m:e>
                                <m:sub>
                                  <m:r>
                                    <a:rPr lang="en-US" sz="1600" i="1">
                                      <a:solidFill>
                                        <a:srgbClr val="FF0000"/>
                                      </a:solidFill>
                                      <a:latin typeface="Cambria Math" panose="02040503050406030204" pitchFamily="18" charset="0"/>
                                    </a:rPr>
                                    <m:t>𝑖</m:t>
                                  </m:r>
                                </m:sub>
                              </m:sSub>
                              <m:r>
                                <a:rPr lang="en-US" sz="1600" i="1">
                                  <a:solidFill>
                                    <a:srgbClr val="FF0000"/>
                                  </a:solidFill>
                                  <a:latin typeface="Cambria Math" panose="02040503050406030204" pitchFamily="18" charset="0"/>
                                </a:rPr>
                                <m:t> </m:t>
                              </m:r>
                              <m:nary>
                                <m:naryPr>
                                  <m:chr m:val="⋀"/>
                                  <m:subHide m:val="on"/>
                                  <m:supHide m:val="on"/>
                                  <m:ctrlPr>
                                    <a:rPr lang="en-US" sz="1600" i="1">
                                      <a:solidFill>
                                        <a:srgbClr val="FF0000"/>
                                      </a:solidFill>
                                      <a:latin typeface="Cambria Math" panose="02040503050406030204" pitchFamily="18" charset="0"/>
                                      <a:ea typeface="Cambria Math" panose="02040503050406030204" pitchFamily="18" charset="0"/>
                                    </a:rPr>
                                  </m:ctrlPr>
                                </m:naryPr>
                                <m:sub/>
                                <m:sup/>
                                <m:e>
                                  <m:r>
                                    <a:rPr lang="en-US" sz="1600" b="0" i="1" smtClean="0">
                                      <a:solidFill>
                                        <a:srgbClr val="FF0000"/>
                                      </a:solidFill>
                                      <a:latin typeface="Cambria Math" panose="02040503050406030204" pitchFamily="18" charset="0"/>
                                      <a:ea typeface="Cambria Math" panose="02040503050406030204" pitchFamily="18" charset="0"/>
                                    </a:rPr>
                                    <m:t> </m:t>
                                  </m:r>
                                  <m:d>
                                    <m:dPr>
                                      <m:begChr m:val="⟦"/>
                                      <m:endChr m:val="⟧"/>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𝑥</m:t>
                                      </m:r>
                                    </m:e>
                                  </m:d>
                                  <m:r>
                                    <a:rPr lang="en-US" sz="1600" b="0" i="1" smtClean="0">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𝑡</m:t>
                                      </m:r>
                                    </m:e>
                                    <m:sub>
                                      <m:r>
                                        <a:rPr lang="en-US" sz="1600" i="1">
                                          <a:solidFill>
                                            <a:srgbClr val="FF0000"/>
                                          </a:solidFill>
                                          <a:latin typeface="Cambria Math" panose="02040503050406030204" pitchFamily="18" charset="0"/>
                                        </a:rPr>
                                        <m:t>𝑖</m:t>
                                      </m:r>
                                      <m:r>
                                        <a:rPr lang="en-US" sz="1600" i="1">
                                          <a:solidFill>
                                            <a:srgbClr val="FF0000"/>
                                          </a:solidFill>
                                          <a:latin typeface="Cambria Math" panose="02040503050406030204" pitchFamily="18" charset="0"/>
                                        </a:rPr>
                                        <m:t>+1</m:t>
                                      </m:r>
                                    </m:sub>
                                  </m:sSub>
                                </m:e>
                              </m:nary>
                            </m:e>
                          </m:d>
                          <m:r>
                            <a:rPr lang="en-US" sz="1600" i="1">
                              <a:latin typeface="Cambria Math" panose="02040503050406030204" pitchFamily="18" charset="0"/>
                              <a:ea typeface="Cambria Math" panose="02040503050406030204" pitchFamily="18" charset="0"/>
                            </a:rPr>
                            <m:t> ∗ </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𝑓</m:t>
                              </m:r>
                            </m:e>
                            <m:sub>
                              <m:r>
                                <a:rPr lang="en-US" sz="1600" i="1">
                                  <a:latin typeface="Cambria Math" panose="02040503050406030204" pitchFamily="18" charset="0"/>
                                  <a:ea typeface="Cambria Math" panose="02040503050406030204" pitchFamily="18" charset="0"/>
                                </a:rPr>
                                <m:t>𝑖</m:t>
                              </m:r>
                            </m:sub>
                          </m:sSub>
                          <m:d>
                            <m:dPr>
                              <m:ctrlPr>
                                <a:rPr lang="en-US" sz="1600" i="1">
                                  <a:latin typeface="Cambria Math" panose="02040503050406030204" pitchFamily="18" charset="0"/>
                                  <a:ea typeface="Cambria Math" panose="02040503050406030204" pitchFamily="18" charset="0"/>
                                </a:rPr>
                              </m:ctrlPr>
                            </m:dPr>
                            <m:e>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𝑥</m:t>
                                  </m:r>
                                </m:e>
                              </m:d>
                            </m:e>
                          </m:d>
                        </m:e>
                      </m:nary>
                    </m:oMath>
                  </m:oMathPara>
                </a14:m>
                <a:br>
                  <a:rPr lang="en-US" sz="1600" dirty="0"/>
                </a:br>
                <a:endParaRPr lang="en-US" sz="1600" dirty="0"/>
              </a:p>
            </p:txBody>
          </p:sp>
        </mc:Choice>
        <mc:Fallback>
          <p:sp>
            <p:nvSpPr>
              <p:cNvPr id="4" name="Rectangle 3">
                <a:extLst>
                  <a:ext uri="{FF2B5EF4-FFF2-40B4-BE49-F238E27FC236}">
                    <a16:creationId xmlns:a16="http://schemas.microsoft.com/office/drawing/2014/main" id="{51794B32-67BF-44C4-93FF-67A2DD8A7C86}"/>
                  </a:ext>
                </a:extLst>
              </p:cNvPr>
              <p:cNvSpPr>
                <a:spLocks noRot="1" noChangeAspect="1" noMove="1" noResize="1" noEditPoints="1" noAdjustHandles="1" noChangeArrowheads="1" noChangeShapeType="1" noTextEdit="1"/>
              </p:cNvSpPr>
              <p:nvPr/>
            </p:nvSpPr>
            <p:spPr>
              <a:xfrm>
                <a:off x="3113301" y="3213081"/>
                <a:ext cx="4796057" cy="784317"/>
              </a:xfrm>
              <a:prstGeom prst="rect">
                <a:avLst/>
              </a:prstGeom>
              <a:blipFill>
                <a:blip r:embed="rId3"/>
                <a:stretch>
                  <a:fillRect/>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9C31DDF-D653-45F5-BF92-C824AB276116}"/>
              </a:ext>
            </a:extLst>
          </p:cNvPr>
          <p:cNvGrpSpPr/>
          <p:nvPr/>
        </p:nvGrpSpPr>
        <p:grpSpPr>
          <a:xfrm>
            <a:off x="8027831" y="1863144"/>
            <a:ext cx="3842197" cy="3417194"/>
            <a:chOff x="8445128" y="2194116"/>
            <a:chExt cx="3028896" cy="2551749"/>
          </a:xfrm>
        </p:grpSpPr>
        <p:sp>
          <p:nvSpPr>
            <p:cNvPr id="25" name="Rectangle 24">
              <a:extLst>
                <a:ext uri="{FF2B5EF4-FFF2-40B4-BE49-F238E27FC236}">
                  <a16:creationId xmlns:a16="http://schemas.microsoft.com/office/drawing/2014/main" id="{D00933F4-D143-4E3F-B8A7-70A7D114A54A}"/>
                </a:ext>
              </a:extLst>
            </p:cNvPr>
            <p:cNvSpPr/>
            <p:nvPr/>
          </p:nvSpPr>
          <p:spPr>
            <a:xfrm>
              <a:off x="8445128" y="2194116"/>
              <a:ext cx="3001433" cy="2551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3CA9C86C-DE81-42F2-8F78-5AD78D15665E}"/>
                </a:ext>
              </a:extLst>
            </p:cNvPr>
            <p:cNvCxnSpPr/>
            <p:nvPr/>
          </p:nvCxnSpPr>
          <p:spPr>
            <a:xfrm>
              <a:off x="8724633" y="2461769"/>
              <a:ext cx="0" cy="188976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635748-AF33-4A05-818D-997E1EC6E17C}"/>
                </a:ext>
              </a:extLst>
            </p:cNvPr>
            <p:cNvCxnSpPr>
              <a:cxnSpLocks/>
            </p:cNvCxnSpPr>
            <p:nvPr/>
          </p:nvCxnSpPr>
          <p:spPr>
            <a:xfrm>
              <a:off x="8724633" y="4351529"/>
              <a:ext cx="2438295"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98E33A4-0F46-43A9-889C-A4AB8FBE4C09}"/>
                </a:ext>
              </a:extLst>
            </p:cNvPr>
            <p:cNvCxnSpPr>
              <a:cxnSpLocks/>
            </p:cNvCxnSpPr>
            <p:nvPr/>
          </p:nvCxnSpPr>
          <p:spPr>
            <a:xfrm>
              <a:off x="8786563" y="3413059"/>
              <a:ext cx="795224" cy="705451"/>
            </a:xfrm>
            <a:prstGeom prst="line">
              <a:avLst/>
            </a:prstGeom>
            <a:ln w="12700">
              <a:solidFill>
                <a:srgbClr val="B71E42"/>
              </a:solidFill>
              <a:headEnd type="stealth"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E9D47B6-1A99-4A5E-81CB-FCF9268988C4}"/>
                </a:ext>
              </a:extLst>
            </p:cNvPr>
            <p:cNvCxnSpPr>
              <a:cxnSpLocks/>
            </p:cNvCxnSpPr>
            <p:nvPr/>
          </p:nvCxnSpPr>
          <p:spPr>
            <a:xfrm flipV="1">
              <a:off x="9581787" y="2320166"/>
              <a:ext cx="0" cy="2108200"/>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25C705F8-6C6D-4594-8284-E8446EF9035B}"/>
                </a:ext>
              </a:extLst>
            </p:cNvPr>
            <p:cNvSpPr/>
            <p:nvPr/>
          </p:nvSpPr>
          <p:spPr>
            <a:xfrm>
              <a:off x="9576410" y="2997526"/>
              <a:ext cx="770656" cy="1121289"/>
            </a:xfrm>
            <a:custGeom>
              <a:avLst/>
              <a:gdLst>
                <a:gd name="connsiteX0" fmla="*/ 0 w 838200"/>
                <a:gd name="connsiteY0" fmla="*/ 994834 h 994834"/>
                <a:gd name="connsiteX1" fmla="*/ 838200 w 838200"/>
                <a:gd name="connsiteY1" fmla="*/ 0 h 994834"/>
                <a:gd name="connsiteX0" fmla="*/ 0 w 838200"/>
                <a:gd name="connsiteY0" fmla="*/ 994834 h 994834"/>
                <a:gd name="connsiteX1" fmla="*/ 838200 w 838200"/>
                <a:gd name="connsiteY1" fmla="*/ 0 h 994834"/>
                <a:gd name="connsiteX0" fmla="*/ 0 w 838200"/>
                <a:gd name="connsiteY0" fmla="*/ 994834 h 994834"/>
                <a:gd name="connsiteX1" fmla="*/ 838200 w 838200"/>
                <a:gd name="connsiteY1" fmla="*/ 0 h 994834"/>
                <a:gd name="connsiteX0" fmla="*/ 0 w 838200"/>
                <a:gd name="connsiteY0" fmla="*/ 994834 h 994834"/>
                <a:gd name="connsiteX1" fmla="*/ 838200 w 838200"/>
                <a:gd name="connsiteY1" fmla="*/ 0 h 994834"/>
                <a:gd name="connsiteX0" fmla="*/ 0 w 838200"/>
                <a:gd name="connsiteY0" fmla="*/ 994834 h 995104"/>
                <a:gd name="connsiteX1" fmla="*/ 838200 w 838200"/>
                <a:gd name="connsiteY1" fmla="*/ 0 h 995104"/>
              </a:gdLst>
              <a:ahLst/>
              <a:cxnLst>
                <a:cxn ang="0">
                  <a:pos x="connsiteX0" y="connsiteY0"/>
                </a:cxn>
                <a:cxn ang="0">
                  <a:pos x="connsiteX1" y="connsiteY1"/>
                </a:cxn>
              </a:cxnLst>
              <a:rect l="l" t="t" r="r" b="b"/>
              <a:pathLst>
                <a:path w="838200" h="995104">
                  <a:moveTo>
                    <a:pt x="0" y="994834"/>
                  </a:moveTo>
                  <a:cubicBezTo>
                    <a:pt x="534106" y="1012825"/>
                    <a:pt x="797278" y="129118"/>
                    <a:pt x="838200" y="0"/>
                  </a:cubicBezTo>
                </a:path>
              </a:pathLst>
            </a:custGeom>
            <a:noFill/>
            <a:ln w="12700">
              <a:solidFill>
                <a:srgbClr val="B71E4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F3F17D16-55D1-4A0A-B481-43BC9CBF5B36}"/>
                    </a:ext>
                  </a:extLst>
                </p:cNvPr>
                <p:cNvSpPr txBox="1"/>
                <p:nvPr/>
              </p:nvSpPr>
              <p:spPr>
                <a:xfrm>
                  <a:off x="8871769" y="2541742"/>
                  <a:ext cx="58727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0</m:t>
                            </m:r>
                          </m:sub>
                        </m:sSub>
                        <m:r>
                          <a:rPr lang="en-US" sz="1400" b="0" i="1" smtClean="0">
                            <a:latin typeface="Cambria Math" panose="02040503050406030204" pitchFamily="18" charset="0"/>
                          </a:rPr>
                          <m:t>(⋅)</m:t>
                        </m:r>
                      </m:oMath>
                    </m:oMathPara>
                  </a14:m>
                  <a:endParaRPr lang="en-US" sz="1400" dirty="0"/>
                </a:p>
              </p:txBody>
            </p:sp>
          </mc:Choice>
          <mc:Fallback>
            <p:sp>
              <p:nvSpPr>
                <p:cNvPr id="32" name="TextBox 31">
                  <a:extLst>
                    <a:ext uri="{FF2B5EF4-FFF2-40B4-BE49-F238E27FC236}">
                      <a16:creationId xmlns:a16="http://schemas.microsoft.com/office/drawing/2014/main" id="{F3F17D16-55D1-4A0A-B481-43BC9CBF5B36}"/>
                    </a:ext>
                  </a:extLst>
                </p:cNvPr>
                <p:cNvSpPr txBox="1">
                  <a:spLocks noRot="1" noChangeAspect="1" noMove="1" noResize="1" noEditPoints="1" noAdjustHandles="1" noChangeArrowheads="1" noChangeShapeType="1" noTextEdit="1"/>
                </p:cNvSpPr>
                <p:nvPr/>
              </p:nvSpPr>
              <p:spPr>
                <a:xfrm>
                  <a:off x="8871769" y="2541742"/>
                  <a:ext cx="587276"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A52A9B91-2A5B-4C99-980F-F0D9F9B59435}"/>
                    </a:ext>
                  </a:extLst>
                </p:cNvPr>
                <p:cNvSpPr txBox="1"/>
                <p:nvPr/>
              </p:nvSpPr>
              <p:spPr>
                <a:xfrm>
                  <a:off x="9673742" y="2541742"/>
                  <a:ext cx="58310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m:oMathPara>
                  </a14:m>
                  <a:endParaRPr lang="en-US" sz="1400" dirty="0"/>
                </a:p>
              </p:txBody>
            </p:sp>
          </mc:Choice>
          <mc:Fallback>
            <p:sp>
              <p:nvSpPr>
                <p:cNvPr id="33" name="TextBox 32">
                  <a:extLst>
                    <a:ext uri="{FF2B5EF4-FFF2-40B4-BE49-F238E27FC236}">
                      <a16:creationId xmlns:a16="http://schemas.microsoft.com/office/drawing/2014/main" id="{A52A9B91-2A5B-4C99-980F-F0D9F9B59435}"/>
                    </a:ext>
                  </a:extLst>
                </p:cNvPr>
                <p:cNvSpPr txBox="1">
                  <a:spLocks noRot="1" noChangeAspect="1" noMove="1" noResize="1" noEditPoints="1" noAdjustHandles="1" noChangeArrowheads="1" noChangeShapeType="1" noTextEdit="1"/>
                </p:cNvSpPr>
                <p:nvPr/>
              </p:nvSpPr>
              <p:spPr>
                <a:xfrm>
                  <a:off x="9673742" y="2541742"/>
                  <a:ext cx="583108"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4299A94E-01A9-431B-98DC-E02F8BA02C3A}"/>
                    </a:ext>
                  </a:extLst>
                </p:cNvPr>
                <p:cNvSpPr txBox="1"/>
                <p:nvPr/>
              </p:nvSpPr>
              <p:spPr>
                <a:xfrm>
                  <a:off x="11138035" y="4197640"/>
                  <a:ext cx="33598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𝑥</m:t>
                        </m:r>
                      </m:oMath>
                    </m:oMathPara>
                  </a14:m>
                  <a:endParaRPr lang="en-US" sz="1400" dirty="0"/>
                </a:p>
              </p:txBody>
            </p:sp>
          </mc:Choice>
          <mc:Fallback>
            <p:sp>
              <p:nvSpPr>
                <p:cNvPr id="35" name="TextBox 34">
                  <a:extLst>
                    <a:ext uri="{FF2B5EF4-FFF2-40B4-BE49-F238E27FC236}">
                      <a16:creationId xmlns:a16="http://schemas.microsoft.com/office/drawing/2014/main" id="{4299A94E-01A9-431B-98DC-E02F8BA02C3A}"/>
                    </a:ext>
                  </a:extLst>
                </p:cNvPr>
                <p:cNvSpPr txBox="1">
                  <a:spLocks noRot="1" noChangeAspect="1" noMove="1" noResize="1" noEditPoints="1" noAdjustHandles="1" noChangeArrowheads="1" noChangeShapeType="1" noTextEdit="1"/>
                </p:cNvSpPr>
                <p:nvPr/>
              </p:nvSpPr>
              <p:spPr>
                <a:xfrm>
                  <a:off x="11138035" y="4197640"/>
                  <a:ext cx="335989"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D60168C0-2DE3-42DC-8D84-1CA79552BCB5}"/>
                    </a:ext>
                  </a:extLst>
                </p:cNvPr>
                <p:cNvSpPr txBox="1"/>
                <p:nvPr/>
              </p:nvSpPr>
              <p:spPr>
                <a:xfrm>
                  <a:off x="8563572" y="2194116"/>
                  <a:ext cx="33842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oMath>
                    </m:oMathPara>
                  </a14:m>
                  <a:endParaRPr lang="en-US" sz="1400" dirty="0"/>
                </a:p>
              </p:txBody>
            </p:sp>
          </mc:Choice>
          <mc:Fallback>
            <p:sp>
              <p:nvSpPr>
                <p:cNvPr id="36" name="TextBox 35">
                  <a:extLst>
                    <a:ext uri="{FF2B5EF4-FFF2-40B4-BE49-F238E27FC236}">
                      <a16:creationId xmlns:a16="http://schemas.microsoft.com/office/drawing/2014/main" id="{D60168C0-2DE3-42DC-8D84-1CA79552BCB5}"/>
                    </a:ext>
                  </a:extLst>
                </p:cNvPr>
                <p:cNvSpPr txBox="1">
                  <a:spLocks noRot="1" noChangeAspect="1" noMove="1" noResize="1" noEditPoints="1" noAdjustHandles="1" noChangeArrowheads="1" noChangeShapeType="1" noTextEdit="1"/>
                </p:cNvSpPr>
                <p:nvPr/>
              </p:nvSpPr>
              <p:spPr>
                <a:xfrm>
                  <a:off x="8563572" y="2194116"/>
                  <a:ext cx="338426"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B0753F13-101F-43DC-BC2A-9B50DB777B8D}"/>
                    </a:ext>
                  </a:extLst>
                </p:cNvPr>
                <p:cNvSpPr txBox="1"/>
                <p:nvPr/>
              </p:nvSpPr>
              <p:spPr>
                <a:xfrm>
                  <a:off x="9399616" y="4338446"/>
                  <a:ext cx="38087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𝑡</m:t>
                            </m:r>
                          </m:e>
                          <m:sub>
                            <m:r>
                              <a:rPr lang="en-US" sz="1400" b="0" i="1" smtClean="0">
                                <a:latin typeface="Cambria Math" panose="02040503050406030204" pitchFamily="18" charset="0"/>
                              </a:rPr>
                              <m:t>1</m:t>
                            </m:r>
                          </m:sub>
                        </m:sSub>
                      </m:oMath>
                    </m:oMathPara>
                  </a14:m>
                  <a:endParaRPr lang="en-US" sz="1400" dirty="0"/>
                </a:p>
              </p:txBody>
            </p:sp>
          </mc:Choice>
          <mc:Fallback>
            <p:sp>
              <p:nvSpPr>
                <p:cNvPr id="37" name="TextBox 36">
                  <a:extLst>
                    <a:ext uri="{FF2B5EF4-FFF2-40B4-BE49-F238E27FC236}">
                      <a16:creationId xmlns:a16="http://schemas.microsoft.com/office/drawing/2014/main" id="{B0753F13-101F-43DC-BC2A-9B50DB777B8D}"/>
                    </a:ext>
                  </a:extLst>
                </p:cNvPr>
                <p:cNvSpPr txBox="1">
                  <a:spLocks noRot="1" noChangeAspect="1" noMove="1" noResize="1" noEditPoints="1" noAdjustHandles="1" noChangeArrowheads="1" noChangeShapeType="1" noTextEdit="1"/>
                </p:cNvSpPr>
                <p:nvPr/>
              </p:nvSpPr>
              <p:spPr>
                <a:xfrm>
                  <a:off x="9399616" y="4338446"/>
                  <a:ext cx="380873" cy="307777"/>
                </a:xfrm>
                <a:prstGeom prst="rect">
                  <a:avLst/>
                </a:prstGeom>
                <a:blipFill>
                  <a:blip r:embed="rId8"/>
                  <a:stretch>
                    <a:fillRect/>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B7BD815E-1594-4C4D-B402-57A49AEAD991}"/>
                </a:ext>
              </a:extLst>
            </p:cNvPr>
            <p:cNvCxnSpPr>
              <a:cxnSpLocks/>
            </p:cNvCxnSpPr>
            <p:nvPr/>
          </p:nvCxnSpPr>
          <p:spPr>
            <a:xfrm flipV="1">
              <a:off x="10343591" y="2320166"/>
              <a:ext cx="0" cy="2108200"/>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21178387-9658-4FAB-AA57-D768624B87BC}"/>
                    </a:ext>
                  </a:extLst>
                </p:cNvPr>
                <p:cNvSpPr txBox="1"/>
                <p:nvPr/>
              </p:nvSpPr>
              <p:spPr>
                <a:xfrm>
                  <a:off x="10161420" y="4338446"/>
                  <a:ext cx="38504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𝑡</m:t>
                            </m:r>
                          </m:e>
                          <m:sub>
                            <m:r>
                              <a:rPr lang="en-US" sz="1400" b="0" i="1" smtClean="0">
                                <a:latin typeface="Cambria Math" panose="02040503050406030204" pitchFamily="18" charset="0"/>
                              </a:rPr>
                              <m:t>2</m:t>
                            </m:r>
                          </m:sub>
                        </m:sSub>
                      </m:oMath>
                    </m:oMathPara>
                  </a14:m>
                  <a:endParaRPr lang="en-US" sz="1400" dirty="0"/>
                </a:p>
              </p:txBody>
            </p:sp>
          </mc:Choice>
          <mc:Fallback>
            <p:sp>
              <p:nvSpPr>
                <p:cNvPr id="22" name="TextBox 21">
                  <a:extLst>
                    <a:ext uri="{FF2B5EF4-FFF2-40B4-BE49-F238E27FC236}">
                      <a16:creationId xmlns:a16="http://schemas.microsoft.com/office/drawing/2014/main" id="{21178387-9658-4FAB-AA57-D768624B87BC}"/>
                    </a:ext>
                  </a:extLst>
                </p:cNvPr>
                <p:cNvSpPr txBox="1">
                  <a:spLocks noRot="1" noChangeAspect="1" noMove="1" noResize="1" noEditPoints="1" noAdjustHandles="1" noChangeArrowheads="1" noChangeShapeType="1" noTextEdit="1"/>
                </p:cNvSpPr>
                <p:nvPr/>
              </p:nvSpPr>
              <p:spPr>
                <a:xfrm>
                  <a:off x="10161420" y="4338446"/>
                  <a:ext cx="385041" cy="307777"/>
                </a:xfrm>
                <a:prstGeom prst="rect">
                  <a:avLst/>
                </a:prstGeom>
                <a:blipFill>
                  <a:blip r:embed="rId9"/>
                  <a:stretch>
                    <a:fillRect/>
                  </a:stretch>
                </a:blipFill>
              </p:spPr>
              <p:txBody>
                <a:bodyPr/>
                <a:lstStyle/>
                <a:p>
                  <a:r>
                    <a:rPr lang="en-US">
                      <a:noFill/>
                    </a:rPr>
                    <a:t> </a:t>
                  </a:r>
                </a:p>
              </p:txBody>
            </p:sp>
          </mc:Fallback>
        </mc:AlternateContent>
        <p:sp>
          <p:nvSpPr>
            <p:cNvPr id="9" name="Oval 8">
              <a:extLst>
                <a:ext uri="{FF2B5EF4-FFF2-40B4-BE49-F238E27FC236}">
                  <a16:creationId xmlns:a16="http://schemas.microsoft.com/office/drawing/2014/main" id="{945EA654-36CF-4D75-A1CB-354FEE66C5BB}"/>
                </a:ext>
              </a:extLst>
            </p:cNvPr>
            <p:cNvSpPr/>
            <p:nvPr/>
          </p:nvSpPr>
          <p:spPr>
            <a:xfrm>
              <a:off x="10323665" y="2967584"/>
              <a:ext cx="46801" cy="468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79743006-4839-4507-9D87-8F09086B0A0D}"/>
                </a:ext>
              </a:extLst>
            </p:cNvPr>
            <p:cNvCxnSpPr/>
            <p:nvPr/>
          </p:nvCxnSpPr>
          <p:spPr>
            <a:xfrm>
              <a:off x="10347066" y="3704465"/>
              <a:ext cx="789847" cy="0"/>
            </a:xfrm>
            <a:prstGeom prst="straightConnector1">
              <a:avLst/>
            </a:prstGeom>
            <a:ln>
              <a:headEnd type="ova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191D38C6-E5F9-435E-B131-81A09EBC6072}"/>
                    </a:ext>
                  </a:extLst>
                </p:cNvPr>
                <p:cNvSpPr txBox="1"/>
                <p:nvPr/>
              </p:nvSpPr>
              <p:spPr>
                <a:xfrm>
                  <a:off x="10466912" y="2539617"/>
                  <a:ext cx="58727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𝑓</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oMath>
                    </m:oMathPara>
                  </a14:m>
                  <a:endParaRPr lang="en-US" sz="1400" dirty="0"/>
                </a:p>
              </p:txBody>
            </p:sp>
          </mc:Choice>
          <mc:Fallback>
            <p:sp>
              <p:nvSpPr>
                <p:cNvPr id="26" name="TextBox 25">
                  <a:extLst>
                    <a:ext uri="{FF2B5EF4-FFF2-40B4-BE49-F238E27FC236}">
                      <a16:creationId xmlns:a16="http://schemas.microsoft.com/office/drawing/2014/main" id="{191D38C6-E5F9-435E-B131-81A09EBC6072}"/>
                    </a:ext>
                  </a:extLst>
                </p:cNvPr>
                <p:cNvSpPr txBox="1">
                  <a:spLocks noRot="1" noChangeAspect="1" noMove="1" noResize="1" noEditPoints="1" noAdjustHandles="1" noChangeArrowheads="1" noChangeShapeType="1" noTextEdit="1"/>
                </p:cNvSpPr>
                <p:nvPr/>
              </p:nvSpPr>
              <p:spPr>
                <a:xfrm>
                  <a:off x="10466912" y="2539617"/>
                  <a:ext cx="587277" cy="307777"/>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488989EF-BD3F-49BE-8A6E-A40BDADF49D4}"/>
                  </a:ext>
                </a:extLst>
              </p:cNvPr>
              <p:cNvSpPr/>
              <p:nvPr/>
            </p:nvSpPr>
            <p:spPr>
              <a:xfrm>
                <a:off x="6096000" y="5280338"/>
                <a:ext cx="1495025" cy="338554"/>
              </a:xfrm>
              <a:prstGeom prst="rect">
                <a:avLst/>
              </a:prstGeom>
            </p:spPr>
            <p:txBody>
              <a:bodyPr wrap="none">
                <a:spAutoFit/>
              </a:bodyPr>
              <a:lstStyle/>
              <a:p>
                <a:r>
                  <a:rPr lang="en-US" sz="1600" dirty="0">
                    <a:solidFill>
                      <a:schemeClr val="bg1">
                        <a:lumMod val="65000"/>
                      </a:schemeClr>
                    </a:solidFill>
                  </a:rPr>
                  <a:t>// </a:t>
                </a:r>
                <a14:m>
                  <m:oMath xmlns:m="http://schemas.openxmlformats.org/officeDocument/2006/math">
                    <m:sSub>
                      <m:sSubPr>
                        <m:ctrlPr>
                          <a:rPr lang="en-US" sz="1600" i="1">
                            <a:solidFill>
                              <a:schemeClr val="bg1">
                                <a:lumMod val="65000"/>
                              </a:schemeClr>
                            </a:solidFill>
                            <a:latin typeface="Cambria Math" panose="02040503050406030204" pitchFamily="18" charset="0"/>
                          </a:rPr>
                        </m:ctrlPr>
                      </m:sSubPr>
                      <m:e>
                        <m:r>
                          <a:rPr lang="en-US" sz="1600" i="1">
                            <a:solidFill>
                              <a:schemeClr val="bg1">
                                <a:lumMod val="65000"/>
                              </a:schemeClr>
                            </a:solidFill>
                            <a:latin typeface="Cambria Math" panose="02040503050406030204" pitchFamily="18" charset="0"/>
                          </a:rPr>
                          <m:t>𝑏</m:t>
                        </m:r>
                      </m:e>
                      <m:sub>
                        <m:r>
                          <a:rPr lang="en-US" sz="1600" i="1">
                            <a:solidFill>
                              <a:schemeClr val="bg1">
                                <a:lumMod val="65000"/>
                              </a:schemeClr>
                            </a:solidFill>
                            <a:latin typeface="Cambria Math" panose="02040503050406030204" pitchFamily="18" charset="0"/>
                          </a:rPr>
                          <m:t>𝑖</m:t>
                        </m:r>
                      </m:sub>
                    </m:sSub>
                    <m:r>
                      <a:rPr lang="en-US" sz="1600" i="1">
                        <a:solidFill>
                          <a:schemeClr val="bg1">
                            <a:lumMod val="65000"/>
                          </a:schemeClr>
                        </a:solidFill>
                        <a:latin typeface="Cambria Math" panose="02040503050406030204" pitchFamily="18" charset="0"/>
                      </a:rPr>
                      <m:t>=</m:t>
                    </m:r>
                    <m:d>
                      <m:dPr>
                        <m:ctrlPr>
                          <a:rPr lang="en-US" sz="1600" i="1">
                            <a:solidFill>
                              <a:schemeClr val="bg1">
                                <a:lumMod val="65000"/>
                              </a:schemeClr>
                            </a:solidFill>
                            <a:latin typeface="Cambria Math" panose="02040503050406030204" pitchFamily="18" charset="0"/>
                          </a:rPr>
                        </m:ctrlPr>
                      </m:dPr>
                      <m:e>
                        <m:r>
                          <a:rPr lang="en-US" sz="1600" i="1">
                            <a:solidFill>
                              <a:schemeClr val="bg1">
                                <a:lumMod val="65000"/>
                              </a:schemeClr>
                            </a:solidFill>
                            <a:latin typeface="Cambria Math" panose="02040503050406030204" pitchFamily="18" charset="0"/>
                          </a:rPr>
                          <m:t>𝑥</m:t>
                        </m:r>
                        <m:r>
                          <a:rPr lang="en-US" sz="1600" b="0" i="1" smtClean="0">
                            <a:solidFill>
                              <a:schemeClr val="bg1">
                                <a:lumMod val="65000"/>
                              </a:schemeClr>
                            </a:solidFill>
                            <a:latin typeface="Cambria Math" panose="02040503050406030204" pitchFamily="18" charset="0"/>
                          </a:rPr>
                          <m:t>&gt;</m:t>
                        </m:r>
                        <m:sSub>
                          <m:sSubPr>
                            <m:ctrlPr>
                              <a:rPr lang="en-US" sz="1600" i="1">
                                <a:solidFill>
                                  <a:schemeClr val="bg1">
                                    <a:lumMod val="65000"/>
                                  </a:schemeClr>
                                </a:solidFill>
                                <a:latin typeface="Cambria Math" panose="02040503050406030204" pitchFamily="18" charset="0"/>
                              </a:rPr>
                            </m:ctrlPr>
                          </m:sSubPr>
                          <m:e>
                            <m:r>
                              <a:rPr lang="en-US" sz="1600" i="1">
                                <a:solidFill>
                                  <a:schemeClr val="bg1">
                                    <a:lumMod val="65000"/>
                                  </a:schemeClr>
                                </a:solidFill>
                                <a:latin typeface="Cambria Math" panose="02040503050406030204" pitchFamily="18" charset="0"/>
                              </a:rPr>
                              <m:t>𝑡</m:t>
                            </m:r>
                          </m:e>
                          <m:sub>
                            <m:r>
                              <a:rPr lang="en-US" sz="1600" i="1">
                                <a:solidFill>
                                  <a:schemeClr val="bg1">
                                    <a:lumMod val="65000"/>
                                  </a:schemeClr>
                                </a:solidFill>
                                <a:latin typeface="Cambria Math" panose="02040503050406030204" pitchFamily="18" charset="0"/>
                              </a:rPr>
                              <m:t>𝑖</m:t>
                            </m:r>
                          </m:sub>
                        </m:sSub>
                      </m:e>
                    </m:d>
                  </m:oMath>
                </a14:m>
                <a:endParaRPr lang="en-US" sz="1600" dirty="0">
                  <a:solidFill>
                    <a:schemeClr val="bg1">
                      <a:lumMod val="65000"/>
                    </a:schemeClr>
                  </a:solidFill>
                </a:endParaRPr>
              </a:p>
            </p:txBody>
          </p:sp>
        </mc:Choice>
        <mc:Fallback>
          <p:sp>
            <p:nvSpPr>
              <p:cNvPr id="6" name="Rectangle 5">
                <a:extLst>
                  <a:ext uri="{FF2B5EF4-FFF2-40B4-BE49-F238E27FC236}">
                    <a16:creationId xmlns:a16="http://schemas.microsoft.com/office/drawing/2014/main" id="{488989EF-BD3F-49BE-8A6E-A40BDADF49D4}"/>
                  </a:ext>
                </a:extLst>
              </p:cNvPr>
              <p:cNvSpPr>
                <a:spLocks noRot="1" noChangeAspect="1" noMove="1" noResize="1" noEditPoints="1" noAdjustHandles="1" noChangeArrowheads="1" noChangeShapeType="1" noTextEdit="1"/>
              </p:cNvSpPr>
              <p:nvPr/>
            </p:nvSpPr>
            <p:spPr>
              <a:xfrm>
                <a:off x="6096000" y="5280338"/>
                <a:ext cx="1495025" cy="338554"/>
              </a:xfrm>
              <a:prstGeom prst="rect">
                <a:avLst/>
              </a:prstGeom>
              <a:blipFill>
                <a:blip r:embed="rId11"/>
                <a:stretch>
                  <a:fillRect l="-2041" t="-5357" b="-21429"/>
                </a:stretch>
              </a:blipFill>
            </p:spPr>
            <p:txBody>
              <a:bodyPr/>
              <a:lstStyle/>
              <a:p>
                <a:r>
                  <a:rPr lang="en-US">
                    <a:noFill/>
                  </a:rPr>
                  <a:t> </a:t>
                </a:r>
              </a:p>
            </p:txBody>
          </p:sp>
        </mc:Fallback>
      </mc:AlternateContent>
      <p:sp>
        <p:nvSpPr>
          <p:cNvPr id="23" name="Right Brace 22">
            <a:extLst>
              <a:ext uri="{FF2B5EF4-FFF2-40B4-BE49-F238E27FC236}">
                <a16:creationId xmlns:a16="http://schemas.microsoft.com/office/drawing/2014/main" id="{A5B79150-3157-442C-88AC-5D3AA5762DBD}"/>
              </a:ext>
            </a:extLst>
          </p:cNvPr>
          <p:cNvSpPr/>
          <p:nvPr/>
        </p:nvSpPr>
        <p:spPr>
          <a:xfrm rot="5400000" flipH="1">
            <a:off x="5586022" y="1949439"/>
            <a:ext cx="195880" cy="2092388"/>
          </a:xfrm>
          <a:prstGeom prst="rightBrace">
            <a:avLst>
              <a:gd name="adj1" fmla="val 69857"/>
              <a:gd name="adj2" fmla="val 50000"/>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chemeClr val="tx1">
                  <a:lumMod val="50000"/>
                  <a:lumOff val="50000"/>
                </a:schemeClr>
              </a:solidFill>
            </a:endParaRPr>
          </a:p>
        </p:txBody>
      </p:sp>
      <p:sp>
        <p:nvSpPr>
          <p:cNvPr id="24" name="TextBox 23">
            <a:extLst>
              <a:ext uri="{FF2B5EF4-FFF2-40B4-BE49-F238E27FC236}">
                <a16:creationId xmlns:a16="http://schemas.microsoft.com/office/drawing/2014/main" id="{B9F3BD51-5BC5-4402-8260-5C0718B42122}"/>
              </a:ext>
            </a:extLst>
          </p:cNvPr>
          <p:cNvSpPr txBox="1"/>
          <p:nvPr/>
        </p:nvSpPr>
        <p:spPr>
          <a:xfrm>
            <a:off x="5149839" y="2488991"/>
            <a:ext cx="2715743" cy="369332"/>
          </a:xfrm>
          <a:prstGeom prst="rect">
            <a:avLst/>
          </a:prstGeom>
          <a:noFill/>
          <a:ln>
            <a:noFill/>
          </a:ln>
        </p:spPr>
        <p:txBody>
          <a:bodyPr wrap="square" rtlCol="0">
            <a:spAutoFit/>
          </a:bodyPr>
          <a:lstStyle/>
          <a:p>
            <a:r>
              <a:rPr lang="en-US" dirty="0">
                <a:solidFill>
                  <a:schemeClr val="tx1">
                    <a:lumMod val="50000"/>
                    <a:lumOff val="50000"/>
                  </a:schemeClr>
                </a:solidFill>
              </a:rPr>
              <a:t>range test</a:t>
            </a:r>
          </a:p>
        </p:txBody>
      </p:sp>
    </p:spTree>
    <p:extLst>
      <p:ext uri="{BB962C8B-B14F-4D97-AF65-F5344CB8AC3E}">
        <p14:creationId xmlns:p14="http://schemas.microsoft.com/office/powerpoint/2010/main" val="198359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23" grpId="0" animBg="1"/>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6C8E-A46F-41A9-B4C0-0F60FCD96E00}"/>
              </a:ext>
            </a:extLst>
          </p:cNvPr>
          <p:cNvSpPr>
            <a:spLocks noGrp="1"/>
          </p:cNvSpPr>
          <p:nvPr>
            <p:ph type="title"/>
          </p:nvPr>
        </p:nvSpPr>
        <p:spPr/>
        <p:txBody>
          <a:bodyPr/>
          <a:lstStyle/>
          <a:p>
            <a:r>
              <a:rPr lang="en-US" dirty="0"/>
              <a:t>Conversion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DA9032-F542-46E2-BA0F-E9CD600A0FB1}"/>
                  </a:ext>
                </a:extLst>
              </p:cNvPr>
              <p:cNvSpPr>
                <a:spLocks noGrp="1"/>
              </p:cNvSpPr>
              <p:nvPr>
                <p:ph idx="1"/>
              </p:nvPr>
            </p:nvSpPr>
            <p:spPr>
              <a:xfrm>
                <a:off x="1451581" y="1694890"/>
                <a:ext cx="9603275" cy="5163110"/>
              </a:xfrm>
            </p:spPr>
            <p:txBody>
              <a:bodyPr>
                <a:noAutofit/>
              </a:bodyPr>
              <a:lstStyle/>
              <a:p>
                <a:r>
                  <a:rPr lang="en-US" sz="1800" dirty="0"/>
                  <a:t>Need to convert secret sharing of   </a:t>
                </a:r>
                <a14:m>
                  <m:oMath xmlns:m="http://schemas.openxmlformats.org/officeDocument/2006/math">
                    <m:r>
                      <a:rPr lang="en-US" sz="1800" i="1">
                        <a:latin typeface="Cambria Math" panose="02040503050406030204" pitchFamily="18" charset="0"/>
                      </a:rPr>
                      <m:t>𝑥</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ℤ</m:t>
                        </m:r>
                      </m:e>
                      <m:sub>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2</m:t>
                            </m:r>
                          </m:e>
                          <m:sup>
                            <m:r>
                              <a:rPr lang="en-US" sz="1800" b="0" i="1" smtClean="0">
                                <a:latin typeface="Cambria Math" panose="02040503050406030204" pitchFamily="18" charset="0"/>
                              </a:rPr>
                              <m:t>𝑘</m:t>
                            </m:r>
                          </m:sup>
                        </m:sSup>
                      </m:sub>
                    </m:sSub>
                    <m:r>
                      <a:rPr lang="en-US" sz="1800" i="1">
                        <a:latin typeface="Cambria Math" panose="02040503050406030204" pitchFamily="18" charset="0"/>
                      </a:rPr>
                      <m:t> </m:t>
                    </m:r>
                  </m:oMath>
                </a14:m>
                <a:r>
                  <a:rPr lang="en-US" sz="1800" dirty="0"/>
                  <a:t>:</a:t>
                </a:r>
              </a:p>
              <a:p>
                <a:pPr lvl="1"/>
                <a:r>
                  <a:rPr lang="en-US" sz="1600" b="0" dirty="0"/>
                  <a:t>Arithmetic to binary:   </a:t>
                </a:r>
                <a14:m>
                  <m:oMath xmlns:m="http://schemas.openxmlformats.org/officeDocument/2006/math">
                    <m:sSup>
                      <m:sSupPr>
                        <m:ctrlPr>
                          <a:rPr lang="en-US" sz="1600" b="0" i="1" smtClean="0">
                            <a:latin typeface="Cambria Math" panose="02040503050406030204" pitchFamily="18" charset="0"/>
                          </a:rPr>
                        </m:ctrlPr>
                      </m:sSupPr>
                      <m:e>
                        <m:d>
                          <m:dPr>
                            <m:begChr m:val="⟦"/>
                            <m:endChr m:val="⟧"/>
                            <m:ctrlPr>
                              <a:rPr lang="en-US" sz="1600" i="1" smtClean="0">
                                <a:latin typeface="Cambria Math" panose="02040503050406030204" pitchFamily="18" charset="0"/>
                              </a:rPr>
                            </m:ctrlPr>
                          </m:dPr>
                          <m:e>
                            <m:r>
                              <a:rPr lang="en-US" sz="1600" b="0" i="1" smtClean="0">
                                <a:latin typeface="Cambria Math" panose="02040503050406030204" pitchFamily="18" charset="0"/>
                              </a:rPr>
                              <m:t>𝑥</m:t>
                            </m:r>
                          </m:e>
                        </m:d>
                      </m:e>
                      <m:sup>
                        <m:r>
                          <m:rPr>
                            <m:sty m:val="p"/>
                          </m:rPr>
                          <a:rPr lang="en-US" sz="1600" b="0" i="0" smtClean="0">
                            <a:latin typeface="Cambria Math" panose="02040503050406030204" pitchFamily="18" charset="0"/>
                          </a:rPr>
                          <m:t>A</m:t>
                        </m:r>
                      </m:sup>
                    </m:sSup>
                    <m:r>
                      <a:rPr lang="en-US" sz="1600" b="0" i="1" smtClean="0">
                        <a:latin typeface="Cambria Math" panose="02040503050406030204" pitchFamily="18" charset="0"/>
                      </a:rPr>
                      <m:t>→</m:t>
                    </m:r>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acc>
                              <m:accPr>
                                <m:chr m:val="⃑"/>
                                <m:ctrlPr>
                                  <a:rPr lang="en-US" sz="1600" i="1">
                                    <a:latin typeface="Cambria Math" panose="02040503050406030204" pitchFamily="18" charset="0"/>
                                  </a:rPr>
                                </m:ctrlPr>
                              </m:accPr>
                              <m:e>
                                <m:r>
                                  <a:rPr lang="en-US" sz="1600" b="0" i="1" smtClean="0">
                                    <a:latin typeface="Cambria Math" panose="02040503050406030204" pitchFamily="18" charset="0"/>
                                  </a:rPr>
                                  <m:t>𝑥</m:t>
                                </m:r>
                              </m:e>
                            </m:acc>
                          </m:e>
                        </m:d>
                      </m:e>
                      <m:sup>
                        <m:r>
                          <m:rPr>
                            <m:sty m:val="p"/>
                          </m:rPr>
                          <a:rPr lang="en-US" sz="1600" b="0" i="0" smtClean="0">
                            <a:latin typeface="Cambria Math" panose="02040503050406030204" pitchFamily="18" charset="0"/>
                          </a:rPr>
                          <m:t>B</m:t>
                        </m:r>
                      </m:sup>
                    </m:sSup>
                    <m:r>
                      <a:rPr lang="en-US" sz="1600" b="0" i="1" smtClean="0">
                        <a:latin typeface="Cambria Math" panose="02040503050406030204" pitchFamily="18" charset="0"/>
                      </a:rPr>
                      <m:t>  </m:t>
                    </m:r>
                    <m:r>
                      <a:rPr lang="en-US" sz="1600" b="0" i="1" smtClean="0">
                        <a:solidFill>
                          <a:schemeClr val="tx1">
                            <a:lumMod val="65000"/>
                            <a:lumOff val="35000"/>
                          </a:schemeClr>
                        </a:solidFill>
                        <a:latin typeface="Cambria Math" panose="02040503050406030204" pitchFamily="18" charset="0"/>
                      </a:rPr>
                      <m:t>=</m:t>
                    </m:r>
                    <m:sSup>
                      <m:sSupPr>
                        <m:ctrlPr>
                          <a:rPr lang="en-US" sz="1600" i="1">
                            <a:solidFill>
                              <a:schemeClr val="tx1">
                                <a:lumMod val="65000"/>
                                <a:lumOff val="35000"/>
                              </a:schemeClr>
                            </a:solidFill>
                            <a:latin typeface="Cambria Math" panose="02040503050406030204" pitchFamily="18" charset="0"/>
                          </a:rPr>
                        </m:ctrlPr>
                      </m:sSupPr>
                      <m:e>
                        <m:d>
                          <m:dPr>
                            <m:begChr m:val="⟦"/>
                            <m:endChr m:val="⟧"/>
                            <m:ctrlPr>
                              <a:rPr lang="en-US" sz="1600" i="1">
                                <a:solidFill>
                                  <a:schemeClr val="tx1">
                                    <a:lumMod val="65000"/>
                                    <a:lumOff val="35000"/>
                                  </a:schemeClr>
                                </a:solidFill>
                                <a:latin typeface="Cambria Math" panose="02040503050406030204" pitchFamily="18" charset="0"/>
                              </a:rPr>
                            </m:ctrlPr>
                          </m:dPr>
                          <m:e>
                            <m:sSub>
                              <m:sSubPr>
                                <m:ctrlPr>
                                  <a:rPr lang="en-US" sz="1600" b="0" i="1" smtClean="0">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𝑥</m:t>
                                </m:r>
                              </m:e>
                              <m:sub>
                                <m:r>
                                  <a:rPr lang="en-US" sz="1600" b="0" i="1" smtClean="0">
                                    <a:solidFill>
                                      <a:schemeClr val="tx1">
                                        <a:lumMod val="65000"/>
                                        <a:lumOff val="35000"/>
                                      </a:schemeClr>
                                    </a:solidFill>
                                    <a:latin typeface="Cambria Math" panose="02040503050406030204" pitchFamily="18" charset="0"/>
                                  </a:rPr>
                                  <m:t>1</m:t>
                                </m:r>
                              </m:sub>
                            </m:sSub>
                          </m:e>
                        </m:d>
                      </m:e>
                      <m:sup>
                        <m:r>
                          <m:rPr>
                            <m:sty m:val="p"/>
                          </m:rPr>
                          <a:rPr lang="en-US" sz="1600" b="0" i="0" smtClean="0">
                            <a:solidFill>
                              <a:schemeClr val="tx1">
                                <a:lumMod val="65000"/>
                                <a:lumOff val="35000"/>
                              </a:schemeClr>
                            </a:solidFill>
                            <a:latin typeface="Cambria Math" panose="02040503050406030204" pitchFamily="18" charset="0"/>
                          </a:rPr>
                          <m:t>B</m:t>
                        </m:r>
                      </m:sup>
                    </m:sSup>
                    <m:r>
                      <a:rPr lang="en-US" sz="1600" b="0" i="1" smtClean="0">
                        <a:solidFill>
                          <a:schemeClr val="tx1">
                            <a:lumMod val="65000"/>
                            <a:lumOff val="35000"/>
                          </a:schemeClr>
                        </a:solidFill>
                        <a:latin typeface="Cambria Math" panose="02040503050406030204" pitchFamily="18" charset="0"/>
                      </a:rPr>
                      <m:t>,…,</m:t>
                    </m:r>
                    <m:sSup>
                      <m:sSupPr>
                        <m:ctrlPr>
                          <a:rPr lang="en-US" sz="1600" i="1">
                            <a:solidFill>
                              <a:schemeClr val="tx1">
                                <a:lumMod val="65000"/>
                                <a:lumOff val="35000"/>
                              </a:schemeClr>
                            </a:solidFill>
                            <a:latin typeface="Cambria Math" panose="02040503050406030204" pitchFamily="18" charset="0"/>
                          </a:rPr>
                        </m:ctrlPr>
                      </m:sSupPr>
                      <m:e>
                        <m:d>
                          <m:dPr>
                            <m:begChr m:val="⟦"/>
                            <m:endChr m:val="⟧"/>
                            <m:ctrlPr>
                              <a:rPr lang="en-US" sz="1600" i="1">
                                <a:solidFill>
                                  <a:schemeClr val="tx1">
                                    <a:lumMod val="65000"/>
                                    <a:lumOff val="35000"/>
                                  </a:schemeClr>
                                </a:solidFill>
                                <a:latin typeface="Cambria Math" panose="02040503050406030204" pitchFamily="18" charset="0"/>
                              </a:rPr>
                            </m:ctrlPr>
                          </m:dPr>
                          <m:e>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𝑥</m:t>
                                </m:r>
                              </m:e>
                              <m:sub>
                                <m:r>
                                  <a:rPr lang="en-US" sz="1600" b="0" i="1" smtClean="0">
                                    <a:solidFill>
                                      <a:schemeClr val="tx1">
                                        <a:lumMod val="65000"/>
                                        <a:lumOff val="35000"/>
                                      </a:schemeClr>
                                    </a:solidFill>
                                    <a:latin typeface="Cambria Math" panose="02040503050406030204" pitchFamily="18" charset="0"/>
                                  </a:rPr>
                                  <m:t>𝑘</m:t>
                                </m:r>
                              </m:sub>
                            </m:sSub>
                          </m:e>
                        </m:d>
                      </m:e>
                      <m:sup>
                        <m:r>
                          <m:rPr>
                            <m:sty m:val="p"/>
                          </m:rPr>
                          <a:rPr lang="en-US" sz="1600" i="0">
                            <a:solidFill>
                              <a:schemeClr val="tx1">
                                <a:lumMod val="65000"/>
                                <a:lumOff val="35000"/>
                              </a:schemeClr>
                            </a:solidFill>
                            <a:latin typeface="Cambria Math" panose="02040503050406030204" pitchFamily="18" charset="0"/>
                          </a:rPr>
                          <m:t>B</m:t>
                        </m:r>
                      </m:sup>
                    </m:sSup>
                  </m:oMath>
                </a14:m>
                <a:endParaRPr lang="en-US" sz="1600" dirty="0"/>
              </a:p>
              <a:p>
                <a:pPr lvl="1"/>
                <a:r>
                  <a:rPr lang="en-US" sz="1600" dirty="0"/>
                  <a:t>Binary to Arithmetic:   </a:t>
                </a:r>
                <a14:m>
                  <m:oMath xmlns:m="http://schemas.openxmlformats.org/officeDocument/2006/math">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acc>
                              <m:accPr>
                                <m:chr m:val="⃑"/>
                                <m:ctrlPr>
                                  <a:rPr lang="en-US" sz="1600" i="1">
                                    <a:latin typeface="Cambria Math" panose="02040503050406030204" pitchFamily="18" charset="0"/>
                                  </a:rPr>
                                </m:ctrlPr>
                              </m:accPr>
                              <m:e>
                                <m:r>
                                  <a:rPr lang="en-US" sz="1600" i="1">
                                    <a:latin typeface="Cambria Math" panose="02040503050406030204" pitchFamily="18" charset="0"/>
                                  </a:rPr>
                                  <m:t>𝑥</m:t>
                                </m:r>
                              </m:e>
                            </m:acc>
                          </m:e>
                        </m:d>
                      </m:e>
                      <m:sup>
                        <m:r>
                          <m:rPr>
                            <m:sty m:val="p"/>
                          </m:rPr>
                          <a:rPr lang="en-US" sz="1600" b="0" i="0" smtClean="0">
                            <a:latin typeface="Cambria Math" panose="02040503050406030204" pitchFamily="18" charset="0"/>
                          </a:rPr>
                          <m:t>B</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𝑥</m:t>
                            </m:r>
                          </m:e>
                        </m:d>
                      </m:e>
                      <m:sup>
                        <m:r>
                          <m:rPr>
                            <m:sty m:val="p"/>
                          </m:rPr>
                          <a:rPr lang="en-US" sz="1600" b="0" i="0" smtClean="0">
                            <a:latin typeface="Cambria Math" panose="02040503050406030204" pitchFamily="18" charset="0"/>
                          </a:rPr>
                          <m:t>A</m:t>
                        </m:r>
                      </m:sup>
                    </m:sSup>
                  </m:oMath>
                </a14:m>
                <a:endParaRPr lang="en-US" sz="1600" dirty="0"/>
              </a:p>
              <a:p>
                <a:r>
                  <a:rPr lang="en-US" sz="2000" dirty="0"/>
                  <a:t>Strategy:</a:t>
                </a:r>
              </a:p>
              <a:p>
                <a:pPr lvl="1"/>
                <a14:m>
                  <m:oMath xmlns:m="http://schemas.openxmlformats.org/officeDocument/2006/math">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𝑥</m:t>
                            </m:r>
                          </m:e>
                        </m:d>
                      </m:e>
                      <m:sup>
                        <m:r>
                          <m:rPr>
                            <m:sty m:val="p"/>
                          </m:rPr>
                          <a:rPr lang="en-US" sz="1600">
                            <a:latin typeface="Cambria Math" panose="02040503050406030204" pitchFamily="18" charset="0"/>
                          </a:rPr>
                          <m:t>A</m:t>
                        </m:r>
                      </m:sup>
                    </m:sSup>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2</m:t>
                            </m:r>
                          </m:sub>
                        </m:sSub>
                      </m:e>
                    </m:d>
                    <m:r>
                      <a:rPr lang="en-US" sz="1600" b="0" i="1" smtClean="0">
                        <a:latin typeface="Cambria Math" panose="02040503050406030204" pitchFamily="18" charset="0"/>
                      </a:rPr>
                      <m:t>, </m:t>
                    </m:r>
                    <m:d>
                      <m:dPr>
                        <m:ctrlPr>
                          <a:rPr lang="en-US" sz="1600" b="0" i="1" smtClean="0">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2</m:t>
                            </m:r>
                          </m:sub>
                        </m:sSub>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3</m:t>
                            </m:r>
                          </m:sub>
                        </m:sSub>
                      </m:e>
                    </m:d>
                    <m:r>
                      <a:rPr lang="en-US" sz="1600" b="0" i="1" smtClean="0">
                        <a:latin typeface="Cambria Math" panose="02040503050406030204" pitchFamily="18" charset="0"/>
                      </a:rPr>
                      <m:t>,</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b="0" i="1" smtClean="0">
                            <a:latin typeface="Cambria Math" panose="02040503050406030204" pitchFamily="18" charset="0"/>
                          </a:rPr>
                          <m:t>3</m:t>
                        </m:r>
                      </m:sub>
                    </m:sSub>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b="0" i="1" smtClean="0">
                            <a:latin typeface="Cambria Math" panose="02040503050406030204" pitchFamily="18" charset="0"/>
                          </a:rPr>
                          <m:t>1</m:t>
                        </m:r>
                      </m:sub>
                    </m:sSub>
                    <m:r>
                      <a:rPr lang="en-US" sz="1600" i="1">
                        <a:latin typeface="Cambria Math" panose="02040503050406030204" pitchFamily="18" charset="0"/>
                      </a:rPr>
                      <m:t>)</m:t>
                    </m:r>
                  </m:oMath>
                </a14:m>
                <a:endParaRPr lang="en-US" sz="1600" dirty="0"/>
              </a:p>
              <a:p>
                <a:pPr lvl="1"/>
                <a:r>
                  <a:rPr lang="en-US" sz="1600" dirty="0"/>
                  <a:t>Parties provide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3</m:t>
                        </m:r>
                      </m:sub>
                    </m:sSub>
                  </m:oMath>
                </a14:m>
                <a:r>
                  <a:rPr lang="en-US" sz="1600" dirty="0"/>
                  <a:t> as input to the binary MPC protocol</a:t>
                </a:r>
              </a:p>
              <a:p>
                <a:pPr lvl="1"/>
                <a:r>
                  <a:rPr lang="en-US" sz="1600" dirty="0"/>
                  <a:t>Evaluate the circuit:   </a:t>
                </a:r>
                <a14:m>
                  <m:oMath xmlns:m="http://schemas.openxmlformats.org/officeDocument/2006/math">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acc>
                              <m:accPr>
                                <m:chr m:val="⃑"/>
                                <m:ctrlPr>
                                  <a:rPr lang="en-US" sz="1600" i="1">
                                    <a:latin typeface="Cambria Math" panose="02040503050406030204" pitchFamily="18" charset="0"/>
                                  </a:rPr>
                                </m:ctrlPr>
                              </m:accPr>
                              <m:e>
                                <m:r>
                                  <a:rPr lang="en-US" sz="1600" i="1">
                                    <a:latin typeface="Cambria Math" panose="02040503050406030204" pitchFamily="18" charset="0"/>
                                  </a:rPr>
                                  <m:t>𝑥</m:t>
                                </m:r>
                              </m:e>
                            </m:acc>
                          </m:e>
                        </m:d>
                      </m:e>
                      <m:sup>
                        <m:r>
                          <m:rPr>
                            <m:sty m:val="p"/>
                          </m:rPr>
                          <a:rPr lang="en-US" sz="1600">
                            <a:latin typeface="Cambria Math" panose="02040503050406030204" pitchFamily="18" charset="0"/>
                          </a:rPr>
                          <m:t>B</m:t>
                        </m:r>
                      </m:sup>
                    </m:sSup>
                  </m:oMath>
                </a14:m>
                <a:r>
                  <a:rPr lang="en-US" sz="1600" dirty="0"/>
                  <a:t>= </a:t>
                </a:r>
                <a14:m>
                  <m:oMath xmlns:m="http://schemas.openxmlformats.org/officeDocument/2006/math">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sSub>
                              <m:sSubPr>
                                <m:ctrlPr>
                                  <a:rPr lang="en-US" sz="1600" b="0" i="1" smtClean="0">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𝑥</m:t>
                                    </m:r>
                                  </m:e>
                                </m:acc>
                              </m:e>
                              <m:sub>
                                <m:r>
                                  <a:rPr lang="en-US" sz="1600" b="0" i="1" smtClean="0">
                                    <a:latin typeface="Cambria Math" panose="02040503050406030204" pitchFamily="18" charset="0"/>
                                  </a:rPr>
                                  <m:t>1</m:t>
                                </m:r>
                              </m:sub>
                            </m:sSub>
                          </m:e>
                        </m:d>
                      </m:e>
                      <m:sup>
                        <m:r>
                          <m:rPr>
                            <m:sty m:val="p"/>
                          </m:rPr>
                          <a:rPr lang="en-US" sz="1600">
                            <a:latin typeface="Cambria Math" panose="02040503050406030204" pitchFamily="18" charset="0"/>
                          </a:rPr>
                          <m:t>B</m:t>
                        </m:r>
                      </m:sup>
                    </m:sSup>
                    <m:r>
                      <a:rPr lang="en-US" sz="1600" b="0" i="1" smtClean="0">
                        <a:latin typeface="Cambria Math" panose="02040503050406030204" pitchFamily="18" charset="0"/>
                      </a:rPr>
                      <m:t>+</m:t>
                    </m:r>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𝑥</m:t>
                                    </m:r>
                                  </m:e>
                                </m:acc>
                              </m:e>
                              <m:sub>
                                <m:r>
                                  <a:rPr lang="en-US" sz="1600" b="0" i="1" smtClean="0">
                                    <a:latin typeface="Cambria Math" panose="02040503050406030204" pitchFamily="18" charset="0"/>
                                  </a:rPr>
                                  <m:t>2</m:t>
                                </m:r>
                              </m:sub>
                            </m:sSub>
                          </m:e>
                        </m:d>
                      </m:e>
                      <m:sup>
                        <m:r>
                          <m:rPr>
                            <m:sty m:val="p"/>
                          </m:rPr>
                          <a:rPr lang="en-US" sz="1600">
                            <a:latin typeface="Cambria Math" panose="02040503050406030204" pitchFamily="18" charset="0"/>
                          </a:rPr>
                          <m:t>B</m:t>
                        </m:r>
                      </m:sup>
                    </m:sSup>
                    <m:r>
                      <a:rPr lang="en-US" sz="1600" b="0" i="1" smtClean="0">
                        <a:latin typeface="Cambria Math" panose="02040503050406030204" pitchFamily="18" charset="0"/>
                      </a:rPr>
                      <m:t>+</m:t>
                    </m:r>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𝑥</m:t>
                                    </m:r>
                                  </m:e>
                                </m:acc>
                              </m:e>
                              <m:sub>
                                <m:r>
                                  <a:rPr lang="en-US" sz="1600" b="0" i="1" smtClean="0">
                                    <a:latin typeface="Cambria Math" panose="02040503050406030204" pitchFamily="18" charset="0"/>
                                  </a:rPr>
                                  <m:t>3</m:t>
                                </m:r>
                              </m:sub>
                            </m:sSub>
                          </m:e>
                        </m:d>
                      </m:e>
                      <m:sup>
                        <m:r>
                          <m:rPr>
                            <m:sty m:val="p"/>
                          </m:rPr>
                          <a:rPr lang="en-US" sz="1600">
                            <a:latin typeface="Cambria Math" panose="02040503050406030204" pitchFamily="18" charset="0"/>
                          </a:rPr>
                          <m:t>B</m:t>
                        </m:r>
                      </m:sup>
                    </m:sSup>
                    <m:r>
                      <a:rPr lang="en-US" sz="1600" i="1">
                        <a:latin typeface="Cambria Math" panose="02040503050406030204" pitchFamily="18" charset="0"/>
                      </a:rPr>
                      <m:t> </m:t>
                    </m:r>
                  </m:oMath>
                </a14:m>
                <a:endParaRPr lang="en-US" sz="1600" dirty="0"/>
              </a:p>
              <a:p>
                <a:r>
                  <a:rPr lang="en-US" sz="2000" dirty="0"/>
                  <a:t>Optimizations: </a:t>
                </a:r>
              </a:p>
              <a:p>
                <a:pPr lvl="1"/>
                <a:r>
                  <a:rPr lang="en-US" sz="1600" dirty="0"/>
                  <a:t>Implement </a:t>
                </a:r>
                <a14:m>
                  <m:oMath xmlns:m="http://schemas.openxmlformats.org/officeDocument/2006/math">
                    <m:r>
                      <a:rPr lang="en-US" sz="1600" b="0" i="1" smtClean="0">
                        <a:latin typeface="Cambria Math" panose="02040503050406030204" pitchFamily="18" charset="0"/>
                      </a:rPr>
                      <m:t>+</m:t>
                    </m:r>
                  </m:oMath>
                </a14:m>
                <a:r>
                  <a:rPr lang="en-US" sz="1600" dirty="0"/>
                  <a:t> using low depth circuit,   </a:t>
                </a:r>
                <a:r>
                  <a:rPr lang="en-US" sz="1600" i="1" dirty="0"/>
                  <a:t>depth </a:t>
                </a:r>
                <a14:m>
                  <m:oMath xmlns:m="http://schemas.openxmlformats.org/officeDocument/2006/math">
                    <m:r>
                      <a:rPr lang="en-US" sz="1600" b="0" i="0" smtClean="0">
                        <a:latin typeface="Cambria Math" panose="02040503050406030204" pitchFamily="18" charset="0"/>
                      </a:rPr>
                      <m:t>=</m:t>
                    </m:r>
                    <m:r>
                      <m:rPr>
                        <m:sty m:val="p"/>
                      </m:rPr>
                      <a:rPr lang="en-US" sz="1600" b="0" i="1" smtClean="0">
                        <a:latin typeface="Cambria Math" panose="02040503050406030204" pitchFamily="18" charset="0"/>
                      </a:rPr>
                      <m:t>log</m:t>
                    </m:r>
                    <m:r>
                      <a:rPr lang="en-US" sz="1600" b="0" i="1" smtClean="0">
                        <a:latin typeface="Cambria Math" panose="02040503050406030204" pitchFamily="18" charset="0"/>
                      </a:rPr>
                      <m:t> </m:t>
                    </m:r>
                    <m:r>
                      <a:rPr lang="en-US" sz="1600" b="0" i="1" smtClean="0">
                        <a:latin typeface="Cambria Math" panose="02040503050406030204" pitchFamily="18" charset="0"/>
                      </a:rPr>
                      <m:t>𝑘</m:t>
                    </m:r>
                  </m:oMath>
                </a14:m>
                <a:endParaRPr lang="en-US" sz="1600" dirty="0"/>
              </a:p>
              <a:p>
                <a:pPr lvl="1"/>
                <a:r>
                  <a:rPr lang="en-US" sz="1600" dirty="0"/>
                  <a:t>Have party </a:t>
                </a:r>
                <a14:m>
                  <m:oMath xmlns:m="http://schemas.openxmlformats.org/officeDocument/2006/math">
                    <m:r>
                      <a:rPr lang="en-US" sz="1600" i="1" dirty="0" smtClean="0">
                        <a:latin typeface="Cambria Math" panose="02040503050406030204" pitchFamily="18" charset="0"/>
                      </a:rPr>
                      <m:t>1</m:t>
                    </m:r>
                  </m:oMath>
                </a14:m>
                <a:r>
                  <a:rPr lang="en-US" sz="1600" dirty="0"/>
                  <a:t> locally compute and input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2</m:t>
                        </m:r>
                      </m:sub>
                    </m:sSub>
                  </m:oMath>
                </a14:m>
                <a:endParaRPr lang="en-US" sz="1600" dirty="0"/>
              </a:p>
              <a:p>
                <a:r>
                  <a:rPr lang="en-US" sz="2000" dirty="0"/>
                  <a:t>Also implement conversion to/from garbled circuits</a:t>
                </a:r>
              </a:p>
              <a:p>
                <a:pPr lvl="1"/>
                <a:r>
                  <a:rPr lang="en-US" sz="1600" dirty="0"/>
                  <a:t>Garbled circuits allow low latency for high depth circuit</a:t>
                </a:r>
              </a:p>
              <a:p>
                <a:pPr lvl="1"/>
                <a:endParaRPr lang="en-US" sz="1600" dirty="0"/>
              </a:p>
              <a:p>
                <a:pPr lvl="1"/>
                <a:endParaRPr lang="en-US" sz="1600" dirty="0"/>
              </a:p>
              <a:p>
                <a:pPr lvl="1"/>
                <a:endParaRPr lang="en-US" sz="1600" dirty="0"/>
              </a:p>
            </p:txBody>
          </p:sp>
        </mc:Choice>
        <mc:Fallback xmlns="">
          <p:sp>
            <p:nvSpPr>
              <p:cNvPr id="3" name="Content Placeholder 2">
                <a:extLst>
                  <a:ext uri="{FF2B5EF4-FFF2-40B4-BE49-F238E27FC236}">
                    <a16:creationId xmlns:a16="http://schemas.microsoft.com/office/drawing/2014/main" id="{67DA9032-F542-46E2-BA0F-E9CD600A0FB1}"/>
                  </a:ext>
                </a:extLst>
              </p:cNvPr>
              <p:cNvSpPr>
                <a:spLocks noGrp="1" noRot="1" noChangeAspect="1" noMove="1" noResize="1" noEditPoints="1" noAdjustHandles="1" noChangeArrowheads="1" noChangeShapeType="1" noTextEdit="1"/>
              </p:cNvSpPr>
              <p:nvPr>
                <p:ph idx="1"/>
              </p:nvPr>
            </p:nvSpPr>
            <p:spPr>
              <a:xfrm>
                <a:off x="1451581" y="1694890"/>
                <a:ext cx="9603275" cy="5163110"/>
              </a:xfrm>
              <a:blipFill>
                <a:blip r:embed="rId2"/>
                <a:stretch>
                  <a:fillRect l="-571"/>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72E3A552-094D-4E16-86AB-6F3934B4619C}"/>
              </a:ext>
            </a:extLst>
          </p:cNvPr>
          <p:cNvGrpSpPr/>
          <p:nvPr/>
        </p:nvGrpSpPr>
        <p:grpSpPr>
          <a:xfrm>
            <a:off x="8040489" y="2031450"/>
            <a:ext cx="986168" cy="926123"/>
            <a:chOff x="9078457" y="2950793"/>
            <a:chExt cx="986168" cy="926123"/>
          </a:xfrm>
        </p:grpSpPr>
        <p:sp>
          <p:nvSpPr>
            <p:cNvPr id="4" name="Oval 3">
              <a:extLst>
                <a:ext uri="{FF2B5EF4-FFF2-40B4-BE49-F238E27FC236}">
                  <a16:creationId xmlns:a16="http://schemas.microsoft.com/office/drawing/2014/main" id="{199823C6-461E-4450-ACF2-506160F6F94D}"/>
                </a:ext>
              </a:extLst>
            </p:cNvPr>
            <p:cNvSpPr/>
            <p:nvPr/>
          </p:nvSpPr>
          <p:spPr>
            <a:xfrm>
              <a:off x="9145590" y="2950793"/>
              <a:ext cx="842561" cy="841248"/>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5" name="TextBox 4">
              <a:extLst>
                <a:ext uri="{FF2B5EF4-FFF2-40B4-BE49-F238E27FC236}">
                  <a16:creationId xmlns:a16="http://schemas.microsoft.com/office/drawing/2014/main" id="{C025F365-1B6E-4DEC-B7CA-9A9DC3448604}"/>
                </a:ext>
              </a:extLst>
            </p:cNvPr>
            <p:cNvSpPr txBox="1"/>
            <p:nvPr/>
          </p:nvSpPr>
          <p:spPr>
            <a:xfrm>
              <a:off x="9078457" y="3138252"/>
              <a:ext cx="986168" cy="738664"/>
            </a:xfrm>
            <a:prstGeom prst="rect">
              <a:avLst/>
            </a:prstGeom>
            <a:noFill/>
          </p:spPr>
          <p:txBody>
            <a:bodyPr wrap="none" rtlCol="0">
              <a:spAutoFit/>
            </a:bodyPr>
            <a:lstStyle/>
            <a:p>
              <a:pPr algn="ctr"/>
              <a:r>
                <a:rPr lang="en-US" sz="1400" b="1" dirty="0">
                  <a:solidFill>
                    <a:srgbClr val="404040"/>
                  </a:solidFill>
                </a:rPr>
                <a:t>A</a:t>
              </a:r>
              <a:r>
                <a:rPr lang="en-US" sz="1400" dirty="0">
                  <a:solidFill>
                    <a:srgbClr val="404040"/>
                  </a:solidFill>
                </a:rPr>
                <a:t>rithmetic</a:t>
              </a:r>
              <a:br>
                <a:rPr lang="en-US" sz="1400" dirty="0">
                  <a:solidFill>
                    <a:srgbClr val="404040"/>
                  </a:solidFill>
                </a:rPr>
              </a:br>
              <a:r>
                <a:rPr lang="en-US" sz="1400" dirty="0">
                  <a:solidFill>
                    <a:srgbClr val="404040"/>
                  </a:solidFill>
                </a:rPr>
                <a:t>Share</a:t>
              </a:r>
            </a:p>
            <a:p>
              <a:pPr algn="ctr"/>
              <a:endParaRPr lang="en-US" sz="1400" dirty="0">
                <a:solidFill>
                  <a:srgbClr val="404040"/>
                </a:solidFill>
              </a:endParaRPr>
            </a:p>
          </p:txBody>
        </p:sp>
      </p:grpSp>
      <p:grpSp>
        <p:nvGrpSpPr>
          <p:cNvPr id="7" name="Group 6">
            <a:extLst>
              <a:ext uri="{FF2B5EF4-FFF2-40B4-BE49-F238E27FC236}">
                <a16:creationId xmlns:a16="http://schemas.microsoft.com/office/drawing/2014/main" id="{6FACD586-D979-45C3-881B-4F42866D4606}"/>
              </a:ext>
            </a:extLst>
          </p:cNvPr>
          <p:cNvGrpSpPr/>
          <p:nvPr/>
        </p:nvGrpSpPr>
        <p:grpSpPr>
          <a:xfrm>
            <a:off x="10479296" y="2031450"/>
            <a:ext cx="842561" cy="926123"/>
            <a:chOff x="9145590" y="2950793"/>
            <a:chExt cx="842561" cy="926123"/>
          </a:xfrm>
        </p:grpSpPr>
        <p:sp>
          <p:nvSpPr>
            <p:cNvPr id="8" name="Oval 7">
              <a:extLst>
                <a:ext uri="{FF2B5EF4-FFF2-40B4-BE49-F238E27FC236}">
                  <a16:creationId xmlns:a16="http://schemas.microsoft.com/office/drawing/2014/main" id="{32080F92-75EC-455F-B83F-D5D5D5448680}"/>
                </a:ext>
              </a:extLst>
            </p:cNvPr>
            <p:cNvSpPr/>
            <p:nvPr/>
          </p:nvSpPr>
          <p:spPr>
            <a:xfrm>
              <a:off x="9145590" y="2950793"/>
              <a:ext cx="842561" cy="841248"/>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9" name="TextBox 8">
              <a:extLst>
                <a:ext uri="{FF2B5EF4-FFF2-40B4-BE49-F238E27FC236}">
                  <a16:creationId xmlns:a16="http://schemas.microsoft.com/office/drawing/2014/main" id="{75640F59-1B1F-45CB-8CC4-45021140F319}"/>
                </a:ext>
              </a:extLst>
            </p:cNvPr>
            <p:cNvSpPr txBox="1"/>
            <p:nvPr/>
          </p:nvSpPr>
          <p:spPr>
            <a:xfrm>
              <a:off x="9260812" y="3138252"/>
              <a:ext cx="670889" cy="738664"/>
            </a:xfrm>
            <a:prstGeom prst="rect">
              <a:avLst/>
            </a:prstGeom>
            <a:noFill/>
          </p:spPr>
          <p:txBody>
            <a:bodyPr wrap="none" rtlCol="0">
              <a:spAutoFit/>
            </a:bodyPr>
            <a:lstStyle/>
            <a:p>
              <a:pPr algn="ctr"/>
              <a:r>
                <a:rPr lang="en-US" sz="1400" b="1" dirty="0">
                  <a:solidFill>
                    <a:srgbClr val="404040"/>
                  </a:solidFill>
                </a:rPr>
                <a:t>B</a:t>
              </a:r>
              <a:r>
                <a:rPr lang="en-US" sz="1400" dirty="0">
                  <a:solidFill>
                    <a:srgbClr val="404040"/>
                  </a:solidFill>
                </a:rPr>
                <a:t>inary</a:t>
              </a:r>
              <a:br>
                <a:rPr lang="en-US" sz="1400" dirty="0">
                  <a:solidFill>
                    <a:srgbClr val="404040"/>
                  </a:solidFill>
                </a:rPr>
              </a:br>
              <a:r>
                <a:rPr lang="en-US" sz="1400" dirty="0">
                  <a:solidFill>
                    <a:srgbClr val="404040"/>
                  </a:solidFill>
                </a:rPr>
                <a:t>Share</a:t>
              </a:r>
            </a:p>
            <a:p>
              <a:pPr algn="ctr"/>
              <a:endParaRPr lang="en-US" sz="1400" dirty="0">
                <a:solidFill>
                  <a:srgbClr val="404040"/>
                </a:solidFill>
              </a:endParaRPr>
            </a:p>
          </p:txBody>
        </p:sp>
      </p:grpSp>
      <p:sp>
        <p:nvSpPr>
          <p:cNvPr id="10" name="Freeform: Shape 9">
            <a:extLst>
              <a:ext uri="{FF2B5EF4-FFF2-40B4-BE49-F238E27FC236}">
                <a16:creationId xmlns:a16="http://schemas.microsoft.com/office/drawing/2014/main" id="{A085664C-3E1A-4864-AA04-3AD9788E2B55}"/>
              </a:ext>
            </a:extLst>
          </p:cNvPr>
          <p:cNvSpPr/>
          <p:nvPr/>
        </p:nvSpPr>
        <p:spPr>
          <a:xfrm>
            <a:off x="8901808" y="1995176"/>
            <a:ext cx="1626149" cy="253752"/>
          </a:xfrm>
          <a:custGeom>
            <a:avLst/>
            <a:gdLst>
              <a:gd name="connsiteX0" fmla="*/ 0 w 1626149"/>
              <a:gd name="connsiteY0" fmla="*/ 4943 h 16454"/>
              <a:gd name="connsiteX1" fmla="*/ 1626149 w 1626149"/>
              <a:gd name="connsiteY1" fmla="*/ 0 h 16454"/>
              <a:gd name="connsiteX0" fmla="*/ 0 w 1626149"/>
              <a:gd name="connsiteY0" fmla="*/ 234564 h 234564"/>
              <a:gd name="connsiteX1" fmla="*/ 1626149 w 1626149"/>
              <a:gd name="connsiteY1" fmla="*/ 229621 h 234564"/>
              <a:gd name="connsiteX0" fmla="*/ 0 w 1626149"/>
              <a:gd name="connsiteY0" fmla="*/ 346849 h 346849"/>
              <a:gd name="connsiteX1" fmla="*/ 1626149 w 1626149"/>
              <a:gd name="connsiteY1" fmla="*/ 341906 h 346849"/>
              <a:gd name="connsiteX0" fmla="*/ 0 w 1626149"/>
              <a:gd name="connsiteY0" fmla="*/ 308277 h 308277"/>
              <a:gd name="connsiteX1" fmla="*/ 1626149 w 1626149"/>
              <a:gd name="connsiteY1" fmla="*/ 303334 h 308277"/>
              <a:gd name="connsiteX0" fmla="*/ 0 w 1626149"/>
              <a:gd name="connsiteY0" fmla="*/ 232605 h 232605"/>
              <a:gd name="connsiteX1" fmla="*/ 1626149 w 1626149"/>
              <a:gd name="connsiteY1" fmla="*/ 227662 h 232605"/>
              <a:gd name="connsiteX0" fmla="*/ 0 w 1626149"/>
              <a:gd name="connsiteY0" fmla="*/ 253752 h 253752"/>
              <a:gd name="connsiteX1" fmla="*/ 1626149 w 1626149"/>
              <a:gd name="connsiteY1" fmla="*/ 248809 h 253752"/>
            </a:gdLst>
            <a:ahLst/>
            <a:cxnLst>
              <a:cxn ang="0">
                <a:pos x="connsiteX0" y="connsiteY0"/>
              </a:cxn>
              <a:cxn ang="0">
                <a:pos x="connsiteX1" y="connsiteY1"/>
              </a:cxn>
            </a:cxnLst>
            <a:rect l="l" t="t" r="r" b="b"/>
            <a:pathLst>
              <a:path w="1626149" h="253752">
                <a:moveTo>
                  <a:pt x="0" y="253752"/>
                </a:moveTo>
                <a:cubicBezTo>
                  <a:pt x="579944" y="-101299"/>
                  <a:pt x="1070918" y="-65876"/>
                  <a:pt x="1626149" y="248809"/>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109C1B7-C468-4E97-86D2-13B2AE4BE69C}"/>
                  </a:ext>
                </a:extLst>
              </p:cNvPr>
              <p:cNvSpPr/>
              <p:nvPr/>
            </p:nvSpPr>
            <p:spPr>
              <a:xfrm>
                <a:off x="9066600" y="1630513"/>
                <a:ext cx="1343316" cy="3441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𝑥</m:t>
                              </m:r>
                            </m:e>
                          </m:d>
                        </m:e>
                        <m:sup>
                          <m:r>
                            <m:rPr>
                              <m:sty m:val="p"/>
                            </m:rPr>
                            <a:rPr lang="en-US" sz="1600">
                              <a:latin typeface="Cambria Math" panose="02040503050406030204" pitchFamily="18" charset="0"/>
                            </a:rPr>
                            <m:t>A</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acc>
                                <m:accPr>
                                  <m:chr m:val="⃑"/>
                                  <m:ctrlPr>
                                    <a:rPr lang="en-US" sz="1600" i="1">
                                      <a:latin typeface="Cambria Math" panose="02040503050406030204" pitchFamily="18" charset="0"/>
                                    </a:rPr>
                                  </m:ctrlPr>
                                </m:accPr>
                                <m:e>
                                  <m:r>
                                    <a:rPr lang="en-US" sz="1600" i="1">
                                      <a:latin typeface="Cambria Math" panose="02040503050406030204" pitchFamily="18" charset="0"/>
                                    </a:rPr>
                                    <m:t>𝑥</m:t>
                                  </m:r>
                                </m:e>
                              </m:acc>
                            </m:e>
                          </m:d>
                        </m:e>
                        <m:sup>
                          <m:r>
                            <m:rPr>
                              <m:sty m:val="p"/>
                            </m:rPr>
                            <a:rPr lang="en-US" sz="1600">
                              <a:latin typeface="Cambria Math" panose="02040503050406030204" pitchFamily="18" charset="0"/>
                            </a:rPr>
                            <m:t>B</m:t>
                          </m:r>
                        </m:sup>
                      </m:sSup>
                    </m:oMath>
                  </m:oMathPara>
                </a14:m>
                <a:endParaRPr lang="en-US" sz="1600" dirty="0"/>
              </a:p>
            </p:txBody>
          </p:sp>
        </mc:Choice>
        <mc:Fallback xmlns="">
          <p:sp>
            <p:nvSpPr>
              <p:cNvPr id="11" name="Rectangle 10">
                <a:extLst>
                  <a:ext uri="{FF2B5EF4-FFF2-40B4-BE49-F238E27FC236}">
                    <a16:creationId xmlns:a16="http://schemas.microsoft.com/office/drawing/2014/main" id="{4109C1B7-C468-4E97-86D2-13B2AE4BE69C}"/>
                  </a:ext>
                </a:extLst>
              </p:cNvPr>
              <p:cNvSpPr>
                <a:spLocks noRot="1" noChangeAspect="1" noMove="1" noResize="1" noEditPoints="1" noAdjustHandles="1" noChangeArrowheads="1" noChangeShapeType="1" noTextEdit="1"/>
              </p:cNvSpPr>
              <p:nvPr/>
            </p:nvSpPr>
            <p:spPr>
              <a:xfrm>
                <a:off x="9066600" y="1630513"/>
                <a:ext cx="1343316" cy="344133"/>
              </a:xfrm>
              <a:prstGeom prst="rect">
                <a:avLst/>
              </a:prstGeom>
              <a:blipFill>
                <a:blip r:embed="rId3"/>
                <a:stretch>
                  <a:fillRect/>
                </a:stretch>
              </a:blipFill>
            </p:spPr>
            <p:txBody>
              <a:bodyPr/>
              <a:lstStyle/>
              <a:p>
                <a:r>
                  <a:rPr lang="en-US">
                    <a:noFill/>
                  </a:rPr>
                  <a:t> </a:t>
                </a:r>
              </a:p>
            </p:txBody>
          </p:sp>
        </mc:Fallback>
      </mc:AlternateContent>
      <p:sp>
        <p:nvSpPr>
          <p:cNvPr id="12" name="Freeform: Shape 11">
            <a:extLst>
              <a:ext uri="{FF2B5EF4-FFF2-40B4-BE49-F238E27FC236}">
                <a16:creationId xmlns:a16="http://schemas.microsoft.com/office/drawing/2014/main" id="{0DC34D06-2250-4E11-9ECA-E1DA57E1832B}"/>
              </a:ext>
            </a:extLst>
          </p:cNvPr>
          <p:cNvSpPr/>
          <p:nvPr/>
        </p:nvSpPr>
        <p:spPr>
          <a:xfrm flipH="1" flipV="1">
            <a:off x="8901665" y="2646071"/>
            <a:ext cx="1626149" cy="253752"/>
          </a:xfrm>
          <a:custGeom>
            <a:avLst/>
            <a:gdLst>
              <a:gd name="connsiteX0" fmla="*/ 0 w 1626149"/>
              <a:gd name="connsiteY0" fmla="*/ 4943 h 16454"/>
              <a:gd name="connsiteX1" fmla="*/ 1626149 w 1626149"/>
              <a:gd name="connsiteY1" fmla="*/ 0 h 16454"/>
              <a:gd name="connsiteX0" fmla="*/ 0 w 1626149"/>
              <a:gd name="connsiteY0" fmla="*/ 234564 h 234564"/>
              <a:gd name="connsiteX1" fmla="*/ 1626149 w 1626149"/>
              <a:gd name="connsiteY1" fmla="*/ 229621 h 234564"/>
              <a:gd name="connsiteX0" fmla="*/ 0 w 1626149"/>
              <a:gd name="connsiteY0" fmla="*/ 346849 h 346849"/>
              <a:gd name="connsiteX1" fmla="*/ 1626149 w 1626149"/>
              <a:gd name="connsiteY1" fmla="*/ 341906 h 346849"/>
              <a:gd name="connsiteX0" fmla="*/ 0 w 1626149"/>
              <a:gd name="connsiteY0" fmla="*/ 308277 h 308277"/>
              <a:gd name="connsiteX1" fmla="*/ 1626149 w 1626149"/>
              <a:gd name="connsiteY1" fmla="*/ 303334 h 308277"/>
              <a:gd name="connsiteX0" fmla="*/ 0 w 1626149"/>
              <a:gd name="connsiteY0" fmla="*/ 232605 h 232605"/>
              <a:gd name="connsiteX1" fmla="*/ 1626149 w 1626149"/>
              <a:gd name="connsiteY1" fmla="*/ 227662 h 232605"/>
              <a:gd name="connsiteX0" fmla="*/ 0 w 1626149"/>
              <a:gd name="connsiteY0" fmla="*/ 253752 h 253752"/>
              <a:gd name="connsiteX1" fmla="*/ 1626149 w 1626149"/>
              <a:gd name="connsiteY1" fmla="*/ 248809 h 253752"/>
            </a:gdLst>
            <a:ahLst/>
            <a:cxnLst>
              <a:cxn ang="0">
                <a:pos x="connsiteX0" y="connsiteY0"/>
              </a:cxn>
              <a:cxn ang="0">
                <a:pos x="connsiteX1" y="connsiteY1"/>
              </a:cxn>
            </a:cxnLst>
            <a:rect l="l" t="t" r="r" b="b"/>
            <a:pathLst>
              <a:path w="1626149" h="253752">
                <a:moveTo>
                  <a:pt x="0" y="253752"/>
                </a:moveTo>
                <a:cubicBezTo>
                  <a:pt x="579944" y="-101299"/>
                  <a:pt x="1070918" y="-65876"/>
                  <a:pt x="1626149" y="248809"/>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EF52544-ED7E-404F-A652-850F4760383E}"/>
                  </a:ext>
                </a:extLst>
              </p:cNvPr>
              <p:cNvSpPr/>
              <p:nvPr/>
            </p:nvSpPr>
            <p:spPr>
              <a:xfrm>
                <a:off x="9066600" y="2872698"/>
                <a:ext cx="1343316" cy="3441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𝑥</m:t>
                              </m:r>
                            </m:e>
                          </m:d>
                        </m:e>
                        <m:sup>
                          <m:r>
                            <m:rPr>
                              <m:sty m:val="p"/>
                            </m:rPr>
                            <a:rPr lang="en-US" sz="1600">
                              <a:latin typeface="Cambria Math" panose="02040503050406030204" pitchFamily="18" charset="0"/>
                            </a:rPr>
                            <m:t>A</m:t>
                          </m:r>
                        </m:sup>
                      </m:sSup>
                      <m:r>
                        <a:rPr lang="en-US" sz="1600" b="0" i="1" smtClean="0">
                          <a:latin typeface="Cambria Math" panose="02040503050406030204" pitchFamily="18" charset="0"/>
                        </a:rPr>
                        <m:t>←</m:t>
                      </m:r>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acc>
                                <m:accPr>
                                  <m:chr m:val="⃑"/>
                                  <m:ctrlPr>
                                    <a:rPr lang="en-US" sz="1600" i="1">
                                      <a:latin typeface="Cambria Math" panose="02040503050406030204" pitchFamily="18" charset="0"/>
                                    </a:rPr>
                                  </m:ctrlPr>
                                </m:accPr>
                                <m:e>
                                  <m:r>
                                    <a:rPr lang="en-US" sz="1600" i="1">
                                      <a:latin typeface="Cambria Math" panose="02040503050406030204" pitchFamily="18" charset="0"/>
                                    </a:rPr>
                                    <m:t>𝑥</m:t>
                                  </m:r>
                                </m:e>
                              </m:acc>
                            </m:e>
                          </m:d>
                        </m:e>
                        <m:sup>
                          <m:r>
                            <m:rPr>
                              <m:sty m:val="p"/>
                            </m:rPr>
                            <a:rPr lang="en-US" sz="1600">
                              <a:latin typeface="Cambria Math" panose="02040503050406030204" pitchFamily="18" charset="0"/>
                            </a:rPr>
                            <m:t>B</m:t>
                          </m:r>
                        </m:sup>
                      </m:sSup>
                    </m:oMath>
                  </m:oMathPara>
                </a14:m>
                <a:endParaRPr lang="en-US" sz="1600" dirty="0"/>
              </a:p>
            </p:txBody>
          </p:sp>
        </mc:Choice>
        <mc:Fallback xmlns="">
          <p:sp>
            <p:nvSpPr>
              <p:cNvPr id="13" name="Rectangle 12">
                <a:extLst>
                  <a:ext uri="{FF2B5EF4-FFF2-40B4-BE49-F238E27FC236}">
                    <a16:creationId xmlns:a16="http://schemas.microsoft.com/office/drawing/2014/main" id="{7EF52544-ED7E-404F-A652-850F4760383E}"/>
                  </a:ext>
                </a:extLst>
              </p:cNvPr>
              <p:cNvSpPr>
                <a:spLocks noRot="1" noChangeAspect="1" noMove="1" noResize="1" noEditPoints="1" noAdjustHandles="1" noChangeArrowheads="1" noChangeShapeType="1" noTextEdit="1"/>
              </p:cNvSpPr>
              <p:nvPr/>
            </p:nvSpPr>
            <p:spPr>
              <a:xfrm>
                <a:off x="9066600" y="2872698"/>
                <a:ext cx="1343316" cy="344133"/>
              </a:xfrm>
              <a:prstGeom prst="rect">
                <a:avLst/>
              </a:prstGeom>
              <a:blipFill>
                <a:blip r:embed="rId4"/>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6C89EAB3-B1B5-4FDC-AFDE-252C18DB7CA8}"/>
              </a:ext>
            </a:extLst>
          </p:cNvPr>
          <p:cNvGrpSpPr/>
          <p:nvPr/>
        </p:nvGrpSpPr>
        <p:grpSpPr>
          <a:xfrm>
            <a:off x="8596423" y="2701821"/>
            <a:ext cx="2258683" cy="2530814"/>
            <a:chOff x="8596423" y="2701821"/>
            <a:chExt cx="2258683" cy="2530814"/>
          </a:xfrm>
        </p:grpSpPr>
        <p:grpSp>
          <p:nvGrpSpPr>
            <p:cNvPr id="14" name="Group 13">
              <a:extLst>
                <a:ext uri="{FF2B5EF4-FFF2-40B4-BE49-F238E27FC236}">
                  <a16:creationId xmlns:a16="http://schemas.microsoft.com/office/drawing/2014/main" id="{EB3DF18B-9BDA-4D5E-A588-EDCEC6257E3B}"/>
                </a:ext>
              </a:extLst>
            </p:cNvPr>
            <p:cNvGrpSpPr/>
            <p:nvPr/>
          </p:nvGrpSpPr>
          <p:grpSpPr>
            <a:xfrm>
              <a:off x="9312307" y="4391387"/>
              <a:ext cx="842561" cy="841248"/>
              <a:chOff x="9145590" y="2950793"/>
              <a:chExt cx="842561" cy="841248"/>
            </a:xfrm>
          </p:grpSpPr>
          <p:sp>
            <p:nvSpPr>
              <p:cNvPr id="15" name="Oval 14">
                <a:extLst>
                  <a:ext uri="{FF2B5EF4-FFF2-40B4-BE49-F238E27FC236}">
                    <a16:creationId xmlns:a16="http://schemas.microsoft.com/office/drawing/2014/main" id="{F8EB117C-8880-4AA0-96F6-4346189A861A}"/>
                  </a:ext>
                </a:extLst>
              </p:cNvPr>
              <p:cNvSpPr/>
              <p:nvPr/>
            </p:nvSpPr>
            <p:spPr>
              <a:xfrm>
                <a:off x="9145590" y="2950793"/>
                <a:ext cx="842561" cy="841248"/>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6" name="TextBox 15">
                <a:extLst>
                  <a:ext uri="{FF2B5EF4-FFF2-40B4-BE49-F238E27FC236}">
                    <a16:creationId xmlns:a16="http://schemas.microsoft.com/office/drawing/2014/main" id="{58BB94A7-531E-4161-A802-30D9D885ACB8}"/>
                  </a:ext>
                </a:extLst>
              </p:cNvPr>
              <p:cNvSpPr txBox="1"/>
              <p:nvPr/>
            </p:nvSpPr>
            <p:spPr>
              <a:xfrm>
                <a:off x="9185057" y="2979128"/>
                <a:ext cx="772969" cy="738664"/>
              </a:xfrm>
              <a:prstGeom prst="rect">
                <a:avLst/>
              </a:prstGeom>
              <a:noFill/>
            </p:spPr>
            <p:txBody>
              <a:bodyPr wrap="none" rtlCol="0">
                <a:spAutoFit/>
              </a:bodyPr>
              <a:lstStyle/>
              <a:p>
                <a:pPr algn="ctr"/>
                <a:r>
                  <a:rPr lang="en-US" sz="1400" b="1" dirty="0">
                    <a:solidFill>
                      <a:srgbClr val="404040"/>
                    </a:solidFill>
                  </a:rPr>
                  <a:t>Y</a:t>
                </a:r>
                <a:r>
                  <a:rPr lang="en-US" sz="1400" dirty="0">
                    <a:solidFill>
                      <a:srgbClr val="404040"/>
                    </a:solidFill>
                  </a:rPr>
                  <a:t>ao</a:t>
                </a:r>
                <a:br>
                  <a:rPr lang="en-US" sz="1400" dirty="0">
                    <a:solidFill>
                      <a:srgbClr val="404040"/>
                    </a:solidFill>
                  </a:rPr>
                </a:br>
                <a:r>
                  <a:rPr lang="en-US" sz="1400" dirty="0">
                    <a:solidFill>
                      <a:srgbClr val="404040"/>
                    </a:solidFill>
                  </a:rPr>
                  <a:t>Garbled</a:t>
                </a:r>
              </a:p>
              <a:p>
                <a:pPr algn="ctr"/>
                <a:r>
                  <a:rPr lang="en-US" sz="1400" dirty="0">
                    <a:solidFill>
                      <a:srgbClr val="404040"/>
                    </a:solidFill>
                  </a:rPr>
                  <a:t>Circuit</a:t>
                </a:r>
              </a:p>
            </p:txBody>
          </p:sp>
        </p:grpSp>
        <p:sp>
          <p:nvSpPr>
            <p:cNvPr id="17" name="Freeform: Shape 16">
              <a:extLst>
                <a:ext uri="{FF2B5EF4-FFF2-40B4-BE49-F238E27FC236}">
                  <a16:creationId xmlns:a16="http://schemas.microsoft.com/office/drawing/2014/main" id="{ED04F382-F072-40FE-AB0F-1B54686D3472}"/>
                </a:ext>
              </a:extLst>
            </p:cNvPr>
            <p:cNvSpPr/>
            <p:nvPr/>
          </p:nvSpPr>
          <p:spPr>
            <a:xfrm rot="14728219">
              <a:off x="7760297" y="3686902"/>
              <a:ext cx="1997507" cy="325256"/>
            </a:xfrm>
            <a:custGeom>
              <a:avLst/>
              <a:gdLst>
                <a:gd name="connsiteX0" fmla="*/ 0 w 1626149"/>
                <a:gd name="connsiteY0" fmla="*/ 4943 h 16454"/>
                <a:gd name="connsiteX1" fmla="*/ 1626149 w 1626149"/>
                <a:gd name="connsiteY1" fmla="*/ 0 h 16454"/>
                <a:gd name="connsiteX0" fmla="*/ 0 w 1626149"/>
                <a:gd name="connsiteY0" fmla="*/ 234564 h 234564"/>
                <a:gd name="connsiteX1" fmla="*/ 1626149 w 1626149"/>
                <a:gd name="connsiteY1" fmla="*/ 229621 h 234564"/>
                <a:gd name="connsiteX0" fmla="*/ 0 w 1626149"/>
                <a:gd name="connsiteY0" fmla="*/ 346849 h 346849"/>
                <a:gd name="connsiteX1" fmla="*/ 1626149 w 1626149"/>
                <a:gd name="connsiteY1" fmla="*/ 341906 h 346849"/>
                <a:gd name="connsiteX0" fmla="*/ 0 w 1626149"/>
                <a:gd name="connsiteY0" fmla="*/ 308277 h 308277"/>
                <a:gd name="connsiteX1" fmla="*/ 1626149 w 1626149"/>
                <a:gd name="connsiteY1" fmla="*/ 303334 h 308277"/>
                <a:gd name="connsiteX0" fmla="*/ 0 w 1626149"/>
                <a:gd name="connsiteY0" fmla="*/ 232605 h 232605"/>
                <a:gd name="connsiteX1" fmla="*/ 1626149 w 1626149"/>
                <a:gd name="connsiteY1" fmla="*/ 227662 h 232605"/>
                <a:gd name="connsiteX0" fmla="*/ 0 w 1626149"/>
                <a:gd name="connsiteY0" fmla="*/ 253752 h 253752"/>
                <a:gd name="connsiteX1" fmla="*/ 1626149 w 1626149"/>
                <a:gd name="connsiteY1" fmla="*/ 248809 h 253752"/>
              </a:gdLst>
              <a:ahLst/>
              <a:cxnLst>
                <a:cxn ang="0">
                  <a:pos x="connsiteX0" y="connsiteY0"/>
                </a:cxn>
                <a:cxn ang="0">
                  <a:pos x="connsiteX1" y="connsiteY1"/>
                </a:cxn>
              </a:cxnLst>
              <a:rect l="l" t="t" r="r" b="b"/>
              <a:pathLst>
                <a:path w="1626149" h="253752">
                  <a:moveTo>
                    <a:pt x="0" y="253752"/>
                  </a:moveTo>
                  <a:cubicBezTo>
                    <a:pt x="579944" y="-101299"/>
                    <a:pt x="1070918" y="-65876"/>
                    <a:pt x="1626149" y="248809"/>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EFD05F9-4E5C-40CD-A868-5C5C54597705}"/>
                </a:ext>
              </a:extLst>
            </p:cNvPr>
            <p:cNvSpPr/>
            <p:nvPr/>
          </p:nvSpPr>
          <p:spPr>
            <a:xfrm rot="6871781" flipH="1">
              <a:off x="9693724" y="3686199"/>
              <a:ext cx="1997507" cy="325256"/>
            </a:xfrm>
            <a:custGeom>
              <a:avLst/>
              <a:gdLst>
                <a:gd name="connsiteX0" fmla="*/ 0 w 1626149"/>
                <a:gd name="connsiteY0" fmla="*/ 4943 h 16454"/>
                <a:gd name="connsiteX1" fmla="*/ 1626149 w 1626149"/>
                <a:gd name="connsiteY1" fmla="*/ 0 h 16454"/>
                <a:gd name="connsiteX0" fmla="*/ 0 w 1626149"/>
                <a:gd name="connsiteY0" fmla="*/ 234564 h 234564"/>
                <a:gd name="connsiteX1" fmla="*/ 1626149 w 1626149"/>
                <a:gd name="connsiteY1" fmla="*/ 229621 h 234564"/>
                <a:gd name="connsiteX0" fmla="*/ 0 w 1626149"/>
                <a:gd name="connsiteY0" fmla="*/ 346849 h 346849"/>
                <a:gd name="connsiteX1" fmla="*/ 1626149 w 1626149"/>
                <a:gd name="connsiteY1" fmla="*/ 341906 h 346849"/>
                <a:gd name="connsiteX0" fmla="*/ 0 w 1626149"/>
                <a:gd name="connsiteY0" fmla="*/ 308277 h 308277"/>
                <a:gd name="connsiteX1" fmla="*/ 1626149 w 1626149"/>
                <a:gd name="connsiteY1" fmla="*/ 303334 h 308277"/>
                <a:gd name="connsiteX0" fmla="*/ 0 w 1626149"/>
                <a:gd name="connsiteY0" fmla="*/ 232605 h 232605"/>
                <a:gd name="connsiteX1" fmla="*/ 1626149 w 1626149"/>
                <a:gd name="connsiteY1" fmla="*/ 227662 h 232605"/>
                <a:gd name="connsiteX0" fmla="*/ 0 w 1626149"/>
                <a:gd name="connsiteY0" fmla="*/ 253752 h 253752"/>
                <a:gd name="connsiteX1" fmla="*/ 1626149 w 1626149"/>
                <a:gd name="connsiteY1" fmla="*/ 248809 h 253752"/>
              </a:gdLst>
              <a:ahLst/>
              <a:cxnLst>
                <a:cxn ang="0">
                  <a:pos x="connsiteX0" y="connsiteY0"/>
                </a:cxn>
                <a:cxn ang="0">
                  <a:pos x="connsiteX1" y="connsiteY1"/>
                </a:cxn>
              </a:cxnLst>
              <a:rect l="l" t="t" r="r" b="b"/>
              <a:pathLst>
                <a:path w="1626149" h="253752">
                  <a:moveTo>
                    <a:pt x="0" y="253752"/>
                  </a:moveTo>
                  <a:cubicBezTo>
                    <a:pt x="579944" y="-101299"/>
                    <a:pt x="1070918" y="-65876"/>
                    <a:pt x="1626149" y="248809"/>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774EC789-8A7C-475D-BE6F-7074C6505C2A}"/>
                </a:ext>
              </a:extLst>
            </p:cNvPr>
            <p:cNvSpPr/>
            <p:nvPr/>
          </p:nvSpPr>
          <p:spPr>
            <a:xfrm rot="14728219" flipH="1" flipV="1">
              <a:off x="8290844" y="3532699"/>
              <a:ext cx="1805159" cy="143403"/>
            </a:xfrm>
            <a:custGeom>
              <a:avLst/>
              <a:gdLst>
                <a:gd name="connsiteX0" fmla="*/ 0 w 1626149"/>
                <a:gd name="connsiteY0" fmla="*/ 4943 h 16454"/>
                <a:gd name="connsiteX1" fmla="*/ 1626149 w 1626149"/>
                <a:gd name="connsiteY1" fmla="*/ 0 h 16454"/>
                <a:gd name="connsiteX0" fmla="*/ 0 w 1626149"/>
                <a:gd name="connsiteY0" fmla="*/ 234564 h 234564"/>
                <a:gd name="connsiteX1" fmla="*/ 1626149 w 1626149"/>
                <a:gd name="connsiteY1" fmla="*/ 229621 h 234564"/>
                <a:gd name="connsiteX0" fmla="*/ 0 w 1626149"/>
                <a:gd name="connsiteY0" fmla="*/ 346849 h 346849"/>
                <a:gd name="connsiteX1" fmla="*/ 1626149 w 1626149"/>
                <a:gd name="connsiteY1" fmla="*/ 341906 h 346849"/>
                <a:gd name="connsiteX0" fmla="*/ 0 w 1626149"/>
                <a:gd name="connsiteY0" fmla="*/ 308277 h 308277"/>
                <a:gd name="connsiteX1" fmla="*/ 1626149 w 1626149"/>
                <a:gd name="connsiteY1" fmla="*/ 303334 h 308277"/>
                <a:gd name="connsiteX0" fmla="*/ 0 w 1626149"/>
                <a:gd name="connsiteY0" fmla="*/ 232605 h 232605"/>
                <a:gd name="connsiteX1" fmla="*/ 1626149 w 1626149"/>
                <a:gd name="connsiteY1" fmla="*/ 227662 h 232605"/>
                <a:gd name="connsiteX0" fmla="*/ 0 w 1626149"/>
                <a:gd name="connsiteY0" fmla="*/ 253752 h 253752"/>
                <a:gd name="connsiteX1" fmla="*/ 1626149 w 1626149"/>
                <a:gd name="connsiteY1" fmla="*/ 248809 h 253752"/>
              </a:gdLst>
              <a:ahLst/>
              <a:cxnLst>
                <a:cxn ang="0">
                  <a:pos x="connsiteX0" y="connsiteY0"/>
                </a:cxn>
                <a:cxn ang="0">
                  <a:pos x="connsiteX1" y="connsiteY1"/>
                </a:cxn>
              </a:cxnLst>
              <a:rect l="l" t="t" r="r" b="b"/>
              <a:pathLst>
                <a:path w="1626149" h="253752">
                  <a:moveTo>
                    <a:pt x="0" y="253752"/>
                  </a:moveTo>
                  <a:cubicBezTo>
                    <a:pt x="579944" y="-101299"/>
                    <a:pt x="1070918" y="-65876"/>
                    <a:pt x="1626149" y="248809"/>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DF6CC86-3FCC-4ABE-8800-615B8B035212}"/>
                </a:ext>
              </a:extLst>
            </p:cNvPr>
            <p:cNvSpPr/>
            <p:nvPr/>
          </p:nvSpPr>
          <p:spPr>
            <a:xfrm rot="6871781" flipV="1">
              <a:off x="9380077" y="3538732"/>
              <a:ext cx="1786383" cy="151973"/>
            </a:xfrm>
            <a:custGeom>
              <a:avLst/>
              <a:gdLst>
                <a:gd name="connsiteX0" fmla="*/ 0 w 1626149"/>
                <a:gd name="connsiteY0" fmla="*/ 4943 h 16454"/>
                <a:gd name="connsiteX1" fmla="*/ 1626149 w 1626149"/>
                <a:gd name="connsiteY1" fmla="*/ 0 h 16454"/>
                <a:gd name="connsiteX0" fmla="*/ 0 w 1626149"/>
                <a:gd name="connsiteY0" fmla="*/ 234564 h 234564"/>
                <a:gd name="connsiteX1" fmla="*/ 1626149 w 1626149"/>
                <a:gd name="connsiteY1" fmla="*/ 229621 h 234564"/>
                <a:gd name="connsiteX0" fmla="*/ 0 w 1626149"/>
                <a:gd name="connsiteY0" fmla="*/ 346849 h 346849"/>
                <a:gd name="connsiteX1" fmla="*/ 1626149 w 1626149"/>
                <a:gd name="connsiteY1" fmla="*/ 341906 h 346849"/>
                <a:gd name="connsiteX0" fmla="*/ 0 w 1626149"/>
                <a:gd name="connsiteY0" fmla="*/ 308277 h 308277"/>
                <a:gd name="connsiteX1" fmla="*/ 1626149 w 1626149"/>
                <a:gd name="connsiteY1" fmla="*/ 303334 h 308277"/>
                <a:gd name="connsiteX0" fmla="*/ 0 w 1626149"/>
                <a:gd name="connsiteY0" fmla="*/ 232605 h 232605"/>
                <a:gd name="connsiteX1" fmla="*/ 1626149 w 1626149"/>
                <a:gd name="connsiteY1" fmla="*/ 227662 h 232605"/>
                <a:gd name="connsiteX0" fmla="*/ 0 w 1626149"/>
                <a:gd name="connsiteY0" fmla="*/ 253752 h 253752"/>
                <a:gd name="connsiteX1" fmla="*/ 1626149 w 1626149"/>
                <a:gd name="connsiteY1" fmla="*/ 248809 h 253752"/>
              </a:gdLst>
              <a:ahLst/>
              <a:cxnLst>
                <a:cxn ang="0">
                  <a:pos x="connsiteX0" y="connsiteY0"/>
                </a:cxn>
                <a:cxn ang="0">
                  <a:pos x="connsiteX1" y="connsiteY1"/>
                </a:cxn>
              </a:cxnLst>
              <a:rect l="l" t="t" r="r" b="b"/>
              <a:pathLst>
                <a:path w="1626149" h="253752">
                  <a:moveTo>
                    <a:pt x="0" y="253752"/>
                  </a:moveTo>
                  <a:cubicBezTo>
                    <a:pt x="579944" y="-101299"/>
                    <a:pt x="1070918" y="-65876"/>
                    <a:pt x="1626149" y="248809"/>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77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48CA3-6930-4628-B241-1D4CA1A40ED4}"/>
              </a:ext>
            </a:extLst>
          </p:cNvPr>
          <p:cNvSpPr>
            <a:spLocks noGrp="1"/>
          </p:cNvSpPr>
          <p:nvPr>
            <p:ph type="title"/>
          </p:nvPr>
        </p:nvSpPr>
        <p:spPr/>
        <p:txBody>
          <a:bodyPr/>
          <a:lstStyle/>
          <a:p>
            <a:r>
              <a:rPr lang="en-US" dirty="0"/>
              <a:t>Malicious Security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84C7F2D-4B82-4814-A80C-9B30C11DC56C}"/>
                  </a:ext>
                </a:extLst>
              </p:cNvPr>
              <p:cNvSpPr>
                <a:spLocks noGrp="1"/>
              </p:cNvSpPr>
              <p:nvPr>
                <p:ph idx="1"/>
              </p:nvPr>
            </p:nvSpPr>
            <p:spPr>
              <a:xfrm>
                <a:off x="1451582" y="1694890"/>
                <a:ext cx="6606708" cy="4658285"/>
              </a:xfrm>
            </p:spPr>
            <p:txBody>
              <a:bodyPr/>
              <a:lstStyle/>
              <a:p>
                <a:r>
                  <a:rPr lang="en-US" dirty="0"/>
                  <a:t>We extend our semi-honest protocol to the malicious setting</a:t>
                </a:r>
              </a:p>
              <a:p>
                <a:r>
                  <a:rPr lang="en-US" dirty="0"/>
                  <a:t>If any </a:t>
                </a:r>
                <a:r>
                  <a:rPr lang="en-US" b="1" dirty="0"/>
                  <a:t>one</a:t>
                </a:r>
                <a:r>
                  <a:rPr lang="en-US" dirty="0"/>
                  <a:t> party tries to cheat, the protocol can detect it.</a:t>
                </a:r>
              </a:p>
              <a:p>
                <a:pPr lvl="1"/>
                <a:r>
                  <a:rPr lang="en-US" dirty="0"/>
                  <a:t>Leverage replicated secret sharing</a:t>
                </a:r>
              </a:p>
              <a:p>
                <a:endParaRPr lang="en-US" dirty="0"/>
              </a:p>
              <a:p>
                <a:r>
                  <a:rPr lang="en-US" dirty="0"/>
                  <a:t>Most operations roughly </a:t>
                </a:r>
                <a14:m>
                  <m:oMath xmlns:m="http://schemas.openxmlformats.org/officeDocument/2006/math">
                    <m:r>
                      <a:rPr lang="en-US" b="0" i="1" smtClean="0">
                        <a:latin typeface="Cambria Math" panose="02040503050406030204" pitchFamily="18" charset="0"/>
                      </a:rPr>
                      <m:t>4</m:t>
                    </m:r>
                  </m:oMath>
                </a14:m>
                <a:r>
                  <a:rPr lang="en-US" dirty="0"/>
                  <a:t> times more expensive</a:t>
                </a:r>
              </a:p>
            </p:txBody>
          </p:sp>
        </mc:Choice>
        <mc:Fallback>
          <p:sp>
            <p:nvSpPr>
              <p:cNvPr id="3" name="Content Placeholder 2">
                <a:extLst>
                  <a:ext uri="{FF2B5EF4-FFF2-40B4-BE49-F238E27FC236}">
                    <a16:creationId xmlns:a16="http://schemas.microsoft.com/office/drawing/2014/main" id="{584C7F2D-4B82-4814-A80C-9B30C11DC56C}"/>
                  </a:ext>
                </a:extLst>
              </p:cNvPr>
              <p:cNvSpPr>
                <a:spLocks noGrp="1" noRot="1" noChangeAspect="1" noMove="1" noResize="1" noEditPoints="1" noAdjustHandles="1" noChangeArrowheads="1" noChangeShapeType="1" noTextEdit="1"/>
              </p:cNvSpPr>
              <p:nvPr>
                <p:ph idx="1"/>
              </p:nvPr>
            </p:nvSpPr>
            <p:spPr>
              <a:xfrm>
                <a:off x="1451582" y="1694890"/>
                <a:ext cx="6606708" cy="4658285"/>
              </a:xfrm>
              <a:blipFill>
                <a:blip r:embed="rId2"/>
                <a:stretch>
                  <a:fillRect l="-1199" t="-262"/>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D50BCE7D-C168-46C8-9186-1451CB57E4C3}"/>
              </a:ext>
            </a:extLst>
          </p:cNvPr>
          <p:cNvSpPr/>
          <p:nvPr/>
        </p:nvSpPr>
        <p:spPr>
          <a:xfrm>
            <a:off x="9688021" y="4349530"/>
            <a:ext cx="1417877" cy="743111"/>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EA6972E-F436-4B54-BC74-D5A1FBBBED22}"/>
              </a:ext>
            </a:extLst>
          </p:cNvPr>
          <p:cNvSpPr/>
          <p:nvPr/>
        </p:nvSpPr>
        <p:spPr>
          <a:xfrm>
            <a:off x="8872649" y="5361011"/>
            <a:ext cx="1419694" cy="743111"/>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63A6593-5021-401C-B9AB-8406E9FE3BB7}"/>
              </a:ext>
            </a:extLst>
          </p:cNvPr>
          <p:cNvSpPr/>
          <p:nvPr/>
        </p:nvSpPr>
        <p:spPr>
          <a:xfrm>
            <a:off x="10550212" y="5348198"/>
            <a:ext cx="1409424" cy="743111"/>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http://mahdiz.com/images/visaresearch.png">
            <a:extLst>
              <a:ext uri="{FF2B5EF4-FFF2-40B4-BE49-F238E27FC236}">
                <a16:creationId xmlns:a16="http://schemas.microsoft.com/office/drawing/2014/main" id="{1814F6D9-EFAF-4A43-AEA0-C31DB5DB970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9627106" y="3799684"/>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Image result for amazon icon">
            <a:extLst>
              <a:ext uri="{FF2B5EF4-FFF2-40B4-BE49-F238E27FC236}">
                <a16:creationId xmlns:a16="http://schemas.microsoft.com/office/drawing/2014/main" id="{A845528C-4D32-4BFA-9E53-50FE244D9B9A}"/>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10958463" y="5938372"/>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Image result for bank of america">
            <a:extLst>
              <a:ext uri="{FF2B5EF4-FFF2-40B4-BE49-F238E27FC236}">
                <a16:creationId xmlns:a16="http://schemas.microsoft.com/office/drawing/2014/main" id="{9D080E22-86A8-4DCC-BB0E-181A47C01EC0}"/>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8266101" y="5932741"/>
            <a:ext cx="2231395" cy="10109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9B333E9-0D37-474A-8FC3-92ACE4A197BF}"/>
                  </a:ext>
                </a:extLst>
              </p:cNvPr>
              <p:cNvSpPr txBox="1"/>
              <p:nvPr>
                <p:extLst/>
              </p:nvPr>
            </p:nvSpPr>
            <p:spPr>
              <a:xfrm>
                <a:off x="8911716" y="5543684"/>
                <a:ext cx="110776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2</m:t>
                          </m:r>
                        </m:sub>
                      </m:sSub>
                    </m:oMath>
                  </m:oMathPara>
                </a14:m>
                <a:endParaRPr lang="en-US" sz="2800" dirty="0"/>
              </a:p>
            </p:txBody>
          </p:sp>
        </mc:Choice>
        <mc:Fallback xmlns="">
          <p:sp>
            <p:nvSpPr>
              <p:cNvPr id="10" name="TextBox 9">
                <a:extLst>
                  <a:ext uri="{FF2B5EF4-FFF2-40B4-BE49-F238E27FC236}">
                    <a16:creationId xmlns:a16="http://schemas.microsoft.com/office/drawing/2014/main" id="{89B333E9-0D37-474A-8FC3-92ACE4A197BF}"/>
                  </a:ext>
                </a:extLst>
              </p:cNvPr>
              <p:cNvSpPr txBox="1">
                <a:spLocks noRot="1" noChangeAspect="1" noMove="1" noResize="1" noEditPoints="1" noAdjustHandles="1" noChangeArrowheads="1" noChangeShapeType="1" noTextEdit="1"/>
              </p:cNvSpPr>
              <p:nvPr>
                <p:extLst/>
              </p:nvPr>
            </p:nvSpPr>
            <p:spPr>
              <a:xfrm>
                <a:off x="8911716" y="5543684"/>
                <a:ext cx="1107762" cy="523220"/>
              </a:xfrm>
              <a:prstGeom prst="rect">
                <a:avLst/>
              </a:prstGeom>
              <a:blipFill>
                <a:blip r:embed="rId9"/>
                <a:stretch>
                  <a:fillRect r="-219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ED9885C-E9B2-4062-BE19-0811145C9484}"/>
                  </a:ext>
                </a:extLst>
              </p:cNvPr>
              <p:cNvSpPr txBox="1"/>
              <p:nvPr>
                <p:extLst/>
              </p:nvPr>
            </p:nvSpPr>
            <p:spPr>
              <a:xfrm>
                <a:off x="10553502" y="5550175"/>
                <a:ext cx="1164116"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11" name="TextBox 10">
                <a:extLst>
                  <a:ext uri="{FF2B5EF4-FFF2-40B4-BE49-F238E27FC236}">
                    <a16:creationId xmlns:a16="http://schemas.microsoft.com/office/drawing/2014/main" id="{FED9885C-E9B2-4062-BE19-0811145C9484}"/>
                  </a:ext>
                </a:extLst>
              </p:cNvPr>
              <p:cNvSpPr txBox="1">
                <a:spLocks noRot="1" noChangeAspect="1" noMove="1" noResize="1" noEditPoints="1" noAdjustHandles="1" noChangeArrowheads="1" noChangeShapeType="1" noTextEdit="1"/>
              </p:cNvSpPr>
              <p:nvPr>
                <p:extLst/>
              </p:nvPr>
            </p:nvSpPr>
            <p:spPr>
              <a:xfrm>
                <a:off x="10553502" y="5550175"/>
                <a:ext cx="1164116" cy="523220"/>
              </a:xfrm>
              <a:prstGeom prst="rect">
                <a:avLst/>
              </a:prstGeom>
              <a:blipFill>
                <a:blip r:embed="rId10"/>
                <a:stretch>
                  <a:fillRect r="-1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D45756-4213-4E1C-BF77-97A525A81588}"/>
                  </a:ext>
                </a:extLst>
              </p:cNvPr>
              <p:cNvSpPr txBox="1"/>
              <p:nvPr>
                <p:extLst/>
              </p:nvPr>
            </p:nvSpPr>
            <p:spPr>
              <a:xfrm>
                <a:off x="9709127" y="4207170"/>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12" name="TextBox 11">
                <a:extLst>
                  <a:ext uri="{FF2B5EF4-FFF2-40B4-BE49-F238E27FC236}">
                    <a16:creationId xmlns:a16="http://schemas.microsoft.com/office/drawing/2014/main" id="{D9D45756-4213-4E1C-BF77-97A525A81588}"/>
                  </a:ext>
                </a:extLst>
              </p:cNvPr>
              <p:cNvSpPr txBox="1">
                <a:spLocks noRot="1" noChangeAspect="1" noMove="1" noResize="1" noEditPoints="1" noAdjustHandles="1" noChangeArrowheads="1" noChangeShapeType="1" noTextEdit="1"/>
              </p:cNvSpPr>
              <p:nvPr>
                <p:extLst/>
              </p:nvPr>
            </p:nvSpPr>
            <p:spPr>
              <a:xfrm>
                <a:off x="9709127" y="4207170"/>
                <a:ext cx="1241509" cy="523220"/>
              </a:xfrm>
              <a:prstGeom prst="rect">
                <a:avLst/>
              </a:prstGeom>
              <a:blipFill>
                <a:blip r:embed="rId11"/>
                <a:stretch>
                  <a:fillRect r="-7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C9EEB08-6517-4E60-B665-03AA6AFBBD6E}"/>
                  </a:ext>
                </a:extLst>
              </p:cNvPr>
              <p:cNvSpPr txBox="1"/>
              <p:nvPr>
                <p:extLst/>
              </p:nvPr>
            </p:nvSpPr>
            <p:spPr>
              <a:xfrm>
                <a:off x="10550212" y="5221054"/>
                <a:ext cx="1155560"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oMath>
                  </m:oMathPara>
                </a14:m>
                <a:endParaRPr lang="en-US" sz="2800" dirty="0"/>
              </a:p>
            </p:txBody>
          </p:sp>
        </mc:Choice>
        <mc:Fallback xmlns="">
          <p:sp>
            <p:nvSpPr>
              <p:cNvPr id="13" name="TextBox 12">
                <a:extLst>
                  <a:ext uri="{FF2B5EF4-FFF2-40B4-BE49-F238E27FC236}">
                    <a16:creationId xmlns:a16="http://schemas.microsoft.com/office/drawing/2014/main" id="{9C9EEB08-6517-4E60-B665-03AA6AFBBD6E}"/>
                  </a:ext>
                </a:extLst>
              </p:cNvPr>
              <p:cNvSpPr txBox="1">
                <a:spLocks noRot="1" noChangeAspect="1" noMove="1" noResize="1" noEditPoints="1" noAdjustHandles="1" noChangeArrowheads="1" noChangeShapeType="1" noTextEdit="1"/>
              </p:cNvSpPr>
              <p:nvPr>
                <p:extLst/>
              </p:nvPr>
            </p:nvSpPr>
            <p:spPr>
              <a:xfrm>
                <a:off x="10550212" y="5221054"/>
                <a:ext cx="1155560"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E4667F3-85EB-4494-B0BC-0D4526EBFD1B}"/>
                  </a:ext>
                </a:extLst>
              </p:cNvPr>
              <p:cNvSpPr txBox="1"/>
              <p:nvPr>
                <p:extLst/>
              </p:nvPr>
            </p:nvSpPr>
            <p:spPr>
              <a:xfrm>
                <a:off x="9697281" y="4569768"/>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oMath>
                  </m:oMathPara>
                </a14:m>
                <a:endParaRPr lang="en-US" sz="2800" dirty="0"/>
              </a:p>
            </p:txBody>
          </p:sp>
        </mc:Choice>
        <mc:Fallback xmlns="">
          <p:sp>
            <p:nvSpPr>
              <p:cNvPr id="14" name="TextBox 13">
                <a:extLst>
                  <a:ext uri="{FF2B5EF4-FFF2-40B4-BE49-F238E27FC236}">
                    <a16:creationId xmlns:a16="http://schemas.microsoft.com/office/drawing/2014/main" id="{5E4667F3-85EB-4494-B0BC-0D4526EBFD1B}"/>
                  </a:ext>
                </a:extLst>
              </p:cNvPr>
              <p:cNvSpPr txBox="1">
                <a:spLocks noRot="1" noChangeAspect="1" noMove="1" noResize="1" noEditPoints="1" noAdjustHandles="1" noChangeArrowheads="1" noChangeShapeType="1" noTextEdit="1"/>
              </p:cNvSpPr>
              <p:nvPr>
                <p:extLst/>
              </p:nvPr>
            </p:nvSpPr>
            <p:spPr>
              <a:xfrm>
                <a:off x="9697281" y="4569768"/>
                <a:ext cx="1241509"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58754C2-6341-4848-B134-A96CE89D3EF9}"/>
                  </a:ext>
                </a:extLst>
              </p:cNvPr>
              <p:cNvSpPr txBox="1"/>
              <p:nvPr>
                <p:extLst/>
              </p:nvPr>
            </p:nvSpPr>
            <p:spPr>
              <a:xfrm>
                <a:off x="8911716" y="5223887"/>
                <a:ext cx="111105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oMath>
                  </m:oMathPara>
                </a14:m>
                <a:endParaRPr lang="en-US" sz="2800" dirty="0"/>
              </a:p>
            </p:txBody>
          </p:sp>
        </mc:Choice>
        <mc:Fallback xmlns="">
          <p:sp>
            <p:nvSpPr>
              <p:cNvPr id="15" name="TextBox 14">
                <a:extLst>
                  <a:ext uri="{FF2B5EF4-FFF2-40B4-BE49-F238E27FC236}">
                    <a16:creationId xmlns:a16="http://schemas.microsoft.com/office/drawing/2014/main" id="{958754C2-6341-4848-B134-A96CE89D3EF9}"/>
                  </a:ext>
                </a:extLst>
              </p:cNvPr>
              <p:cNvSpPr txBox="1">
                <a:spLocks noRot="1" noChangeAspect="1" noMove="1" noResize="1" noEditPoints="1" noAdjustHandles="1" noChangeArrowheads="1" noChangeShapeType="1" noTextEdit="1"/>
              </p:cNvSpPr>
              <p:nvPr>
                <p:extLst/>
              </p:nvPr>
            </p:nvSpPr>
            <p:spPr>
              <a:xfrm>
                <a:off x="8911716" y="5223887"/>
                <a:ext cx="1111052"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2F4DAE78-1988-439A-90A6-931A72EB6E57}"/>
                  </a:ext>
                </a:extLst>
              </p:cNvPr>
              <p:cNvSpPr/>
              <p:nvPr/>
            </p:nvSpPr>
            <p:spPr>
              <a:xfrm>
                <a:off x="11450712" y="5230011"/>
                <a:ext cx="6155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a:latin typeface="Cambria Math" panose="02040503050406030204" pitchFamily="18" charset="0"/>
                            </a:rPr>
                          </m:ctrlPr>
                        </m:sSubPr>
                        <m:e>
                          <m:r>
                            <a:rPr lang="en-US" sz="2800" i="1" dirty="0">
                              <a:latin typeface="Cambria Math" panose="02040503050406030204" pitchFamily="18" charset="0"/>
                            </a:rPr>
                            <m:t>𝑧</m:t>
                          </m:r>
                        </m:e>
                        <m:sub>
                          <m:r>
                            <a:rPr lang="en-US" sz="2800" i="1" dirty="0">
                              <a:latin typeface="Cambria Math" panose="02040503050406030204" pitchFamily="18" charset="0"/>
                            </a:rPr>
                            <m:t>2</m:t>
                          </m:r>
                        </m:sub>
                      </m:sSub>
                    </m:oMath>
                  </m:oMathPara>
                </a14:m>
                <a:endParaRPr lang="en-US" sz="2800" dirty="0"/>
              </a:p>
            </p:txBody>
          </p:sp>
        </mc:Choice>
        <mc:Fallback xmlns="">
          <p:sp>
            <p:nvSpPr>
              <p:cNvPr id="16" name="Rectangle 15">
                <a:extLst>
                  <a:ext uri="{FF2B5EF4-FFF2-40B4-BE49-F238E27FC236}">
                    <a16:creationId xmlns:a16="http://schemas.microsoft.com/office/drawing/2014/main" id="{2F4DAE78-1988-439A-90A6-931A72EB6E57}"/>
                  </a:ext>
                </a:extLst>
              </p:cNvPr>
              <p:cNvSpPr>
                <a:spLocks noRot="1" noChangeAspect="1" noMove="1" noResize="1" noEditPoints="1" noAdjustHandles="1" noChangeArrowheads="1" noChangeShapeType="1" noTextEdit="1"/>
              </p:cNvSpPr>
              <p:nvPr/>
            </p:nvSpPr>
            <p:spPr>
              <a:xfrm>
                <a:off x="11450712" y="5230011"/>
                <a:ext cx="615553" cy="52322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914E250-ABC2-41A3-AB48-9AA0733ED675}"/>
                  </a:ext>
                </a:extLst>
              </p:cNvPr>
              <p:cNvSpPr/>
              <p:nvPr/>
            </p:nvSpPr>
            <p:spPr>
              <a:xfrm>
                <a:off x="10614894" y="4595924"/>
                <a:ext cx="6155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𝑧</m:t>
                          </m:r>
                        </m:e>
                        <m:sub>
                          <m:r>
                            <a:rPr lang="en-US" sz="2800" b="0" i="1" dirty="0" smtClean="0">
                              <a:latin typeface="Cambria Math" panose="02040503050406030204" pitchFamily="18" charset="0"/>
                            </a:rPr>
                            <m:t>3</m:t>
                          </m:r>
                        </m:sub>
                      </m:sSub>
                    </m:oMath>
                  </m:oMathPara>
                </a14:m>
                <a:endParaRPr lang="en-US" sz="2800" dirty="0"/>
              </a:p>
            </p:txBody>
          </p:sp>
        </mc:Choice>
        <mc:Fallback xmlns="">
          <p:sp>
            <p:nvSpPr>
              <p:cNvPr id="17" name="Rectangle 16">
                <a:extLst>
                  <a:ext uri="{FF2B5EF4-FFF2-40B4-BE49-F238E27FC236}">
                    <a16:creationId xmlns:a16="http://schemas.microsoft.com/office/drawing/2014/main" id="{9914E250-ABC2-41A3-AB48-9AA0733ED675}"/>
                  </a:ext>
                </a:extLst>
              </p:cNvPr>
              <p:cNvSpPr>
                <a:spLocks noRot="1" noChangeAspect="1" noMove="1" noResize="1" noEditPoints="1" noAdjustHandles="1" noChangeArrowheads="1" noChangeShapeType="1" noTextEdit="1"/>
              </p:cNvSpPr>
              <p:nvPr/>
            </p:nvSpPr>
            <p:spPr>
              <a:xfrm>
                <a:off x="10614894" y="4595924"/>
                <a:ext cx="615553" cy="52322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C28F05C9-1333-4C35-A4D4-292896072365}"/>
                  </a:ext>
                </a:extLst>
              </p:cNvPr>
              <p:cNvSpPr/>
              <p:nvPr/>
            </p:nvSpPr>
            <p:spPr>
              <a:xfrm>
                <a:off x="9803633" y="5249118"/>
                <a:ext cx="60728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𝑧</m:t>
                          </m:r>
                        </m:e>
                        <m:sub>
                          <m:r>
                            <a:rPr lang="en-US" sz="2800" b="0" i="1" dirty="0" smtClean="0">
                              <a:latin typeface="Cambria Math" panose="02040503050406030204" pitchFamily="18" charset="0"/>
                            </a:rPr>
                            <m:t>1</m:t>
                          </m:r>
                        </m:sub>
                      </m:sSub>
                    </m:oMath>
                  </m:oMathPara>
                </a14:m>
                <a:endParaRPr lang="en-US" sz="2800" dirty="0"/>
              </a:p>
            </p:txBody>
          </p:sp>
        </mc:Choice>
        <mc:Fallback xmlns="">
          <p:sp>
            <p:nvSpPr>
              <p:cNvPr id="18" name="Rectangle 17">
                <a:extLst>
                  <a:ext uri="{FF2B5EF4-FFF2-40B4-BE49-F238E27FC236}">
                    <a16:creationId xmlns:a16="http://schemas.microsoft.com/office/drawing/2014/main" id="{C28F05C9-1333-4C35-A4D4-292896072365}"/>
                  </a:ext>
                </a:extLst>
              </p:cNvPr>
              <p:cNvSpPr>
                <a:spLocks noRot="1" noChangeAspect="1" noMove="1" noResize="1" noEditPoints="1" noAdjustHandles="1" noChangeArrowheads="1" noChangeShapeType="1" noTextEdit="1"/>
              </p:cNvSpPr>
              <p:nvPr/>
            </p:nvSpPr>
            <p:spPr>
              <a:xfrm>
                <a:off x="9803633" y="5249118"/>
                <a:ext cx="607282" cy="523220"/>
              </a:xfrm>
              <a:prstGeom prst="rect">
                <a:avLst/>
              </a:prstGeom>
              <a:blipFill>
                <a:blip r:embed="rId1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7904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85757-2154-4341-A3F8-F5EBF08AD1F4}"/>
              </a:ext>
            </a:extLst>
          </p:cNvPr>
          <p:cNvSpPr>
            <a:spLocks noGrp="1"/>
          </p:cNvSpPr>
          <p:nvPr>
            <p:ph type="title"/>
          </p:nvPr>
        </p:nvSpPr>
        <p:spPr/>
        <p:txBody>
          <a:bodyPr/>
          <a:lstStyle/>
          <a:p>
            <a:r>
              <a:rPr lang="en-US" dirty="0"/>
              <a:t>Application: Machine Learning </a:t>
            </a:r>
          </a:p>
        </p:txBody>
      </p:sp>
    </p:spTree>
    <p:extLst>
      <p:ext uri="{BB962C8B-B14F-4D97-AF65-F5344CB8AC3E}">
        <p14:creationId xmlns:p14="http://schemas.microsoft.com/office/powerpoint/2010/main" val="1179245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extLst/>
          </p:nvPr>
        </p:nvSpPr>
        <p:spPr/>
        <p:txBody>
          <a:bodyPr/>
          <a:lstStyle/>
          <a:p>
            <a:r>
              <a:rPr lang="en-US" dirty="0"/>
              <a:t>Linear Regression on</a:t>
            </a:r>
            <a:r>
              <a:rPr lang="en-US" dirty="0">
                <a:solidFill>
                  <a:srgbClr val="404040"/>
                </a:solidFill>
              </a:rPr>
              <a:t> Shared Data</a:t>
            </a:r>
            <a:endParaRPr lang="en-US" dirty="0">
              <a:solidFill>
                <a:schemeClr val="tx1"/>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extLst/>
              </p:nvPr>
            </p:nvSpPr>
            <p:spPr>
              <a:xfrm>
                <a:off x="1450975" y="1695450"/>
                <a:ext cx="6340159" cy="5162550"/>
              </a:xfrm>
            </p:spPr>
            <p:txBody>
              <a:bodyPr>
                <a:noAutofit/>
              </a:bodyPr>
              <a:lstStyle/>
              <a:p>
                <a:r>
                  <a:rPr lang="en-US" dirty="0"/>
                  <a:t>Given, </a:t>
                </a:r>
                <a14:m>
                  <m:oMath xmlns:m="http://schemas.openxmlformats.org/officeDocument/2006/math">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4"/>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𝑥</m:t>
                                  </m:r>
                                </m:e>
                                <m:sub>
                                  <m:r>
                                    <m:rPr>
                                      <m:brk m:alnAt="7"/>
                                    </m:rPr>
                                    <a:rPr lang="en-US" b="0" i="1" smtClean="0">
                                      <a:latin typeface="Cambria Math" panose="02040503050406030204" pitchFamily="18" charset="0"/>
                                    </a:rPr>
                                    <m:t>1</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12</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𝑑</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22</m:t>
                                  </m:r>
                                </m:sub>
                              </m:sSub>
                            </m:e>
                            <m:e>
                              <m:r>
                                <a:rPr lang="en-US" i="1">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𝑑</m:t>
                                  </m:r>
                                </m:sub>
                              </m:sSub>
                            </m:e>
                          </m:mr>
                          <m:mr>
                            <m:e>
                              <m:r>
                                <a:rPr lang="en-US" i="1">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2</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𝑛𝑑</m:t>
                                  </m:r>
                                </m:sub>
                              </m:sSub>
                            </m:e>
                          </m:mr>
                        </m:m>
                      </m:e>
                    </m:d>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a:t>
                </a:r>
                <a14:m>
                  <m:oMath xmlns:m="http://schemas.openxmlformats.org/officeDocument/2006/math">
                    <m:d>
                      <m:dPr>
                        <m:begChr m:val="["/>
                        <m:endChr m:val="]"/>
                        <m:ctrlPr>
                          <a:rPr lang="en-US" i="1">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e>
                          <m:e>
                            <m:r>
                              <a:rPr lang="en-US" i="1">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eqArr>
                      </m:e>
                    </m:d>
                  </m:oMath>
                </a14:m>
                <a:endParaRPr lang="en-US" dirty="0"/>
              </a:p>
              <a:p>
                <a:r>
                  <a:rPr lang="en-US" dirty="0"/>
                  <a:t>Find a linear function </a:t>
                </a:r>
                <a14:m>
                  <m:oMath xmlns:m="http://schemas.openxmlformats.org/officeDocument/2006/math">
                    <m:r>
                      <a:rPr lang="en-US" b="0" i="1" smtClean="0">
                        <a:latin typeface="Cambria Math" panose="02040503050406030204" pitchFamily="18" charset="0"/>
                      </a:rPr>
                      <m:t>𝑓</m:t>
                    </m:r>
                  </m:oMath>
                </a14:m>
                <a:r>
                  <a:rPr lang="en-US" dirty="0"/>
                  <a:t> </a:t>
                </a:r>
                <a:r>
                  <a:rPr lang="en-US" dirty="0" err="1"/>
                  <a:t>s.t.</a:t>
                </a:r>
                <a:r>
                  <a:rPr lang="en-US" dirty="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endParaRPr lang="en-US" dirty="0"/>
              </a:p>
              <a:p>
                <a:endParaRPr lang="en-US" b="1" dirty="0"/>
              </a:p>
            </p:txBody>
          </p:sp>
        </mc:Choice>
        <mc:Fallback>
          <p:sp>
            <p:nvSpPr>
              <p:cNvPr id="3" name="Content Placeholder 2"/>
              <p:cNvSpPr>
                <a:spLocks noGrp="1" noRot="1" noChangeAspect="1" noMove="1" noResize="1" noEditPoints="1" noAdjustHandles="1" noChangeArrowheads="1" noChangeShapeType="1" noTextEdit="1"/>
              </p:cNvSpPr>
              <p:nvPr>
                <p:ph idx="1"/>
                <p:extLst/>
              </p:nvPr>
            </p:nvSpPr>
            <p:spPr>
              <a:xfrm>
                <a:off x="1450975" y="1695450"/>
                <a:ext cx="6340159" cy="5162550"/>
              </a:xfrm>
              <a:blipFill>
                <a:blip r:embed="rId2"/>
                <a:stretch>
                  <a:fillRect l="-1250"/>
                </a:stretch>
              </a:blipFill>
            </p:spPr>
            <p:txBody>
              <a:bodyPr/>
              <a:lstStyle/>
              <a:p>
                <a:r>
                  <a:rPr lang="en-US">
                    <a:noFill/>
                  </a:rPr>
                  <a:t> </a:t>
                </a:r>
              </a:p>
            </p:txBody>
          </p:sp>
        </mc:Fallback>
      </mc:AlternateContent>
      <p:grpSp>
        <p:nvGrpSpPr>
          <p:cNvPr id="52" name="Group 51">
            <a:extLst>
              <a:ext uri="{FF2B5EF4-FFF2-40B4-BE49-F238E27FC236}">
                <a16:creationId xmlns:a16="http://schemas.microsoft.com/office/drawing/2014/main" id="{52EDAE40-846F-47A7-B7B1-9315EF869593}"/>
              </a:ext>
            </a:extLst>
          </p:cNvPr>
          <p:cNvGrpSpPr/>
          <p:nvPr/>
        </p:nvGrpSpPr>
        <p:grpSpPr>
          <a:xfrm>
            <a:off x="8516232" y="1278997"/>
            <a:ext cx="3846563" cy="2588938"/>
            <a:chOff x="6583815" y="2672420"/>
            <a:chExt cx="3846563" cy="2588938"/>
          </a:xfrm>
        </p:grpSpPr>
        <p:cxnSp>
          <p:nvCxnSpPr>
            <p:cNvPr id="4" name="Straight Arrow Connector 3">
              <a:extLst>
                <a:ext uri="{FF2B5EF4-FFF2-40B4-BE49-F238E27FC236}">
                  <a16:creationId xmlns:a16="http://schemas.microsoft.com/office/drawing/2014/main" id="{F908CB77-E827-4160-92DE-48E9DB4AF353}"/>
                </a:ext>
              </a:extLst>
            </p:cNvPr>
            <p:cNvCxnSpPr/>
            <p:nvPr/>
          </p:nvCxnSpPr>
          <p:spPr>
            <a:xfrm>
              <a:off x="6713306" y="5076630"/>
              <a:ext cx="32515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381DC972-6128-42A2-A547-FBF77A8B42B8}"/>
                </a:ext>
              </a:extLst>
            </p:cNvPr>
            <p:cNvCxnSpPr/>
            <p:nvPr/>
          </p:nvCxnSpPr>
          <p:spPr>
            <a:xfrm flipV="1">
              <a:off x="6713306" y="3169698"/>
              <a:ext cx="0" cy="19069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Oval 5">
              <a:extLst>
                <a:ext uri="{FF2B5EF4-FFF2-40B4-BE49-F238E27FC236}">
                  <a16:creationId xmlns:a16="http://schemas.microsoft.com/office/drawing/2014/main" id="{AE5A444A-3AFA-4C0E-ADC3-FA5DA480F149}"/>
                </a:ext>
              </a:extLst>
            </p:cNvPr>
            <p:cNvSpPr/>
            <p:nvPr/>
          </p:nvSpPr>
          <p:spPr>
            <a:xfrm>
              <a:off x="8059420" y="4320720"/>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B472F10-4B72-490F-B94D-25EEB8EB8791}"/>
                </a:ext>
              </a:extLst>
            </p:cNvPr>
            <p:cNvSpPr/>
            <p:nvPr/>
          </p:nvSpPr>
          <p:spPr>
            <a:xfrm>
              <a:off x="6904892" y="491338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323CEED-CD6A-4A8F-9110-DF3EEEEF2921}"/>
                </a:ext>
              </a:extLst>
            </p:cNvPr>
            <p:cNvSpPr/>
            <p:nvPr/>
          </p:nvSpPr>
          <p:spPr>
            <a:xfrm>
              <a:off x="8223608" y="407257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E7484DB-F748-4185-B96F-ACA7E5DE2DE3}"/>
                </a:ext>
              </a:extLst>
            </p:cNvPr>
            <p:cNvSpPr/>
            <p:nvPr/>
          </p:nvSpPr>
          <p:spPr>
            <a:xfrm>
              <a:off x="7009943" y="478215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7F2E93E-6B86-443B-B5D6-F2CCA5291804}"/>
                </a:ext>
              </a:extLst>
            </p:cNvPr>
            <p:cNvSpPr/>
            <p:nvPr/>
          </p:nvSpPr>
          <p:spPr>
            <a:xfrm>
              <a:off x="7108363" y="476433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06808CE-F195-43B1-AB32-7AA6C5E1C0F2}"/>
                </a:ext>
              </a:extLst>
            </p:cNvPr>
            <p:cNvSpPr/>
            <p:nvPr/>
          </p:nvSpPr>
          <p:spPr>
            <a:xfrm>
              <a:off x="7164539" y="485635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768D0DB-9899-44A1-BB8D-EF0E44178BDE}"/>
                </a:ext>
              </a:extLst>
            </p:cNvPr>
            <p:cNvSpPr/>
            <p:nvPr/>
          </p:nvSpPr>
          <p:spPr>
            <a:xfrm>
              <a:off x="7245202" y="466175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A493CA0-7952-47DE-849A-961578B269FA}"/>
                </a:ext>
              </a:extLst>
            </p:cNvPr>
            <p:cNvSpPr/>
            <p:nvPr/>
          </p:nvSpPr>
          <p:spPr>
            <a:xfrm>
              <a:off x="7318991" y="475101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40A7848-0EBA-4122-86B2-6FCE9B6BBAD1}"/>
                </a:ext>
              </a:extLst>
            </p:cNvPr>
            <p:cNvSpPr/>
            <p:nvPr/>
          </p:nvSpPr>
          <p:spPr>
            <a:xfrm>
              <a:off x="7334361" y="458655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057E4A-5470-4C71-A1F6-1B18CF674D46}"/>
                </a:ext>
              </a:extLst>
            </p:cNvPr>
            <p:cNvSpPr/>
            <p:nvPr/>
          </p:nvSpPr>
          <p:spPr>
            <a:xfrm>
              <a:off x="7441251" y="465056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E68F983-8AC1-471F-B8E6-2EAED14D8C20}"/>
                </a:ext>
              </a:extLst>
            </p:cNvPr>
            <p:cNvSpPr/>
            <p:nvPr/>
          </p:nvSpPr>
          <p:spPr>
            <a:xfrm>
              <a:off x="7440153" y="4561761"/>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B90C935-65D4-48BA-ABDC-6082E7E1E6EA}"/>
                </a:ext>
              </a:extLst>
            </p:cNvPr>
            <p:cNvSpPr/>
            <p:nvPr/>
          </p:nvSpPr>
          <p:spPr>
            <a:xfrm>
              <a:off x="7689108" y="451497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2C0BB1C-C12A-4A28-9AC6-E8C31E486204}"/>
                </a:ext>
              </a:extLst>
            </p:cNvPr>
            <p:cNvSpPr/>
            <p:nvPr/>
          </p:nvSpPr>
          <p:spPr>
            <a:xfrm>
              <a:off x="7909597" y="432944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28650A8-1298-4ACD-A990-1BF81E1B14C3}"/>
                </a:ext>
              </a:extLst>
            </p:cNvPr>
            <p:cNvSpPr/>
            <p:nvPr/>
          </p:nvSpPr>
          <p:spPr>
            <a:xfrm>
              <a:off x="7728652" y="422136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6BC5BC8-48C4-450D-AB06-EC77314185FB}"/>
                </a:ext>
              </a:extLst>
            </p:cNvPr>
            <p:cNvSpPr/>
            <p:nvPr/>
          </p:nvSpPr>
          <p:spPr>
            <a:xfrm>
              <a:off x="7714188" y="435834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A060C65-9CC5-42C2-9B9A-23019E09844E}"/>
                </a:ext>
              </a:extLst>
            </p:cNvPr>
            <p:cNvSpPr/>
            <p:nvPr/>
          </p:nvSpPr>
          <p:spPr>
            <a:xfrm>
              <a:off x="7925108" y="422136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FC4347B-3C74-4C6F-86FD-BF01A9EE9592}"/>
                </a:ext>
              </a:extLst>
            </p:cNvPr>
            <p:cNvSpPr/>
            <p:nvPr/>
          </p:nvSpPr>
          <p:spPr>
            <a:xfrm>
              <a:off x="7997226" y="442470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A7302AF-6C06-49EF-A66C-AE9EA38462F3}"/>
                </a:ext>
              </a:extLst>
            </p:cNvPr>
            <p:cNvSpPr/>
            <p:nvPr/>
          </p:nvSpPr>
          <p:spPr>
            <a:xfrm>
              <a:off x="7925108" y="443958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FA0EE00-585E-4895-9984-B771DC6A6649}"/>
                </a:ext>
              </a:extLst>
            </p:cNvPr>
            <p:cNvSpPr/>
            <p:nvPr/>
          </p:nvSpPr>
          <p:spPr>
            <a:xfrm>
              <a:off x="8090492" y="418948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FD40290-D781-4816-8CD8-AE8D5BA04856}"/>
                </a:ext>
              </a:extLst>
            </p:cNvPr>
            <p:cNvSpPr/>
            <p:nvPr/>
          </p:nvSpPr>
          <p:spPr>
            <a:xfrm>
              <a:off x="7956179" y="409279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5C84B5E-9E4C-4C22-9E21-DF0BF53DB689}"/>
                </a:ext>
              </a:extLst>
            </p:cNvPr>
            <p:cNvSpPr/>
            <p:nvPr/>
          </p:nvSpPr>
          <p:spPr>
            <a:xfrm>
              <a:off x="6998489" y="49025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9662F74-691A-4412-854F-57711870125F}"/>
                </a:ext>
              </a:extLst>
            </p:cNvPr>
            <p:cNvSpPr/>
            <p:nvPr/>
          </p:nvSpPr>
          <p:spPr>
            <a:xfrm>
              <a:off x="7615128" y="445096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667895D-41E8-4C0E-A09B-7530046609F6}"/>
                </a:ext>
              </a:extLst>
            </p:cNvPr>
            <p:cNvSpPr/>
            <p:nvPr/>
          </p:nvSpPr>
          <p:spPr>
            <a:xfrm>
              <a:off x="8355293" y="394133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0ACB765-E04E-4B5B-AD66-145B63D37063}"/>
                </a:ext>
              </a:extLst>
            </p:cNvPr>
            <p:cNvSpPr/>
            <p:nvPr/>
          </p:nvSpPr>
          <p:spPr>
            <a:xfrm>
              <a:off x="6998489" y="49025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01F8BDA-CD4E-463D-B4C2-5BC500CDC1CA}"/>
                </a:ext>
              </a:extLst>
            </p:cNvPr>
            <p:cNvSpPr/>
            <p:nvPr/>
          </p:nvSpPr>
          <p:spPr>
            <a:xfrm>
              <a:off x="8174398" y="393043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5812307-773B-456F-9F34-5E9881F794F9}"/>
                </a:ext>
              </a:extLst>
            </p:cNvPr>
            <p:cNvSpPr txBox="1"/>
            <p:nvPr/>
          </p:nvSpPr>
          <p:spPr>
            <a:xfrm>
              <a:off x="9942106" y="4892026"/>
              <a:ext cx="488272" cy="369332"/>
            </a:xfrm>
            <a:prstGeom prst="rect">
              <a:avLst/>
            </a:prstGeom>
            <a:noFill/>
          </p:spPr>
          <p:txBody>
            <a:bodyPr wrap="square" rtlCol="0">
              <a:spAutoFit/>
            </a:bodyPr>
            <a:lstStyle/>
            <a:p>
              <a:r>
                <a:rPr lang="en-US" i="1" dirty="0"/>
                <a:t>x</a:t>
              </a:r>
            </a:p>
          </p:txBody>
        </p:sp>
        <p:sp>
          <p:nvSpPr>
            <p:cNvPr id="32" name="TextBox 31">
              <a:extLst>
                <a:ext uri="{FF2B5EF4-FFF2-40B4-BE49-F238E27FC236}">
                  <a16:creationId xmlns:a16="http://schemas.microsoft.com/office/drawing/2014/main" id="{CD0749A5-6B4A-4A55-B214-66B92E79943A}"/>
                </a:ext>
              </a:extLst>
            </p:cNvPr>
            <p:cNvSpPr txBox="1"/>
            <p:nvPr/>
          </p:nvSpPr>
          <p:spPr>
            <a:xfrm>
              <a:off x="6583815" y="2672420"/>
              <a:ext cx="488272" cy="369332"/>
            </a:xfrm>
            <a:prstGeom prst="rect">
              <a:avLst/>
            </a:prstGeom>
            <a:noFill/>
          </p:spPr>
          <p:txBody>
            <a:bodyPr wrap="square" rtlCol="0">
              <a:spAutoFit/>
            </a:bodyPr>
            <a:lstStyle/>
            <a:p>
              <a:r>
                <a:rPr lang="en-US" i="1" dirty="0"/>
                <a:t>y</a:t>
              </a:r>
            </a:p>
          </p:txBody>
        </p:sp>
        <p:cxnSp>
          <p:nvCxnSpPr>
            <p:cNvPr id="33" name="Straight Connector 32">
              <a:extLst>
                <a:ext uri="{FF2B5EF4-FFF2-40B4-BE49-F238E27FC236}">
                  <a16:creationId xmlns:a16="http://schemas.microsoft.com/office/drawing/2014/main" id="{840474B3-E7F5-47A7-95F3-5226CB7D391F}"/>
                </a:ext>
              </a:extLst>
            </p:cNvPr>
            <p:cNvCxnSpPr/>
            <p:nvPr/>
          </p:nvCxnSpPr>
          <p:spPr>
            <a:xfrm flipV="1">
              <a:off x="6797272" y="3369267"/>
              <a:ext cx="2954478" cy="16081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8DFBCCDC-3880-496E-80C4-00723485C690}"/>
                </a:ext>
              </a:extLst>
            </p:cNvPr>
            <p:cNvSpPr/>
            <p:nvPr/>
          </p:nvSpPr>
          <p:spPr>
            <a:xfrm>
              <a:off x="8795800" y="361257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387387F-9E2B-4DB5-BCE3-2E8F813EEABE}"/>
                </a:ext>
              </a:extLst>
            </p:cNvPr>
            <p:cNvSpPr/>
            <p:nvPr/>
          </p:nvSpPr>
          <p:spPr>
            <a:xfrm>
              <a:off x="8300844" y="376136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AB88104-A610-4882-83B1-BAFB10E3D11B}"/>
                </a:ext>
              </a:extLst>
            </p:cNvPr>
            <p:cNvSpPr/>
            <p:nvPr/>
          </p:nvSpPr>
          <p:spPr>
            <a:xfrm>
              <a:off x="8497300" y="376136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5244D2D-4AE8-4C6E-8B17-DB32340B2A65}"/>
                </a:ext>
              </a:extLst>
            </p:cNvPr>
            <p:cNvSpPr/>
            <p:nvPr/>
          </p:nvSpPr>
          <p:spPr>
            <a:xfrm>
              <a:off x="8662684" y="372948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D83ACBC-8509-438F-9908-69510E497488}"/>
                </a:ext>
              </a:extLst>
            </p:cNvPr>
            <p:cNvSpPr/>
            <p:nvPr/>
          </p:nvSpPr>
          <p:spPr>
            <a:xfrm>
              <a:off x="8528371" y="363280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040E25AC-8075-4D94-86BC-F4693E462BFC}"/>
                </a:ext>
              </a:extLst>
            </p:cNvPr>
            <p:cNvSpPr/>
            <p:nvPr/>
          </p:nvSpPr>
          <p:spPr>
            <a:xfrm>
              <a:off x="8746590" y="347043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56B6A86-5E52-4424-B427-8B302E40B363}"/>
                </a:ext>
              </a:extLst>
            </p:cNvPr>
            <p:cNvSpPr/>
            <p:nvPr/>
          </p:nvSpPr>
          <p:spPr>
            <a:xfrm>
              <a:off x="9202774" y="369872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E600E588-3DA9-4075-9403-EAECD0A221A4}"/>
                </a:ext>
              </a:extLst>
            </p:cNvPr>
            <p:cNvSpPr/>
            <p:nvPr/>
          </p:nvSpPr>
          <p:spPr>
            <a:xfrm>
              <a:off x="8707818" y="384751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827AA04-44EB-4940-BE3D-9121AAAA231A}"/>
                </a:ext>
              </a:extLst>
            </p:cNvPr>
            <p:cNvSpPr/>
            <p:nvPr/>
          </p:nvSpPr>
          <p:spPr>
            <a:xfrm>
              <a:off x="8904274" y="384751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0939681-4376-4F22-AED0-997AC41010E5}"/>
                </a:ext>
              </a:extLst>
            </p:cNvPr>
            <p:cNvSpPr/>
            <p:nvPr/>
          </p:nvSpPr>
          <p:spPr>
            <a:xfrm>
              <a:off x="9069658" y="381563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9F93EBD-A890-44AC-9A7C-C2AD2768EB34}"/>
                </a:ext>
              </a:extLst>
            </p:cNvPr>
            <p:cNvSpPr/>
            <p:nvPr/>
          </p:nvSpPr>
          <p:spPr>
            <a:xfrm>
              <a:off x="8935345" y="37189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4B50D055-5F22-495B-B08A-61060DA01404}"/>
                </a:ext>
              </a:extLst>
            </p:cNvPr>
            <p:cNvSpPr/>
            <p:nvPr/>
          </p:nvSpPr>
          <p:spPr>
            <a:xfrm>
              <a:off x="9153564" y="355658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C672881-96C7-4FDD-8BEE-43D1B3FF4BB8}"/>
                </a:ext>
              </a:extLst>
            </p:cNvPr>
            <p:cNvSpPr/>
            <p:nvPr/>
          </p:nvSpPr>
          <p:spPr>
            <a:xfrm>
              <a:off x="8910860" y="3861960"/>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2B826E6-9869-4843-99CB-DCB0E362A1F2}"/>
                </a:ext>
              </a:extLst>
            </p:cNvPr>
            <p:cNvSpPr/>
            <p:nvPr/>
          </p:nvSpPr>
          <p:spPr>
            <a:xfrm>
              <a:off x="8415904" y="401074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61D1096-C32B-473F-B986-A4D83F48C5AF}"/>
                </a:ext>
              </a:extLst>
            </p:cNvPr>
            <p:cNvSpPr/>
            <p:nvPr/>
          </p:nvSpPr>
          <p:spPr>
            <a:xfrm>
              <a:off x="8612360" y="401074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FC22F87-9455-455E-978F-9D2BFC96DA39}"/>
                </a:ext>
              </a:extLst>
            </p:cNvPr>
            <p:cNvSpPr/>
            <p:nvPr/>
          </p:nvSpPr>
          <p:spPr>
            <a:xfrm>
              <a:off x="8777744" y="397886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E992A23-14FE-4050-A69C-A96858777CEC}"/>
                </a:ext>
              </a:extLst>
            </p:cNvPr>
            <p:cNvSpPr/>
            <p:nvPr/>
          </p:nvSpPr>
          <p:spPr>
            <a:xfrm>
              <a:off x="8643431" y="388218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A7BF803-4769-4C55-86E9-26EA811AAE10}"/>
                </a:ext>
              </a:extLst>
            </p:cNvPr>
            <p:cNvSpPr/>
            <p:nvPr/>
          </p:nvSpPr>
          <p:spPr>
            <a:xfrm>
              <a:off x="8861650" y="371981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2132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extLst/>
          </p:nvPr>
        </p:nvSpPr>
        <p:spPr/>
        <p:txBody>
          <a:bodyPr/>
          <a:lstStyle/>
          <a:p>
            <a:r>
              <a:rPr lang="en-US" dirty="0"/>
              <a:t>Linear Regression on</a:t>
            </a:r>
            <a:r>
              <a:rPr lang="en-US" dirty="0">
                <a:solidFill>
                  <a:srgbClr val="404040"/>
                </a:solidFill>
              </a:rPr>
              <a:t> Shared Data</a:t>
            </a:r>
            <a:endParaRPr lang="en-US" dirty="0">
              <a:solidFill>
                <a:schemeClr val="tx1"/>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extLst/>
              </p:nvPr>
            </p:nvSpPr>
            <p:spPr>
              <a:xfrm>
                <a:off x="1450975" y="1695450"/>
                <a:ext cx="6340159" cy="5162550"/>
              </a:xfrm>
            </p:spPr>
            <p:txBody>
              <a:bodyPr>
                <a:noAutofit/>
              </a:bodyPr>
              <a:lstStyle/>
              <a:p>
                <a:r>
                  <a:rPr lang="en-US" dirty="0"/>
                  <a:t>Given, </a:t>
                </a:r>
                <a14:m>
                  <m:oMath xmlns:m="http://schemas.openxmlformats.org/officeDocument/2006/math">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4"/>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𝑥</m:t>
                                  </m:r>
                                </m:e>
                                <m:sub>
                                  <m:r>
                                    <m:rPr>
                                      <m:brk m:alnAt="7"/>
                                    </m:rPr>
                                    <a:rPr lang="en-US" b="0" i="1" smtClean="0">
                                      <a:latin typeface="Cambria Math" panose="02040503050406030204" pitchFamily="18" charset="0"/>
                                    </a:rPr>
                                    <m:t>1</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12</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𝑑</m:t>
                                  </m:r>
                                </m:sub>
                              </m:sSub>
                            </m:e>
                          </m:mr>
                          <m:mr>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𝟐𝟏</m:t>
                                  </m:r>
                                </m:sub>
                              </m:sSub>
                            </m:e>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𝟐𝟐</m:t>
                                  </m:r>
                                </m:sub>
                              </m:sSub>
                            </m:e>
                            <m:e>
                              <m:r>
                                <a:rPr lang="en-US" i="1">
                                  <a:latin typeface="Cambria Math" panose="02040503050406030204" pitchFamily="18" charset="0"/>
                                </a:rPr>
                                <m:t>⋯</m:t>
                              </m:r>
                            </m:e>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𝟐</m:t>
                                  </m:r>
                                  <m:r>
                                    <a:rPr lang="en-US" b="1" i="1" smtClean="0">
                                      <a:latin typeface="Cambria Math" panose="02040503050406030204" pitchFamily="18" charset="0"/>
                                    </a:rPr>
                                    <m:t>𝒅</m:t>
                                  </m:r>
                                </m:sub>
                              </m:sSub>
                            </m:e>
                          </m:mr>
                          <m:mr>
                            <m:e>
                              <m:r>
                                <a:rPr lang="en-US" i="1">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2</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𝑛𝑑</m:t>
                                  </m:r>
                                </m:sub>
                              </m:sSub>
                            </m:e>
                          </m:mr>
                        </m:m>
                      </m:e>
                    </m:d>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a:t>
                </a:r>
                <a14:m>
                  <m:oMath xmlns:m="http://schemas.openxmlformats.org/officeDocument/2006/math">
                    <m:d>
                      <m:dPr>
                        <m:begChr m:val="["/>
                        <m:endChr m:val="]"/>
                        <m:ctrlPr>
                          <a:rPr lang="en-US" i="1">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e>
                          <m:e>
                            <m:sSub>
                              <m:sSubPr>
                                <m:ctrlPr>
                                  <a:rPr lang="en-US" b="1" i="1" smtClean="0">
                                    <a:latin typeface="Cambria Math" panose="02040503050406030204" pitchFamily="18" charset="0"/>
                                  </a:rPr>
                                </m:ctrlPr>
                              </m:sSubPr>
                              <m:e>
                                <m:r>
                                  <a:rPr lang="en-US" b="1" i="1" smtClean="0">
                                    <a:latin typeface="Cambria Math" panose="02040503050406030204" pitchFamily="18" charset="0"/>
                                  </a:rPr>
                                  <m:t>𝒚</m:t>
                                </m:r>
                              </m:e>
                              <m:sub>
                                <m:r>
                                  <a:rPr lang="en-US" b="1" i="1" smtClean="0">
                                    <a:latin typeface="Cambria Math" panose="02040503050406030204" pitchFamily="18" charset="0"/>
                                  </a:rPr>
                                  <m:t>𝟐</m:t>
                                </m:r>
                              </m:sub>
                            </m:sSub>
                          </m:e>
                          <m:e>
                            <m:r>
                              <a:rPr lang="en-US" i="1">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eqArr>
                      </m:e>
                    </m:d>
                  </m:oMath>
                </a14:m>
                <a:endParaRPr lang="en-US" dirty="0"/>
              </a:p>
              <a:p>
                <a:r>
                  <a:rPr lang="en-US" dirty="0"/>
                  <a:t>Find a linear function </a:t>
                </a:r>
                <a14:m>
                  <m:oMath xmlns:m="http://schemas.openxmlformats.org/officeDocument/2006/math">
                    <m:r>
                      <a:rPr lang="en-US" b="0" i="1" smtClean="0">
                        <a:latin typeface="Cambria Math" panose="02040503050406030204" pitchFamily="18" charset="0"/>
                      </a:rPr>
                      <m:t>𝑓</m:t>
                    </m:r>
                  </m:oMath>
                </a14:m>
                <a:r>
                  <a:rPr lang="en-US" dirty="0"/>
                  <a:t> </a:t>
                </a:r>
                <a:r>
                  <a:rPr lang="en-US" dirty="0" err="1"/>
                  <a:t>s.t.</a:t>
                </a:r>
                <a:r>
                  <a:rPr lang="en-US" dirty="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endParaRPr lang="en-US" dirty="0"/>
              </a:p>
              <a:p>
                <a:r>
                  <a:rPr lang="en-US" dirty="0"/>
                  <a:t>Model: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m:rPr>
                            <m:sty m:val="p"/>
                          </m:rPr>
                          <a:rPr lang="en-US" b="0" i="0" smtClean="0">
                            <a:latin typeface="Cambria Math" panose="02040503050406030204" pitchFamily="18" charset="0"/>
                          </a:rPr>
                          <m:t>w</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nary>
                      <m:naryPr>
                        <m:chr m:val="∑"/>
                        <m:ctrlPr>
                          <a:rPr lang="en-US" b="1" i="1" smtClean="0">
                            <a:latin typeface="Cambria Math" panose="02040503050406030204" pitchFamily="18" charset="0"/>
                          </a:rPr>
                        </m:ctrlPr>
                      </m:naryPr>
                      <m:sub>
                        <m:r>
                          <m:rPr>
                            <m:brk m:alnAt="23"/>
                          </m:rPr>
                          <a:rPr lang="en-US" b="1" i="1" smtClean="0">
                            <a:latin typeface="Cambria Math" panose="02040503050406030204" pitchFamily="18" charset="0"/>
                          </a:rPr>
                          <m:t>𝒋</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𝒅</m:t>
                        </m:r>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𝒊𝒋</m:t>
                            </m:r>
                          </m:sub>
                        </m:sSub>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1" i="1" smtClean="0">
                                <a:latin typeface="Cambria Math" panose="02040503050406030204" pitchFamily="18" charset="0"/>
                              </a:rPr>
                              <m:t>𝒋</m:t>
                            </m:r>
                          </m:sub>
                        </m:sSub>
                      </m:e>
                    </m:nary>
                  </m:oMath>
                </a14:m>
                <a:endParaRPr lang="en-US" dirty="0"/>
              </a:p>
              <a:p>
                <a:r>
                  <a:rPr lang="en-US" dirty="0"/>
                  <a:t>Update function: </a:t>
                </a:r>
                <a:br>
                  <a:rPr lang="en-US" b="0" i="1" dirty="0">
                    <a:latin typeface="Cambria Math" panose="02040503050406030204" pitchFamily="18" charset="0"/>
                  </a:rPr>
                </a:b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1" i="1" smtClean="0">
                            <a:latin typeface="Cambria Math" panose="02040503050406030204" pitchFamily="18" charset="0"/>
                          </a:rPr>
                          <m:t>𝒋</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1" i="1" smtClean="0">
                            <a:latin typeface="Cambria Math" panose="02040503050406030204" pitchFamily="18" charset="0"/>
                          </a:rPr>
                          <m:t>𝒋</m:t>
                        </m:r>
                      </m:sub>
                    </m:sSub>
                    <m:r>
                      <a:rPr lang="en-US" b="1" i="1" smtClean="0">
                        <a:latin typeface="Cambria Math" panose="02040503050406030204" pitchFamily="18" charset="0"/>
                      </a:rPr>
                      <m:t>−</m:t>
                    </m:r>
                    <m:r>
                      <a:rPr lang="en-US" b="1" i="1" smtClean="0">
                        <a:latin typeface="Cambria Math" panose="02040503050406030204" pitchFamily="18" charset="0"/>
                      </a:rPr>
                      <m:t>𝜶</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𝒊</m:t>
                            </m:r>
                          </m:sub>
                        </m:sSub>
                        <m:r>
                          <a:rPr lang="en-US" b="1" i="0" smtClean="0">
                            <a:latin typeface="Cambria Math" panose="02040503050406030204" pitchFamily="18" charset="0"/>
                          </a:rPr>
                          <m:t>𝐰</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𝒚</m:t>
                            </m:r>
                          </m:e>
                          <m:sub>
                            <m:r>
                              <a:rPr lang="en-US" b="1" i="1" smtClean="0">
                                <a:latin typeface="Cambria Math" panose="02040503050406030204" pitchFamily="18" charset="0"/>
                              </a:rPr>
                              <m:t>𝒊</m:t>
                            </m:r>
                          </m:sub>
                        </m:sSub>
                      </m:e>
                    </m:d>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𝒊𝒋</m:t>
                        </m:r>
                      </m:sub>
                    </m:sSub>
                  </m:oMath>
                </a14:m>
                <a:endParaRPr lang="en-US" b="1" dirty="0"/>
              </a:p>
            </p:txBody>
          </p:sp>
        </mc:Choice>
        <mc:Fallback>
          <p:sp>
            <p:nvSpPr>
              <p:cNvPr id="3" name="Content Placeholder 2"/>
              <p:cNvSpPr>
                <a:spLocks noGrp="1" noRot="1" noChangeAspect="1" noMove="1" noResize="1" noEditPoints="1" noAdjustHandles="1" noChangeArrowheads="1" noChangeShapeType="1" noTextEdit="1"/>
              </p:cNvSpPr>
              <p:nvPr>
                <p:ph idx="1"/>
                <p:extLst/>
              </p:nvPr>
            </p:nvSpPr>
            <p:spPr>
              <a:xfrm>
                <a:off x="1450975" y="1695450"/>
                <a:ext cx="6340159" cy="5162550"/>
              </a:xfrm>
              <a:blipFill>
                <a:blip r:embed="rId2"/>
                <a:stretch>
                  <a:fillRect l="-1250"/>
                </a:stretch>
              </a:blipFill>
            </p:spPr>
            <p:txBody>
              <a:bodyPr/>
              <a:lstStyle/>
              <a:p>
                <a:r>
                  <a:rPr lang="en-US">
                    <a:noFill/>
                  </a:rPr>
                  <a:t> </a:t>
                </a:r>
              </a:p>
            </p:txBody>
          </p:sp>
        </mc:Fallback>
      </mc:AlternateContent>
      <p:grpSp>
        <p:nvGrpSpPr>
          <p:cNvPr id="52" name="Group 51">
            <a:extLst>
              <a:ext uri="{FF2B5EF4-FFF2-40B4-BE49-F238E27FC236}">
                <a16:creationId xmlns:a16="http://schemas.microsoft.com/office/drawing/2014/main" id="{52EDAE40-846F-47A7-B7B1-9315EF869593}"/>
              </a:ext>
            </a:extLst>
          </p:cNvPr>
          <p:cNvGrpSpPr/>
          <p:nvPr/>
        </p:nvGrpSpPr>
        <p:grpSpPr>
          <a:xfrm>
            <a:off x="8516232" y="1278997"/>
            <a:ext cx="3846563" cy="2588938"/>
            <a:chOff x="6583815" y="2672420"/>
            <a:chExt cx="3846563" cy="2588938"/>
          </a:xfrm>
        </p:grpSpPr>
        <p:cxnSp>
          <p:nvCxnSpPr>
            <p:cNvPr id="4" name="Straight Arrow Connector 3">
              <a:extLst>
                <a:ext uri="{FF2B5EF4-FFF2-40B4-BE49-F238E27FC236}">
                  <a16:creationId xmlns:a16="http://schemas.microsoft.com/office/drawing/2014/main" id="{F908CB77-E827-4160-92DE-48E9DB4AF353}"/>
                </a:ext>
              </a:extLst>
            </p:cNvPr>
            <p:cNvCxnSpPr/>
            <p:nvPr/>
          </p:nvCxnSpPr>
          <p:spPr>
            <a:xfrm>
              <a:off x="6713306" y="5076630"/>
              <a:ext cx="32515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381DC972-6128-42A2-A547-FBF77A8B42B8}"/>
                </a:ext>
              </a:extLst>
            </p:cNvPr>
            <p:cNvCxnSpPr/>
            <p:nvPr/>
          </p:nvCxnSpPr>
          <p:spPr>
            <a:xfrm flipV="1">
              <a:off x="6713306" y="3169698"/>
              <a:ext cx="0" cy="19069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Oval 5">
              <a:extLst>
                <a:ext uri="{FF2B5EF4-FFF2-40B4-BE49-F238E27FC236}">
                  <a16:creationId xmlns:a16="http://schemas.microsoft.com/office/drawing/2014/main" id="{AE5A444A-3AFA-4C0E-ADC3-FA5DA480F149}"/>
                </a:ext>
              </a:extLst>
            </p:cNvPr>
            <p:cNvSpPr/>
            <p:nvPr/>
          </p:nvSpPr>
          <p:spPr>
            <a:xfrm>
              <a:off x="8059420" y="4320720"/>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B472F10-4B72-490F-B94D-25EEB8EB8791}"/>
                </a:ext>
              </a:extLst>
            </p:cNvPr>
            <p:cNvSpPr/>
            <p:nvPr/>
          </p:nvSpPr>
          <p:spPr>
            <a:xfrm>
              <a:off x="6904892" y="491338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323CEED-CD6A-4A8F-9110-DF3EEEEF2921}"/>
                </a:ext>
              </a:extLst>
            </p:cNvPr>
            <p:cNvSpPr/>
            <p:nvPr/>
          </p:nvSpPr>
          <p:spPr>
            <a:xfrm>
              <a:off x="8223608" y="407257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E7484DB-F748-4185-B96F-ACA7E5DE2DE3}"/>
                </a:ext>
              </a:extLst>
            </p:cNvPr>
            <p:cNvSpPr/>
            <p:nvPr/>
          </p:nvSpPr>
          <p:spPr>
            <a:xfrm>
              <a:off x="7009943" y="478215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7F2E93E-6B86-443B-B5D6-F2CCA5291804}"/>
                </a:ext>
              </a:extLst>
            </p:cNvPr>
            <p:cNvSpPr/>
            <p:nvPr/>
          </p:nvSpPr>
          <p:spPr>
            <a:xfrm>
              <a:off x="7108363" y="476433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06808CE-F195-43B1-AB32-7AA6C5E1C0F2}"/>
                </a:ext>
              </a:extLst>
            </p:cNvPr>
            <p:cNvSpPr/>
            <p:nvPr/>
          </p:nvSpPr>
          <p:spPr>
            <a:xfrm>
              <a:off x="7164539" y="485635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768D0DB-9899-44A1-BB8D-EF0E44178BDE}"/>
                </a:ext>
              </a:extLst>
            </p:cNvPr>
            <p:cNvSpPr/>
            <p:nvPr/>
          </p:nvSpPr>
          <p:spPr>
            <a:xfrm>
              <a:off x="7245202" y="466175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A493CA0-7952-47DE-849A-961578B269FA}"/>
                </a:ext>
              </a:extLst>
            </p:cNvPr>
            <p:cNvSpPr/>
            <p:nvPr/>
          </p:nvSpPr>
          <p:spPr>
            <a:xfrm>
              <a:off x="7318991" y="475101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40A7848-0EBA-4122-86B2-6FCE9B6BBAD1}"/>
                </a:ext>
              </a:extLst>
            </p:cNvPr>
            <p:cNvSpPr/>
            <p:nvPr/>
          </p:nvSpPr>
          <p:spPr>
            <a:xfrm>
              <a:off x="7334361" y="458655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057E4A-5470-4C71-A1F6-1B18CF674D46}"/>
                </a:ext>
              </a:extLst>
            </p:cNvPr>
            <p:cNvSpPr/>
            <p:nvPr/>
          </p:nvSpPr>
          <p:spPr>
            <a:xfrm>
              <a:off x="7441251" y="465056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E68F983-8AC1-471F-B8E6-2EAED14D8C20}"/>
                </a:ext>
              </a:extLst>
            </p:cNvPr>
            <p:cNvSpPr/>
            <p:nvPr/>
          </p:nvSpPr>
          <p:spPr>
            <a:xfrm>
              <a:off x="7440153" y="4561761"/>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B90C935-65D4-48BA-ABDC-6082E7E1E6EA}"/>
                </a:ext>
              </a:extLst>
            </p:cNvPr>
            <p:cNvSpPr/>
            <p:nvPr/>
          </p:nvSpPr>
          <p:spPr>
            <a:xfrm>
              <a:off x="7689108" y="451497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2C0BB1C-C12A-4A28-9AC6-E8C31E486204}"/>
                </a:ext>
              </a:extLst>
            </p:cNvPr>
            <p:cNvSpPr/>
            <p:nvPr/>
          </p:nvSpPr>
          <p:spPr>
            <a:xfrm>
              <a:off x="7909597" y="432944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28650A8-1298-4ACD-A990-1BF81E1B14C3}"/>
                </a:ext>
              </a:extLst>
            </p:cNvPr>
            <p:cNvSpPr/>
            <p:nvPr/>
          </p:nvSpPr>
          <p:spPr>
            <a:xfrm>
              <a:off x="7728652" y="422136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6BC5BC8-48C4-450D-AB06-EC77314185FB}"/>
                </a:ext>
              </a:extLst>
            </p:cNvPr>
            <p:cNvSpPr/>
            <p:nvPr/>
          </p:nvSpPr>
          <p:spPr>
            <a:xfrm>
              <a:off x="7714188" y="435834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A060C65-9CC5-42C2-9B9A-23019E09844E}"/>
                </a:ext>
              </a:extLst>
            </p:cNvPr>
            <p:cNvSpPr/>
            <p:nvPr/>
          </p:nvSpPr>
          <p:spPr>
            <a:xfrm>
              <a:off x="7925108" y="422136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FC4347B-3C74-4C6F-86FD-BF01A9EE9592}"/>
                </a:ext>
              </a:extLst>
            </p:cNvPr>
            <p:cNvSpPr/>
            <p:nvPr/>
          </p:nvSpPr>
          <p:spPr>
            <a:xfrm>
              <a:off x="7997226" y="442470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A7302AF-6C06-49EF-A66C-AE9EA38462F3}"/>
                </a:ext>
              </a:extLst>
            </p:cNvPr>
            <p:cNvSpPr/>
            <p:nvPr/>
          </p:nvSpPr>
          <p:spPr>
            <a:xfrm>
              <a:off x="7925108" y="443958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FA0EE00-585E-4895-9984-B771DC6A6649}"/>
                </a:ext>
              </a:extLst>
            </p:cNvPr>
            <p:cNvSpPr/>
            <p:nvPr/>
          </p:nvSpPr>
          <p:spPr>
            <a:xfrm>
              <a:off x="8090492" y="418948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FD40290-D781-4816-8CD8-AE8D5BA04856}"/>
                </a:ext>
              </a:extLst>
            </p:cNvPr>
            <p:cNvSpPr/>
            <p:nvPr/>
          </p:nvSpPr>
          <p:spPr>
            <a:xfrm>
              <a:off x="7956179" y="409279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5C84B5E-9E4C-4C22-9E21-DF0BF53DB689}"/>
                </a:ext>
              </a:extLst>
            </p:cNvPr>
            <p:cNvSpPr/>
            <p:nvPr/>
          </p:nvSpPr>
          <p:spPr>
            <a:xfrm>
              <a:off x="6998489" y="49025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9662F74-691A-4412-854F-57711870125F}"/>
                </a:ext>
              </a:extLst>
            </p:cNvPr>
            <p:cNvSpPr/>
            <p:nvPr/>
          </p:nvSpPr>
          <p:spPr>
            <a:xfrm>
              <a:off x="7615128" y="445096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667895D-41E8-4C0E-A09B-7530046609F6}"/>
                </a:ext>
              </a:extLst>
            </p:cNvPr>
            <p:cNvSpPr/>
            <p:nvPr/>
          </p:nvSpPr>
          <p:spPr>
            <a:xfrm>
              <a:off x="8355293" y="394133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0ACB765-E04E-4B5B-AD66-145B63D37063}"/>
                </a:ext>
              </a:extLst>
            </p:cNvPr>
            <p:cNvSpPr/>
            <p:nvPr/>
          </p:nvSpPr>
          <p:spPr>
            <a:xfrm>
              <a:off x="6998489" y="49025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01F8BDA-CD4E-463D-B4C2-5BC500CDC1CA}"/>
                </a:ext>
              </a:extLst>
            </p:cNvPr>
            <p:cNvSpPr/>
            <p:nvPr/>
          </p:nvSpPr>
          <p:spPr>
            <a:xfrm>
              <a:off x="8174398" y="393043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5812307-773B-456F-9F34-5E9881F794F9}"/>
                </a:ext>
              </a:extLst>
            </p:cNvPr>
            <p:cNvSpPr txBox="1"/>
            <p:nvPr/>
          </p:nvSpPr>
          <p:spPr>
            <a:xfrm>
              <a:off x="9942106" y="4892026"/>
              <a:ext cx="488272" cy="369332"/>
            </a:xfrm>
            <a:prstGeom prst="rect">
              <a:avLst/>
            </a:prstGeom>
            <a:noFill/>
          </p:spPr>
          <p:txBody>
            <a:bodyPr wrap="square" rtlCol="0">
              <a:spAutoFit/>
            </a:bodyPr>
            <a:lstStyle/>
            <a:p>
              <a:r>
                <a:rPr lang="en-US" i="1" dirty="0"/>
                <a:t>x</a:t>
              </a:r>
            </a:p>
          </p:txBody>
        </p:sp>
        <p:sp>
          <p:nvSpPr>
            <p:cNvPr id="32" name="TextBox 31">
              <a:extLst>
                <a:ext uri="{FF2B5EF4-FFF2-40B4-BE49-F238E27FC236}">
                  <a16:creationId xmlns:a16="http://schemas.microsoft.com/office/drawing/2014/main" id="{CD0749A5-6B4A-4A55-B214-66B92E79943A}"/>
                </a:ext>
              </a:extLst>
            </p:cNvPr>
            <p:cNvSpPr txBox="1"/>
            <p:nvPr/>
          </p:nvSpPr>
          <p:spPr>
            <a:xfrm>
              <a:off x="6583815" y="2672420"/>
              <a:ext cx="488272" cy="369332"/>
            </a:xfrm>
            <a:prstGeom prst="rect">
              <a:avLst/>
            </a:prstGeom>
            <a:noFill/>
          </p:spPr>
          <p:txBody>
            <a:bodyPr wrap="square" rtlCol="0">
              <a:spAutoFit/>
            </a:bodyPr>
            <a:lstStyle/>
            <a:p>
              <a:r>
                <a:rPr lang="en-US" i="1" dirty="0"/>
                <a:t>y</a:t>
              </a:r>
            </a:p>
          </p:txBody>
        </p:sp>
        <p:cxnSp>
          <p:nvCxnSpPr>
            <p:cNvPr id="33" name="Straight Connector 32">
              <a:extLst>
                <a:ext uri="{FF2B5EF4-FFF2-40B4-BE49-F238E27FC236}">
                  <a16:creationId xmlns:a16="http://schemas.microsoft.com/office/drawing/2014/main" id="{840474B3-E7F5-47A7-95F3-5226CB7D391F}"/>
                </a:ext>
              </a:extLst>
            </p:cNvPr>
            <p:cNvCxnSpPr/>
            <p:nvPr/>
          </p:nvCxnSpPr>
          <p:spPr>
            <a:xfrm flipV="1">
              <a:off x="6797272" y="3369267"/>
              <a:ext cx="2954478" cy="16081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8DFBCCDC-3880-496E-80C4-00723485C690}"/>
                </a:ext>
              </a:extLst>
            </p:cNvPr>
            <p:cNvSpPr/>
            <p:nvPr/>
          </p:nvSpPr>
          <p:spPr>
            <a:xfrm>
              <a:off x="8795800" y="361257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387387F-9E2B-4DB5-BCE3-2E8F813EEABE}"/>
                </a:ext>
              </a:extLst>
            </p:cNvPr>
            <p:cNvSpPr/>
            <p:nvPr/>
          </p:nvSpPr>
          <p:spPr>
            <a:xfrm>
              <a:off x="8300844" y="376136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AB88104-A610-4882-83B1-BAFB10E3D11B}"/>
                </a:ext>
              </a:extLst>
            </p:cNvPr>
            <p:cNvSpPr/>
            <p:nvPr/>
          </p:nvSpPr>
          <p:spPr>
            <a:xfrm>
              <a:off x="8497300" y="376136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5244D2D-4AE8-4C6E-8B17-DB32340B2A65}"/>
                </a:ext>
              </a:extLst>
            </p:cNvPr>
            <p:cNvSpPr/>
            <p:nvPr/>
          </p:nvSpPr>
          <p:spPr>
            <a:xfrm>
              <a:off x="8662684" y="372948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D83ACBC-8509-438F-9908-69510E497488}"/>
                </a:ext>
              </a:extLst>
            </p:cNvPr>
            <p:cNvSpPr/>
            <p:nvPr/>
          </p:nvSpPr>
          <p:spPr>
            <a:xfrm>
              <a:off x="8528371" y="363280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040E25AC-8075-4D94-86BC-F4693E462BFC}"/>
                </a:ext>
              </a:extLst>
            </p:cNvPr>
            <p:cNvSpPr/>
            <p:nvPr/>
          </p:nvSpPr>
          <p:spPr>
            <a:xfrm>
              <a:off x="8746590" y="347043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56B6A86-5E52-4424-B427-8B302E40B363}"/>
                </a:ext>
              </a:extLst>
            </p:cNvPr>
            <p:cNvSpPr/>
            <p:nvPr/>
          </p:nvSpPr>
          <p:spPr>
            <a:xfrm>
              <a:off x="9202774" y="369872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E600E588-3DA9-4075-9403-EAECD0A221A4}"/>
                </a:ext>
              </a:extLst>
            </p:cNvPr>
            <p:cNvSpPr/>
            <p:nvPr/>
          </p:nvSpPr>
          <p:spPr>
            <a:xfrm>
              <a:off x="8707818" y="384751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827AA04-44EB-4940-BE3D-9121AAAA231A}"/>
                </a:ext>
              </a:extLst>
            </p:cNvPr>
            <p:cNvSpPr/>
            <p:nvPr/>
          </p:nvSpPr>
          <p:spPr>
            <a:xfrm>
              <a:off x="8904274" y="384751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0939681-4376-4F22-AED0-997AC41010E5}"/>
                </a:ext>
              </a:extLst>
            </p:cNvPr>
            <p:cNvSpPr/>
            <p:nvPr/>
          </p:nvSpPr>
          <p:spPr>
            <a:xfrm>
              <a:off x="9069658" y="381563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9F93EBD-A890-44AC-9A7C-C2AD2768EB34}"/>
                </a:ext>
              </a:extLst>
            </p:cNvPr>
            <p:cNvSpPr/>
            <p:nvPr/>
          </p:nvSpPr>
          <p:spPr>
            <a:xfrm>
              <a:off x="8935345" y="37189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4B50D055-5F22-495B-B08A-61060DA01404}"/>
                </a:ext>
              </a:extLst>
            </p:cNvPr>
            <p:cNvSpPr/>
            <p:nvPr/>
          </p:nvSpPr>
          <p:spPr>
            <a:xfrm>
              <a:off x="9153564" y="355658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C672881-96C7-4FDD-8BEE-43D1B3FF4BB8}"/>
                </a:ext>
              </a:extLst>
            </p:cNvPr>
            <p:cNvSpPr/>
            <p:nvPr/>
          </p:nvSpPr>
          <p:spPr>
            <a:xfrm>
              <a:off x="8910860" y="3861960"/>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2B826E6-9869-4843-99CB-DCB0E362A1F2}"/>
                </a:ext>
              </a:extLst>
            </p:cNvPr>
            <p:cNvSpPr/>
            <p:nvPr/>
          </p:nvSpPr>
          <p:spPr>
            <a:xfrm>
              <a:off x="8415904" y="401074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61D1096-C32B-473F-B986-A4D83F48C5AF}"/>
                </a:ext>
              </a:extLst>
            </p:cNvPr>
            <p:cNvSpPr/>
            <p:nvPr/>
          </p:nvSpPr>
          <p:spPr>
            <a:xfrm>
              <a:off x="8612360" y="401074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FC22F87-9455-455E-978F-9D2BFC96DA39}"/>
                </a:ext>
              </a:extLst>
            </p:cNvPr>
            <p:cNvSpPr/>
            <p:nvPr/>
          </p:nvSpPr>
          <p:spPr>
            <a:xfrm>
              <a:off x="8777744" y="397886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E992A23-14FE-4050-A69C-A96858777CEC}"/>
                </a:ext>
              </a:extLst>
            </p:cNvPr>
            <p:cNvSpPr/>
            <p:nvPr/>
          </p:nvSpPr>
          <p:spPr>
            <a:xfrm>
              <a:off x="8643431" y="388218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A7BF803-4769-4C55-86E9-26EA811AAE10}"/>
                </a:ext>
              </a:extLst>
            </p:cNvPr>
            <p:cNvSpPr/>
            <p:nvPr/>
          </p:nvSpPr>
          <p:spPr>
            <a:xfrm>
              <a:off x="8861650" y="371981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09ED2234-9F71-4CF5-AA5C-93DCDA31EA88}"/>
                  </a:ext>
                </a:extLst>
              </p:cNvPr>
              <p:cNvSpPr txBox="1">
                <a:spLocks/>
              </p:cNvSpPr>
              <p:nvPr>
                <p:extLst/>
              </p:nvPr>
            </p:nvSpPr>
            <p:spPr>
              <a:xfrm>
                <a:off x="7040099" y="4416414"/>
                <a:ext cx="5622603" cy="2090974"/>
              </a:xfrm>
              <a:prstGeom prst="rect">
                <a:avLst/>
              </a:prstGeom>
            </p:spPr>
            <p:txBody>
              <a:bodyPr vert="horz" lIns="91440" tIns="45720" rIns="91440" bIns="45720" rtlCol="0" anchor="t">
                <a:noAutofit/>
              </a:bodyPr>
              <a:lstStyle>
                <a:lvl1pPr marL="228589" indent="-228589" algn="l" defTabSz="914354" rtl="0" eaLnBrk="1" latinLnBrk="0" hangingPunct="1">
                  <a:lnSpc>
                    <a:spcPct val="120000"/>
                  </a:lnSpc>
                  <a:spcBef>
                    <a:spcPts val="1000"/>
                  </a:spcBef>
                  <a:buClr>
                    <a:schemeClr val="accent1"/>
                  </a:buClr>
                  <a:buSzPct val="100000"/>
                  <a:buFont typeface="Arial" panose="020B0604020202020204" pitchFamily="34" charset="0"/>
                  <a:buChar char="•"/>
                  <a:defRPr sz="2400" kern="1200">
                    <a:solidFill>
                      <a:srgbClr val="454545"/>
                    </a:solidFill>
                    <a:effectLst/>
                    <a:latin typeface="+mn-lt"/>
                    <a:ea typeface="+mn-ea"/>
                    <a:cs typeface="+mn-cs"/>
                  </a:defRPr>
                </a:lvl1pPr>
                <a:lvl2pPr marL="685766"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2000" kern="1200" cap="none" baseline="0">
                    <a:solidFill>
                      <a:srgbClr val="454545"/>
                    </a:solidFill>
                    <a:effectLst/>
                    <a:latin typeface="+mn-lt"/>
                    <a:ea typeface="+mn-ea"/>
                    <a:cs typeface="+mn-cs"/>
                  </a:defRPr>
                </a:lvl2pPr>
                <a:lvl3pPr marL="1142942"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800" kern="1200">
                    <a:solidFill>
                      <a:srgbClr val="454545"/>
                    </a:solidFill>
                    <a:effectLst/>
                    <a:latin typeface="+mn-lt"/>
                    <a:ea typeface="+mn-ea"/>
                    <a:cs typeface="+mn-cs"/>
                  </a:defRPr>
                </a:lvl3pPr>
                <a:lvl4pPr marL="1600120"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rgbClr val="454545"/>
                    </a:solidFill>
                    <a:effectLst/>
                    <a:latin typeface="+mn-lt"/>
                    <a:ea typeface="+mn-ea"/>
                    <a:cs typeface="+mn-cs"/>
                  </a:defRPr>
                </a:lvl4pPr>
                <a:lvl5pPr marL="2057298"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400" kern="1200">
                    <a:solidFill>
                      <a:srgbClr val="454545"/>
                    </a:solidFill>
                    <a:effectLst/>
                    <a:latin typeface="+mn-lt"/>
                    <a:ea typeface="+mn-ea"/>
                    <a:cs typeface="+mn-cs"/>
                  </a:defRPr>
                </a:lvl5pPr>
                <a:lvl6pPr marL="2514474"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652"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8829"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006"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dirty="0"/>
                  <a:t>Cost function: </a:t>
                </a:r>
                <a14:m>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w</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m:rPr>
                                    <m:sty m:val="p"/>
                                  </m:rPr>
                                  <a:rPr lang="en-US" b="0" i="0" smtClean="0">
                                    <a:latin typeface="Cambria Math" panose="02040503050406030204" pitchFamily="18" charset="0"/>
                                  </a:rPr>
                                  <m:t>w</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𝑦</m:t>
                            </m:r>
                          </m:e>
                        </m:d>
                      </m:e>
                      <m:sup>
                        <m:r>
                          <a:rPr lang="en-US" b="0" i="1" smtClean="0">
                            <a:latin typeface="Cambria Math" panose="02040503050406030204" pitchFamily="18" charset="0"/>
                          </a:rPr>
                          <m:t>2</m:t>
                        </m:r>
                      </m:sup>
                    </m:sSup>
                    <m:r>
                      <a:rPr lang="en-US" b="0" i="1" smtClean="0">
                        <a:latin typeface="Cambria Math" panose="02040503050406030204" pitchFamily="18" charset="0"/>
                      </a:rPr>
                      <m:t> </m:t>
                    </m:r>
                  </m:oMath>
                </a14:m>
                <a:br>
                  <a:rPr lang="en-US" dirty="0"/>
                </a:br>
                <a:r>
                  <a:rPr lang="en-US" dirty="0"/>
                  <a:t>(a.k.a. L2 norm)</a:t>
                </a:r>
              </a:p>
            </p:txBody>
          </p:sp>
        </mc:Choice>
        <mc:Fallback xmlns="">
          <p:sp>
            <p:nvSpPr>
              <p:cNvPr id="53" name="Content Placeholder 2">
                <a:extLst>
                  <a:ext uri="{FF2B5EF4-FFF2-40B4-BE49-F238E27FC236}">
                    <a16:creationId xmlns:a16="http://schemas.microsoft.com/office/drawing/2014/main" id="{09ED2234-9F71-4CF5-AA5C-93DCDA31EA88}"/>
                  </a:ext>
                </a:extLst>
              </p:cNvPr>
              <p:cNvSpPr txBox="1">
                <a:spLocks noRot="1" noChangeAspect="1" noMove="1" noResize="1" noEditPoints="1" noAdjustHandles="1" noChangeArrowheads="1" noChangeShapeType="1" noTextEdit="1"/>
              </p:cNvSpPr>
              <p:nvPr>
                <p:extLst/>
              </p:nvPr>
            </p:nvSpPr>
            <p:spPr>
              <a:xfrm>
                <a:off x="7040099" y="4416414"/>
                <a:ext cx="5622603" cy="2090974"/>
              </a:xfrm>
              <a:prstGeom prst="rect">
                <a:avLst/>
              </a:prstGeom>
              <a:blipFill>
                <a:blip r:embed="rId3"/>
                <a:stretch>
                  <a:fillRect l="-1518"/>
                </a:stretch>
              </a:blipFill>
            </p:spPr>
            <p:txBody>
              <a:bodyPr/>
              <a:lstStyle/>
              <a:p>
                <a:r>
                  <a:rPr lang="en-US">
                    <a:noFill/>
                  </a:rPr>
                  <a:t> </a:t>
                </a:r>
              </a:p>
            </p:txBody>
          </p:sp>
        </mc:Fallback>
      </mc:AlternateContent>
    </p:spTree>
    <p:extLst>
      <p:ext uri="{BB962C8B-B14F-4D97-AF65-F5344CB8AC3E}">
        <p14:creationId xmlns:p14="http://schemas.microsoft.com/office/powerpoint/2010/main" val="401941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extLst/>
          </p:nvPr>
        </p:nvSpPr>
        <p:spPr/>
        <p:txBody>
          <a:bodyPr/>
          <a:lstStyle/>
          <a:p>
            <a:r>
              <a:rPr lang="en-US" dirty="0"/>
              <a:t>Linear Regression</a:t>
            </a:r>
            <a:r>
              <a:rPr lang="en-US" dirty="0">
                <a:solidFill>
                  <a:srgbClr val="404040"/>
                </a:solidFill>
              </a:rPr>
              <a:t> on Shared Data</a:t>
            </a:r>
            <a:endParaRPr lang="en-US" dirty="0">
              <a:solidFill>
                <a:schemeClr val="tx1"/>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extLst/>
              </p:nvPr>
            </p:nvSpPr>
            <p:spPr>
              <a:xfrm>
                <a:off x="1450975" y="1695450"/>
                <a:ext cx="6340159" cy="5162550"/>
              </a:xfrm>
            </p:spPr>
            <p:txBody>
              <a:bodyPr>
                <a:noAutofit/>
              </a:bodyPr>
              <a:lstStyle/>
              <a:p>
                <a:r>
                  <a:rPr lang="en-US" dirty="0"/>
                  <a:t>Given, </a:t>
                </a:r>
                <a14:m>
                  <m:oMath xmlns:m="http://schemas.openxmlformats.org/officeDocument/2006/math">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4"/>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𝑥</m:t>
                                  </m:r>
                                </m:e>
                                <m:sub>
                                  <m:r>
                                    <m:rPr>
                                      <m:brk m:alnAt="7"/>
                                    </m:rPr>
                                    <a:rPr lang="en-US" b="0" i="1" smtClean="0">
                                      <a:latin typeface="Cambria Math" panose="02040503050406030204" pitchFamily="18" charset="0"/>
                                    </a:rPr>
                                    <m:t>1</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12</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𝑑</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22</m:t>
                                  </m:r>
                                </m:sub>
                              </m:sSub>
                            </m:e>
                            <m:e>
                              <m:r>
                                <a:rPr lang="en-US" i="1">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𝑑</m:t>
                                  </m:r>
                                </m:sub>
                              </m:sSub>
                            </m:e>
                          </m:mr>
                          <m:mr>
                            <m:e>
                              <m:r>
                                <a:rPr lang="en-US" i="1">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2</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𝑛𝑑</m:t>
                                  </m:r>
                                </m:sub>
                              </m:sSub>
                            </m:e>
                          </m:mr>
                        </m:m>
                      </m:e>
                    </m:d>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a:t>
                </a:r>
                <a14:m>
                  <m:oMath xmlns:m="http://schemas.openxmlformats.org/officeDocument/2006/math">
                    <m:d>
                      <m:dPr>
                        <m:begChr m:val="["/>
                        <m:endChr m:val="]"/>
                        <m:ctrlPr>
                          <a:rPr lang="en-US" i="1">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e>
                          <m:e>
                            <m:r>
                              <a:rPr lang="en-US" i="1">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eqArr>
                      </m:e>
                    </m:d>
                  </m:oMath>
                </a14:m>
                <a:endParaRPr lang="en-US" dirty="0"/>
              </a:p>
              <a:p>
                <a:r>
                  <a:rPr lang="en-US" dirty="0"/>
                  <a:t>Find a linear function </a:t>
                </a:r>
                <a14:m>
                  <m:oMath xmlns:m="http://schemas.openxmlformats.org/officeDocument/2006/math">
                    <m:r>
                      <a:rPr lang="en-US" b="0" i="1" smtClean="0">
                        <a:latin typeface="Cambria Math" panose="02040503050406030204" pitchFamily="18" charset="0"/>
                      </a:rPr>
                      <m:t>𝑓</m:t>
                    </m:r>
                  </m:oMath>
                </a14:m>
                <a:r>
                  <a:rPr lang="en-US" dirty="0"/>
                  <a:t> </a:t>
                </a:r>
                <a:r>
                  <a:rPr lang="en-US" dirty="0" err="1"/>
                  <a:t>s.t.</a:t>
                </a:r>
                <a:r>
                  <a:rPr lang="en-US" dirty="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endParaRPr lang="en-US" dirty="0"/>
              </a:p>
              <a:p>
                <a:r>
                  <a:rPr lang="en-US" dirty="0"/>
                  <a:t>Model: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m:rPr>
                            <m:sty m:val="p"/>
                          </m:rPr>
                          <a:rPr lang="en-US" b="0" i="0" smtClean="0">
                            <a:latin typeface="Cambria Math" panose="02040503050406030204" pitchFamily="18" charset="0"/>
                          </a:rPr>
                          <m:t>w</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𝑑</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w</m:t>
                    </m:r>
                  </m:oMath>
                </a14:m>
                <a:endParaRPr lang="en-US" dirty="0"/>
              </a:p>
              <a:p>
                <a:r>
                  <a:rPr lang="en-US" dirty="0"/>
                  <a:t>Update function: </a:t>
                </a:r>
                <a:br>
                  <a:rPr lang="en-US" b="0" i="1" dirty="0">
                    <a:latin typeface="Cambria Math" panose="02040503050406030204" pitchFamily="18" charset="0"/>
                  </a:rPr>
                </a:b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1" i="1" smtClean="0">
                            <a:latin typeface="Cambria Math" panose="02040503050406030204" pitchFamily="18" charset="0"/>
                          </a:rPr>
                          <m:t>𝒋</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1" i="1" smtClean="0">
                            <a:latin typeface="Cambria Math" panose="02040503050406030204" pitchFamily="18" charset="0"/>
                          </a:rPr>
                          <m:t>𝒋</m:t>
                        </m:r>
                      </m:sub>
                    </m:sSub>
                    <m:r>
                      <a:rPr lang="en-US" b="1" i="1" smtClean="0">
                        <a:latin typeface="Cambria Math" panose="02040503050406030204" pitchFamily="18" charset="0"/>
                      </a:rPr>
                      <m:t>−</m:t>
                    </m:r>
                    <m:r>
                      <a:rPr lang="en-US" b="1" i="1" smtClean="0">
                        <a:solidFill>
                          <a:srgbClr val="C00000"/>
                        </a:solidFill>
                        <a:latin typeface="Cambria Math" panose="02040503050406030204" pitchFamily="18" charset="0"/>
                      </a:rPr>
                      <m:t>𝜶</m:t>
                    </m:r>
                    <m:d>
                      <m:dPr>
                        <m:ctrlPr>
                          <a:rPr lang="en-US" b="1" i="1" smtClean="0">
                            <a:solidFill>
                              <a:schemeClr val="accent2"/>
                            </a:solidFill>
                            <a:latin typeface="Cambria Math" panose="02040503050406030204" pitchFamily="18" charset="0"/>
                          </a:rPr>
                        </m:ctrlPr>
                      </m:dPr>
                      <m:e>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𝑿</m:t>
                            </m:r>
                          </m:e>
                          <m:sub>
                            <m:r>
                              <a:rPr lang="en-US" b="1" i="1" smtClean="0">
                                <a:solidFill>
                                  <a:schemeClr val="accent2"/>
                                </a:solidFill>
                                <a:latin typeface="Cambria Math" panose="02040503050406030204" pitchFamily="18" charset="0"/>
                              </a:rPr>
                              <m:t>𝒊</m:t>
                            </m:r>
                          </m:sub>
                        </m:sSub>
                        <m:r>
                          <a:rPr lang="en-US" b="1" i="0" smtClean="0">
                            <a:solidFill>
                              <a:schemeClr val="accent2"/>
                            </a:solidFill>
                            <a:latin typeface="Cambria Math" panose="02040503050406030204" pitchFamily="18" charset="0"/>
                          </a:rPr>
                          <m:t>𝐰</m:t>
                        </m:r>
                        <m:r>
                          <a:rPr lang="en-US" b="1" i="1" smtClean="0">
                            <a:solidFill>
                              <a:schemeClr val="accent2"/>
                            </a:solidFill>
                            <a:latin typeface="Cambria Math" panose="02040503050406030204" pitchFamily="18" charset="0"/>
                          </a:rPr>
                          <m:t>−</m:t>
                        </m:r>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𝒚</m:t>
                            </m:r>
                          </m:e>
                          <m:sub>
                            <m:r>
                              <a:rPr lang="en-US" b="1" i="1" smtClean="0">
                                <a:solidFill>
                                  <a:schemeClr val="accent2"/>
                                </a:solidFill>
                                <a:latin typeface="Cambria Math" panose="02040503050406030204" pitchFamily="18" charset="0"/>
                              </a:rPr>
                              <m:t>𝒊</m:t>
                            </m:r>
                          </m:sub>
                        </m:sSub>
                      </m:e>
                    </m:d>
                    <m:sSub>
                      <m:sSubPr>
                        <m:ctrlPr>
                          <a:rPr lang="en-US" b="1"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𝒙</m:t>
                        </m:r>
                      </m:e>
                      <m:sub>
                        <m:r>
                          <a:rPr lang="en-US" b="1" i="1" smtClean="0">
                            <a:solidFill>
                              <a:srgbClr val="0070C0"/>
                            </a:solidFill>
                            <a:latin typeface="Cambria Math" panose="02040503050406030204" pitchFamily="18" charset="0"/>
                          </a:rPr>
                          <m:t>𝒊𝒋</m:t>
                        </m:r>
                      </m:sub>
                    </m:sSub>
                  </m:oMath>
                </a14:m>
                <a:endParaRPr lang="en-US" b="1" dirty="0"/>
              </a:p>
            </p:txBody>
          </p:sp>
        </mc:Choice>
        <mc:Fallback>
          <p:sp>
            <p:nvSpPr>
              <p:cNvPr id="3" name="Content Placeholder 2"/>
              <p:cNvSpPr>
                <a:spLocks noGrp="1" noRot="1" noChangeAspect="1" noMove="1" noResize="1" noEditPoints="1" noAdjustHandles="1" noChangeArrowheads="1" noChangeShapeType="1" noTextEdit="1"/>
              </p:cNvSpPr>
              <p:nvPr>
                <p:ph idx="1"/>
                <p:extLst/>
              </p:nvPr>
            </p:nvSpPr>
            <p:spPr>
              <a:xfrm>
                <a:off x="1450975" y="1695450"/>
                <a:ext cx="6340159" cy="5162550"/>
              </a:xfrm>
              <a:blipFill>
                <a:blip r:embed="rId2"/>
                <a:stretch>
                  <a:fillRect l="-1250"/>
                </a:stretch>
              </a:blipFill>
            </p:spPr>
            <p:txBody>
              <a:bodyPr/>
              <a:lstStyle/>
              <a:p>
                <a:r>
                  <a:rPr lang="en-US">
                    <a:noFill/>
                  </a:rPr>
                  <a:t> </a:t>
                </a:r>
              </a:p>
            </p:txBody>
          </p:sp>
        </mc:Fallback>
      </mc:AlternateContent>
      <p:grpSp>
        <p:nvGrpSpPr>
          <p:cNvPr id="52" name="Group 51">
            <a:extLst>
              <a:ext uri="{FF2B5EF4-FFF2-40B4-BE49-F238E27FC236}">
                <a16:creationId xmlns:a16="http://schemas.microsoft.com/office/drawing/2014/main" id="{52EDAE40-846F-47A7-B7B1-9315EF869593}"/>
              </a:ext>
            </a:extLst>
          </p:cNvPr>
          <p:cNvGrpSpPr/>
          <p:nvPr/>
        </p:nvGrpSpPr>
        <p:grpSpPr>
          <a:xfrm>
            <a:off x="8516232" y="1278997"/>
            <a:ext cx="3846563" cy="2588938"/>
            <a:chOff x="6583815" y="2672420"/>
            <a:chExt cx="3846563" cy="2588938"/>
          </a:xfrm>
        </p:grpSpPr>
        <p:cxnSp>
          <p:nvCxnSpPr>
            <p:cNvPr id="4" name="Straight Arrow Connector 3">
              <a:extLst>
                <a:ext uri="{FF2B5EF4-FFF2-40B4-BE49-F238E27FC236}">
                  <a16:creationId xmlns:a16="http://schemas.microsoft.com/office/drawing/2014/main" id="{F908CB77-E827-4160-92DE-48E9DB4AF353}"/>
                </a:ext>
              </a:extLst>
            </p:cNvPr>
            <p:cNvCxnSpPr/>
            <p:nvPr/>
          </p:nvCxnSpPr>
          <p:spPr>
            <a:xfrm>
              <a:off x="6713306" y="5076630"/>
              <a:ext cx="32515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381DC972-6128-42A2-A547-FBF77A8B42B8}"/>
                </a:ext>
              </a:extLst>
            </p:cNvPr>
            <p:cNvCxnSpPr/>
            <p:nvPr/>
          </p:nvCxnSpPr>
          <p:spPr>
            <a:xfrm flipV="1">
              <a:off x="6713306" y="3169698"/>
              <a:ext cx="0" cy="19069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Oval 5">
              <a:extLst>
                <a:ext uri="{FF2B5EF4-FFF2-40B4-BE49-F238E27FC236}">
                  <a16:creationId xmlns:a16="http://schemas.microsoft.com/office/drawing/2014/main" id="{AE5A444A-3AFA-4C0E-ADC3-FA5DA480F149}"/>
                </a:ext>
              </a:extLst>
            </p:cNvPr>
            <p:cNvSpPr/>
            <p:nvPr/>
          </p:nvSpPr>
          <p:spPr>
            <a:xfrm>
              <a:off x="8059420" y="4320720"/>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B472F10-4B72-490F-B94D-25EEB8EB8791}"/>
                </a:ext>
              </a:extLst>
            </p:cNvPr>
            <p:cNvSpPr/>
            <p:nvPr/>
          </p:nvSpPr>
          <p:spPr>
            <a:xfrm>
              <a:off x="6904892" y="491338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323CEED-CD6A-4A8F-9110-DF3EEEEF2921}"/>
                </a:ext>
              </a:extLst>
            </p:cNvPr>
            <p:cNvSpPr/>
            <p:nvPr/>
          </p:nvSpPr>
          <p:spPr>
            <a:xfrm>
              <a:off x="8223608" y="407257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E7484DB-F748-4185-B96F-ACA7E5DE2DE3}"/>
                </a:ext>
              </a:extLst>
            </p:cNvPr>
            <p:cNvSpPr/>
            <p:nvPr/>
          </p:nvSpPr>
          <p:spPr>
            <a:xfrm>
              <a:off x="7009943" y="478215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7F2E93E-6B86-443B-B5D6-F2CCA5291804}"/>
                </a:ext>
              </a:extLst>
            </p:cNvPr>
            <p:cNvSpPr/>
            <p:nvPr/>
          </p:nvSpPr>
          <p:spPr>
            <a:xfrm>
              <a:off x="7108363" y="476433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06808CE-F195-43B1-AB32-7AA6C5E1C0F2}"/>
                </a:ext>
              </a:extLst>
            </p:cNvPr>
            <p:cNvSpPr/>
            <p:nvPr/>
          </p:nvSpPr>
          <p:spPr>
            <a:xfrm>
              <a:off x="7164539" y="485635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768D0DB-9899-44A1-BB8D-EF0E44178BDE}"/>
                </a:ext>
              </a:extLst>
            </p:cNvPr>
            <p:cNvSpPr/>
            <p:nvPr/>
          </p:nvSpPr>
          <p:spPr>
            <a:xfrm>
              <a:off x="7245202" y="466175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A493CA0-7952-47DE-849A-961578B269FA}"/>
                </a:ext>
              </a:extLst>
            </p:cNvPr>
            <p:cNvSpPr/>
            <p:nvPr/>
          </p:nvSpPr>
          <p:spPr>
            <a:xfrm>
              <a:off x="7318991" y="475101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40A7848-0EBA-4122-86B2-6FCE9B6BBAD1}"/>
                </a:ext>
              </a:extLst>
            </p:cNvPr>
            <p:cNvSpPr/>
            <p:nvPr/>
          </p:nvSpPr>
          <p:spPr>
            <a:xfrm>
              <a:off x="7334361" y="458655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057E4A-5470-4C71-A1F6-1B18CF674D46}"/>
                </a:ext>
              </a:extLst>
            </p:cNvPr>
            <p:cNvSpPr/>
            <p:nvPr/>
          </p:nvSpPr>
          <p:spPr>
            <a:xfrm>
              <a:off x="7441251" y="465056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E68F983-8AC1-471F-B8E6-2EAED14D8C20}"/>
                </a:ext>
              </a:extLst>
            </p:cNvPr>
            <p:cNvSpPr/>
            <p:nvPr/>
          </p:nvSpPr>
          <p:spPr>
            <a:xfrm>
              <a:off x="7440153" y="4561761"/>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B90C935-65D4-48BA-ABDC-6082E7E1E6EA}"/>
                </a:ext>
              </a:extLst>
            </p:cNvPr>
            <p:cNvSpPr/>
            <p:nvPr/>
          </p:nvSpPr>
          <p:spPr>
            <a:xfrm>
              <a:off x="7689108" y="451497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2C0BB1C-C12A-4A28-9AC6-E8C31E486204}"/>
                </a:ext>
              </a:extLst>
            </p:cNvPr>
            <p:cNvSpPr/>
            <p:nvPr/>
          </p:nvSpPr>
          <p:spPr>
            <a:xfrm>
              <a:off x="7909597" y="432944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28650A8-1298-4ACD-A990-1BF81E1B14C3}"/>
                </a:ext>
              </a:extLst>
            </p:cNvPr>
            <p:cNvSpPr/>
            <p:nvPr/>
          </p:nvSpPr>
          <p:spPr>
            <a:xfrm>
              <a:off x="7728652" y="422136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6BC5BC8-48C4-450D-AB06-EC77314185FB}"/>
                </a:ext>
              </a:extLst>
            </p:cNvPr>
            <p:cNvSpPr/>
            <p:nvPr/>
          </p:nvSpPr>
          <p:spPr>
            <a:xfrm>
              <a:off x="7714188" y="435834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A060C65-9CC5-42C2-9B9A-23019E09844E}"/>
                </a:ext>
              </a:extLst>
            </p:cNvPr>
            <p:cNvSpPr/>
            <p:nvPr/>
          </p:nvSpPr>
          <p:spPr>
            <a:xfrm>
              <a:off x="7925108" y="422136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FC4347B-3C74-4C6F-86FD-BF01A9EE9592}"/>
                </a:ext>
              </a:extLst>
            </p:cNvPr>
            <p:cNvSpPr/>
            <p:nvPr/>
          </p:nvSpPr>
          <p:spPr>
            <a:xfrm>
              <a:off x="7997226" y="442470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A7302AF-6C06-49EF-A66C-AE9EA38462F3}"/>
                </a:ext>
              </a:extLst>
            </p:cNvPr>
            <p:cNvSpPr/>
            <p:nvPr/>
          </p:nvSpPr>
          <p:spPr>
            <a:xfrm>
              <a:off x="7925108" y="443958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FA0EE00-585E-4895-9984-B771DC6A6649}"/>
                </a:ext>
              </a:extLst>
            </p:cNvPr>
            <p:cNvSpPr/>
            <p:nvPr/>
          </p:nvSpPr>
          <p:spPr>
            <a:xfrm>
              <a:off x="8090492" y="418948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FD40290-D781-4816-8CD8-AE8D5BA04856}"/>
                </a:ext>
              </a:extLst>
            </p:cNvPr>
            <p:cNvSpPr/>
            <p:nvPr/>
          </p:nvSpPr>
          <p:spPr>
            <a:xfrm>
              <a:off x="7956179" y="409279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5C84B5E-9E4C-4C22-9E21-DF0BF53DB689}"/>
                </a:ext>
              </a:extLst>
            </p:cNvPr>
            <p:cNvSpPr/>
            <p:nvPr/>
          </p:nvSpPr>
          <p:spPr>
            <a:xfrm>
              <a:off x="6998489" y="49025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9662F74-691A-4412-854F-57711870125F}"/>
                </a:ext>
              </a:extLst>
            </p:cNvPr>
            <p:cNvSpPr/>
            <p:nvPr/>
          </p:nvSpPr>
          <p:spPr>
            <a:xfrm>
              <a:off x="7615128" y="445096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667895D-41E8-4C0E-A09B-7530046609F6}"/>
                </a:ext>
              </a:extLst>
            </p:cNvPr>
            <p:cNvSpPr/>
            <p:nvPr/>
          </p:nvSpPr>
          <p:spPr>
            <a:xfrm>
              <a:off x="8355293" y="394133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0ACB765-E04E-4B5B-AD66-145B63D37063}"/>
                </a:ext>
              </a:extLst>
            </p:cNvPr>
            <p:cNvSpPr/>
            <p:nvPr/>
          </p:nvSpPr>
          <p:spPr>
            <a:xfrm>
              <a:off x="6998489" y="49025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01F8BDA-CD4E-463D-B4C2-5BC500CDC1CA}"/>
                </a:ext>
              </a:extLst>
            </p:cNvPr>
            <p:cNvSpPr/>
            <p:nvPr/>
          </p:nvSpPr>
          <p:spPr>
            <a:xfrm>
              <a:off x="8174398" y="393043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5812307-773B-456F-9F34-5E9881F794F9}"/>
                </a:ext>
              </a:extLst>
            </p:cNvPr>
            <p:cNvSpPr txBox="1"/>
            <p:nvPr/>
          </p:nvSpPr>
          <p:spPr>
            <a:xfrm>
              <a:off x="9942106" y="4892026"/>
              <a:ext cx="488272" cy="369332"/>
            </a:xfrm>
            <a:prstGeom prst="rect">
              <a:avLst/>
            </a:prstGeom>
            <a:noFill/>
          </p:spPr>
          <p:txBody>
            <a:bodyPr wrap="square" rtlCol="0">
              <a:spAutoFit/>
            </a:bodyPr>
            <a:lstStyle/>
            <a:p>
              <a:r>
                <a:rPr lang="en-US" i="1" dirty="0"/>
                <a:t>x</a:t>
              </a:r>
            </a:p>
          </p:txBody>
        </p:sp>
        <p:sp>
          <p:nvSpPr>
            <p:cNvPr id="32" name="TextBox 31">
              <a:extLst>
                <a:ext uri="{FF2B5EF4-FFF2-40B4-BE49-F238E27FC236}">
                  <a16:creationId xmlns:a16="http://schemas.microsoft.com/office/drawing/2014/main" id="{CD0749A5-6B4A-4A55-B214-66B92E79943A}"/>
                </a:ext>
              </a:extLst>
            </p:cNvPr>
            <p:cNvSpPr txBox="1"/>
            <p:nvPr/>
          </p:nvSpPr>
          <p:spPr>
            <a:xfrm>
              <a:off x="6583815" y="2672420"/>
              <a:ext cx="488272" cy="369332"/>
            </a:xfrm>
            <a:prstGeom prst="rect">
              <a:avLst/>
            </a:prstGeom>
            <a:noFill/>
          </p:spPr>
          <p:txBody>
            <a:bodyPr wrap="square" rtlCol="0">
              <a:spAutoFit/>
            </a:bodyPr>
            <a:lstStyle/>
            <a:p>
              <a:r>
                <a:rPr lang="en-US" i="1" dirty="0"/>
                <a:t>y</a:t>
              </a:r>
            </a:p>
          </p:txBody>
        </p:sp>
        <p:cxnSp>
          <p:nvCxnSpPr>
            <p:cNvPr id="33" name="Straight Connector 32">
              <a:extLst>
                <a:ext uri="{FF2B5EF4-FFF2-40B4-BE49-F238E27FC236}">
                  <a16:creationId xmlns:a16="http://schemas.microsoft.com/office/drawing/2014/main" id="{840474B3-E7F5-47A7-95F3-5226CB7D391F}"/>
                </a:ext>
              </a:extLst>
            </p:cNvPr>
            <p:cNvCxnSpPr/>
            <p:nvPr/>
          </p:nvCxnSpPr>
          <p:spPr>
            <a:xfrm flipV="1">
              <a:off x="6797272" y="3369267"/>
              <a:ext cx="2954478" cy="16081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8DFBCCDC-3880-496E-80C4-00723485C690}"/>
                </a:ext>
              </a:extLst>
            </p:cNvPr>
            <p:cNvSpPr/>
            <p:nvPr/>
          </p:nvSpPr>
          <p:spPr>
            <a:xfrm>
              <a:off x="8795800" y="361257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387387F-9E2B-4DB5-BCE3-2E8F813EEABE}"/>
                </a:ext>
              </a:extLst>
            </p:cNvPr>
            <p:cNvSpPr/>
            <p:nvPr/>
          </p:nvSpPr>
          <p:spPr>
            <a:xfrm>
              <a:off x="8300844" y="376136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AB88104-A610-4882-83B1-BAFB10E3D11B}"/>
                </a:ext>
              </a:extLst>
            </p:cNvPr>
            <p:cNvSpPr/>
            <p:nvPr/>
          </p:nvSpPr>
          <p:spPr>
            <a:xfrm>
              <a:off x="8497300" y="376136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5244D2D-4AE8-4C6E-8B17-DB32340B2A65}"/>
                </a:ext>
              </a:extLst>
            </p:cNvPr>
            <p:cNvSpPr/>
            <p:nvPr/>
          </p:nvSpPr>
          <p:spPr>
            <a:xfrm>
              <a:off x="8662684" y="372948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D83ACBC-8509-438F-9908-69510E497488}"/>
                </a:ext>
              </a:extLst>
            </p:cNvPr>
            <p:cNvSpPr/>
            <p:nvPr/>
          </p:nvSpPr>
          <p:spPr>
            <a:xfrm>
              <a:off x="8528371" y="363280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040E25AC-8075-4D94-86BC-F4693E462BFC}"/>
                </a:ext>
              </a:extLst>
            </p:cNvPr>
            <p:cNvSpPr/>
            <p:nvPr/>
          </p:nvSpPr>
          <p:spPr>
            <a:xfrm>
              <a:off x="8746590" y="347043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56B6A86-5E52-4424-B427-8B302E40B363}"/>
                </a:ext>
              </a:extLst>
            </p:cNvPr>
            <p:cNvSpPr/>
            <p:nvPr/>
          </p:nvSpPr>
          <p:spPr>
            <a:xfrm>
              <a:off x="9202774" y="369872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E600E588-3DA9-4075-9403-EAECD0A221A4}"/>
                </a:ext>
              </a:extLst>
            </p:cNvPr>
            <p:cNvSpPr/>
            <p:nvPr/>
          </p:nvSpPr>
          <p:spPr>
            <a:xfrm>
              <a:off x="8707818" y="384751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827AA04-44EB-4940-BE3D-9121AAAA231A}"/>
                </a:ext>
              </a:extLst>
            </p:cNvPr>
            <p:cNvSpPr/>
            <p:nvPr/>
          </p:nvSpPr>
          <p:spPr>
            <a:xfrm>
              <a:off x="8904274" y="384751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0939681-4376-4F22-AED0-997AC41010E5}"/>
                </a:ext>
              </a:extLst>
            </p:cNvPr>
            <p:cNvSpPr/>
            <p:nvPr/>
          </p:nvSpPr>
          <p:spPr>
            <a:xfrm>
              <a:off x="9069658" y="381563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9F93EBD-A890-44AC-9A7C-C2AD2768EB34}"/>
                </a:ext>
              </a:extLst>
            </p:cNvPr>
            <p:cNvSpPr/>
            <p:nvPr/>
          </p:nvSpPr>
          <p:spPr>
            <a:xfrm>
              <a:off x="8935345" y="37189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4B50D055-5F22-495B-B08A-61060DA01404}"/>
                </a:ext>
              </a:extLst>
            </p:cNvPr>
            <p:cNvSpPr/>
            <p:nvPr/>
          </p:nvSpPr>
          <p:spPr>
            <a:xfrm>
              <a:off x="9153564" y="355658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C672881-96C7-4FDD-8BEE-43D1B3FF4BB8}"/>
                </a:ext>
              </a:extLst>
            </p:cNvPr>
            <p:cNvSpPr/>
            <p:nvPr/>
          </p:nvSpPr>
          <p:spPr>
            <a:xfrm>
              <a:off x="8910860" y="3861960"/>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2B826E6-9869-4843-99CB-DCB0E362A1F2}"/>
                </a:ext>
              </a:extLst>
            </p:cNvPr>
            <p:cNvSpPr/>
            <p:nvPr/>
          </p:nvSpPr>
          <p:spPr>
            <a:xfrm>
              <a:off x="8415904" y="401074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61D1096-C32B-473F-B986-A4D83F48C5AF}"/>
                </a:ext>
              </a:extLst>
            </p:cNvPr>
            <p:cNvSpPr/>
            <p:nvPr/>
          </p:nvSpPr>
          <p:spPr>
            <a:xfrm>
              <a:off x="8612360" y="401074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FC22F87-9455-455E-978F-9D2BFC96DA39}"/>
                </a:ext>
              </a:extLst>
            </p:cNvPr>
            <p:cNvSpPr/>
            <p:nvPr/>
          </p:nvSpPr>
          <p:spPr>
            <a:xfrm>
              <a:off x="8777744" y="397886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E992A23-14FE-4050-A69C-A96858777CEC}"/>
                </a:ext>
              </a:extLst>
            </p:cNvPr>
            <p:cNvSpPr/>
            <p:nvPr/>
          </p:nvSpPr>
          <p:spPr>
            <a:xfrm>
              <a:off x="8643431" y="388218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A7BF803-4769-4C55-86E9-26EA811AAE10}"/>
                </a:ext>
              </a:extLst>
            </p:cNvPr>
            <p:cNvSpPr/>
            <p:nvPr/>
          </p:nvSpPr>
          <p:spPr>
            <a:xfrm>
              <a:off x="8861650" y="371981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09ED2234-9F71-4CF5-AA5C-93DCDA31EA88}"/>
                  </a:ext>
                </a:extLst>
              </p:cNvPr>
              <p:cNvSpPr txBox="1">
                <a:spLocks/>
              </p:cNvSpPr>
              <p:nvPr>
                <p:extLst/>
              </p:nvPr>
            </p:nvSpPr>
            <p:spPr>
              <a:xfrm>
                <a:off x="7040099" y="4416414"/>
                <a:ext cx="5622603" cy="2090974"/>
              </a:xfrm>
              <a:prstGeom prst="rect">
                <a:avLst/>
              </a:prstGeom>
            </p:spPr>
            <p:txBody>
              <a:bodyPr vert="horz" lIns="91440" tIns="45720" rIns="91440" bIns="45720" rtlCol="0" anchor="t">
                <a:noAutofit/>
              </a:bodyPr>
              <a:lstStyle>
                <a:lvl1pPr marL="228589" indent="-228589" algn="l" defTabSz="914354" rtl="0" eaLnBrk="1" latinLnBrk="0" hangingPunct="1">
                  <a:lnSpc>
                    <a:spcPct val="120000"/>
                  </a:lnSpc>
                  <a:spcBef>
                    <a:spcPts val="1000"/>
                  </a:spcBef>
                  <a:buClr>
                    <a:schemeClr val="accent1"/>
                  </a:buClr>
                  <a:buSzPct val="100000"/>
                  <a:buFont typeface="Arial" panose="020B0604020202020204" pitchFamily="34" charset="0"/>
                  <a:buChar char="•"/>
                  <a:defRPr sz="2400" kern="1200">
                    <a:solidFill>
                      <a:srgbClr val="454545"/>
                    </a:solidFill>
                    <a:effectLst/>
                    <a:latin typeface="+mn-lt"/>
                    <a:ea typeface="+mn-ea"/>
                    <a:cs typeface="+mn-cs"/>
                  </a:defRPr>
                </a:lvl1pPr>
                <a:lvl2pPr marL="685766"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2000" kern="1200" cap="none" baseline="0">
                    <a:solidFill>
                      <a:srgbClr val="454545"/>
                    </a:solidFill>
                    <a:effectLst/>
                    <a:latin typeface="+mn-lt"/>
                    <a:ea typeface="+mn-ea"/>
                    <a:cs typeface="+mn-cs"/>
                  </a:defRPr>
                </a:lvl2pPr>
                <a:lvl3pPr marL="1142942"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800" kern="1200">
                    <a:solidFill>
                      <a:srgbClr val="454545"/>
                    </a:solidFill>
                    <a:effectLst/>
                    <a:latin typeface="+mn-lt"/>
                    <a:ea typeface="+mn-ea"/>
                    <a:cs typeface="+mn-cs"/>
                  </a:defRPr>
                </a:lvl3pPr>
                <a:lvl4pPr marL="1600120"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rgbClr val="454545"/>
                    </a:solidFill>
                    <a:effectLst/>
                    <a:latin typeface="+mn-lt"/>
                    <a:ea typeface="+mn-ea"/>
                    <a:cs typeface="+mn-cs"/>
                  </a:defRPr>
                </a:lvl4pPr>
                <a:lvl5pPr marL="2057298"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400" kern="1200">
                    <a:solidFill>
                      <a:srgbClr val="454545"/>
                    </a:solidFill>
                    <a:effectLst/>
                    <a:latin typeface="+mn-lt"/>
                    <a:ea typeface="+mn-ea"/>
                    <a:cs typeface="+mn-cs"/>
                  </a:defRPr>
                </a:lvl5pPr>
                <a:lvl6pPr marL="2514474"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652"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8829"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006" indent="-228589" algn="l" defTabSz="914354"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dirty="0"/>
                  <a:t>Cost function: </a:t>
                </a:r>
                <a14:m>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w</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m:rPr>
                                    <m:sty m:val="p"/>
                                  </m:rPr>
                                  <a:rPr lang="en-US" b="0" i="0" smtClean="0">
                                    <a:latin typeface="Cambria Math" panose="02040503050406030204" pitchFamily="18" charset="0"/>
                                  </a:rPr>
                                  <m:t>w</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𝑦</m:t>
                            </m:r>
                          </m:e>
                        </m:d>
                      </m:e>
                      <m:sup>
                        <m:r>
                          <a:rPr lang="en-US" b="0" i="1" smtClean="0">
                            <a:latin typeface="Cambria Math" panose="02040503050406030204" pitchFamily="18" charset="0"/>
                          </a:rPr>
                          <m:t>2</m:t>
                        </m:r>
                      </m:sup>
                    </m:sSup>
                    <m:r>
                      <a:rPr lang="en-US" b="0" i="1" smtClean="0">
                        <a:latin typeface="Cambria Math" panose="02040503050406030204" pitchFamily="18" charset="0"/>
                      </a:rPr>
                      <m:t> </m:t>
                    </m:r>
                  </m:oMath>
                </a14:m>
                <a:br>
                  <a:rPr lang="en-US" dirty="0"/>
                </a:br>
                <a:r>
                  <a:rPr lang="en-US" dirty="0"/>
                  <a:t>(a.k.a. L2 norm)</a:t>
                </a:r>
              </a:p>
            </p:txBody>
          </p:sp>
        </mc:Choice>
        <mc:Fallback xmlns="">
          <p:sp>
            <p:nvSpPr>
              <p:cNvPr id="53" name="Content Placeholder 2">
                <a:extLst>
                  <a:ext uri="{FF2B5EF4-FFF2-40B4-BE49-F238E27FC236}">
                    <a16:creationId xmlns:a16="http://schemas.microsoft.com/office/drawing/2014/main" id="{09ED2234-9F71-4CF5-AA5C-93DCDA31EA88}"/>
                  </a:ext>
                </a:extLst>
              </p:cNvPr>
              <p:cNvSpPr txBox="1">
                <a:spLocks noRot="1" noChangeAspect="1" noMove="1" noResize="1" noEditPoints="1" noAdjustHandles="1" noChangeArrowheads="1" noChangeShapeType="1" noTextEdit="1"/>
              </p:cNvSpPr>
              <p:nvPr>
                <p:extLst/>
              </p:nvPr>
            </p:nvSpPr>
            <p:spPr>
              <a:xfrm>
                <a:off x="7040099" y="4416414"/>
                <a:ext cx="5622603" cy="2090974"/>
              </a:xfrm>
              <a:prstGeom prst="rect">
                <a:avLst/>
              </a:prstGeom>
              <a:blipFill>
                <a:blip r:embed="rId3"/>
                <a:stretch>
                  <a:fillRect l="-1518"/>
                </a:stretch>
              </a:blipFill>
            </p:spPr>
            <p:txBody>
              <a:bodyPr/>
              <a:lstStyle/>
              <a:p>
                <a:r>
                  <a:rPr lang="en-US">
                    <a:noFill/>
                  </a:rPr>
                  <a:t> </a:t>
                </a:r>
              </a:p>
            </p:txBody>
          </p:sp>
        </mc:Fallback>
      </mc:AlternateContent>
      <p:sp>
        <p:nvSpPr>
          <p:cNvPr id="56" name="Isosceles Triangle 55">
            <a:extLst>
              <a:ext uri="{FF2B5EF4-FFF2-40B4-BE49-F238E27FC236}">
                <a16:creationId xmlns:a16="http://schemas.microsoft.com/office/drawing/2014/main" id="{561A172C-3E39-4783-85FD-E2D61850BAD1}"/>
              </a:ext>
            </a:extLst>
          </p:cNvPr>
          <p:cNvSpPr/>
          <p:nvPr/>
        </p:nvSpPr>
        <p:spPr>
          <a:xfrm rot="9780968">
            <a:off x="4099078" y="4423026"/>
            <a:ext cx="300942" cy="8926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69A77326-E2CF-42EB-B7AA-1B949CB63F5B}"/>
              </a:ext>
            </a:extLst>
          </p:cNvPr>
          <p:cNvSpPr/>
          <p:nvPr/>
        </p:nvSpPr>
        <p:spPr>
          <a:xfrm>
            <a:off x="3045019" y="4020200"/>
            <a:ext cx="1478804" cy="6366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Learning Rate</a:t>
            </a:r>
          </a:p>
        </p:txBody>
      </p:sp>
      <p:sp>
        <p:nvSpPr>
          <p:cNvPr id="57" name="Isosceles Triangle 56">
            <a:extLst>
              <a:ext uri="{FF2B5EF4-FFF2-40B4-BE49-F238E27FC236}">
                <a16:creationId xmlns:a16="http://schemas.microsoft.com/office/drawing/2014/main" id="{026063BA-0966-4E54-AEA9-5AACE81A8CA0}"/>
              </a:ext>
            </a:extLst>
          </p:cNvPr>
          <p:cNvSpPr/>
          <p:nvPr/>
        </p:nvSpPr>
        <p:spPr>
          <a:xfrm rot="12490709">
            <a:off x="5310489" y="4356664"/>
            <a:ext cx="300942" cy="892600"/>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C87249B0-E7C8-4947-B327-1594C821F979}"/>
              </a:ext>
            </a:extLst>
          </p:cNvPr>
          <p:cNvSpPr/>
          <p:nvPr/>
        </p:nvSpPr>
        <p:spPr>
          <a:xfrm>
            <a:off x="4864338" y="4253461"/>
            <a:ext cx="1712250" cy="636608"/>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Error Magnitude </a:t>
            </a:r>
          </a:p>
        </p:txBody>
      </p:sp>
      <p:sp>
        <p:nvSpPr>
          <p:cNvPr id="59" name="Isosceles Triangle 58">
            <a:extLst>
              <a:ext uri="{FF2B5EF4-FFF2-40B4-BE49-F238E27FC236}">
                <a16:creationId xmlns:a16="http://schemas.microsoft.com/office/drawing/2014/main" id="{22B4169E-7550-45D3-B093-5B8CA99D765D}"/>
              </a:ext>
            </a:extLst>
          </p:cNvPr>
          <p:cNvSpPr/>
          <p:nvPr/>
        </p:nvSpPr>
        <p:spPr>
          <a:xfrm rot="14754950">
            <a:off x="6511225" y="4563835"/>
            <a:ext cx="300942" cy="89260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AC4037A-B2BB-4669-8B4A-D907CC7B404B}"/>
              </a:ext>
            </a:extLst>
          </p:cNvPr>
          <p:cNvSpPr/>
          <p:nvPr/>
        </p:nvSpPr>
        <p:spPr>
          <a:xfrm>
            <a:off x="6703495" y="4492168"/>
            <a:ext cx="1665109" cy="636608"/>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Error Direction </a:t>
            </a:r>
          </a:p>
        </p:txBody>
      </p:sp>
    </p:spTree>
    <p:extLst>
      <p:ext uri="{BB962C8B-B14F-4D97-AF65-F5344CB8AC3E}">
        <p14:creationId xmlns:p14="http://schemas.microsoft.com/office/powerpoint/2010/main" val="1958504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extLst/>
          </p:nvPr>
        </p:nvSpPr>
        <p:spPr/>
        <p:txBody>
          <a:bodyPr/>
          <a:lstStyle/>
          <a:p>
            <a:r>
              <a:rPr lang="en-US" dirty="0"/>
              <a:t>Batch Linear Regression</a:t>
            </a:r>
            <a:r>
              <a:rPr lang="en-US" dirty="0">
                <a:solidFill>
                  <a:srgbClr val="404040"/>
                </a:solidFill>
              </a:rPr>
              <a:t> on Shared Data</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extLst/>
              </p:nvPr>
            </p:nvSpPr>
            <p:spPr>
              <a:xfrm>
                <a:off x="1450975" y="1695450"/>
                <a:ext cx="6340159" cy="5162550"/>
              </a:xfrm>
            </p:spPr>
            <p:txBody>
              <a:bodyPr>
                <a:noAutofit/>
              </a:bodyPr>
              <a:lstStyle/>
              <a:p>
                <a:r>
                  <a:rPr lang="en-US" dirty="0"/>
                  <a:t>Given, </a:t>
                </a:r>
                <a14:m>
                  <m:oMath xmlns:m="http://schemas.openxmlformats.org/officeDocument/2006/math">
                    <m:r>
                      <a:rPr lang="en-US" b="0" i="0" smtClean="0">
                        <a:latin typeface="Cambria Math" panose="02040503050406030204" pitchFamily="18" charset="0"/>
                      </a:rPr>
                      <m:t>  </m:t>
                    </m:r>
                    <m:r>
                      <m:rPr>
                        <m:sty m:val="p"/>
                      </m:rPr>
                      <a:rPr lang="en-US" b="0" i="0" smtClean="0">
                        <a:latin typeface="Cambria Math" panose="02040503050406030204" pitchFamily="18" charset="0"/>
                      </a:rPr>
                      <m:t>X</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4"/>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𝑥</m:t>
                                  </m:r>
                                </m:e>
                                <m:sub>
                                  <m:r>
                                    <m:rPr>
                                      <m:brk m:alnAt="7"/>
                                    </m:rPr>
                                    <a:rPr lang="en-US" b="0" i="1" smtClean="0">
                                      <a:latin typeface="Cambria Math" panose="02040503050406030204" pitchFamily="18" charset="0"/>
                                    </a:rPr>
                                    <m:t>1</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12</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𝑑</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22</m:t>
                                  </m:r>
                                </m:sub>
                              </m:sSub>
                            </m:e>
                            <m:e>
                              <m:r>
                                <a:rPr lang="en-US" i="1">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𝑑</m:t>
                                  </m:r>
                                </m:sub>
                              </m:sSub>
                            </m:e>
                          </m:mr>
                          <m:mr>
                            <m:e>
                              <m:r>
                                <a:rPr lang="en-US" i="1">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2</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𝑛𝑑</m:t>
                                  </m:r>
                                </m:sub>
                              </m:sSub>
                            </m:e>
                          </m:mr>
                        </m:m>
                      </m:e>
                    </m:d>
                    <m:r>
                      <a:rPr lang="en-US" b="0" i="1"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m:t>
                    </m:r>
                  </m:oMath>
                </a14:m>
                <a:r>
                  <a:rPr lang="en-US" dirty="0"/>
                  <a:t> </a:t>
                </a:r>
                <a14:m>
                  <m:oMath xmlns:m="http://schemas.openxmlformats.org/officeDocument/2006/math">
                    <m:d>
                      <m:dPr>
                        <m:begChr m:val="["/>
                        <m:endChr m:val="]"/>
                        <m:ctrlPr>
                          <a:rPr lang="en-US" i="1">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e>
                          <m:e>
                            <m:r>
                              <a:rPr lang="en-US" i="1">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e>
                        </m:eqArr>
                      </m:e>
                    </m:d>
                  </m:oMath>
                </a14:m>
                <a:endParaRPr lang="en-US" dirty="0"/>
              </a:p>
              <a:p>
                <a:r>
                  <a:rPr lang="en-US" dirty="0"/>
                  <a:t>Find a linear function </a:t>
                </a:r>
                <a14:m>
                  <m:oMath xmlns:m="http://schemas.openxmlformats.org/officeDocument/2006/math">
                    <m:r>
                      <a:rPr lang="en-US" b="0" i="1" smtClean="0">
                        <a:latin typeface="Cambria Math" panose="02040503050406030204" pitchFamily="18" charset="0"/>
                      </a:rPr>
                      <m:t>𝑓</m:t>
                    </m:r>
                  </m:oMath>
                </a14:m>
                <a:r>
                  <a:rPr lang="en-US" dirty="0"/>
                  <a:t> </a:t>
                </a:r>
                <a:r>
                  <a:rPr lang="en-US" dirty="0" err="1"/>
                  <a:t>s.t.</a:t>
                </a:r>
                <a:r>
                  <a:rPr lang="en-US" dirty="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oMath>
                </a14:m>
                <a:endParaRPr lang="en-US" b="0" dirty="0"/>
              </a:p>
              <a:p>
                <a:r>
                  <a:rPr lang="en-US" dirty="0"/>
                  <a:t>Update in batches:</a:t>
                </a:r>
              </a:p>
              <a:p>
                <a:pPr lvl="1"/>
                <a:r>
                  <a:rPr lang="en-US" dirty="0"/>
                  <a:t>For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1,2,…,</m:t>
                        </m:r>
                        <m:r>
                          <a:rPr lang="en-US" b="0" i="1" smtClean="0">
                            <a:latin typeface="Cambria Math" panose="02040503050406030204" pitchFamily="18" charset="0"/>
                          </a:rPr>
                          <m:t>𝑛</m:t>
                        </m:r>
                      </m:e>
                    </m:d>
                  </m:oMath>
                </a14:m>
                <a:br>
                  <a:rPr lang="en-US" dirty="0"/>
                </a:br>
                <a14:m>
                  <m:oMath xmlns:m="http://schemas.openxmlformats.org/officeDocument/2006/math">
                    <m:r>
                      <a:rPr lang="en-US" b="1" i="0" smtClean="0">
                        <a:latin typeface="Cambria Math" panose="02040503050406030204" pitchFamily="18" charset="0"/>
                      </a:rPr>
                      <m:t>𝐰</m:t>
                    </m:r>
                    <m:r>
                      <a:rPr lang="en-US" b="1" i="0" smtClean="0">
                        <a:latin typeface="Cambria Math" panose="02040503050406030204" pitchFamily="18" charset="0"/>
                      </a:rPr>
                      <m:t>=</m:t>
                    </m:r>
                    <m:r>
                      <a:rPr lang="en-US" b="1" i="0" smtClean="0">
                        <a:latin typeface="Cambria Math" panose="02040503050406030204" pitchFamily="18" charset="0"/>
                      </a:rPr>
                      <m:t>𝐰</m:t>
                    </m:r>
                    <m:r>
                      <a:rPr lang="en-US" b="1" i="0"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𝑩</m:t>
                            </m:r>
                          </m:e>
                        </m:d>
                      </m:den>
                    </m:f>
                    <m:r>
                      <a:rPr lang="en-US" b="1" i="1" smtClean="0">
                        <a:latin typeface="Cambria Math" panose="02040503050406030204" pitchFamily="18" charset="0"/>
                      </a:rPr>
                      <m:t>𝜶</m:t>
                    </m:r>
                    <m:sSubSup>
                      <m:sSubSupPr>
                        <m:ctrlPr>
                          <a:rPr lang="en-US" b="1" i="1">
                            <a:latin typeface="Cambria Math" panose="02040503050406030204" pitchFamily="18" charset="0"/>
                          </a:rPr>
                        </m:ctrlPr>
                      </m:sSubSupPr>
                      <m:e>
                        <m:r>
                          <a:rPr lang="en-US" b="1" i="1">
                            <a:latin typeface="Cambria Math" panose="02040503050406030204" pitchFamily="18" charset="0"/>
                          </a:rPr>
                          <m:t>𝑿</m:t>
                        </m:r>
                      </m:e>
                      <m:sub>
                        <m:r>
                          <a:rPr lang="en-US" b="1" i="1">
                            <a:latin typeface="Cambria Math" panose="02040503050406030204" pitchFamily="18" charset="0"/>
                          </a:rPr>
                          <m:t>𝑩</m:t>
                        </m:r>
                      </m:sub>
                      <m:sup>
                        <m:r>
                          <a:rPr lang="en-US" b="1" i="1">
                            <a:latin typeface="Cambria Math" panose="02040503050406030204" pitchFamily="18" charset="0"/>
                          </a:rPr>
                          <m:t>𝑻</m:t>
                        </m:r>
                      </m:sup>
                    </m:sSubSup>
                    <m:r>
                      <a:rPr lang="en-US" b="1" i="1" smtClean="0">
                        <a:latin typeface="Cambria Math" panose="02040503050406030204" pitchFamily="18" charset="0"/>
                      </a:rPr>
                      <m:t>×</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𝑩</m:t>
                            </m:r>
                          </m:sub>
                        </m:sSub>
                        <m:r>
                          <a:rPr lang="en-US" b="1" i="1" smtClean="0">
                            <a:latin typeface="Cambria Math" panose="02040503050406030204" pitchFamily="18" charset="0"/>
                          </a:rPr>
                          <m:t>×</m:t>
                        </m:r>
                        <m:r>
                          <a:rPr lang="en-US" b="1" i="0" smtClean="0">
                            <a:latin typeface="Cambria Math" panose="02040503050406030204" pitchFamily="18" charset="0"/>
                          </a:rPr>
                          <m:t>𝐰</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𝒀</m:t>
                            </m:r>
                          </m:e>
                          <m:sub>
                            <m:r>
                              <a:rPr lang="en-US" b="1" i="1" smtClean="0">
                                <a:latin typeface="Cambria Math" panose="02040503050406030204" pitchFamily="18" charset="0"/>
                              </a:rPr>
                              <m:t>𝑩</m:t>
                            </m:r>
                          </m:sub>
                        </m:sSub>
                      </m:e>
                    </m:d>
                  </m:oMath>
                </a14:m>
                <a:endParaRPr lang="en-US" b="1" dirty="0"/>
              </a:p>
              <a:p>
                <a:r>
                  <a:rPr lang="en-US" dirty="0"/>
                  <a:t>Must do many matrix multiplications</a:t>
                </a:r>
              </a:p>
            </p:txBody>
          </p:sp>
        </mc:Choice>
        <mc:Fallback xmlns="">
          <p:sp>
            <p:nvSpPr>
              <p:cNvPr id="3" name="Content Placeholder 2"/>
              <p:cNvSpPr>
                <a:spLocks noGrp="1" noRot="1" noChangeAspect="1" noMove="1" noResize="1" noEditPoints="1" noAdjustHandles="1" noChangeArrowheads="1" noChangeShapeType="1" noTextEdit="1"/>
              </p:cNvSpPr>
              <p:nvPr>
                <p:ph idx="1"/>
                <p:extLst/>
              </p:nvPr>
            </p:nvSpPr>
            <p:spPr>
              <a:xfrm>
                <a:off x="1450975" y="1695450"/>
                <a:ext cx="6340159" cy="5162550"/>
              </a:xfrm>
              <a:blipFill>
                <a:blip r:embed="rId2"/>
                <a:stretch>
                  <a:fillRect l="-1250"/>
                </a:stretch>
              </a:blipFill>
            </p:spPr>
            <p:txBody>
              <a:bodyPr/>
              <a:lstStyle/>
              <a:p>
                <a:r>
                  <a:rPr lang="en-US">
                    <a:noFill/>
                  </a:rPr>
                  <a:t> </a:t>
                </a:r>
              </a:p>
            </p:txBody>
          </p:sp>
        </mc:Fallback>
      </mc:AlternateContent>
      <p:grpSp>
        <p:nvGrpSpPr>
          <p:cNvPr id="52" name="Group 51">
            <a:extLst>
              <a:ext uri="{FF2B5EF4-FFF2-40B4-BE49-F238E27FC236}">
                <a16:creationId xmlns:a16="http://schemas.microsoft.com/office/drawing/2014/main" id="{52EDAE40-846F-47A7-B7B1-9315EF869593}"/>
              </a:ext>
            </a:extLst>
          </p:cNvPr>
          <p:cNvGrpSpPr/>
          <p:nvPr/>
        </p:nvGrpSpPr>
        <p:grpSpPr>
          <a:xfrm>
            <a:off x="8516232" y="1278997"/>
            <a:ext cx="3846563" cy="2588938"/>
            <a:chOff x="6583815" y="2672420"/>
            <a:chExt cx="3846563" cy="2588938"/>
          </a:xfrm>
        </p:grpSpPr>
        <p:cxnSp>
          <p:nvCxnSpPr>
            <p:cNvPr id="4" name="Straight Arrow Connector 3">
              <a:extLst>
                <a:ext uri="{FF2B5EF4-FFF2-40B4-BE49-F238E27FC236}">
                  <a16:creationId xmlns:a16="http://schemas.microsoft.com/office/drawing/2014/main" id="{F908CB77-E827-4160-92DE-48E9DB4AF353}"/>
                </a:ext>
              </a:extLst>
            </p:cNvPr>
            <p:cNvCxnSpPr/>
            <p:nvPr/>
          </p:nvCxnSpPr>
          <p:spPr>
            <a:xfrm>
              <a:off x="6713306" y="5076630"/>
              <a:ext cx="32515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381DC972-6128-42A2-A547-FBF77A8B42B8}"/>
                </a:ext>
              </a:extLst>
            </p:cNvPr>
            <p:cNvCxnSpPr/>
            <p:nvPr/>
          </p:nvCxnSpPr>
          <p:spPr>
            <a:xfrm flipV="1">
              <a:off x="6713306" y="3169698"/>
              <a:ext cx="0" cy="19069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Oval 5">
              <a:extLst>
                <a:ext uri="{FF2B5EF4-FFF2-40B4-BE49-F238E27FC236}">
                  <a16:creationId xmlns:a16="http://schemas.microsoft.com/office/drawing/2014/main" id="{AE5A444A-3AFA-4C0E-ADC3-FA5DA480F149}"/>
                </a:ext>
              </a:extLst>
            </p:cNvPr>
            <p:cNvSpPr/>
            <p:nvPr/>
          </p:nvSpPr>
          <p:spPr>
            <a:xfrm>
              <a:off x="8059420" y="4320720"/>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B472F10-4B72-490F-B94D-25EEB8EB8791}"/>
                </a:ext>
              </a:extLst>
            </p:cNvPr>
            <p:cNvSpPr/>
            <p:nvPr/>
          </p:nvSpPr>
          <p:spPr>
            <a:xfrm>
              <a:off x="6904892" y="491338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323CEED-CD6A-4A8F-9110-DF3EEEEF2921}"/>
                </a:ext>
              </a:extLst>
            </p:cNvPr>
            <p:cNvSpPr/>
            <p:nvPr/>
          </p:nvSpPr>
          <p:spPr>
            <a:xfrm>
              <a:off x="8223608" y="407257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E7484DB-F748-4185-B96F-ACA7E5DE2DE3}"/>
                </a:ext>
              </a:extLst>
            </p:cNvPr>
            <p:cNvSpPr/>
            <p:nvPr/>
          </p:nvSpPr>
          <p:spPr>
            <a:xfrm>
              <a:off x="7009943" y="478215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7F2E93E-6B86-443B-B5D6-F2CCA5291804}"/>
                </a:ext>
              </a:extLst>
            </p:cNvPr>
            <p:cNvSpPr/>
            <p:nvPr/>
          </p:nvSpPr>
          <p:spPr>
            <a:xfrm>
              <a:off x="7108363" y="476433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06808CE-F195-43B1-AB32-7AA6C5E1C0F2}"/>
                </a:ext>
              </a:extLst>
            </p:cNvPr>
            <p:cNvSpPr/>
            <p:nvPr/>
          </p:nvSpPr>
          <p:spPr>
            <a:xfrm>
              <a:off x="7164539" y="485635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768D0DB-9899-44A1-BB8D-EF0E44178BDE}"/>
                </a:ext>
              </a:extLst>
            </p:cNvPr>
            <p:cNvSpPr/>
            <p:nvPr/>
          </p:nvSpPr>
          <p:spPr>
            <a:xfrm>
              <a:off x="7245202" y="466175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A493CA0-7952-47DE-849A-961578B269FA}"/>
                </a:ext>
              </a:extLst>
            </p:cNvPr>
            <p:cNvSpPr/>
            <p:nvPr/>
          </p:nvSpPr>
          <p:spPr>
            <a:xfrm>
              <a:off x="7318991" y="4751016"/>
              <a:ext cx="62144" cy="64008"/>
            </a:xfrm>
            <a:prstGeom prst="ellipse">
              <a:avLst/>
            </a:prstGeom>
            <a:solidFill>
              <a:schemeClr val="accent3"/>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40A7848-0EBA-4122-86B2-6FCE9B6BBAD1}"/>
                </a:ext>
              </a:extLst>
            </p:cNvPr>
            <p:cNvSpPr/>
            <p:nvPr/>
          </p:nvSpPr>
          <p:spPr>
            <a:xfrm>
              <a:off x="7334361" y="458655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057E4A-5470-4C71-A1F6-1B18CF674D46}"/>
                </a:ext>
              </a:extLst>
            </p:cNvPr>
            <p:cNvSpPr/>
            <p:nvPr/>
          </p:nvSpPr>
          <p:spPr>
            <a:xfrm>
              <a:off x="7441251" y="4650566"/>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E68F983-8AC1-471F-B8E6-2EAED14D8C20}"/>
                </a:ext>
              </a:extLst>
            </p:cNvPr>
            <p:cNvSpPr/>
            <p:nvPr/>
          </p:nvSpPr>
          <p:spPr>
            <a:xfrm>
              <a:off x="7440153" y="4561761"/>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B90C935-65D4-48BA-ABDC-6082E7E1E6EA}"/>
                </a:ext>
              </a:extLst>
            </p:cNvPr>
            <p:cNvSpPr/>
            <p:nvPr/>
          </p:nvSpPr>
          <p:spPr>
            <a:xfrm>
              <a:off x="7689108" y="4514973"/>
              <a:ext cx="62144" cy="64008"/>
            </a:xfrm>
            <a:prstGeom prst="ellipse">
              <a:avLst/>
            </a:prstGeom>
            <a:solidFill>
              <a:schemeClr val="accent3"/>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2C0BB1C-C12A-4A28-9AC6-E8C31E486204}"/>
                </a:ext>
              </a:extLst>
            </p:cNvPr>
            <p:cNvSpPr/>
            <p:nvPr/>
          </p:nvSpPr>
          <p:spPr>
            <a:xfrm>
              <a:off x="7909597" y="432944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28650A8-1298-4ACD-A990-1BF81E1B14C3}"/>
                </a:ext>
              </a:extLst>
            </p:cNvPr>
            <p:cNvSpPr/>
            <p:nvPr/>
          </p:nvSpPr>
          <p:spPr>
            <a:xfrm>
              <a:off x="7728652" y="4221363"/>
              <a:ext cx="62144" cy="64008"/>
            </a:xfrm>
            <a:prstGeom prst="ellipse">
              <a:avLst/>
            </a:prstGeom>
            <a:solidFill>
              <a:schemeClr val="accent3"/>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6BC5BC8-48C4-450D-AB06-EC77314185FB}"/>
                </a:ext>
              </a:extLst>
            </p:cNvPr>
            <p:cNvSpPr/>
            <p:nvPr/>
          </p:nvSpPr>
          <p:spPr>
            <a:xfrm>
              <a:off x="7714188" y="435834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A060C65-9CC5-42C2-9B9A-23019E09844E}"/>
                </a:ext>
              </a:extLst>
            </p:cNvPr>
            <p:cNvSpPr/>
            <p:nvPr/>
          </p:nvSpPr>
          <p:spPr>
            <a:xfrm>
              <a:off x="7925108" y="422136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FC4347B-3C74-4C6F-86FD-BF01A9EE9592}"/>
                </a:ext>
              </a:extLst>
            </p:cNvPr>
            <p:cNvSpPr/>
            <p:nvPr/>
          </p:nvSpPr>
          <p:spPr>
            <a:xfrm>
              <a:off x="7997226" y="442470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A7302AF-6C06-49EF-A66C-AE9EA38462F3}"/>
                </a:ext>
              </a:extLst>
            </p:cNvPr>
            <p:cNvSpPr/>
            <p:nvPr/>
          </p:nvSpPr>
          <p:spPr>
            <a:xfrm>
              <a:off x="7925108" y="443958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FA0EE00-585E-4895-9984-B771DC6A6649}"/>
                </a:ext>
              </a:extLst>
            </p:cNvPr>
            <p:cNvSpPr/>
            <p:nvPr/>
          </p:nvSpPr>
          <p:spPr>
            <a:xfrm>
              <a:off x="8090492" y="418948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FD40290-D781-4816-8CD8-AE8D5BA04856}"/>
                </a:ext>
              </a:extLst>
            </p:cNvPr>
            <p:cNvSpPr/>
            <p:nvPr/>
          </p:nvSpPr>
          <p:spPr>
            <a:xfrm>
              <a:off x="7956179" y="4092798"/>
              <a:ext cx="62144" cy="64008"/>
            </a:xfrm>
            <a:prstGeom prst="ellipse">
              <a:avLst/>
            </a:prstGeom>
            <a:solidFill>
              <a:schemeClr val="accent3"/>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5C84B5E-9E4C-4C22-9E21-DF0BF53DB689}"/>
                </a:ext>
              </a:extLst>
            </p:cNvPr>
            <p:cNvSpPr/>
            <p:nvPr/>
          </p:nvSpPr>
          <p:spPr>
            <a:xfrm>
              <a:off x="6998489" y="49025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9662F74-691A-4412-854F-57711870125F}"/>
                </a:ext>
              </a:extLst>
            </p:cNvPr>
            <p:cNvSpPr/>
            <p:nvPr/>
          </p:nvSpPr>
          <p:spPr>
            <a:xfrm>
              <a:off x="7615128" y="4450965"/>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667895D-41E8-4C0E-A09B-7530046609F6}"/>
                </a:ext>
              </a:extLst>
            </p:cNvPr>
            <p:cNvSpPr/>
            <p:nvPr/>
          </p:nvSpPr>
          <p:spPr>
            <a:xfrm>
              <a:off x="8355293" y="394133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0ACB765-E04E-4B5B-AD66-145B63D37063}"/>
                </a:ext>
              </a:extLst>
            </p:cNvPr>
            <p:cNvSpPr/>
            <p:nvPr/>
          </p:nvSpPr>
          <p:spPr>
            <a:xfrm>
              <a:off x="6998489" y="49025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01F8BDA-CD4E-463D-B4C2-5BC500CDC1CA}"/>
                </a:ext>
              </a:extLst>
            </p:cNvPr>
            <p:cNvSpPr/>
            <p:nvPr/>
          </p:nvSpPr>
          <p:spPr>
            <a:xfrm>
              <a:off x="8174398" y="393043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5812307-773B-456F-9F34-5E9881F794F9}"/>
                </a:ext>
              </a:extLst>
            </p:cNvPr>
            <p:cNvSpPr txBox="1"/>
            <p:nvPr/>
          </p:nvSpPr>
          <p:spPr>
            <a:xfrm>
              <a:off x="9942106" y="4892026"/>
              <a:ext cx="488272" cy="369332"/>
            </a:xfrm>
            <a:prstGeom prst="rect">
              <a:avLst/>
            </a:prstGeom>
            <a:noFill/>
          </p:spPr>
          <p:txBody>
            <a:bodyPr wrap="square" rtlCol="0">
              <a:spAutoFit/>
            </a:bodyPr>
            <a:lstStyle/>
            <a:p>
              <a:r>
                <a:rPr lang="en-US" i="1" dirty="0"/>
                <a:t>x</a:t>
              </a:r>
            </a:p>
          </p:txBody>
        </p:sp>
        <p:sp>
          <p:nvSpPr>
            <p:cNvPr id="32" name="TextBox 31">
              <a:extLst>
                <a:ext uri="{FF2B5EF4-FFF2-40B4-BE49-F238E27FC236}">
                  <a16:creationId xmlns:a16="http://schemas.microsoft.com/office/drawing/2014/main" id="{CD0749A5-6B4A-4A55-B214-66B92E79943A}"/>
                </a:ext>
              </a:extLst>
            </p:cNvPr>
            <p:cNvSpPr txBox="1"/>
            <p:nvPr/>
          </p:nvSpPr>
          <p:spPr>
            <a:xfrm>
              <a:off x="6583815" y="2672420"/>
              <a:ext cx="488272" cy="369332"/>
            </a:xfrm>
            <a:prstGeom prst="rect">
              <a:avLst/>
            </a:prstGeom>
            <a:noFill/>
          </p:spPr>
          <p:txBody>
            <a:bodyPr wrap="square" rtlCol="0">
              <a:spAutoFit/>
            </a:bodyPr>
            <a:lstStyle/>
            <a:p>
              <a:r>
                <a:rPr lang="en-US" i="1" dirty="0"/>
                <a:t>y</a:t>
              </a:r>
            </a:p>
          </p:txBody>
        </p:sp>
        <p:cxnSp>
          <p:nvCxnSpPr>
            <p:cNvPr id="33" name="Straight Connector 32">
              <a:extLst>
                <a:ext uri="{FF2B5EF4-FFF2-40B4-BE49-F238E27FC236}">
                  <a16:creationId xmlns:a16="http://schemas.microsoft.com/office/drawing/2014/main" id="{840474B3-E7F5-47A7-95F3-5226CB7D391F}"/>
                </a:ext>
              </a:extLst>
            </p:cNvPr>
            <p:cNvCxnSpPr/>
            <p:nvPr/>
          </p:nvCxnSpPr>
          <p:spPr>
            <a:xfrm flipV="1">
              <a:off x="6797272" y="3369267"/>
              <a:ext cx="2954478" cy="16081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8DFBCCDC-3880-496E-80C4-00723485C690}"/>
                </a:ext>
              </a:extLst>
            </p:cNvPr>
            <p:cNvSpPr/>
            <p:nvPr/>
          </p:nvSpPr>
          <p:spPr>
            <a:xfrm>
              <a:off x="8795800" y="361257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387387F-9E2B-4DB5-BCE3-2E8F813EEABE}"/>
                </a:ext>
              </a:extLst>
            </p:cNvPr>
            <p:cNvSpPr/>
            <p:nvPr/>
          </p:nvSpPr>
          <p:spPr>
            <a:xfrm>
              <a:off x="8300844" y="3761368"/>
              <a:ext cx="62144" cy="64008"/>
            </a:xfrm>
            <a:prstGeom prst="ellipse">
              <a:avLst/>
            </a:prstGeom>
            <a:solidFill>
              <a:schemeClr val="accent3"/>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AB88104-A610-4882-83B1-BAFB10E3D11B}"/>
                </a:ext>
              </a:extLst>
            </p:cNvPr>
            <p:cNvSpPr/>
            <p:nvPr/>
          </p:nvSpPr>
          <p:spPr>
            <a:xfrm>
              <a:off x="8497300" y="376136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5244D2D-4AE8-4C6E-8B17-DB32340B2A65}"/>
                </a:ext>
              </a:extLst>
            </p:cNvPr>
            <p:cNvSpPr/>
            <p:nvPr/>
          </p:nvSpPr>
          <p:spPr>
            <a:xfrm>
              <a:off x="8662684" y="372948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D83ACBC-8509-438F-9908-69510E497488}"/>
                </a:ext>
              </a:extLst>
            </p:cNvPr>
            <p:cNvSpPr/>
            <p:nvPr/>
          </p:nvSpPr>
          <p:spPr>
            <a:xfrm>
              <a:off x="8528371" y="3632803"/>
              <a:ext cx="62144" cy="64008"/>
            </a:xfrm>
            <a:prstGeom prst="ellipse">
              <a:avLst/>
            </a:prstGeom>
            <a:solidFill>
              <a:schemeClr val="accent3"/>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040E25AC-8075-4D94-86BC-F4693E462BFC}"/>
                </a:ext>
              </a:extLst>
            </p:cNvPr>
            <p:cNvSpPr/>
            <p:nvPr/>
          </p:nvSpPr>
          <p:spPr>
            <a:xfrm>
              <a:off x="8746590" y="3470437"/>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56B6A86-5E52-4424-B427-8B302E40B363}"/>
                </a:ext>
              </a:extLst>
            </p:cNvPr>
            <p:cNvSpPr/>
            <p:nvPr/>
          </p:nvSpPr>
          <p:spPr>
            <a:xfrm>
              <a:off x="9202774" y="369872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E600E588-3DA9-4075-9403-EAECD0A221A4}"/>
                </a:ext>
              </a:extLst>
            </p:cNvPr>
            <p:cNvSpPr/>
            <p:nvPr/>
          </p:nvSpPr>
          <p:spPr>
            <a:xfrm>
              <a:off x="8707818" y="384751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827AA04-44EB-4940-BE3D-9121AAAA231A}"/>
                </a:ext>
              </a:extLst>
            </p:cNvPr>
            <p:cNvSpPr/>
            <p:nvPr/>
          </p:nvSpPr>
          <p:spPr>
            <a:xfrm>
              <a:off x="8904274" y="3847513"/>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0939681-4376-4F22-AED0-997AC41010E5}"/>
                </a:ext>
              </a:extLst>
            </p:cNvPr>
            <p:cNvSpPr/>
            <p:nvPr/>
          </p:nvSpPr>
          <p:spPr>
            <a:xfrm>
              <a:off x="9069658" y="3815633"/>
              <a:ext cx="62144" cy="64008"/>
            </a:xfrm>
            <a:prstGeom prst="ellipse">
              <a:avLst/>
            </a:prstGeom>
            <a:solidFill>
              <a:schemeClr val="accent3"/>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9F93EBD-A890-44AC-9A7C-C2AD2768EB34}"/>
                </a:ext>
              </a:extLst>
            </p:cNvPr>
            <p:cNvSpPr/>
            <p:nvPr/>
          </p:nvSpPr>
          <p:spPr>
            <a:xfrm>
              <a:off x="8935345" y="371894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4B50D055-5F22-495B-B08A-61060DA01404}"/>
                </a:ext>
              </a:extLst>
            </p:cNvPr>
            <p:cNvSpPr/>
            <p:nvPr/>
          </p:nvSpPr>
          <p:spPr>
            <a:xfrm>
              <a:off x="9153564" y="3556582"/>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C672881-96C7-4FDD-8BEE-43D1B3FF4BB8}"/>
                </a:ext>
              </a:extLst>
            </p:cNvPr>
            <p:cNvSpPr/>
            <p:nvPr/>
          </p:nvSpPr>
          <p:spPr>
            <a:xfrm>
              <a:off x="8910860" y="3861960"/>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2B826E6-9869-4843-99CB-DCB0E362A1F2}"/>
                </a:ext>
              </a:extLst>
            </p:cNvPr>
            <p:cNvSpPr/>
            <p:nvPr/>
          </p:nvSpPr>
          <p:spPr>
            <a:xfrm>
              <a:off x="8415904" y="401074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61D1096-C32B-473F-B986-A4D83F48C5AF}"/>
                </a:ext>
              </a:extLst>
            </p:cNvPr>
            <p:cNvSpPr/>
            <p:nvPr/>
          </p:nvSpPr>
          <p:spPr>
            <a:xfrm>
              <a:off x="8612360" y="4010749"/>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FC22F87-9455-455E-978F-9D2BFC96DA39}"/>
                </a:ext>
              </a:extLst>
            </p:cNvPr>
            <p:cNvSpPr/>
            <p:nvPr/>
          </p:nvSpPr>
          <p:spPr>
            <a:xfrm>
              <a:off x="8777744" y="3978869"/>
              <a:ext cx="62144" cy="64008"/>
            </a:xfrm>
            <a:prstGeom prst="ellipse">
              <a:avLst/>
            </a:prstGeom>
            <a:solidFill>
              <a:schemeClr val="accent3"/>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E992A23-14FE-4050-A69C-A96858777CEC}"/>
                </a:ext>
              </a:extLst>
            </p:cNvPr>
            <p:cNvSpPr/>
            <p:nvPr/>
          </p:nvSpPr>
          <p:spPr>
            <a:xfrm>
              <a:off x="8643431" y="3882184"/>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A7BF803-4769-4C55-86E9-26EA811AAE10}"/>
                </a:ext>
              </a:extLst>
            </p:cNvPr>
            <p:cNvSpPr/>
            <p:nvPr/>
          </p:nvSpPr>
          <p:spPr>
            <a:xfrm>
              <a:off x="8861650" y="3719818"/>
              <a:ext cx="62144" cy="640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CE0AF754-4665-4A7D-9364-2E1ABCF28EFC}"/>
              </a:ext>
            </a:extLst>
          </p:cNvPr>
          <p:cNvSpPr/>
          <p:nvPr/>
        </p:nvSpPr>
        <p:spPr>
          <a:xfrm>
            <a:off x="3205113" y="2077014"/>
            <a:ext cx="4279375" cy="572440"/>
          </a:xfrm>
          <a:prstGeom prst="rect">
            <a:avLst/>
          </a:prstGeom>
          <a:solidFill>
            <a:srgbClr val="B71E42">
              <a:alpha val="2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75A0EBB4-E0A6-4E4D-968A-05F0F545ED25}"/>
              </a:ext>
            </a:extLst>
          </p:cNvPr>
          <p:cNvSpPr txBox="1"/>
          <p:nvPr/>
        </p:nvSpPr>
        <p:spPr>
          <a:xfrm>
            <a:off x="6663843" y="1447418"/>
            <a:ext cx="1680460" cy="369332"/>
          </a:xfrm>
          <a:prstGeom prst="rect">
            <a:avLst/>
          </a:prstGeom>
          <a:noFill/>
        </p:spPr>
        <p:txBody>
          <a:bodyPr wrap="square" rtlCol="0">
            <a:spAutoFit/>
          </a:bodyPr>
          <a:lstStyle/>
          <a:p>
            <a:r>
              <a:rPr lang="en-US" dirty="0"/>
              <a:t>Current Batch</a:t>
            </a:r>
          </a:p>
        </p:txBody>
      </p:sp>
      <p:cxnSp>
        <p:nvCxnSpPr>
          <p:cNvPr id="56" name="Straight Arrow Connector 55">
            <a:extLst>
              <a:ext uri="{FF2B5EF4-FFF2-40B4-BE49-F238E27FC236}">
                <a16:creationId xmlns:a16="http://schemas.microsoft.com/office/drawing/2014/main" id="{9E416567-1B2F-4DC6-95F1-F635B6F9B18F}"/>
              </a:ext>
            </a:extLst>
          </p:cNvPr>
          <p:cNvCxnSpPr>
            <a:cxnSpLocks/>
            <a:stCxn id="54" idx="1"/>
          </p:cNvCxnSpPr>
          <p:nvPr/>
        </p:nvCxnSpPr>
        <p:spPr>
          <a:xfrm flipH="1">
            <a:off x="6372520" y="1632084"/>
            <a:ext cx="291323" cy="4449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6304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45833E-6 -4.44444E-6 L -1.45833E-6 0.11065 " pathEditMode="relative" rAng="0" ptsTypes="AA">
                                      <p:cBhvr>
                                        <p:cTn id="6" dur="2000" fill="hold"/>
                                        <p:tgtEl>
                                          <p:spTgt spid="53"/>
                                        </p:tgtEl>
                                        <p:attrNameLst>
                                          <p:attrName>ppt_x</p:attrName>
                                          <p:attrName>ppt_y</p:attrName>
                                        </p:attrNameLst>
                                      </p:cBhvr>
                                      <p:rCtr x="0" y="5532"/>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7045-2D0A-4811-BB7E-3F8939D0420A}"/>
              </a:ext>
            </a:extLst>
          </p:cNvPr>
          <p:cNvSpPr>
            <a:spLocks noGrp="1"/>
          </p:cNvSpPr>
          <p:nvPr>
            <p:ph type="title"/>
          </p:nvPr>
        </p:nvSpPr>
        <p:spPr>
          <a:xfrm>
            <a:off x="1451581" y="526148"/>
            <a:ext cx="9603275" cy="1049235"/>
          </a:xfrm>
        </p:spPr>
        <p:txBody>
          <a:bodyPr/>
          <a:lstStyle/>
          <a:p>
            <a:r>
              <a:rPr lang="en-US" dirty="0"/>
              <a:t>Logistic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008D37-6FBB-40CC-AB09-62D322700FF9}"/>
                  </a:ext>
                </a:extLst>
              </p:cNvPr>
              <p:cNvSpPr>
                <a:spLocks noGrp="1"/>
              </p:cNvSpPr>
              <p:nvPr>
                <p:ph idx="1"/>
              </p:nvPr>
            </p:nvSpPr>
            <p:spPr>
              <a:xfrm>
                <a:off x="1451582" y="1694890"/>
                <a:ext cx="7041970" cy="5035848"/>
              </a:xfrm>
            </p:spPr>
            <p:txBody>
              <a:bodyPr>
                <a:normAutofit/>
              </a:bodyPr>
              <a:lstStyle/>
              <a:p>
                <a:r>
                  <a:rPr lang="en-US" sz="2000" dirty="0"/>
                  <a:t>Instead of computing</a:t>
                </a:r>
                <a:br>
                  <a:rPr lang="en-US" sz="2000" dirty="0"/>
                </a:br>
                <a14:m>
                  <m:oMath xmlns:m="http://schemas.openxmlformats.org/officeDocument/2006/math">
                    <m:r>
                      <a:rPr lang="en-US" sz="2000" b="1">
                        <a:latin typeface="Cambria Math" panose="02040503050406030204" pitchFamily="18" charset="0"/>
                      </a:rPr>
                      <m:t>𝐰</m:t>
                    </m:r>
                    <m:r>
                      <a:rPr lang="en-US" sz="2000" b="1">
                        <a:latin typeface="Cambria Math" panose="02040503050406030204" pitchFamily="18" charset="0"/>
                      </a:rPr>
                      <m:t>=</m:t>
                    </m:r>
                    <m:r>
                      <a:rPr lang="en-US" sz="2000" b="1">
                        <a:latin typeface="Cambria Math" panose="02040503050406030204" pitchFamily="18" charset="0"/>
                      </a:rPr>
                      <m:t>𝐰</m:t>
                    </m:r>
                    <m:r>
                      <a:rPr lang="en-US" sz="2000" b="1">
                        <a:latin typeface="Cambria Math" panose="02040503050406030204" pitchFamily="18" charset="0"/>
                      </a:rPr>
                      <m:t>−</m:t>
                    </m:r>
                    <m:f>
                      <m:fPr>
                        <m:ctrlPr>
                          <a:rPr lang="en-US" sz="2000" b="1" i="1">
                            <a:latin typeface="Cambria Math" panose="02040503050406030204" pitchFamily="18" charset="0"/>
                          </a:rPr>
                        </m:ctrlPr>
                      </m:fPr>
                      <m:num>
                        <m:r>
                          <a:rPr lang="en-US" sz="2000" b="1" i="1">
                            <a:latin typeface="Cambria Math" panose="02040503050406030204" pitchFamily="18" charset="0"/>
                          </a:rPr>
                          <m:t>𝟏</m:t>
                        </m:r>
                      </m:num>
                      <m:den>
                        <m:d>
                          <m:dPr>
                            <m:begChr m:val="|"/>
                            <m:endChr m:val="|"/>
                            <m:ctrlPr>
                              <a:rPr lang="en-US" sz="2000" b="1" i="1">
                                <a:latin typeface="Cambria Math" panose="02040503050406030204" pitchFamily="18" charset="0"/>
                              </a:rPr>
                            </m:ctrlPr>
                          </m:dPr>
                          <m:e>
                            <m:r>
                              <a:rPr lang="en-US" sz="2000" b="1" i="1">
                                <a:latin typeface="Cambria Math" panose="02040503050406030204" pitchFamily="18" charset="0"/>
                              </a:rPr>
                              <m:t>𝑩</m:t>
                            </m:r>
                          </m:e>
                        </m:d>
                      </m:den>
                    </m:f>
                    <m:r>
                      <a:rPr lang="en-US" sz="2000" b="1" i="1">
                        <a:latin typeface="Cambria Math" panose="02040503050406030204" pitchFamily="18" charset="0"/>
                      </a:rPr>
                      <m:t>𝜶</m:t>
                    </m:r>
                    <m:sSubSup>
                      <m:sSubSupPr>
                        <m:ctrlPr>
                          <a:rPr lang="en-US" sz="2000" b="1" i="1">
                            <a:latin typeface="Cambria Math" panose="02040503050406030204" pitchFamily="18" charset="0"/>
                          </a:rPr>
                        </m:ctrlPr>
                      </m:sSubSupPr>
                      <m:e>
                        <m:r>
                          <a:rPr lang="en-US" sz="2000" b="1" i="1">
                            <a:latin typeface="Cambria Math" panose="02040503050406030204" pitchFamily="18" charset="0"/>
                          </a:rPr>
                          <m:t>𝑿</m:t>
                        </m:r>
                      </m:e>
                      <m:sub>
                        <m:r>
                          <a:rPr lang="en-US" sz="2000" b="1" i="1">
                            <a:latin typeface="Cambria Math" panose="02040503050406030204" pitchFamily="18" charset="0"/>
                          </a:rPr>
                          <m:t>𝑩</m:t>
                        </m:r>
                      </m:sub>
                      <m:sup>
                        <m:r>
                          <a:rPr lang="en-US" sz="2000" b="1" i="1">
                            <a:latin typeface="Cambria Math" panose="02040503050406030204" pitchFamily="18" charset="0"/>
                          </a:rPr>
                          <m:t>𝑻</m:t>
                        </m:r>
                      </m:sup>
                    </m:sSubSup>
                    <m:r>
                      <a:rPr lang="en-US" sz="2000" b="1" i="1">
                        <a:latin typeface="Cambria Math" panose="02040503050406030204" pitchFamily="18" charset="0"/>
                      </a:rPr>
                      <m:t>×</m:t>
                    </m:r>
                    <m:d>
                      <m:dPr>
                        <m:ctrlPr>
                          <a:rPr lang="en-US" sz="2000" b="1" i="1">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panose="02040503050406030204" pitchFamily="18" charset="0"/>
                              </a:rPr>
                              <m:t>𝑿</m:t>
                            </m:r>
                          </m:e>
                          <m:sub>
                            <m:r>
                              <a:rPr lang="en-US" sz="2000" b="1" i="1">
                                <a:latin typeface="Cambria Math" panose="02040503050406030204" pitchFamily="18" charset="0"/>
                              </a:rPr>
                              <m:t>𝑩</m:t>
                            </m:r>
                          </m:sub>
                        </m:sSub>
                        <m:r>
                          <a:rPr lang="en-US" sz="2000" b="1" i="1">
                            <a:latin typeface="Cambria Math" panose="02040503050406030204" pitchFamily="18" charset="0"/>
                          </a:rPr>
                          <m:t>×</m:t>
                        </m:r>
                        <m:r>
                          <a:rPr lang="en-US" sz="2000" b="1">
                            <a:latin typeface="Cambria Math" panose="02040503050406030204" pitchFamily="18" charset="0"/>
                          </a:rPr>
                          <m:t>𝐰</m:t>
                        </m:r>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𝑩</m:t>
                            </m:r>
                          </m:sub>
                        </m:sSub>
                      </m:e>
                    </m:d>
                  </m:oMath>
                </a14:m>
                <a:endParaRPr lang="en-US" sz="2000" dirty="0"/>
              </a:p>
              <a:p>
                <a:r>
                  <a:rPr lang="en-US" sz="2000" dirty="0"/>
                  <a:t>We compute </a:t>
                </a:r>
                <a:br>
                  <a:rPr lang="en-US" sz="2000" dirty="0"/>
                </a:br>
                <a14:m>
                  <m:oMath xmlns:m="http://schemas.openxmlformats.org/officeDocument/2006/math">
                    <m:r>
                      <a:rPr lang="en-US" sz="2000" b="1">
                        <a:latin typeface="Cambria Math" panose="02040503050406030204" pitchFamily="18" charset="0"/>
                      </a:rPr>
                      <m:t>𝐰</m:t>
                    </m:r>
                    <m:r>
                      <a:rPr lang="en-US" sz="2000" b="1">
                        <a:latin typeface="Cambria Math" panose="02040503050406030204" pitchFamily="18" charset="0"/>
                      </a:rPr>
                      <m:t>=</m:t>
                    </m:r>
                    <m:r>
                      <a:rPr lang="en-US" sz="2000" b="1">
                        <a:latin typeface="Cambria Math" panose="02040503050406030204" pitchFamily="18" charset="0"/>
                      </a:rPr>
                      <m:t>𝐰</m:t>
                    </m:r>
                    <m:r>
                      <a:rPr lang="en-US" sz="2000" b="1">
                        <a:latin typeface="Cambria Math" panose="02040503050406030204" pitchFamily="18" charset="0"/>
                      </a:rPr>
                      <m:t>−</m:t>
                    </m:r>
                    <m:f>
                      <m:fPr>
                        <m:ctrlPr>
                          <a:rPr lang="en-US" sz="2000" b="1" i="1">
                            <a:latin typeface="Cambria Math" panose="02040503050406030204" pitchFamily="18" charset="0"/>
                          </a:rPr>
                        </m:ctrlPr>
                      </m:fPr>
                      <m:num>
                        <m:r>
                          <a:rPr lang="en-US" sz="2000" b="1" i="1">
                            <a:latin typeface="Cambria Math" panose="02040503050406030204" pitchFamily="18" charset="0"/>
                          </a:rPr>
                          <m:t>𝟏</m:t>
                        </m:r>
                      </m:num>
                      <m:den>
                        <m:d>
                          <m:dPr>
                            <m:begChr m:val="|"/>
                            <m:endChr m:val="|"/>
                            <m:ctrlPr>
                              <a:rPr lang="en-US" sz="2000" b="1" i="1">
                                <a:latin typeface="Cambria Math" panose="02040503050406030204" pitchFamily="18" charset="0"/>
                              </a:rPr>
                            </m:ctrlPr>
                          </m:dPr>
                          <m:e>
                            <m:r>
                              <a:rPr lang="en-US" sz="2000" b="1" i="1">
                                <a:latin typeface="Cambria Math" panose="02040503050406030204" pitchFamily="18" charset="0"/>
                              </a:rPr>
                              <m:t>𝑩</m:t>
                            </m:r>
                          </m:e>
                        </m:d>
                      </m:den>
                    </m:f>
                    <m:r>
                      <a:rPr lang="en-US" sz="2000" b="1" i="1">
                        <a:latin typeface="Cambria Math" panose="02040503050406030204" pitchFamily="18" charset="0"/>
                      </a:rPr>
                      <m:t>𝜶</m:t>
                    </m:r>
                    <m:sSubSup>
                      <m:sSubSupPr>
                        <m:ctrlPr>
                          <a:rPr lang="en-US" sz="2000" b="1" i="1">
                            <a:latin typeface="Cambria Math" panose="02040503050406030204" pitchFamily="18" charset="0"/>
                          </a:rPr>
                        </m:ctrlPr>
                      </m:sSubSupPr>
                      <m:e>
                        <m:r>
                          <a:rPr lang="en-US" sz="2000" b="1" i="1">
                            <a:latin typeface="Cambria Math" panose="02040503050406030204" pitchFamily="18" charset="0"/>
                          </a:rPr>
                          <m:t>𝑿</m:t>
                        </m:r>
                      </m:e>
                      <m:sub>
                        <m:r>
                          <a:rPr lang="en-US" sz="2000" b="1" i="1">
                            <a:latin typeface="Cambria Math" panose="02040503050406030204" pitchFamily="18" charset="0"/>
                          </a:rPr>
                          <m:t>𝑩</m:t>
                        </m:r>
                      </m:sub>
                      <m:sup>
                        <m:r>
                          <a:rPr lang="en-US" sz="2000" b="1" i="1">
                            <a:latin typeface="Cambria Math" panose="02040503050406030204" pitchFamily="18" charset="0"/>
                          </a:rPr>
                          <m:t>𝑻</m:t>
                        </m:r>
                      </m:sup>
                    </m:sSubSup>
                    <m:r>
                      <a:rPr lang="en-US" sz="2000" b="1" i="1">
                        <a:latin typeface="Cambria Math" panose="02040503050406030204" pitchFamily="18" charset="0"/>
                      </a:rPr>
                      <m:t>×</m:t>
                    </m:r>
                    <m:d>
                      <m:dPr>
                        <m:ctrlPr>
                          <a:rPr lang="en-US" sz="2000" b="1" i="1">
                            <a:latin typeface="Cambria Math" panose="02040503050406030204" pitchFamily="18" charset="0"/>
                          </a:rPr>
                        </m:ctrlPr>
                      </m:dPr>
                      <m:e>
                        <m:r>
                          <a:rPr lang="en-US" sz="2000" b="1" i="1" smtClean="0">
                            <a:solidFill>
                              <a:srgbClr val="C00000"/>
                            </a:solidFill>
                            <a:latin typeface="Cambria Math" panose="02040503050406030204" pitchFamily="18" charset="0"/>
                          </a:rPr>
                          <m:t>𝝓</m:t>
                        </m:r>
                        <m:r>
                          <a:rPr lang="en-US" sz="2000" b="1" i="1" smtClean="0">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𝑿</m:t>
                            </m:r>
                          </m:e>
                          <m:sub>
                            <m:r>
                              <a:rPr lang="en-US" sz="2000" b="1" i="1">
                                <a:solidFill>
                                  <a:srgbClr val="C00000"/>
                                </a:solidFill>
                                <a:latin typeface="Cambria Math" panose="02040503050406030204" pitchFamily="18" charset="0"/>
                              </a:rPr>
                              <m:t>𝑩</m:t>
                            </m:r>
                          </m:sub>
                        </m:sSub>
                        <m:r>
                          <a:rPr lang="en-US" sz="2000" b="1" i="1">
                            <a:solidFill>
                              <a:srgbClr val="C00000"/>
                            </a:solidFill>
                            <a:latin typeface="Cambria Math" panose="02040503050406030204" pitchFamily="18" charset="0"/>
                          </a:rPr>
                          <m:t>×</m:t>
                        </m:r>
                        <m:r>
                          <a:rPr lang="en-US" sz="2000" b="1">
                            <a:solidFill>
                              <a:srgbClr val="C00000"/>
                            </a:solidFill>
                            <a:latin typeface="Cambria Math" panose="02040503050406030204" pitchFamily="18" charset="0"/>
                          </a:rPr>
                          <m:t>𝐰</m:t>
                        </m:r>
                        <m:r>
                          <a:rPr lang="en-US" sz="2000" b="1" i="1" smtClean="0">
                            <a:solidFill>
                              <a:srgbClr val="C00000"/>
                            </a:solidFill>
                            <a:latin typeface="Cambria Math" panose="02040503050406030204" pitchFamily="18" charset="0"/>
                          </a:rPr>
                          <m:t>)</m:t>
                        </m:r>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𝑩</m:t>
                            </m:r>
                          </m:sub>
                        </m:sSub>
                      </m:e>
                    </m:d>
                  </m:oMath>
                </a14:m>
                <a:endParaRPr lang="en-US" sz="2000" dirty="0"/>
              </a:p>
              <a:p>
                <a14:m>
                  <m:oMath xmlns:m="http://schemas.openxmlformats.org/officeDocument/2006/math">
                    <m:r>
                      <a:rPr lang="en-US" sz="2000" b="0" i="1" smtClean="0">
                        <a:latin typeface="Cambria Math" panose="02040503050406030204" pitchFamily="18" charset="0"/>
                      </a:rPr>
                      <m:t>𝜙</m:t>
                    </m:r>
                  </m:oMath>
                </a14:m>
                <a:r>
                  <a:rPr lang="en-US" sz="2000" dirty="0"/>
                  <a:t> is very expensive to compute with just </a:t>
                </a:r>
                <a14:m>
                  <m:oMath xmlns:m="http://schemas.openxmlformats.org/officeDocument/2006/math">
                    <m:r>
                      <a:rPr lang="en-US" sz="2000" b="0" i="1" smtClean="0">
                        <a:latin typeface="Cambria Math" panose="02040503050406030204" pitchFamily="18" charset="0"/>
                      </a:rPr>
                      <m:t>+,∗</m:t>
                    </m:r>
                  </m:oMath>
                </a14:m>
                <a:r>
                  <a:rPr lang="en-US" sz="2000" dirty="0"/>
                  <a:t> operations</a:t>
                </a:r>
              </a:p>
              <a:p>
                <a:r>
                  <a:rPr lang="en-US" sz="2000" dirty="0"/>
                  <a:t>We build a piece-wise polynomial protocol for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𝜙</m:t>
                        </m:r>
                      </m:e>
                      <m:sup>
                        <m:r>
                          <a:rPr lang="en-US" sz="2000" b="0" i="1" smtClean="0">
                            <a:latin typeface="Cambria Math" panose="02040503050406030204" pitchFamily="18" charset="0"/>
                          </a:rPr>
                          <m:t>′</m:t>
                        </m:r>
                      </m:sup>
                    </m:s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e>
                    </m:d>
                    <m:r>
                      <a:rPr lang="en-US" sz="2000" b="0" i="1" smtClean="0">
                        <a:latin typeface="Cambria Math" panose="02040503050406030204" pitchFamily="18" charset="0"/>
                      </a:rPr>
                      <m:t>≈</m:t>
                    </m:r>
                    <m:r>
                      <a:rPr lang="en-US" sz="2000" b="0" i="1" smtClean="0">
                        <a:latin typeface="Cambria Math" panose="02040503050406030204" pitchFamily="18" charset="0"/>
                      </a:rPr>
                      <m:t>𝜙</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e>
                    </m:d>
                  </m:oMath>
                </a14:m>
                <a:br>
                  <a:rPr lang="en-US" sz="2000" b="0" dirty="0"/>
                </a:b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𝜙</m:t>
                        </m:r>
                      </m:e>
                      <m:sup>
                        <m:r>
                          <a:rPr lang="en-US" sz="2000" i="1">
                            <a:latin typeface="Cambria Math" panose="02040503050406030204" pitchFamily="18" charset="0"/>
                          </a:rPr>
                          <m:t>′</m:t>
                        </m:r>
                      </m:sup>
                    </m:sSup>
                    <m:d>
                      <m:dPr>
                        <m:ctrlPr>
                          <a:rPr lang="en-US" sz="2000" i="1">
                            <a:latin typeface="Cambria Math" panose="02040503050406030204" pitchFamily="18" charset="0"/>
                          </a:rPr>
                        </m:ctrlPr>
                      </m:dPr>
                      <m:e>
                        <m:r>
                          <a:rPr lang="en-US" sz="2000" i="1">
                            <a:latin typeface="Cambria Math" panose="02040503050406030204" pitchFamily="18" charset="0"/>
                          </a:rPr>
                          <m:t>𝑧</m:t>
                        </m:r>
                      </m:e>
                    </m:d>
                    <m:r>
                      <a:rPr lang="en-US" sz="2000" i="1">
                        <a:latin typeface="Cambria Math" panose="02040503050406030204" pitchFamily="18" charset="0"/>
                      </a:rPr>
                      <m:t>=</m:t>
                    </m:r>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max</m:t>
                        </m:r>
                      </m:fName>
                      <m:e>
                        <m:d>
                          <m:dPr>
                            <m:ctrlPr>
                              <a:rPr lang="en-US" sz="2000" i="1">
                                <a:latin typeface="Cambria Math" panose="02040503050406030204" pitchFamily="18" charset="0"/>
                              </a:rPr>
                            </m:ctrlPr>
                          </m:dPr>
                          <m:e>
                            <m:r>
                              <a:rPr lang="en-US" sz="2000" i="1">
                                <a:latin typeface="Cambria Math" panose="02040503050406030204" pitchFamily="18" charset="0"/>
                              </a:rPr>
                              <m:t>0,</m:t>
                            </m:r>
                            <m:r>
                              <m:rPr>
                                <m:sty m:val="p"/>
                              </m:rPr>
                              <a:rPr lang="en-US" sz="2000" i="1">
                                <a:latin typeface="Cambria Math" panose="02040503050406030204" pitchFamily="18" charset="0"/>
                              </a:rPr>
                              <m:t>min</m:t>
                            </m:r>
                            <m:d>
                              <m:dPr>
                                <m:ctrlPr>
                                  <a:rPr lang="en-US" sz="2000" i="1">
                                    <a:latin typeface="Cambria Math" panose="02040503050406030204" pitchFamily="18" charset="0"/>
                                  </a:rPr>
                                </m:ctrlPr>
                              </m:dPr>
                              <m:e>
                                <m:r>
                                  <a:rPr lang="en-US" sz="2000" i="1">
                                    <a:latin typeface="Cambria Math" panose="02040503050406030204" pitchFamily="18" charset="0"/>
                                  </a:rPr>
                                  <m:t>𝑧</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,1</m:t>
                                </m:r>
                              </m:e>
                            </m:d>
                          </m:e>
                        </m:d>
                      </m:e>
                    </m:func>
                  </m:oMath>
                </a14:m>
                <a:br>
                  <a:rPr lang="en-US" sz="2000" dirty="0"/>
                </a:br>
                <a:endParaRPr lang="en-US" sz="2000" dirty="0"/>
              </a:p>
            </p:txBody>
          </p:sp>
        </mc:Choice>
        <mc:Fallback xmlns="">
          <p:sp>
            <p:nvSpPr>
              <p:cNvPr id="3" name="Content Placeholder 2">
                <a:extLst>
                  <a:ext uri="{FF2B5EF4-FFF2-40B4-BE49-F238E27FC236}">
                    <a16:creationId xmlns:a16="http://schemas.microsoft.com/office/drawing/2014/main" id="{DC008D37-6FBB-40CC-AB09-62D322700FF9}"/>
                  </a:ext>
                </a:extLst>
              </p:cNvPr>
              <p:cNvSpPr>
                <a:spLocks noGrp="1" noRot="1" noChangeAspect="1" noMove="1" noResize="1" noEditPoints="1" noAdjustHandles="1" noChangeArrowheads="1" noChangeShapeType="1" noTextEdit="1"/>
              </p:cNvSpPr>
              <p:nvPr>
                <p:ph idx="1"/>
              </p:nvPr>
            </p:nvSpPr>
            <p:spPr>
              <a:xfrm>
                <a:off x="1451582" y="1694890"/>
                <a:ext cx="7041970" cy="5035848"/>
              </a:xfrm>
              <a:blipFill>
                <a:blip r:embed="rId2"/>
                <a:stretch>
                  <a:fillRect l="-779"/>
                </a:stretch>
              </a:blipFill>
            </p:spPr>
            <p:txBody>
              <a:bodyPr/>
              <a:lstStyle/>
              <a:p>
                <a:r>
                  <a:rPr lang="en-US">
                    <a:noFill/>
                  </a:rPr>
                  <a:t> </a:t>
                </a:r>
              </a:p>
            </p:txBody>
          </p:sp>
        </mc:Fallback>
      </mc:AlternateContent>
      <p:pic>
        <p:nvPicPr>
          <p:cNvPr id="6146" name="Picture 2" descr="Image result for logistic regression">
            <a:extLst>
              <a:ext uri="{FF2B5EF4-FFF2-40B4-BE49-F238E27FC236}">
                <a16:creationId xmlns:a16="http://schemas.microsoft.com/office/drawing/2014/main" id="{05B049F6-A425-4700-B845-7A1F5EC951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131" y="1415128"/>
            <a:ext cx="3936869" cy="296651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result for logistic regression">
            <a:extLst>
              <a:ext uri="{FF2B5EF4-FFF2-40B4-BE49-F238E27FC236}">
                <a16:creationId xmlns:a16="http://schemas.microsoft.com/office/drawing/2014/main" id="{DE68D8BC-DC89-41A5-AFDC-456025CB40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131" y="4229061"/>
            <a:ext cx="3936869" cy="262893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51A3EC67-468B-4A93-A304-F75867779806}"/>
              </a:ext>
            </a:extLst>
          </p:cNvPr>
          <p:cNvCxnSpPr/>
          <p:nvPr/>
        </p:nvCxnSpPr>
        <p:spPr>
          <a:xfrm>
            <a:off x="8823489" y="6334321"/>
            <a:ext cx="1065229"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45CC917-F69E-4263-8593-3958F5731EE9}"/>
              </a:ext>
            </a:extLst>
          </p:cNvPr>
          <p:cNvCxnSpPr/>
          <p:nvPr/>
        </p:nvCxnSpPr>
        <p:spPr>
          <a:xfrm>
            <a:off x="10906905" y="4507093"/>
            <a:ext cx="1065229"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C816B5-DE37-4050-A947-931A7B73AC2E}"/>
              </a:ext>
            </a:extLst>
          </p:cNvPr>
          <p:cNvCxnSpPr>
            <a:cxnSpLocks/>
          </p:cNvCxnSpPr>
          <p:nvPr/>
        </p:nvCxnSpPr>
        <p:spPr>
          <a:xfrm flipV="1">
            <a:off x="9873478" y="4507093"/>
            <a:ext cx="1018094" cy="1827228"/>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EF37E74-AAE9-44E9-ABCF-A22CF0255150}"/>
              </a:ext>
            </a:extLst>
          </p:cNvPr>
          <p:cNvCxnSpPr>
            <a:cxnSpLocks/>
          </p:cNvCxnSpPr>
          <p:nvPr/>
        </p:nvCxnSpPr>
        <p:spPr>
          <a:xfrm flipV="1">
            <a:off x="9893798" y="4318000"/>
            <a:ext cx="0" cy="2204720"/>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3BDF829-0126-43BB-818C-0382866A90F3}"/>
              </a:ext>
            </a:extLst>
          </p:cNvPr>
          <p:cNvCxnSpPr>
            <a:cxnSpLocks/>
          </p:cNvCxnSpPr>
          <p:nvPr/>
        </p:nvCxnSpPr>
        <p:spPr>
          <a:xfrm flipV="1">
            <a:off x="10899690" y="4318000"/>
            <a:ext cx="0" cy="2204720"/>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4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7045-2D0A-4811-BB7E-3F8939D0420A}"/>
              </a:ext>
            </a:extLst>
          </p:cNvPr>
          <p:cNvSpPr>
            <a:spLocks noGrp="1"/>
          </p:cNvSpPr>
          <p:nvPr>
            <p:ph type="title"/>
          </p:nvPr>
        </p:nvSpPr>
        <p:spPr>
          <a:xfrm>
            <a:off x="1451581" y="526148"/>
            <a:ext cx="9603275" cy="1049235"/>
          </a:xfrm>
        </p:spPr>
        <p:txBody>
          <a:bodyPr/>
          <a:lstStyle/>
          <a:p>
            <a:r>
              <a:rPr lang="en-US" dirty="0"/>
              <a:t>Logistic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008D37-6FBB-40CC-AB09-62D322700FF9}"/>
                  </a:ext>
                </a:extLst>
              </p:cNvPr>
              <p:cNvSpPr>
                <a:spLocks noGrp="1"/>
              </p:cNvSpPr>
              <p:nvPr>
                <p:ph idx="1"/>
              </p:nvPr>
            </p:nvSpPr>
            <p:spPr>
              <a:xfrm>
                <a:off x="1451582" y="1694890"/>
                <a:ext cx="7041970" cy="5035848"/>
              </a:xfrm>
            </p:spPr>
            <p:txBody>
              <a:bodyPr>
                <a:normAutofit/>
              </a:bodyPr>
              <a:lstStyle/>
              <a:p>
                <a:r>
                  <a:rPr lang="en-US" sz="2000" dirty="0"/>
                  <a:t>Instead of computing</a:t>
                </a:r>
                <a:br>
                  <a:rPr lang="en-US" sz="2000" dirty="0"/>
                </a:br>
                <a14:m>
                  <m:oMath xmlns:m="http://schemas.openxmlformats.org/officeDocument/2006/math">
                    <m:r>
                      <a:rPr lang="en-US" sz="2000" b="1">
                        <a:latin typeface="Cambria Math" panose="02040503050406030204" pitchFamily="18" charset="0"/>
                      </a:rPr>
                      <m:t>𝐰</m:t>
                    </m:r>
                    <m:r>
                      <a:rPr lang="en-US" sz="2000" b="1">
                        <a:latin typeface="Cambria Math" panose="02040503050406030204" pitchFamily="18" charset="0"/>
                      </a:rPr>
                      <m:t>=</m:t>
                    </m:r>
                    <m:r>
                      <a:rPr lang="en-US" sz="2000" b="1">
                        <a:latin typeface="Cambria Math" panose="02040503050406030204" pitchFamily="18" charset="0"/>
                      </a:rPr>
                      <m:t>𝐰</m:t>
                    </m:r>
                    <m:r>
                      <a:rPr lang="en-US" sz="2000" b="1">
                        <a:latin typeface="Cambria Math" panose="02040503050406030204" pitchFamily="18" charset="0"/>
                      </a:rPr>
                      <m:t>−</m:t>
                    </m:r>
                    <m:f>
                      <m:fPr>
                        <m:ctrlPr>
                          <a:rPr lang="en-US" sz="2000" b="1" i="1">
                            <a:latin typeface="Cambria Math" panose="02040503050406030204" pitchFamily="18" charset="0"/>
                          </a:rPr>
                        </m:ctrlPr>
                      </m:fPr>
                      <m:num>
                        <m:r>
                          <a:rPr lang="en-US" sz="2000" b="1" i="1">
                            <a:latin typeface="Cambria Math" panose="02040503050406030204" pitchFamily="18" charset="0"/>
                          </a:rPr>
                          <m:t>𝟏</m:t>
                        </m:r>
                      </m:num>
                      <m:den>
                        <m:d>
                          <m:dPr>
                            <m:begChr m:val="|"/>
                            <m:endChr m:val="|"/>
                            <m:ctrlPr>
                              <a:rPr lang="en-US" sz="2000" b="1" i="1">
                                <a:latin typeface="Cambria Math" panose="02040503050406030204" pitchFamily="18" charset="0"/>
                              </a:rPr>
                            </m:ctrlPr>
                          </m:dPr>
                          <m:e>
                            <m:r>
                              <a:rPr lang="en-US" sz="2000" b="1" i="1">
                                <a:latin typeface="Cambria Math" panose="02040503050406030204" pitchFamily="18" charset="0"/>
                              </a:rPr>
                              <m:t>𝑩</m:t>
                            </m:r>
                          </m:e>
                        </m:d>
                      </m:den>
                    </m:f>
                    <m:r>
                      <a:rPr lang="en-US" sz="2000" b="1" i="1">
                        <a:latin typeface="Cambria Math" panose="02040503050406030204" pitchFamily="18" charset="0"/>
                      </a:rPr>
                      <m:t>𝜶</m:t>
                    </m:r>
                    <m:sSubSup>
                      <m:sSubSupPr>
                        <m:ctrlPr>
                          <a:rPr lang="en-US" sz="2000" b="1" i="1">
                            <a:latin typeface="Cambria Math" panose="02040503050406030204" pitchFamily="18" charset="0"/>
                          </a:rPr>
                        </m:ctrlPr>
                      </m:sSubSupPr>
                      <m:e>
                        <m:r>
                          <a:rPr lang="en-US" sz="2000" b="1" i="1">
                            <a:latin typeface="Cambria Math" panose="02040503050406030204" pitchFamily="18" charset="0"/>
                          </a:rPr>
                          <m:t>𝑿</m:t>
                        </m:r>
                      </m:e>
                      <m:sub>
                        <m:r>
                          <a:rPr lang="en-US" sz="2000" b="1" i="1">
                            <a:latin typeface="Cambria Math" panose="02040503050406030204" pitchFamily="18" charset="0"/>
                          </a:rPr>
                          <m:t>𝑩</m:t>
                        </m:r>
                      </m:sub>
                      <m:sup>
                        <m:r>
                          <a:rPr lang="en-US" sz="2000" b="1" i="1">
                            <a:latin typeface="Cambria Math" panose="02040503050406030204" pitchFamily="18" charset="0"/>
                          </a:rPr>
                          <m:t>𝑻</m:t>
                        </m:r>
                      </m:sup>
                    </m:sSubSup>
                    <m:r>
                      <a:rPr lang="en-US" sz="2000" b="1" i="1">
                        <a:latin typeface="Cambria Math" panose="02040503050406030204" pitchFamily="18" charset="0"/>
                      </a:rPr>
                      <m:t>×</m:t>
                    </m:r>
                    <m:d>
                      <m:dPr>
                        <m:ctrlPr>
                          <a:rPr lang="en-US" sz="2000" b="1" i="1">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panose="02040503050406030204" pitchFamily="18" charset="0"/>
                              </a:rPr>
                              <m:t>𝑿</m:t>
                            </m:r>
                          </m:e>
                          <m:sub>
                            <m:r>
                              <a:rPr lang="en-US" sz="2000" b="1" i="1">
                                <a:latin typeface="Cambria Math" panose="02040503050406030204" pitchFamily="18" charset="0"/>
                              </a:rPr>
                              <m:t>𝑩</m:t>
                            </m:r>
                          </m:sub>
                        </m:sSub>
                        <m:r>
                          <a:rPr lang="en-US" sz="2000" b="1" i="1">
                            <a:latin typeface="Cambria Math" panose="02040503050406030204" pitchFamily="18" charset="0"/>
                          </a:rPr>
                          <m:t>×</m:t>
                        </m:r>
                        <m:r>
                          <a:rPr lang="en-US" sz="2000" b="1">
                            <a:latin typeface="Cambria Math" panose="02040503050406030204" pitchFamily="18" charset="0"/>
                          </a:rPr>
                          <m:t>𝐰</m:t>
                        </m:r>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𝑩</m:t>
                            </m:r>
                          </m:sub>
                        </m:sSub>
                      </m:e>
                    </m:d>
                  </m:oMath>
                </a14:m>
                <a:endParaRPr lang="en-US" sz="2000" dirty="0"/>
              </a:p>
              <a:p>
                <a:r>
                  <a:rPr lang="en-US" sz="2000" dirty="0"/>
                  <a:t>We compute </a:t>
                </a:r>
                <a:br>
                  <a:rPr lang="en-US" sz="2000" dirty="0"/>
                </a:br>
                <a14:m>
                  <m:oMath xmlns:m="http://schemas.openxmlformats.org/officeDocument/2006/math">
                    <m:r>
                      <a:rPr lang="en-US" sz="2000" b="1">
                        <a:latin typeface="Cambria Math" panose="02040503050406030204" pitchFamily="18" charset="0"/>
                      </a:rPr>
                      <m:t>𝐰</m:t>
                    </m:r>
                    <m:r>
                      <a:rPr lang="en-US" sz="2000" b="1">
                        <a:latin typeface="Cambria Math" panose="02040503050406030204" pitchFamily="18" charset="0"/>
                      </a:rPr>
                      <m:t>=</m:t>
                    </m:r>
                    <m:r>
                      <a:rPr lang="en-US" sz="2000" b="1">
                        <a:latin typeface="Cambria Math" panose="02040503050406030204" pitchFamily="18" charset="0"/>
                      </a:rPr>
                      <m:t>𝐰</m:t>
                    </m:r>
                    <m:r>
                      <a:rPr lang="en-US" sz="2000" b="1">
                        <a:latin typeface="Cambria Math" panose="02040503050406030204" pitchFamily="18" charset="0"/>
                      </a:rPr>
                      <m:t>−</m:t>
                    </m:r>
                    <m:f>
                      <m:fPr>
                        <m:ctrlPr>
                          <a:rPr lang="en-US" sz="2000" b="1" i="1">
                            <a:latin typeface="Cambria Math" panose="02040503050406030204" pitchFamily="18" charset="0"/>
                          </a:rPr>
                        </m:ctrlPr>
                      </m:fPr>
                      <m:num>
                        <m:r>
                          <a:rPr lang="en-US" sz="2000" b="1" i="1">
                            <a:latin typeface="Cambria Math" panose="02040503050406030204" pitchFamily="18" charset="0"/>
                          </a:rPr>
                          <m:t>𝟏</m:t>
                        </m:r>
                      </m:num>
                      <m:den>
                        <m:d>
                          <m:dPr>
                            <m:begChr m:val="|"/>
                            <m:endChr m:val="|"/>
                            <m:ctrlPr>
                              <a:rPr lang="en-US" sz="2000" b="1" i="1">
                                <a:latin typeface="Cambria Math" panose="02040503050406030204" pitchFamily="18" charset="0"/>
                              </a:rPr>
                            </m:ctrlPr>
                          </m:dPr>
                          <m:e>
                            <m:r>
                              <a:rPr lang="en-US" sz="2000" b="1" i="1">
                                <a:latin typeface="Cambria Math" panose="02040503050406030204" pitchFamily="18" charset="0"/>
                              </a:rPr>
                              <m:t>𝑩</m:t>
                            </m:r>
                          </m:e>
                        </m:d>
                      </m:den>
                    </m:f>
                    <m:r>
                      <a:rPr lang="en-US" sz="2000" b="1" i="1">
                        <a:latin typeface="Cambria Math" panose="02040503050406030204" pitchFamily="18" charset="0"/>
                      </a:rPr>
                      <m:t>𝜶</m:t>
                    </m:r>
                    <m:sSubSup>
                      <m:sSubSupPr>
                        <m:ctrlPr>
                          <a:rPr lang="en-US" sz="2000" b="1" i="1">
                            <a:latin typeface="Cambria Math" panose="02040503050406030204" pitchFamily="18" charset="0"/>
                          </a:rPr>
                        </m:ctrlPr>
                      </m:sSubSupPr>
                      <m:e>
                        <m:r>
                          <a:rPr lang="en-US" sz="2000" b="1" i="1">
                            <a:latin typeface="Cambria Math" panose="02040503050406030204" pitchFamily="18" charset="0"/>
                          </a:rPr>
                          <m:t>𝑿</m:t>
                        </m:r>
                      </m:e>
                      <m:sub>
                        <m:r>
                          <a:rPr lang="en-US" sz="2000" b="1" i="1">
                            <a:latin typeface="Cambria Math" panose="02040503050406030204" pitchFamily="18" charset="0"/>
                          </a:rPr>
                          <m:t>𝑩</m:t>
                        </m:r>
                      </m:sub>
                      <m:sup>
                        <m:r>
                          <a:rPr lang="en-US" sz="2000" b="1" i="1">
                            <a:latin typeface="Cambria Math" panose="02040503050406030204" pitchFamily="18" charset="0"/>
                          </a:rPr>
                          <m:t>𝑻</m:t>
                        </m:r>
                      </m:sup>
                    </m:sSubSup>
                    <m:r>
                      <a:rPr lang="en-US" sz="2000" b="1" i="1">
                        <a:latin typeface="Cambria Math" panose="02040503050406030204" pitchFamily="18" charset="0"/>
                      </a:rPr>
                      <m:t>×</m:t>
                    </m:r>
                    <m:d>
                      <m:dPr>
                        <m:ctrlPr>
                          <a:rPr lang="en-US" sz="2000" b="1" i="1">
                            <a:latin typeface="Cambria Math" panose="02040503050406030204" pitchFamily="18" charset="0"/>
                          </a:rPr>
                        </m:ctrlPr>
                      </m:dPr>
                      <m:e>
                        <m:r>
                          <a:rPr lang="en-US" sz="2000" b="1" i="1" smtClean="0">
                            <a:solidFill>
                              <a:srgbClr val="C00000"/>
                            </a:solidFill>
                            <a:latin typeface="Cambria Math" panose="02040503050406030204" pitchFamily="18" charset="0"/>
                          </a:rPr>
                          <m:t>𝝓</m:t>
                        </m:r>
                        <m:r>
                          <a:rPr lang="en-US" sz="2000" b="1" i="1" smtClean="0">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𝑿</m:t>
                            </m:r>
                          </m:e>
                          <m:sub>
                            <m:r>
                              <a:rPr lang="en-US" sz="2000" b="1" i="1">
                                <a:solidFill>
                                  <a:srgbClr val="C00000"/>
                                </a:solidFill>
                                <a:latin typeface="Cambria Math" panose="02040503050406030204" pitchFamily="18" charset="0"/>
                              </a:rPr>
                              <m:t>𝑩</m:t>
                            </m:r>
                          </m:sub>
                        </m:sSub>
                        <m:r>
                          <a:rPr lang="en-US" sz="2000" b="1" i="1">
                            <a:solidFill>
                              <a:srgbClr val="C00000"/>
                            </a:solidFill>
                            <a:latin typeface="Cambria Math" panose="02040503050406030204" pitchFamily="18" charset="0"/>
                          </a:rPr>
                          <m:t>×</m:t>
                        </m:r>
                        <m:r>
                          <a:rPr lang="en-US" sz="2000" b="1">
                            <a:solidFill>
                              <a:srgbClr val="C00000"/>
                            </a:solidFill>
                            <a:latin typeface="Cambria Math" panose="02040503050406030204" pitchFamily="18" charset="0"/>
                          </a:rPr>
                          <m:t>𝐰</m:t>
                        </m:r>
                        <m:r>
                          <a:rPr lang="en-US" sz="2000" b="1" i="1" smtClean="0">
                            <a:solidFill>
                              <a:srgbClr val="C00000"/>
                            </a:solidFill>
                            <a:latin typeface="Cambria Math" panose="02040503050406030204" pitchFamily="18" charset="0"/>
                          </a:rPr>
                          <m:t>)</m:t>
                        </m:r>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𝑩</m:t>
                            </m:r>
                          </m:sub>
                        </m:sSub>
                      </m:e>
                    </m:d>
                  </m:oMath>
                </a14:m>
                <a:endParaRPr lang="en-US" sz="2000" dirty="0"/>
              </a:p>
              <a:p>
                <a14:m>
                  <m:oMath xmlns:m="http://schemas.openxmlformats.org/officeDocument/2006/math">
                    <m:r>
                      <a:rPr lang="en-US" sz="2000" b="0" i="1" smtClean="0">
                        <a:latin typeface="Cambria Math" panose="02040503050406030204" pitchFamily="18" charset="0"/>
                      </a:rPr>
                      <m:t>𝜙</m:t>
                    </m:r>
                  </m:oMath>
                </a14:m>
                <a:r>
                  <a:rPr lang="en-US" sz="2000" dirty="0"/>
                  <a:t> is very expensive to compute with just </a:t>
                </a:r>
                <a14:m>
                  <m:oMath xmlns:m="http://schemas.openxmlformats.org/officeDocument/2006/math">
                    <m:r>
                      <a:rPr lang="en-US" sz="2000" b="0" i="1" smtClean="0">
                        <a:latin typeface="Cambria Math" panose="02040503050406030204" pitchFamily="18" charset="0"/>
                      </a:rPr>
                      <m:t>+,∗</m:t>
                    </m:r>
                  </m:oMath>
                </a14:m>
                <a:r>
                  <a:rPr lang="en-US" sz="2000" dirty="0"/>
                  <a:t> operations</a:t>
                </a:r>
              </a:p>
              <a:p>
                <a:r>
                  <a:rPr lang="en-US" sz="2000" dirty="0"/>
                  <a:t>We build a piece-wise polynomial protocol for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𝜙</m:t>
                        </m:r>
                      </m:e>
                      <m:sup>
                        <m:r>
                          <a:rPr lang="en-US" sz="2000" b="0" i="1" smtClean="0">
                            <a:latin typeface="Cambria Math" panose="02040503050406030204" pitchFamily="18" charset="0"/>
                          </a:rPr>
                          <m:t>′</m:t>
                        </m:r>
                      </m:sup>
                    </m:s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e>
                    </m:d>
                    <m:r>
                      <a:rPr lang="en-US" sz="2000" b="0" i="1" smtClean="0">
                        <a:latin typeface="Cambria Math" panose="02040503050406030204" pitchFamily="18" charset="0"/>
                      </a:rPr>
                      <m:t>≈</m:t>
                    </m:r>
                    <m:r>
                      <a:rPr lang="en-US" sz="2000" b="0" i="1" smtClean="0">
                        <a:latin typeface="Cambria Math" panose="02040503050406030204" pitchFamily="18" charset="0"/>
                      </a:rPr>
                      <m:t>𝜙</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e>
                    </m:d>
                  </m:oMath>
                </a14:m>
                <a:br>
                  <a:rPr lang="en-US" sz="2000" b="0" dirty="0"/>
                </a:b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𝜙</m:t>
                        </m:r>
                      </m:e>
                      <m:sup>
                        <m:r>
                          <a:rPr lang="en-US" sz="2000" i="1">
                            <a:latin typeface="Cambria Math" panose="02040503050406030204" pitchFamily="18" charset="0"/>
                          </a:rPr>
                          <m:t>′</m:t>
                        </m:r>
                      </m:sup>
                    </m:sSup>
                    <m:d>
                      <m:dPr>
                        <m:ctrlPr>
                          <a:rPr lang="en-US" sz="2000" i="1">
                            <a:latin typeface="Cambria Math" panose="02040503050406030204" pitchFamily="18" charset="0"/>
                          </a:rPr>
                        </m:ctrlPr>
                      </m:dPr>
                      <m:e>
                        <m:r>
                          <a:rPr lang="en-US" sz="2000" i="1">
                            <a:latin typeface="Cambria Math" panose="02040503050406030204" pitchFamily="18" charset="0"/>
                          </a:rPr>
                          <m:t>𝑧</m:t>
                        </m:r>
                      </m:e>
                    </m:d>
                    <m:r>
                      <a:rPr lang="en-US" sz="2000" i="1">
                        <a:latin typeface="Cambria Math" panose="02040503050406030204" pitchFamily="18" charset="0"/>
                      </a:rPr>
                      <m:t>=</m:t>
                    </m:r>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max</m:t>
                        </m:r>
                      </m:fName>
                      <m:e>
                        <m:d>
                          <m:dPr>
                            <m:ctrlPr>
                              <a:rPr lang="en-US" sz="2000" i="1">
                                <a:latin typeface="Cambria Math" panose="02040503050406030204" pitchFamily="18" charset="0"/>
                              </a:rPr>
                            </m:ctrlPr>
                          </m:dPr>
                          <m:e>
                            <m:r>
                              <a:rPr lang="en-US" sz="2000" i="1">
                                <a:latin typeface="Cambria Math" panose="02040503050406030204" pitchFamily="18" charset="0"/>
                              </a:rPr>
                              <m:t>0,</m:t>
                            </m:r>
                            <m:r>
                              <m:rPr>
                                <m:sty m:val="p"/>
                              </m:rPr>
                              <a:rPr lang="en-US" sz="2000" i="1">
                                <a:latin typeface="Cambria Math" panose="02040503050406030204" pitchFamily="18" charset="0"/>
                              </a:rPr>
                              <m:t>min</m:t>
                            </m:r>
                            <m:d>
                              <m:dPr>
                                <m:ctrlPr>
                                  <a:rPr lang="en-US" sz="2000" i="1">
                                    <a:latin typeface="Cambria Math" panose="02040503050406030204" pitchFamily="18" charset="0"/>
                                  </a:rPr>
                                </m:ctrlPr>
                              </m:dPr>
                              <m:e>
                                <m:r>
                                  <a:rPr lang="en-US" sz="2000" i="1">
                                    <a:latin typeface="Cambria Math" panose="02040503050406030204" pitchFamily="18" charset="0"/>
                                  </a:rPr>
                                  <m:t>𝑧</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r>
                                  <a:rPr lang="en-US" sz="2000" b="0" i="1" smtClean="0">
                                    <a:latin typeface="Cambria Math" panose="02040503050406030204" pitchFamily="18" charset="0"/>
                                  </a:rPr>
                                  <m:t>,1</m:t>
                                </m:r>
                              </m:e>
                            </m:d>
                          </m:e>
                        </m:d>
                      </m:e>
                    </m:func>
                  </m:oMath>
                </a14:m>
                <a:br>
                  <a:rPr lang="en-US" sz="2000" dirty="0"/>
                </a:br>
                <a:r>
                  <a:rPr lang="en-US" sz="2000" dirty="0"/>
                  <a:t>or higher degree approximation</a:t>
                </a:r>
              </a:p>
            </p:txBody>
          </p:sp>
        </mc:Choice>
        <mc:Fallback xmlns="">
          <p:sp>
            <p:nvSpPr>
              <p:cNvPr id="3" name="Content Placeholder 2">
                <a:extLst>
                  <a:ext uri="{FF2B5EF4-FFF2-40B4-BE49-F238E27FC236}">
                    <a16:creationId xmlns:a16="http://schemas.microsoft.com/office/drawing/2014/main" id="{DC008D37-6FBB-40CC-AB09-62D322700FF9}"/>
                  </a:ext>
                </a:extLst>
              </p:cNvPr>
              <p:cNvSpPr>
                <a:spLocks noGrp="1" noRot="1" noChangeAspect="1" noMove="1" noResize="1" noEditPoints="1" noAdjustHandles="1" noChangeArrowheads="1" noChangeShapeType="1" noTextEdit="1"/>
              </p:cNvSpPr>
              <p:nvPr>
                <p:ph idx="1"/>
              </p:nvPr>
            </p:nvSpPr>
            <p:spPr>
              <a:xfrm>
                <a:off x="1451582" y="1694890"/>
                <a:ext cx="7041970" cy="5035848"/>
              </a:xfrm>
              <a:blipFill>
                <a:blip r:embed="rId2"/>
                <a:stretch>
                  <a:fillRect l="-779"/>
                </a:stretch>
              </a:blipFill>
            </p:spPr>
            <p:txBody>
              <a:bodyPr/>
              <a:lstStyle/>
              <a:p>
                <a:r>
                  <a:rPr lang="en-US">
                    <a:noFill/>
                  </a:rPr>
                  <a:t> </a:t>
                </a:r>
              </a:p>
            </p:txBody>
          </p:sp>
        </mc:Fallback>
      </mc:AlternateContent>
      <p:pic>
        <p:nvPicPr>
          <p:cNvPr id="6146" name="Picture 2" descr="Image result for logistic regression">
            <a:extLst>
              <a:ext uri="{FF2B5EF4-FFF2-40B4-BE49-F238E27FC236}">
                <a16:creationId xmlns:a16="http://schemas.microsoft.com/office/drawing/2014/main" id="{05B049F6-A425-4700-B845-7A1F5EC951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131" y="1415128"/>
            <a:ext cx="3936869" cy="296651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result for logistic regression">
            <a:extLst>
              <a:ext uri="{FF2B5EF4-FFF2-40B4-BE49-F238E27FC236}">
                <a16:creationId xmlns:a16="http://schemas.microsoft.com/office/drawing/2014/main" id="{DE68D8BC-DC89-41A5-AFDC-456025CB40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131" y="4229061"/>
            <a:ext cx="3936869" cy="262893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51A3EC67-468B-4A93-A304-F75867779806}"/>
              </a:ext>
            </a:extLst>
          </p:cNvPr>
          <p:cNvCxnSpPr>
            <a:cxnSpLocks/>
          </p:cNvCxnSpPr>
          <p:nvPr/>
        </p:nvCxnSpPr>
        <p:spPr>
          <a:xfrm>
            <a:off x="8823489" y="6325441"/>
            <a:ext cx="690399"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45CC917-F69E-4263-8593-3958F5731EE9}"/>
              </a:ext>
            </a:extLst>
          </p:cNvPr>
          <p:cNvCxnSpPr>
            <a:cxnSpLocks/>
          </p:cNvCxnSpPr>
          <p:nvPr/>
        </p:nvCxnSpPr>
        <p:spPr>
          <a:xfrm>
            <a:off x="11276013" y="4507093"/>
            <a:ext cx="696121"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9DE4B00-A696-4B64-854C-1BA42667EA5B}"/>
              </a:ext>
            </a:extLst>
          </p:cNvPr>
          <p:cNvCxnSpPr>
            <a:cxnSpLocks/>
          </p:cNvCxnSpPr>
          <p:nvPr/>
        </p:nvCxnSpPr>
        <p:spPr>
          <a:xfrm flipV="1">
            <a:off x="9504133" y="4314486"/>
            <a:ext cx="0" cy="2204720"/>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0EC17DD-04F2-4487-8AC5-CED7A2957271}"/>
              </a:ext>
            </a:extLst>
          </p:cNvPr>
          <p:cNvCxnSpPr>
            <a:cxnSpLocks/>
          </p:cNvCxnSpPr>
          <p:nvPr/>
        </p:nvCxnSpPr>
        <p:spPr>
          <a:xfrm flipV="1">
            <a:off x="11276013" y="4310063"/>
            <a:ext cx="0" cy="2204720"/>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B28D8FBC-75A1-4437-B4A0-13B7E01248EB}"/>
              </a:ext>
            </a:extLst>
          </p:cNvPr>
          <p:cNvGrpSpPr/>
          <p:nvPr/>
        </p:nvGrpSpPr>
        <p:grpSpPr>
          <a:xfrm>
            <a:off x="8597910" y="4511326"/>
            <a:ext cx="3564698" cy="1814220"/>
            <a:chOff x="8610609" y="4507093"/>
            <a:chExt cx="3564698" cy="1814220"/>
          </a:xfrm>
        </p:grpSpPr>
        <p:sp>
          <p:nvSpPr>
            <p:cNvPr id="26" name="Freeform: Shape 25">
              <a:extLst>
                <a:ext uri="{FF2B5EF4-FFF2-40B4-BE49-F238E27FC236}">
                  <a16:creationId xmlns:a16="http://schemas.microsoft.com/office/drawing/2014/main" id="{6AEDEDA1-A107-420A-BBFD-DB33B275E7DE}"/>
                </a:ext>
              </a:extLst>
            </p:cNvPr>
            <p:cNvSpPr/>
            <p:nvPr/>
          </p:nvSpPr>
          <p:spPr>
            <a:xfrm>
              <a:off x="8610609" y="5412423"/>
              <a:ext cx="1782202" cy="908890"/>
            </a:xfrm>
            <a:custGeom>
              <a:avLst/>
              <a:gdLst>
                <a:gd name="connsiteX0" fmla="*/ 0 w 825500"/>
                <a:gd name="connsiteY0" fmla="*/ 4233 h 8102"/>
                <a:gd name="connsiteX1" fmla="*/ 825500 w 825500"/>
                <a:gd name="connsiteY1" fmla="*/ 0 h 8102"/>
                <a:gd name="connsiteX0" fmla="*/ 0 w 10000"/>
                <a:gd name="connsiteY0" fmla="*/ 5225 h 374464"/>
                <a:gd name="connsiteX1" fmla="*/ 10000 w 10000"/>
                <a:gd name="connsiteY1" fmla="*/ 0 h 374464"/>
                <a:gd name="connsiteX0" fmla="*/ 0 w 10000"/>
                <a:gd name="connsiteY0" fmla="*/ 5225 h 590113"/>
                <a:gd name="connsiteX1" fmla="*/ 10000 w 10000"/>
                <a:gd name="connsiteY1" fmla="*/ 0 h 590113"/>
                <a:gd name="connsiteX0" fmla="*/ 0 w 10000"/>
                <a:gd name="connsiteY0" fmla="*/ 5225 h 505818"/>
                <a:gd name="connsiteX1" fmla="*/ 10000 w 10000"/>
                <a:gd name="connsiteY1" fmla="*/ 0 h 505818"/>
                <a:gd name="connsiteX0" fmla="*/ 0 w 10000"/>
                <a:gd name="connsiteY0" fmla="*/ 5225 h 418598"/>
                <a:gd name="connsiteX1" fmla="*/ 10000 w 10000"/>
                <a:gd name="connsiteY1" fmla="*/ 0 h 418598"/>
                <a:gd name="connsiteX0" fmla="*/ 0 w 10000"/>
                <a:gd name="connsiteY0" fmla="*/ 5225 h 454361"/>
                <a:gd name="connsiteX1" fmla="*/ 10000 w 10000"/>
                <a:gd name="connsiteY1" fmla="*/ 0 h 454361"/>
                <a:gd name="connsiteX0" fmla="*/ 0 w 10000"/>
                <a:gd name="connsiteY0" fmla="*/ 5225 h 458227"/>
                <a:gd name="connsiteX1" fmla="*/ 10000 w 10000"/>
                <a:gd name="connsiteY1" fmla="*/ 0 h 458227"/>
              </a:gdLst>
              <a:ahLst/>
              <a:cxnLst>
                <a:cxn ang="0">
                  <a:pos x="connsiteX0" y="connsiteY0"/>
                </a:cxn>
                <a:cxn ang="0">
                  <a:pos x="connsiteX1" y="connsiteY1"/>
                </a:cxn>
              </a:cxnLst>
              <a:rect l="l" t="t" r="r" b="b"/>
              <a:pathLst>
                <a:path w="10000" h="458227">
                  <a:moveTo>
                    <a:pt x="0" y="5225"/>
                  </a:moveTo>
                  <a:cubicBezTo>
                    <a:pt x="2871" y="593913"/>
                    <a:pt x="7222" y="626135"/>
                    <a:pt x="10000" y="0"/>
                  </a:cubicBezTo>
                </a:path>
              </a:pathLst>
            </a:custGeom>
            <a:noFill/>
            <a:ln w="38100">
              <a:solidFill>
                <a:srgbClr val="B71E4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70722D23-8868-4420-8D89-B8C9492AEB89}"/>
                </a:ext>
              </a:extLst>
            </p:cNvPr>
            <p:cNvSpPr/>
            <p:nvPr/>
          </p:nvSpPr>
          <p:spPr>
            <a:xfrm flipV="1">
              <a:off x="10393105" y="4507093"/>
              <a:ext cx="1782202" cy="908890"/>
            </a:xfrm>
            <a:custGeom>
              <a:avLst/>
              <a:gdLst>
                <a:gd name="connsiteX0" fmla="*/ 0 w 825500"/>
                <a:gd name="connsiteY0" fmla="*/ 4233 h 8102"/>
                <a:gd name="connsiteX1" fmla="*/ 825500 w 825500"/>
                <a:gd name="connsiteY1" fmla="*/ 0 h 8102"/>
                <a:gd name="connsiteX0" fmla="*/ 0 w 10000"/>
                <a:gd name="connsiteY0" fmla="*/ 5225 h 374464"/>
                <a:gd name="connsiteX1" fmla="*/ 10000 w 10000"/>
                <a:gd name="connsiteY1" fmla="*/ 0 h 374464"/>
                <a:gd name="connsiteX0" fmla="*/ 0 w 10000"/>
                <a:gd name="connsiteY0" fmla="*/ 5225 h 590113"/>
                <a:gd name="connsiteX1" fmla="*/ 10000 w 10000"/>
                <a:gd name="connsiteY1" fmla="*/ 0 h 590113"/>
                <a:gd name="connsiteX0" fmla="*/ 0 w 10000"/>
                <a:gd name="connsiteY0" fmla="*/ 5225 h 505818"/>
                <a:gd name="connsiteX1" fmla="*/ 10000 w 10000"/>
                <a:gd name="connsiteY1" fmla="*/ 0 h 505818"/>
                <a:gd name="connsiteX0" fmla="*/ 0 w 10000"/>
                <a:gd name="connsiteY0" fmla="*/ 5225 h 418598"/>
                <a:gd name="connsiteX1" fmla="*/ 10000 w 10000"/>
                <a:gd name="connsiteY1" fmla="*/ 0 h 418598"/>
                <a:gd name="connsiteX0" fmla="*/ 0 w 10000"/>
                <a:gd name="connsiteY0" fmla="*/ 5225 h 454361"/>
                <a:gd name="connsiteX1" fmla="*/ 10000 w 10000"/>
                <a:gd name="connsiteY1" fmla="*/ 0 h 454361"/>
                <a:gd name="connsiteX0" fmla="*/ 0 w 10000"/>
                <a:gd name="connsiteY0" fmla="*/ 5225 h 458227"/>
                <a:gd name="connsiteX1" fmla="*/ 10000 w 10000"/>
                <a:gd name="connsiteY1" fmla="*/ 0 h 458227"/>
              </a:gdLst>
              <a:ahLst/>
              <a:cxnLst>
                <a:cxn ang="0">
                  <a:pos x="connsiteX0" y="connsiteY0"/>
                </a:cxn>
                <a:cxn ang="0">
                  <a:pos x="connsiteX1" y="connsiteY1"/>
                </a:cxn>
              </a:cxnLst>
              <a:rect l="l" t="t" r="r" b="b"/>
              <a:pathLst>
                <a:path w="10000" h="458227">
                  <a:moveTo>
                    <a:pt x="0" y="5225"/>
                  </a:moveTo>
                  <a:cubicBezTo>
                    <a:pt x="2871" y="593913"/>
                    <a:pt x="7222" y="626135"/>
                    <a:pt x="10000" y="0"/>
                  </a:cubicBezTo>
                </a:path>
              </a:pathLst>
            </a:custGeom>
            <a:noFill/>
            <a:ln w="38100">
              <a:solidFill>
                <a:srgbClr val="B71E4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Freeform: Shape 38">
            <a:extLst>
              <a:ext uri="{FF2B5EF4-FFF2-40B4-BE49-F238E27FC236}">
                <a16:creationId xmlns:a16="http://schemas.microsoft.com/office/drawing/2014/main" id="{D4E205E6-1EBB-4238-8943-490AA8BA968A}"/>
              </a:ext>
            </a:extLst>
          </p:cNvPr>
          <p:cNvSpPr/>
          <p:nvPr/>
        </p:nvSpPr>
        <p:spPr>
          <a:xfrm flipV="1">
            <a:off x="11266893" y="4507918"/>
            <a:ext cx="889662" cy="912066"/>
          </a:xfrm>
          <a:custGeom>
            <a:avLst/>
            <a:gdLst>
              <a:gd name="connsiteX0" fmla="*/ 0 w 825500"/>
              <a:gd name="connsiteY0" fmla="*/ 4233 h 8102"/>
              <a:gd name="connsiteX1" fmla="*/ 825500 w 825500"/>
              <a:gd name="connsiteY1" fmla="*/ 0 h 8102"/>
              <a:gd name="connsiteX0" fmla="*/ 0 w 10000"/>
              <a:gd name="connsiteY0" fmla="*/ 5225 h 374464"/>
              <a:gd name="connsiteX1" fmla="*/ 10000 w 10000"/>
              <a:gd name="connsiteY1" fmla="*/ 0 h 374464"/>
              <a:gd name="connsiteX0" fmla="*/ 0 w 10000"/>
              <a:gd name="connsiteY0" fmla="*/ 5225 h 590113"/>
              <a:gd name="connsiteX1" fmla="*/ 10000 w 10000"/>
              <a:gd name="connsiteY1" fmla="*/ 0 h 590113"/>
              <a:gd name="connsiteX0" fmla="*/ 0 w 10000"/>
              <a:gd name="connsiteY0" fmla="*/ 5225 h 505818"/>
              <a:gd name="connsiteX1" fmla="*/ 10000 w 10000"/>
              <a:gd name="connsiteY1" fmla="*/ 0 h 505818"/>
              <a:gd name="connsiteX0" fmla="*/ 0 w 10000"/>
              <a:gd name="connsiteY0" fmla="*/ 5225 h 418598"/>
              <a:gd name="connsiteX1" fmla="*/ 10000 w 10000"/>
              <a:gd name="connsiteY1" fmla="*/ 0 h 418598"/>
              <a:gd name="connsiteX0" fmla="*/ 0 w 10000"/>
              <a:gd name="connsiteY0" fmla="*/ 5225 h 454361"/>
              <a:gd name="connsiteX1" fmla="*/ 10000 w 10000"/>
              <a:gd name="connsiteY1" fmla="*/ 0 h 454361"/>
              <a:gd name="connsiteX0" fmla="*/ 0 w 10000"/>
              <a:gd name="connsiteY0" fmla="*/ 5225 h 458227"/>
              <a:gd name="connsiteX1" fmla="*/ 10000 w 10000"/>
              <a:gd name="connsiteY1" fmla="*/ 0 h 458227"/>
              <a:gd name="connsiteX0" fmla="*/ 0 w 10000"/>
              <a:gd name="connsiteY0" fmla="*/ 5225 h 538434"/>
              <a:gd name="connsiteX1" fmla="*/ 5008 w 10000"/>
              <a:gd name="connsiteY1" fmla="*/ 456450 h 538434"/>
              <a:gd name="connsiteX2" fmla="*/ 10000 w 10000"/>
              <a:gd name="connsiteY2" fmla="*/ 0 h 538434"/>
              <a:gd name="connsiteX0" fmla="*/ 0 w 10000"/>
              <a:gd name="connsiteY0" fmla="*/ 5225 h 474132"/>
              <a:gd name="connsiteX1" fmla="*/ 5008 w 10000"/>
              <a:gd name="connsiteY1" fmla="*/ 456450 h 474132"/>
              <a:gd name="connsiteX2" fmla="*/ 10000 w 10000"/>
              <a:gd name="connsiteY2" fmla="*/ 0 h 474132"/>
              <a:gd name="connsiteX0" fmla="*/ 0 w 10000"/>
              <a:gd name="connsiteY0" fmla="*/ 5225 h 456450"/>
              <a:gd name="connsiteX1" fmla="*/ 5008 w 10000"/>
              <a:gd name="connsiteY1" fmla="*/ 456450 h 456450"/>
              <a:gd name="connsiteX2" fmla="*/ 10000 w 10000"/>
              <a:gd name="connsiteY2" fmla="*/ 0 h 456450"/>
              <a:gd name="connsiteX0" fmla="*/ 0 w 10000"/>
              <a:gd name="connsiteY0" fmla="*/ 5225 h 457544"/>
              <a:gd name="connsiteX1" fmla="*/ 5008 w 10000"/>
              <a:gd name="connsiteY1" fmla="*/ 456450 h 457544"/>
              <a:gd name="connsiteX2" fmla="*/ 10000 w 10000"/>
              <a:gd name="connsiteY2" fmla="*/ 0 h 457544"/>
              <a:gd name="connsiteX0" fmla="*/ 0 w 10000"/>
              <a:gd name="connsiteY0" fmla="*/ 5225 h 457397"/>
              <a:gd name="connsiteX1" fmla="*/ 5008 w 10000"/>
              <a:gd name="connsiteY1" fmla="*/ 456450 h 457397"/>
              <a:gd name="connsiteX2" fmla="*/ 10000 w 10000"/>
              <a:gd name="connsiteY2" fmla="*/ 0 h 457397"/>
              <a:gd name="connsiteX0" fmla="*/ 0 w 10000"/>
              <a:gd name="connsiteY0" fmla="*/ 5225 h 457568"/>
              <a:gd name="connsiteX1" fmla="*/ 5008 w 10000"/>
              <a:gd name="connsiteY1" fmla="*/ 456450 h 457568"/>
              <a:gd name="connsiteX2" fmla="*/ 10000 w 10000"/>
              <a:gd name="connsiteY2" fmla="*/ 0 h 457568"/>
              <a:gd name="connsiteX0" fmla="*/ 0 w 4992"/>
              <a:gd name="connsiteY0" fmla="*/ 456450 h 457568"/>
              <a:gd name="connsiteX1" fmla="*/ 4992 w 4992"/>
              <a:gd name="connsiteY1" fmla="*/ 0 h 457568"/>
            </a:gdLst>
            <a:ahLst/>
            <a:cxnLst>
              <a:cxn ang="0">
                <a:pos x="connsiteX0" y="connsiteY0"/>
              </a:cxn>
              <a:cxn ang="0">
                <a:pos x="connsiteX1" y="connsiteY1"/>
              </a:cxn>
            </a:cxnLst>
            <a:rect l="l" t="t" r="r" b="b"/>
            <a:pathLst>
              <a:path w="4992" h="457568">
                <a:moveTo>
                  <a:pt x="0" y="456450"/>
                </a:moveTo>
                <a:cubicBezTo>
                  <a:pt x="749" y="465856"/>
                  <a:pt x="3176" y="424446"/>
                  <a:pt x="4992" y="0"/>
                </a:cubicBezTo>
              </a:path>
            </a:pathLst>
          </a:custGeom>
          <a:noFill/>
          <a:ln w="381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5C091BC-CFE0-4E94-8E3D-D966D7E6890F}"/>
              </a:ext>
            </a:extLst>
          </p:cNvPr>
          <p:cNvSpPr/>
          <p:nvPr/>
        </p:nvSpPr>
        <p:spPr>
          <a:xfrm>
            <a:off x="8597900" y="5429250"/>
            <a:ext cx="905256" cy="898525"/>
          </a:xfrm>
          <a:custGeom>
            <a:avLst/>
            <a:gdLst>
              <a:gd name="connsiteX0" fmla="*/ 0 w 906462"/>
              <a:gd name="connsiteY0" fmla="*/ 0 h 898525"/>
              <a:gd name="connsiteX1" fmla="*/ 906462 w 906462"/>
              <a:gd name="connsiteY1" fmla="*/ 898525 h 898525"/>
              <a:gd name="connsiteX0" fmla="*/ 0 w 906462"/>
              <a:gd name="connsiteY0" fmla="*/ 0 h 898539"/>
              <a:gd name="connsiteX1" fmla="*/ 906462 w 906462"/>
              <a:gd name="connsiteY1" fmla="*/ 898525 h 898539"/>
              <a:gd name="connsiteX0" fmla="*/ 0 w 906462"/>
              <a:gd name="connsiteY0" fmla="*/ 0 h 898568"/>
              <a:gd name="connsiteX1" fmla="*/ 906462 w 906462"/>
              <a:gd name="connsiteY1" fmla="*/ 898525 h 898568"/>
              <a:gd name="connsiteX0" fmla="*/ 0 w 906462"/>
              <a:gd name="connsiteY0" fmla="*/ 0 h 898525"/>
              <a:gd name="connsiteX1" fmla="*/ 906462 w 906462"/>
              <a:gd name="connsiteY1" fmla="*/ 898525 h 898525"/>
              <a:gd name="connsiteX0" fmla="*/ 0 w 906462"/>
              <a:gd name="connsiteY0" fmla="*/ 0 h 898525"/>
              <a:gd name="connsiteX1" fmla="*/ 906462 w 906462"/>
              <a:gd name="connsiteY1" fmla="*/ 898525 h 898525"/>
            </a:gdLst>
            <a:ahLst/>
            <a:cxnLst>
              <a:cxn ang="0">
                <a:pos x="connsiteX0" y="connsiteY0"/>
              </a:cxn>
              <a:cxn ang="0">
                <a:pos x="connsiteX1" y="connsiteY1"/>
              </a:cxn>
            </a:cxnLst>
            <a:rect l="l" t="t" r="r" b="b"/>
            <a:pathLst>
              <a:path w="906462" h="898525">
                <a:moveTo>
                  <a:pt x="0" y="0"/>
                </a:moveTo>
                <a:cubicBezTo>
                  <a:pt x="323453" y="731044"/>
                  <a:pt x="669131" y="889001"/>
                  <a:pt x="906462" y="898525"/>
                </a:cubicBezTo>
              </a:path>
            </a:pathLst>
          </a:custGeom>
          <a:noFill/>
          <a:ln w="3810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05231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8CBAAC8-E4E5-4114-AAAC-8D786759347F}"/>
              </a:ext>
            </a:extLst>
          </p:cNvPr>
          <p:cNvSpPr/>
          <p:nvPr/>
        </p:nvSpPr>
        <p:spPr>
          <a:xfrm>
            <a:off x="8860366" y="4775200"/>
            <a:ext cx="2396066" cy="1697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40A191-D0DE-4B3B-8534-D8B5226D726B}"/>
              </a:ext>
            </a:extLst>
          </p:cNvPr>
          <p:cNvSpPr>
            <a:spLocks noGrp="1"/>
          </p:cNvSpPr>
          <p:nvPr>
            <p:ph type="title"/>
          </p:nvPr>
        </p:nvSpPr>
        <p:spPr/>
        <p:txBody>
          <a:bodyPr/>
          <a:lstStyle/>
          <a:p>
            <a:r>
              <a:rPr lang="en-US" dirty="0"/>
              <a:t>Neural Network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32BC11-694F-4A87-909A-8CF5F9241E25}"/>
                  </a:ext>
                </a:extLst>
              </p:cNvPr>
              <p:cNvSpPr>
                <a:spLocks noGrp="1"/>
              </p:cNvSpPr>
              <p:nvPr>
                <p:ph idx="1"/>
              </p:nvPr>
            </p:nvSpPr>
            <p:spPr>
              <a:xfrm>
                <a:off x="1451581" y="1694890"/>
                <a:ext cx="9603275" cy="5120777"/>
              </a:xfrm>
            </p:spPr>
            <p:txBody>
              <a:bodyPr>
                <a:normAutofit/>
              </a:bodyPr>
              <a:lstStyle/>
              <a:p>
                <a:r>
                  <a:rPr lang="en-US" dirty="0"/>
                  <a:t>Generalization of logistic regression</a:t>
                </a:r>
              </a:p>
              <a:p>
                <a:pPr lvl="1"/>
                <a:r>
                  <a:rPr lang="en-US" dirty="0"/>
                  <a:t>Each node is a regression problem</a:t>
                </a:r>
              </a:p>
              <a:p>
                <a:pPr lvl="1"/>
                <a:r>
                  <a:rPr lang="en-US" dirty="0"/>
                  <a:t>Replace logistic function with </a:t>
                </a:r>
                <a:r>
                  <a:rPr lang="en-US" dirty="0" err="1"/>
                  <a:t>ReLU</a:t>
                </a:r>
                <a:r>
                  <a:rPr lang="en-US" dirty="0"/>
                  <a:t>.</a:t>
                </a:r>
              </a:p>
              <a:p>
                <a:pPr lvl="2"/>
                <a:r>
                  <a:rPr lang="en-US" dirty="0"/>
                  <a:t>Easy to implement with piecewise polynomial</a:t>
                </a:r>
              </a:p>
              <a:p>
                <a:pPr lvl="2"/>
                <a:endParaRPr lang="en-US" dirty="0"/>
              </a:p>
              <a:p>
                <a:pPr lvl="1"/>
                <a:r>
                  <a:rPr lang="en-US" dirty="0"/>
                  <a:t>Output nodes use soft-max:</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sup>
                        </m:sSup>
                      </m:num>
                      <m:den>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sup>
                            </m:sSup>
                          </m:e>
                        </m:nary>
                      </m:den>
                    </m:f>
                  </m:oMath>
                </a14:m>
                <a:endParaRPr lang="en-US" dirty="0"/>
              </a:p>
              <a:p>
                <a:pPr lvl="2"/>
                <a:r>
                  <a:rPr lang="en-US" dirty="0"/>
                  <a:t>For inference/prediction, replace with </a:t>
                </a:r>
                <a:r>
                  <a:rPr lang="en-US" dirty="0" err="1"/>
                  <a:t>arg</a:t>
                </a:r>
                <a:r>
                  <a:rPr lang="en-US" dirty="0"/>
                  <a:t>-max.</a:t>
                </a:r>
              </a:p>
              <a:p>
                <a:pPr lvl="2"/>
                <a:r>
                  <a:rPr lang="en-US" dirty="0"/>
                  <a:t>For training, </a:t>
                </a:r>
              </a:p>
              <a:p>
                <a:pPr lvl="3"/>
                <a:r>
                  <a:rPr lang="en-US" dirty="0"/>
                  <a:t>Approximate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𝑥</m:t>
                        </m:r>
                      </m:sup>
                    </m:sSup>
                  </m:oMath>
                </a14:m>
                <a:endParaRPr lang="en-US" dirty="0"/>
              </a:p>
              <a:p>
                <a:pPr lvl="3"/>
                <a:r>
                  <a:rPr lang="en-US" dirty="0"/>
                  <a:t>Approximate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𝑥</m:t>
                    </m:r>
                  </m:oMath>
                </a14:m>
                <a:r>
                  <a:rPr lang="en-US" dirty="0"/>
                  <a:t>    or use one garbled circuit</a:t>
                </a:r>
              </a:p>
            </p:txBody>
          </p:sp>
        </mc:Choice>
        <mc:Fallback xmlns="">
          <p:sp>
            <p:nvSpPr>
              <p:cNvPr id="3" name="Content Placeholder 2">
                <a:extLst>
                  <a:ext uri="{FF2B5EF4-FFF2-40B4-BE49-F238E27FC236}">
                    <a16:creationId xmlns:a16="http://schemas.microsoft.com/office/drawing/2014/main" id="{C132BC11-694F-4A87-909A-8CF5F9241E25}"/>
                  </a:ext>
                </a:extLst>
              </p:cNvPr>
              <p:cNvSpPr>
                <a:spLocks noGrp="1" noRot="1" noChangeAspect="1" noMove="1" noResize="1" noEditPoints="1" noAdjustHandles="1" noChangeArrowheads="1" noChangeShapeType="1" noTextEdit="1"/>
              </p:cNvSpPr>
              <p:nvPr>
                <p:ph idx="1"/>
              </p:nvPr>
            </p:nvSpPr>
            <p:spPr>
              <a:xfrm>
                <a:off x="1451581" y="1694890"/>
                <a:ext cx="9603275" cy="5120777"/>
              </a:xfrm>
              <a:blipFill>
                <a:blip r:embed="rId2"/>
                <a:stretch>
                  <a:fillRect l="-825"/>
                </a:stretch>
              </a:blipFill>
            </p:spPr>
            <p:txBody>
              <a:bodyPr/>
              <a:lstStyle/>
              <a:p>
                <a:r>
                  <a:rPr lang="en-US">
                    <a:noFill/>
                  </a:rPr>
                  <a:t> </a:t>
                </a:r>
              </a:p>
            </p:txBody>
          </p:sp>
        </mc:Fallback>
      </mc:AlternateContent>
      <p:pic>
        <p:nvPicPr>
          <p:cNvPr id="1026" name="Picture 2" descr="Image result for neural network">
            <a:extLst>
              <a:ext uri="{FF2B5EF4-FFF2-40B4-BE49-F238E27FC236}">
                <a16:creationId xmlns:a16="http://schemas.microsoft.com/office/drawing/2014/main" id="{EB4095A7-3E9B-447B-B14C-ABFC601C13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5148" y="1540933"/>
            <a:ext cx="2334369" cy="2806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cdn-images-1.medium.com/max/1400/0*vGJq0cIuvTB9dvf5.">
            <a:extLst>
              <a:ext uri="{FF2B5EF4-FFF2-40B4-BE49-F238E27FC236}">
                <a16:creationId xmlns:a16="http://schemas.microsoft.com/office/drawing/2014/main" id="{941838D4-1713-4012-9049-6E943D653B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3038" y="5211529"/>
            <a:ext cx="1690723" cy="114164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54517C-E418-4415-8590-F9B5B860E751}"/>
                  </a:ext>
                </a:extLst>
              </p:cNvPr>
              <p:cNvSpPr txBox="1"/>
              <p:nvPr/>
            </p:nvSpPr>
            <p:spPr>
              <a:xfrm>
                <a:off x="8987366" y="4824556"/>
                <a:ext cx="2863251" cy="338554"/>
              </a:xfrm>
              <a:prstGeom prst="rect">
                <a:avLst/>
              </a:prstGeom>
              <a:noFill/>
            </p:spPr>
            <p:txBody>
              <a:bodyPr wrap="square" rtlCol="0">
                <a:spAutoFit/>
              </a:bodyPr>
              <a:lstStyle/>
              <a:p>
                <a:r>
                  <a:rPr lang="en-US" sz="1600" u="sng" dirty="0"/>
                  <a:t>ReLU: </a:t>
                </a:r>
                <a14:m>
                  <m:oMath xmlns:m="http://schemas.openxmlformats.org/officeDocument/2006/math">
                    <m:r>
                      <a:rPr lang="en-US" sz="1600" b="0" i="1" u="sng" smtClean="0">
                        <a:latin typeface="Cambria Math" panose="02040503050406030204" pitchFamily="18" charset="0"/>
                      </a:rPr>
                      <m:t>𝑓</m:t>
                    </m:r>
                    <m:d>
                      <m:dPr>
                        <m:ctrlPr>
                          <a:rPr lang="en-US" sz="1600" b="0" i="1" u="sng" smtClean="0">
                            <a:latin typeface="Cambria Math" panose="02040503050406030204" pitchFamily="18" charset="0"/>
                          </a:rPr>
                        </m:ctrlPr>
                      </m:dPr>
                      <m:e>
                        <m:r>
                          <a:rPr lang="en-US" sz="1600" b="0" i="1" u="sng" smtClean="0">
                            <a:latin typeface="Cambria Math" panose="02040503050406030204" pitchFamily="18" charset="0"/>
                          </a:rPr>
                          <m:t>𝑥</m:t>
                        </m:r>
                      </m:e>
                    </m:d>
                    <m:r>
                      <a:rPr lang="en-US" sz="1600" b="0" i="1" u="sng" smtClean="0">
                        <a:latin typeface="Cambria Math" panose="02040503050406030204" pitchFamily="18" charset="0"/>
                      </a:rPr>
                      <m:t>=</m:t>
                    </m:r>
                    <m:func>
                      <m:funcPr>
                        <m:ctrlPr>
                          <a:rPr lang="en-US" sz="1600" b="0" i="1" u="sng" smtClean="0">
                            <a:latin typeface="Cambria Math" panose="02040503050406030204" pitchFamily="18" charset="0"/>
                          </a:rPr>
                        </m:ctrlPr>
                      </m:funcPr>
                      <m:fName>
                        <m:r>
                          <m:rPr>
                            <m:sty m:val="p"/>
                          </m:rPr>
                          <a:rPr lang="en-US" sz="1600" b="0" i="0" u="sng" smtClean="0">
                            <a:latin typeface="Cambria Math" panose="02040503050406030204" pitchFamily="18" charset="0"/>
                          </a:rPr>
                          <m:t>max</m:t>
                        </m:r>
                      </m:fName>
                      <m:e>
                        <m:r>
                          <a:rPr lang="en-US" sz="1600" i="1" u="sng">
                            <a:latin typeface="Cambria Math" panose="02040503050406030204" pitchFamily="18" charset="0"/>
                          </a:rPr>
                          <m:t>(0,</m:t>
                        </m:r>
                        <m:r>
                          <a:rPr lang="en-US" sz="1600" i="1" u="sng">
                            <a:latin typeface="Cambria Math" panose="02040503050406030204" pitchFamily="18" charset="0"/>
                          </a:rPr>
                          <m:t>𝑥</m:t>
                        </m:r>
                        <m:r>
                          <a:rPr lang="en-US" sz="1600" i="1" u="sng">
                            <a:latin typeface="Cambria Math" panose="02040503050406030204" pitchFamily="18" charset="0"/>
                          </a:rPr>
                          <m:t>)</m:t>
                        </m:r>
                        <m:r>
                          <m:rPr>
                            <m:nor/>
                          </m:rPr>
                          <a:rPr lang="en-US" sz="1600" u="sng" dirty="0"/>
                          <m:t> </m:t>
                        </m:r>
                      </m:e>
                    </m:func>
                  </m:oMath>
                </a14:m>
                <a:endParaRPr lang="en-US" sz="1600" u="sng" dirty="0"/>
              </a:p>
            </p:txBody>
          </p:sp>
        </mc:Choice>
        <mc:Fallback xmlns="">
          <p:sp>
            <p:nvSpPr>
              <p:cNvPr id="5" name="TextBox 4">
                <a:extLst>
                  <a:ext uri="{FF2B5EF4-FFF2-40B4-BE49-F238E27FC236}">
                    <a16:creationId xmlns:a16="http://schemas.microsoft.com/office/drawing/2014/main" id="{8F54517C-E418-4415-8590-F9B5B860E751}"/>
                  </a:ext>
                </a:extLst>
              </p:cNvPr>
              <p:cNvSpPr txBox="1">
                <a:spLocks noRot="1" noChangeAspect="1" noMove="1" noResize="1" noEditPoints="1" noAdjustHandles="1" noChangeArrowheads="1" noChangeShapeType="1" noTextEdit="1"/>
              </p:cNvSpPr>
              <p:nvPr/>
            </p:nvSpPr>
            <p:spPr>
              <a:xfrm>
                <a:off x="8987366" y="4824556"/>
                <a:ext cx="2863251" cy="338554"/>
              </a:xfrm>
              <a:prstGeom prst="rect">
                <a:avLst/>
              </a:prstGeom>
              <a:blipFill>
                <a:blip r:embed="rId5"/>
                <a:stretch>
                  <a:fillRect l="-1064" t="-5357" b="-21429"/>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491F9FB-7A5D-4BC8-AD4E-95360E90FC9D}"/>
              </a:ext>
            </a:extLst>
          </p:cNvPr>
          <p:cNvSpPr txBox="1"/>
          <p:nvPr/>
        </p:nvSpPr>
        <p:spPr>
          <a:xfrm>
            <a:off x="9525988" y="3152813"/>
            <a:ext cx="505267" cy="261610"/>
          </a:xfrm>
          <a:prstGeom prst="rect">
            <a:avLst/>
          </a:prstGeom>
          <a:noFill/>
        </p:spPr>
        <p:txBody>
          <a:bodyPr wrap="none" rtlCol="0">
            <a:spAutoFit/>
          </a:bodyPr>
          <a:lstStyle/>
          <a:p>
            <a:r>
              <a:rPr lang="en-US" sz="1100" dirty="0" err="1">
                <a:solidFill>
                  <a:schemeClr val="tx1">
                    <a:lumMod val="50000"/>
                    <a:lumOff val="50000"/>
                  </a:schemeClr>
                </a:solidFill>
              </a:rPr>
              <a:t>ReLU</a:t>
            </a:r>
            <a:endParaRPr lang="en-US" sz="1100" dirty="0">
              <a:solidFill>
                <a:schemeClr val="tx1">
                  <a:lumMod val="50000"/>
                  <a:lumOff val="50000"/>
                </a:schemeClr>
              </a:solidFill>
            </a:endParaRPr>
          </a:p>
        </p:txBody>
      </p:sp>
      <p:sp>
        <p:nvSpPr>
          <p:cNvPr id="12" name="TextBox 11">
            <a:extLst>
              <a:ext uri="{FF2B5EF4-FFF2-40B4-BE49-F238E27FC236}">
                <a16:creationId xmlns:a16="http://schemas.microsoft.com/office/drawing/2014/main" id="{7F02B021-8BD3-4720-8877-0F27EF2A77BF}"/>
              </a:ext>
            </a:extLst>
          </p:cNvPr>
          <p:cNvSpPr txBox="1"/>
          <p:nvPr/>
        </p:nvSpPr>
        <p:spPr>
          <a:xfrm>
            <a:off x="9525989" y="2453932"/>
            <a:ext cx="505267" cy="261610"/>
          </a:xfrm>
          <a:prstGeom prst="rect">
            <a:avLst/>
          </a:prstGeom>
          <a:noFill/>
        </p:spPr>
        <p:txBody>
          <a:bodyPr wrap="none" rtlCol="0">
            <a:spAutoFit/>
          </a:bodyPr>
          <a:lstStyle/>
          <a:p>
            <a:r>
              <a:rPr lang="en-US" sz="1100" dirty="0" err="1">
                <a:solidFill>
                  <a:schemeClr val="tx1">
                    <a:lumMod val="50000"/>
                    <a:lumOff val="50000"/>
                  </a:schemeClr>
                </a:solidFill>
              </a:rPr>
              <a:t>ReLU</a:t>
            </a:r>
            <a:endParaRPr lang="en-US" sz="1100" dirty="0">
              <a:solidFill>
                <a:schemeClr val="tx1">
                  <a:lumMod val="50000"/>
                  <a:lumOff val="50000"/>
                </a:schemeClr>
              </a:solidFill>
            </a:endParaRPr>
          </a:p>
        </p:txBody>
      </p:sp>
      <p:sp>
        <p:nvSpPr>
          <p:cNvPr id="13" name="TextBox 12">
            <a:extLst>
              <a:ext uri="{FF2B5EF4-FFF2-40B4-BE49-F238E27FC236}">
                <a16:creationId xmlns:a16="http://schemas.microsoft.com/office/drawing/2014/main" id="{F53978CD-BF34-455B-9F8E-10E3C7C17BCF}"/>
              </a:ext>
            </a:extLst>
          </p:cNvPr>
          <p:cNvSpPr txBox="1"/>
          <p:nvPr/>
        </p:nvSpPr>
        <p:spPr>
          <a:xfrm>
            <a:off x="9525990" y="1735346"/>
            <a:ext cx="505267" cy="261610"/>
          </a:xfrm>
          <a:prstGeom prst="rect">
            <a:avLst/>
          </a:prstGeom>
          <a:noFill/>
        </p:spPr>
        <p:txBody>
          <a:bodyPr wrap="none" rtlCol="0">
            <a:spAutoFit/>
          </a:bodyPr>
          <a:lstStyle/>
          <a:p>
            <a:r>
              <a:rPr lang="en-US" sz="1100" dirty="0" err="1">
                <a:solidFill>
                  <a:schemeClr val="tx1">
                    <a:lumMod val="50000"/>
                    <a:lumOff val="50000"/>
                  </a:schemeClr>
                </a:solidFill>
              </a:rPr>
              <a:t>ReLU</a:t>
            </a:r>
            <a:endParaRPr lang="en-US" sz="1100" dirty="0">
              <a:solidFill>
                <a:schemeClr val="tx1">
                  <a:lumMod val="50000"/>
                  <a:lumOff val="50000"/>
                </a:schemeClr>
              </a:solidFill>
            </a:endParaRPr>
          </a:p>
        </p:txBody>
      </p:sp>
      <p:sp>
        <p:nvSpPr>
          <p:cNvPr id="14" name="TextBox 13">
            <a:extLst>
              <a:ext uri="{FF2B5EF4-FFF2-40B4-BE49-F238E27FC236}">
                <a16:creationId xmlns:a16="http://schemas.microsoft.com/office/drawing/2014/main" id="{94AFFCBB-6B24-4A27-B0C6-5C9AC19B4DCD}"/>
              </a:ext>
            </a:extLst>
          </p:cNvPr>
          <p:cNvSpPr txBox="1"/>
          <p:nvPr/>
        </p:nvSpPr>
        <p:spPr>
          <a:xfrm>
            <a:off x="9523192" y="3851694"/>
            <a:ext cx="505267" cy="261610"/>
          </a:xfrm>
          <a:prstGeom prst="rect">
            <a:avLst/>
          </a:prstGeom>
          <a:noFill/>
        </p:spPr>
        <p:txBody>
          <a:bodyPr wrap="none" rtlCol="0">
            <a:spAutoFit/>
          </a:bodyPr>
          <a:lstStyle/>
          <a:p>
            <a:r>
              <a:rPr lang="en-US" sz="1100" dirty="0" err="1">
                <a:solidFill>
                  <a:schemeClr val="tx1">
                    <a:lumMod val="50000"/>
                    <a:lumOff val="50000"/>
                  </a:schemeClr>
                </a:solidFill>
              </a:rPr>
              <a:t>ReLU</a:t>
            </a:r>
            <a:endParaRPr lang="en-US" sz="1100" dirty="0">
              <a:solidFill>
                <a:schemeClr val="tx1">
                  <a:lumMod val="50000"/>
                  <a:lumOff val="50000"/>
                </a:schemeClr>
              </a:solidFill>
            </a:endParaRPr>
          </a:p>
        </p:txBody>
      </p:sp>
      <p:sp>
        <p:nvSpPr>
          <p:cNvPr id="15" name="TextBox 14">
            <a:extLst>
              <a:ext uri="{FF2B5EF4-FFF2-40B4-BE49-F238E27FC236}">
                <a16:creationId xmlns:a16="http://schemas.microsoft.com/office/drawing/2014/main" id="{152CFE1D-4ACF-474B-A27A-966730274656}"/>
              </a:ext>
            </a:extLst>
          </p:cNvPr>
          <p:cNvSpPr txBox="1"/>
          <p:nvPr/>
        </p:nvSpPr>
        <p:spPr>
          <a:xfrm>
            <a:off x="10500500" y="2369293"/>
            <a:ext cx="425116" cy="430887"/>
          </a:xfrm>
          <a:prstGeom prst="rect">
            <a:avLst/>
          </a:prstGeom>
          <a:noFill/>
        </p:spPr>
        <p:txBody>
          <a:bodyPr wrap="none" rtlCol="0">
            <a:spAutoFit/>
          </a:bodyPr>
          <a:lstStyle/>
          <a:p>
            <a:pPr algn="ctr"/>
            <a:r>
              <a:rPr lang="en-US" sz="1100" dirty="0">
                <a:solidFill>
                  <a:schemeClr val="tx1">
                    <a:lumMod val="50000"/>
                    <a:lumOff val="50000"/>
                  </a:schemeClr>
                </a:solidFill>
              </a:rPr>
              <a:t>Soft</a:t>
            </a:r>
          </a:p>
          <a:p>
            <a:pPr algn="ctr"/>
            <a:r>
              <a:rPr lang="en-US" sz="1100" dirty="0">
                <a:solidFill>
                  <a:schemeClr val="tx1">
                    <a:lumMod val="50000"/>
                    <a:lumOff val="50000"/>
                  </a:schemeClr>
                </a:solidFill>
              </a:rPr>
              <a:t>max</a:t>
            </a:r>
          </a:p>
        </p:txBody>
      </p:sp>
      <p:sp>
        <p:nvSpPr>
          <p:cNvPr id="16" name="TextBox 15">
            <a:extLst>
              <a:ext uri="{FF2B5EF4-FFF2-40B4-BE49-F238E27FC236}">
                <a16:creationId xmlns:a16="http://schemas.microsoft.com/office/drawing/2014/main" id="{CC17812B-8D36-46A4-B68E-4296940A6FBD}"/>
              </a:ext>
            </a:extLst>
          </p:cNvPr>
          <p:cNvSpPr txBox="1"/>
          <p:nvPr/>
        </p:nvSpPr>
        <p:spPr>
          <a:xfrm>
            <a:off x="10496417" y="3077747"/>
            <a:ext cx="425116" cy="430887"/>
          </a:xfrm>
          <a:prstGeom prst="rect">
            <a:avLst/>
          </a:prstGeom>
          <a:noFill/>
        </p:spPr>
        <p:txBody>
          <a:bodyPr wrap="none" rtlCol="0">
            <a:spAutoFit/>
          </a:bodyPr>
          <a:lstStyle/>
          <a:p>
            <a:pPr algn="ctr"/>
            <a:r>
              <a:rPr lang="en-US" sz="1100" dirty="0">
                <a:solidFill>
                  <a:schemeClr val="tx1">
                    <a:lumMod val="50000"/>
                    <a:lumOff val="50000"/>
                  </a:schemeClr>
                </a:solidFill>
              </a:rPr>
              <a:t>Soft</a:t>
            </a:r>
          </a:p>
          <a:p>
            <a:pPr algn="ctr"/>
            <a:r>
              <a:rPr lang="en-US" sz="1100" dirty="0">
                <a:solidFill>
                  <a:schemeClr val="tx1">
                    <a:lumMod val="50000"/>
                    <a:lumOff val="50000"/>
                  </a:schemeClr>
                </a:solidFill>
              </a:rPr>
              <a:t>max</a:t>
            </a:r>
          </a:p>
        </p:txBody>
      </p:sp>
    </p:spTree>
    <p:extLst>
      <p:ext uri="{BB962C8B-B14F-4D97-AF65-F5344CB8AC3E}">
        <p14:creationId xmlns:p14="http://schemas.microsoft.com/office/powerpoint/2010/main" val="2420904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EA52D-5C73-41D8-9D84-93B573592E15}"/>
              </a:ext>
            </a:extLst>
          </p:cNvPr>
          <p:cNvSpPr>
            <a:spLocks noGrp="1"/>
          </p:cNvSpPr>
          <p:nvPr>
            <p:ph type="title"/>
          </p:nvPr>
        </p:nvSpPr>
        <p:spPr/>
        <p:txBody>
          <a:bodyPr/>
          <a:lstStyle/>
          <a:p>
            <a:r>
              <a:rPr lang="en-US" dirty="0"/>
              <a:t>Performance – Inference </a:t>
            </a:r>
          </a:p>
        </p:txBody>
      </p:sp>
      <p:pic>
        <p:nvPicPr>
          <p:cNvPr id="4" name="Content Placeholder 3">
            <a:extLst>
              <a:ext uri="{FF2B5EF4-FFF2-40B4-BE49-F238E27FC236}">
                <a16:creationId xmlns:a16="http://schemas.microsoft.com/office/drawing/2014/main" id="{D88489E4-310F-45F7-A478-70EA201D9564}"/>
              </a:ext>
            </a:extLst>
          </p:cNvPr>
          <p:cNvPicPr>
            <a:picLocks noGrp="1" noChangeAspect="1"/>
          </p:cNvPicPr>
          <p:nvPr>
            <p:ph idx="1"/>
          </p:nvPr>
        </p:nvPicPr>
        <p:blipFill>
          <a:blip r:embed="rId2"/>
          <a:stretch>
            <a:fillRect/>
          </a:stretch>
        </p:blipFill>
        <p:spPr>
          <a:xfrm>
            <a:off x="3066448" y="1971522"/>
            <a:ext cx="8838562" cy="4657725"/>
          </a:xfrm>
          <a:prstGeom prst="rect">
            <a:avLst/>
          </a:prstGeom>
        </p:spPr>
      </p:pic>
      <p:sp>
        <p:nvSpPr>
          <p:cNvPr id="5" name="Rectangle 4">
            <a:extLst>
              <a:ext uri="{FF2B5EF4-FFF2-40B4-BE49-F238E27FC236}">
                <a16:creationId xmlns:a16="http://schemas.microsoft.com/office/drawing/2014/main" id="{C9F3997A-DC05-40A9-B35D-EC5EB96D400F}"/>
              </a:ext>
            </a:extLst>
          </p:cNvPr>
          <p:cNvSpPr/>
          <p:nvPr/>
        </p:nvSpPr>
        <p:spPr>
          <a:xfrm>
            <a:off x="4336526" y="5749594"/>
            <a:ext cx="7555605" cy="283335"/>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5DF12D6-1FDD-49E1-8FE0-304F07A325E9}"/>
              </a:ext>
            </a:extLst>
          </p:cNvPr>
          <p:cNvSpPr/>
          <p:nvPr/>
        </p:nvSpPr>
        <p:spPr>
          <a:xfrm>
            <a:off x="4336525" y="5097133"/>
            <a:ext cx="7555605" cy="283335"/>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BA178F1-02B9-4518-A63F-2FA3C21F797D}"/>
              </a:ext>
            </a:extLst>
          </p:cNvPr>
          <p:cNvSpPr/>
          <p:nvPr/>
        </p:nvSpPr>
        <p:spPr>
          <a:xfrm>
            <a:off x="4323645" y="3882697"/>
            <a:ext cx="7555605" cy="548959"/>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16DF449-19ED-4374-B3CB-E2C92E49F5E0}"/>
              </a:ext>
            </a:extLst>
          </p:cNvPr>
          <p:cNvSpPr/>
          <p:nvPr/>
        </p:nvSpPr>
        <p:spPr>
          <a:xfrm>
            <a:off x="4323644" y="2661216"/>
            <a:ext cx="7555605" cy="548959"/>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51B3CFA-2389-452D-8FFB-24D88F177F51}"/>
              </a:ext>
            </a:extLst>
          </p:cNvPr>
          <p:cNvSpPr/>
          <p:nvPr/>
        </p:nvSpPr>
        <p:spPr>
          <a:xfrm>
            <a:off x="3667485" y="1442457"/>
            <a:ext cx="8559114" cy="461665"/>
          </a:xfrm>
          <a:prstGeom prst="rect">
            <a:avLst/>
          </a:prstGeom>
        </p:spPr>
        <p:txBody>
          <a:bodyPr wrap="square">
            <a:spAutoFit/>
          </a:bodyPr>
          <a:lstStyle/>
          <a:p>
            <a:r>
              <a:rPr lang="en-US" sz="2400" dirty="0"/>
              <a:t>The models are for the MNIST dataset with D = 784 features.</a:t>
            </a:r>
          </a:p>
        </p:txBody>
      </p:sp>
      <p:sp>
        <p:nvSpPr>
          <p:cNvPr id="11" name="TextBox 10">
            <a:extLst>
              <a:ext uri="{FF2B5EF4-FFF2-40B4-BE49-F238E27FC236}">
                <a16:creationId xmlns:a16="http://schemas.microsoft.com/office/drawing/2014/main" id="{BB89A053-FD44-4859-87B6-02C3DD93BF0A}"/>
              </a:ext>
            </a:extLst>
          </p:cNvPr>
          <p:cNvSpPr txBox="1"/>
          <p:nvPr/>
        </p:nvSpPr>
        <p:spPr>
          <a:xfrm>
            <a:off x="3439898" y="3328365"/>
            <a:ext cx="824395"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93%</a:t>
            </a:r>
          </a:p>
        </p:txBody>
      </p:sp>
      <p:sp>
        <p:nvSpPr>
          <p:cNvPr id="12" name="TextBox 11">
            <a:extLst>
              <a:ext uri="{FF2B5EF4-FFF2-40B4-BE49-F238E27FC236}">
                <a16:creationId xmlns:a16="http://schemas.microsoft.com/office/drawing/2014/main" id="{3CBDF254-2794-49A1-8E69-E21D4BF0080C}"/>
              </a:ext>
            </a:extLst>
          </p:cNvPr>
          <p:cNvSpPr txBox="1"/>
          <p:nvPr/>
        </p:nvSpPr>
        <p:spPr>
          <a:xfrm>
            <a:off x="3439897" y="4570838"/>
            <a:ext cx="824395"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98%</a:t>
            </a:r>
          </a:p>
        </p:txBody>
      </p:sp>
      <p:sp>
        <p:nvSpPr>
          <p:cNvPr id="13" name="TextBox 12">
            <a:extLst>
              <a:ext uri="{FF2B5EF4-FFF2-40B4-BE49-F238E27FC236}">
                <a16:creationId xmlns:a16="http://schemas.microsoft.com/office/drawing/2014/main" id="{E634E064-0752-404E-8CFB-C3DB11C71EFB}"/>
              </a:ext>
            </a:extLst>
          </p:cNvPr>
          <p:cNvSpPr txBox="1"/>
          <p:nvPr/>
        </p:nvSpPr>
        <p:spPr>
          <a:xfrm>
            <a:off x="4008714" y="4161503"/>
            <a:ext cx="824395"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a:t>
            </a:r>
          </a:p>
        </p:txBody>
      </p:sp>
      <p:sp>
        <p:nvSpPr>
          <p:cNvPr id="14" name="TextBox 13">
            <a:extLst>
              <a:ext uri="{FF2B5EF4-FFF2-40B4-BE49-F238E27FC236}">
                <a16:creationId xmlns:a16="http://schemas.microsoft.com/office/drawing/2014/main" id="{0FEC0599-AFB0-409A-8F93-98D48CAEA7DA}"/>
              </a:ext>
            </a:extLst>
          </p:cNvPr>
          <p:cNvSpPr txBox="1"/>
          <p:nvPr/>
        </p:nvSpPr>
        <p:spPr>
          <a:xfrm>
            <a:off x="3439896" y="5380262"/>
            <a:ext cx="824395"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97%</a:t>
            </a:r>
          </a:p>
        </p:txBody>
      </p:sp>
      <p:sp>
        <p:nvSpPr>
          <p:cNvPr id="16" name="TextBox 15">
            <a:extLst>
              <a:ext uri="{FF2B5EF4-FFF2-40B4-BE49-F238E27FC236}">
                <a16:creationId xmlns:a16="http://schemas.microsoft.com/office/drawing/2014/main" id="{DBAB54C7-8962-416A-A9DB-9831E0047910}"/>
              </a:ext>
            </a:extLst>
          </p:cNvPr>
          <p:cNvSpPr txBox="1"/>
          <p:nvPr/>
        </p:nvSpPr>
        <p:spPr>
          <a:xfrm>
            <a:off x="3439895" y="6253403"/>
            <a:ext cx="824395"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99%</a:t>
            </a:r>
          </a:p>
        </p:txBody>
      </p:sp>
      <p:pic>
        <p:nvPicPr>
          <p:cNvPr id="1026" name="Picture 2" descr="Image result for mnist">
            <a:extLst>
              <a:ext uri="{FF2B5EF4-FFF2-40B4-BE49-F238E27FC236}">
                <a16:creationId xmlns:a16="http://schemas.microsoft.com/office/drawing/2014/main" id="{996BBBE4-41C6-46AC-8F50-FF5EEA9E46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238" y="3210175"/>
            <a:ext cx="1905695" cy="1940736"/>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89999104-0E4E-4E45-87BF-7A222B8EB020}"/>
              </a:ext>
            </a:extLst>
          </p:cNvPr>
          <p:cNvSpPr/>
          <p:nvPr/>
        </p:nvSpPr>
        <p:spPr>
          <a:xfrm>
            <a:off x="10448429" y="2300260"/>
            <a:ext cx="1743572" cy="2796873"/>
          </a:xfrm>
          <a:prstGeom prst="ellipse">
            <a:avLst/>
          </a:prstGeom>
          <a:noFill/>
          <a:ln w="57150">
            <a:solidFill>
              <a:srgbClr val="FF0000">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1FCD63-2BDB-44FA-99F6-E9078AFC76BA}"/>
              </a:ext>
            </a:extLst>
          </p:cNvPr>
          <p:cNvSpPr/>
          <p:nvPr/>
        </p:nvSpPr>
        <p:spPr>
          <a:xfrm flipV="1">
            <a:off x="7856906" y="4875248"/>
            <a:ext cx="4539499" cy="1567297"/>
          </a:xfrm>
          <a:prstGeom prst="ellipse">
            <a:avLst/>
          </a:prstGeom>
          <a:noFill/>
          <a:ln w="57150">
            <a:solidFill>
              <a:srgbClr val="FF0000">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251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319B2-8F65-44F3-94C9-829D6B6954A4}"/>
              </a:ext>
            </a:extLst>
          </p:cNvPr>
          <p:cNvSpPr>
            <a:spLocks noGrp="1"/>
          </p:cNvSpPr>
          <p:nvPr>
            <p:ph type="title"/>
          </p:nvPr>
        </p:nvSpPr>
        <p:spPr/>
        <p:txBody>
          <a:bodyPr/>
          <a:lstStyle/>
          <a:p>
            <a:r>
              <a:rPr lang="en-US" dirty="0"/>
              <a:t>Performance – Logistic Regression Training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AFF10FE-BD58-4B59-B368-94816EA51400}"/>
                  </a:ext>
                </a:extLst>
              </p:cNvPr>
              <p:cNvSpPr>
                <a:spLocks noGrp="1"/>
              </p:cNvSpPr>
              <p:nvPr>
                <p:ph idx="1"/>
              </p:nvPr>
            </p:nvSpPr>
            <p:spPr>
              <a:xfrm>
                <a:off x="1451581" y="1694891"/>
                <a:ext cx="9603275" cy="2544924"/>
              </a:xfrm>
            </p:spPr>
            <p:txBody>
              <a:bodyPr>
                <a:normAutofit fontScale="77500" lnSpcReduction="20000"/>
              </a:bodyPr>
              <a:lstStyle/>
              <a:p>
                <a:r>
                  <a:rPr lang="en-US" dirty="0"/>
                  <a:t>Measures </a:t>
                </a:r>
                <a:r>
                  <a:rPr lang="en-US" dirty="0">
                    <a:latin typeface="Cambria Math" panose="02040503050406030204" pitchFamily="18" charset="0"/>
                    <a:ea typeface="Cambria Math" panose="02040503050406030204" pitchFamily="18" charset="0"/>
                  </a:rPr>
                  <a:t>iterations / second</a:t>
                </a:r>
                <a:r>
                  <a:rPr lang="en-US" dirty="0"/>
                  <a:t>,  </a:t>
                </a:r>
                <a:r>
                  <a:rPr lang="en-US" b="1" dirty="0"/>
                  <a:t>larger = better</a:t>
                </a:r>
              </a:p>
              <a:p>
                <a:r>
                  <a:rPr lang="en-US" dirty="0">
                    <a:latin typeface="Cambria Math" panose="02040503050406030204" pitchFamily="18" charset="0"/>
                    <a:ea typeface="Cambria Math" panose="02040503050406030204" pitchFamily="18" charset="0"/>
                  </a:rPr>
                  <a:t>Dimension</a:t>
                </a:r>
                <a:r>
                  <a:rPr lang="en-US" dirty="0"/>
                  <a:t>    = # of features</a:t>
                </a:r>
              </a:p>
              <a:p>
                <a:r>
                  <a:rPr lang="en-US" dirty="0">
                    <a:latin typeface="Cambria Math" panose="02040503050406030204" pitchFamily="18" charset="0"/>
                    <a:ea typeface="Cambria Math" panose="02040503050406030204" pitchFamily="18" charset="0"/>
                  </a:rPr>
                  <a:t>Batch Size </a:t>
                </a:r>
                <a:r>
                  <a:rPr lang="en-US" i="1" dirty="0">
                    <a:latin typeface="Cambria Math" panose="02040503050406030204" pitchFamily="18" charset="0"/>
                    <a:ea typeface="Cambria Math" panose="02040503050406030204" pitchFamily="18" charset="0"/>
                  </a:rPr>
                  <a:t>B</a:t>
                </a:r>
                <a:r>
                  <a:rPr lang="en-US" dirty="0">
                    <a:latin typeface="Cambria Math" panose="02040503050406030204" pitchFamily="18" charset="0"/>
                    <a:ea typeface="Cambria Math" panose="02040503050406030204" pitchFamily="18" charset="0"/>
                  </a:rPr>
                  <a:t>  </a:t>
                </a:r>
                <a:r>
                  <a:rPr lang="en-US" dirty="0"/>
                  <a:t>= # examples used at each iteration</a:t>
                </a:r>
              </a:p>
              <a:p>
                <a:endParaRPr lang="en-US" dirty="0"/>
              </a:p>
              <a:p>
                <a:r>
                  <a:rPr lang="en-US" dirty="0"/>
                  <a:t>Total running time: Up to </a:t>
                </a:r>
                <a14:m>
                  <m:oMath xmlns:m="http://schemas.openxmlformats.org/officeDocument/2006/math">
                    <m:r>
                      <a:rPr lang="en-US" b="1" i="1" dirty="0" smtClean="0">
                        <a:latin typeface="Cambria Math" panose="02040503050406030204" pitchFamily="18" charset="0"/>
                      </a:rPr>
                      <m:t>𝟕𝟎𝟎</m:t>
                    </m:r>
                    <m:r>
                      <a:rPr lang="en-US" b="1" i="1" dirty="0" smtClean="0">
                        <a:latin typeface="Cambria Math" panose="02040503050406030204" pitchFamily="18" charset="0"/>
                      </a:rPr>
                      <m:t> </m:t>
                    </m:r>
                  </m:oMath>
                </a14:m>
                <a:r>
                  <a:rPr lang="en-US" b="1" dirty="0"/>
                  <a:t>times faster</a:t>
                </a:r>
              </a:p>
              <a:p>
                <a:r>
                  <a:rPr lang="en-US" dirty="0"/>
                  <a:t>Communication:    Up to </a:t>
                </a:r>
                <a:r>
                  <a:rPr lang="en-US" b="1" dirty="0"/>
                  <a:t>600 times less</a:t>
                </a:r>
              </a:p>
            </p:txBody>
          </p:sp>
        </mc:Choice>
        <mc:Fallback>
          <p:sp>
            <p:nvSpPr>
              <p:cNvPr id="3" name="Content Placeholder 2">
                <a:extLst>
                  <a:ext uri="{FF2B5EF4-FFF2-40B4-BE49-F238E27FC236}">
                    <a16:creationId xmlns:a16="http://schemas.microsoft.com/office/drawing/2014/main" id="{CAFF10FE-BD58-4B59-B368-94816EA51400}"/>
                  </a:ext>
                </a:extLst>
              </p:cNvPr>
              <p:cNvSpPr>
                <a:spLocks noGrp="1" noRot="1" noChangeAspect="1" noMove="1" noResize="1" noEditPoints="1" noAdjustHandles="1" noChangeArrowheads="1" noChangeShapeType="1" noTextEdit="1"/>
              </p:cNvSpPr>
              <p:nvPr>
                <p:ph idx="1"/>
              </p:nvPr>
            </p:nvSpPr>
            <p:spPr>
              <a:xfrm>
                <a:off x="1451581" y="1694891"/>
                <a:ext cx="9603275" cy="2544924"/>
              </a:xfrm>
              <a:blipFill>
                <a:blip r:embed="rId2"/>
                <a:stretch>
                  <a:fillRect l="-444" t="-1435" b="-71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6848701-2591-446F-A0A1-F15336F82E41}"/>
              </a:ext>
            </a:extLst>
          </p:cNvPr>
          <p:cNvPicPr>
            <a:picLocks noChangeAspect="1"/>
          </p:cNvPicPr>
          <p:nvPr/>
        </p:nvPicPr>
        <p:blipFill>
          <a:blip r:embed="rId3"/>
          <a:stretch>
            <a:fillRect/>
          </a:stretch>
        </p:blipFill>
        <p:spPr>
          <a:xfrm>
            <a:off x="1613584" y="4254242"/>
            <a:ext cx="9822287" cy="2544924"/>
          </a:xfrm>
          <a:prstGeom prst="rect">
            <a:avLst/>
          </a:prstGeom>
        </p:spPr>
      </p:pic>
      <p:sp>
        <p:nvSpPr>
          <p:cNvPr id="5" name="Rectangle 4">
            <a:extLst>
              <a:ext uri="{FF2B5EF4-FFF2-40B4-BE49-F238E27FC236}">
                <a16:creationId xmlns:a16="http://schemas.microsoft.com/office/drawing/2014/main" id="{3828EC71-F201-40BB-B9A1-5C57D71211B1}"/>
              </a:ext>
            </a:extLst>
          </p:cNvPr>
          <p:cNvSpPr/>
          <p:nvPr/>
        </p:nvSpPr>
        <p:spPr>
          <a:xfrm>
            <a:off x="3072139" y="5169339"/>
            <a:ext cx="8363732" cy="257509"/>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1D68DB1-5D53-431C-823A-47B3DA8D79A5}"/>
              </a:ext>
            </a:extLst>
          </p:cNvPr>
          <p:cNvSpPr/>
          <p:nvPr/>
        </p:nvSpPr>
        <p:spPr>
          <a:xfrm>
            <a:off x="3072139" y="5705279"/>
            <a:ext cx="8363732" cy="257509"/>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ECA42F3-1525-4B6A-BEC5-EFD4C5C55012}"/>
              </a:ext>
            </a:extLst>
          </p:cNvPr>
          <p:cNvSpPr/>
          <p:nvPr/>
        </p:nvSpPr>
        <p:spPr>
          <a:xfrm>
            <a:off x="3069992" y="6241219"/>
            <a:ext cx="8363732" cy="257509"/>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01500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FF305-AC46-4082-A400-2CBF3A932B01}"/>
              </a:ext>
            </a:extLst>
          </p:cNvPr>
          <p:cNvSpPr>
            <a:spLocks noGrp="1"/>
          </p:cNvSpPr>
          <p:nvPr>
            <p:ph type="title"/>
          </p:nvPr>
        </p:nvSpPr>
        <p:spPr/>
        <p:txBody>
          <a:bodyPr/>
          <a:lstStyle/>
          <a:p>
            <a:r>
              <a:rPr lang="en-US" dirty="0"/>
              <a:t>Summary – ABY</a:t>
            </a:r>
            <a:r>
              <a:rPr lang="en-US" baseline="30000" dirty="0"/>
              <a:t>3</a:t>
            </a:r>
          </a:p>
        </p:txBody>
      </p:sp>
      <p:sp>
        <p:nvSpPr>
          <p:cNvPr id="3" name="Content Placeholder 2">
            <a:extLst>
              <a:ext uri="{FF2B5EF4-FFF2-40B4-BE49-F238E27FC236}">
                <a16:creationId xmlns:a16="http://schemas.microsoft.com/office/drawing/2014/main" id="{9339CE8A-0A29-4EF2-9BBE-B20B099231EF}"/>
              </a:ext>
            </a:extLst>
          </p:cNvPr>
          <p:cNvSpPr>
            <a:spLocks noGrp="1"/>
          </p:cNvSpPr>
          <p:nvPr>
            <p:ph idx="1"/>
          </p:nvPr>
        </p:nvSpPr>
        <p:spPr/>
        <p:txBody>
          <a:bodyPr/>
          <a:lstStyle/>
          <a:p>
            <a:r>
              <a:rPr lang="en-US" dirty="0"/>
              <a:t>New Protocols:</a:t>
            </a:r>
          </a:p>
          <a:p>
            <a:pPr lvl="1"/>
            <a:r>
              <a:rPr lang="en-US" dirty="0"/>
              <a:t>Efficient support for fixed-point </a:t>
            </a:r>
            <a:r>
              <a:rPr lang="en-US" dirty="0" err="1"/>
              <a:t>arithmetics</a:t>
            </a:r>
            <a:endParaRPr lang="en-US" dirty="0"/>
          </a:p>
          <a:p>
            <a:pPr lvl="1"/>
            <a:r>
              <a:rPr lang="en-US" dirty="0"/>
              <a:t>Improved matrix multiplication </a:t>
            </a:r>
          </a:p>
          <a:p>
            <a:pPr lvl="1"/>
            <a:r>
              <a:rPr lang="en-US" dirty="0"/>
              <a:t>Efficient piece-wise polynomial evaluation</a:t>
            </a:r>
          </a:p>
          <a:p>
            <a:pPr lvl="1"/>
            <a:r>
              <a:rPr lang="en-US" dirty="0"/>
              <a:t>Conversions between </a:t>
            </a:r>
            <a:r>
              <a:rPr lang="en-US" b="1" dirty="0"/>
              <a:t>A</a:t>
            </a:r>
            <a:r>
              <a:rPr lang="en-US" dirty="0"/>
              <a:t>rithmetic, </a:t>
            </a:r>
            <a:r>
              <a:rPr lang="en-US" b="1" dirty="0"/>
              <a:t>B</a:t>
            </a:r>
            <a:r>
              <a:rPr lang="en-US" dirty="0"/>
              <a:t>oolean, and </a:t>
            </a:r>
            <a:r>
              <a:rPr lang="en-US" b="1" dirty="0"/>
              <a:t>Y</a:t>
            </a:r>
            <a:r>
              <a:rPr lang="en-US" dirty="0"/>
              <a:t>ao secret shares</a:t>
            </a:r>
          </a:p>
          <a:p>
            <a:r>
              <a:rPr lang="en-US" dirty="0"/>
              <a:t>Prototype machine learning implementation:</a:t>
            </a:r>
          </a:p>
          <a:p>
            <a:pPr lvl="1"/>
            <a:r>
              <a:rPr lang="en-US" dirty="0"/>
              <a:t>Linear Regression – 12000 iterations / second</a:t>
            </a:r>
          </a:p>
          <a:p>
            <a:pPr lvl="1"/>
            <a:r>
              <a:rPr lang="en-US" dirty="0"/>
              <a:t>Logistic Regression – 2000 iterations / second </a:t>
            </a:r>
          </a:p>
          <a:p>
            <a:pPr lvl="1"/>
            <a:r>
              <a:rPr lang="en-US" dirty="0"/>
              <a:t>Neural Networks – 10 millisecond inference </a:t>
            </a:r>
          </a:p>
        </p:txBody>
      </p:sp>
    </p:spTree>
    <p:extLst>
      <p:ext uri="{BB962C8B-B14F-4D97-AF65-F5344CB8AC3E}">
        <p14:creationId xmlns:p14="http://schemas.microsoft.com/office/powerpoint/2010/main" val="25831611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extLst/>
          </p:nvPr>
        </p:nvSpPr>
        <p:spPr>
          <a:xfrm>
            <a:off x="3040934" y="1438275"/>
            <a:ext cx="7587420" cy="2800350"/>
          </a:xfrm>
          <a:prstGeom prst="rect">
            <a:avLst/>
          </a:prstGeom>
          <a:noFill/>
        </p:spPr>
        <p:txBody>
          <a:bodyPr wrap="square" rtlCol="0" anchor="t">
            <a:spAutoFit/>
          </a:bodyPr>
          <a:lstStyle/>
          <a:p>
            <a:r>
              <a:rPr lang="en-US" sz="8800" i="1" dirty="0"/>
              <a:t>The End,</a:t>
            </a:r>
          </a:p>
          <a:p>
            <a:r>
              <a:rPr lang="en-US" sz="8800" i="1" dirty="0"/>
              <a:t>     Questions?</a:t>
            </a:r>
          </a:p>
        </p:txBody>
      </p:sp>
      <p:sp>
        <p:nvSpPr>
          <p:cNvPr id="3" name="TextBox 2">
            <a:extLst>
              <a:ext uri="{FF2B5EF4-FFF2-40B4-BE49-F238E27FC236}">
                <a16:creationId xmlns:a16="http://schemas.microsoft.com/office/drawing/2014/main" id="{6ECA2C9C-BC09-4FC8-B7C1-CBFC52346B9B}"/>
              </a:ext>
            </a:extLst>
          </p:cNvPr>
          <p:cNvSpPr txBox="1"/>
          <p:nvPr>
            <p:extLst/>
          </p:nvPr>
        </p:nvSpPr>
        <p:spPr>
          <a:xfrm>
            <a:off x="6246634" y="5455184"/>
            <a:ext cx="3067051" cy="769441"/>
          </a:xfrm>
          <a:prstGeom prst="rect">
            <a:avLst/>
          </a:prstGeom>
          <a:noFill/>
        </p:spPr>
        <p:txBody>
          <a:bodyPr wrap="square" rtlCol="0" anchor="t">
            <a:spAutoFit/>
          </a:bodyPr>
          <a:lstStyle/>
          <a:p>
            <a:pPr algn="r"/>
            <a:r>
              <a:rPr lang="en-US" sz="2400" b="1" dirty="0"/>
              <a:t>Peter Rindal</a:t>
            </a:r>
          </a:p>
          <a:p>
            <a:pPr algn="r"/>
            <a:r>
              <a:rPr lang="en-US" sz="2000" dirty="0"/>
              <a:t>Payman Mohassel</a:t>
            </a:r>
            <a:endParaRPr dirty="0" err="1"/>
          </a:p>
        </p:txBody>
      </p:sp>
      <p:pic>
        <p:nvPicPr>
          <p:cNvPr id="4" name="Picture 2" descr="http://mahdiz.com/images/visaresearch.png">
            <a:extLst>
              <a:ext uri="{FF2B5EF4-FFF2-40B4-BE49-F238E27FC236}">
                <a16:creationId xmlns:a16="http://schemas.microsoft.com/office/drawing/2014/main" id="{BA3425BD-C04B-4189-9B97-285D399F396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a:stretch>
            <a:fillRect/>
          </a:stretch>
        </p:blipFill>
        <p:spPr bwMode="auto">
          <a:xfrm>
            <a:off x="9992411" y="5399651"/>
            <a:ext cx="1549826" cy="88050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9217B57B-D6DF-45D7-B6FB-B8CBA2799FEB}"/>
              </a:ext>
            </a:extLst>
          </p:cNvPr>
          <p:cNvCxnSpPr>
            <a:cxnSpLocks/>
          </p:cNvCxnSpPr>
          <p:nvPr/>
        </p:nvCxnSpPr>
        <p:spPr>
          <a:xfrm>
            <a:off x="9662475" y="5194168"/>
            <a:ext cx="0" cy="140459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9612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Truncation on 2-out-of-2 Secret Shares</a:t>
            </a:r>
          </a:p>
        </p:txBody>
      </p:sp>
      <p:sp>
        <p:nvSpPr>
          <p:cNvPr id="32" name="Rectangle 31">
            <a:extLst>
              <a:ext uri="{FF2B5EF4-FFF2-40B4-BE49-F238E27FC236}">
                <a16:creationId xmlns:a16="http://schemas.microsoft.com/office/drawing/2014/main" id="{12194ADF-A806-4966-89A9-2462D8D9A28A}"/>
              </a:ext>
            </a:extLst>
          </p:cNvPr>
          <p:cNvSpPr/>
          <p:nvPr/>
        </p:nvSpPr>
        <p:spPr>
          <a:xfrm>
            <a:off x="8692248" y="2483052"/>
            <a:ext cx="2174635"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3" name="Rectangle 32">
            <a:extLst>
              <a:ext uri="{FF2B5EF4-FFF2-40B4-BE49-F238E27FC236}">
                <a16:creationId xmlns:a16="http://schemas.microsoft.com/office/drawing/2014/main" id="{28EEE502-772D-41F5-A41E-552130F63C69}"/>
              </a:ext>
            </a:extLst>
          </p:cNvPr>
          <p:cNvSpPr/>
          <p:nvPr/>
        </p:nvSpPr>
        <p:spPr>
          <a:xfrm>
            <a:off x="7154498" y="2939491"/>
            <a:ext cx="4349270"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30" name="Rectangle 29">
            <a:extLst>
              <a:ext uri="{FF2B5EF4-FFF2-40B4-BE49-F238E27FC236}">
                <a16:creationId xmlns:a16="http://schemas.microsoft.com/office/drawing/2014/main" id="{DAD66232-84AD-47CE-B930-A167622B6E79}"/>
              </a:ext>
            </a:extLst>
          </p:cNvPr>
          <p:cNvSpPr/>
          <p:nvPr/>
        </p:nvSpPr>
        <p:spPr>
          <a:xfrm>
            <a:off x="8692248" y="2142465"/>
            <a:ext cx="2174635"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4" name="TextBox 3"/>
              <p:cNvSpPr txBox="1"/>
              <p:nvPr/>
            </p:nvSpPr>
            <p:spPr>
              <a:xfrm>
                <a:off x="10688442" y="2456826"/>
                <a:ext cx="995131" cy="357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ℤ</m:t>
                          </m:r>
                        </m:e>
                        <m:sub>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2</m:t>
                              </m:r>
                            </m:e>
                            <m:sup>
                              <m:r>
                                <a:rPr lang="en-US" sz="1400" b="0" i="1" dirty="0" smtClean="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4" name="TextBox 3"/>
              <p:cNvSpPr txBox="1">
                <a:spLocks noRot="1" noChangeAspect="1" noMove="1" noResize="1" noEditPoints="1" noAdjustHandles="1" noChangeArrowheads="1" noChangeShapeType="1" noTextEdit="1"/>
              </p:cNvSpPr>
              <p:nvPr/>
            </p:nvSpPr>
            <p:spPr>
              <a:xfrm>
                <a:off x="10688442" y="2456826"/>
                <a:ext cx="995131" cy="357452"/>
              </a:xfrm>
              <a:prstGeom prst="rect">
                <a:avLst/>
              </a:prstGeom>
              <a:blipFill>
                <a:blip r:embed="rId2"/>
                <a:stretch>
                  <a:fillRect/>
                </a:stretch>
              </a:blipFill>
            </p:spPr>
            <p:txBody>
              <a:bodyPr/>
              <a:lstStyle/>
              <a:p>
                <a:r>
                  <a:rPr lang="en-US">
                    <a:noFill/>
                  </a:rPr>
                  <a:t> </a:t>
                </a:r>
              </a:p>
            </p:txBody>
          </p:sp>
        </mc:Fallback>
      </mc:AlternateContent>
      <p:sp>
        <p:nvSpPr>
          <p:cNvPr id="5" name="Rectangle 4"/>
          <p:cNvSpPr/>
          <p:nvPr/>
        </p:nvSpPr>
        <p:spPr>
          <a:xfrm>
            <a:off x="9373316" y="2512013"/>
            <a:ext cx="622833" cy="196164"/>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6" name="Rectangle 5"/>
          <p:cNvSpPr/>
          <p:nvPr/>
        </p:nvSpPr>
        <p:spPr>
          <a:xfrm>
            <a:off x="10224435" y="2512012"/>
            <a:ext cx="619751" cy="196164"/>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 name="TextBox 6"/>
          <p:cNvSpPr txBox="1"/>
          <p:nvPr/>
        </p:nvSpPr>
        <p:spPr>
          <a:xfrm>
            <a:off x="10028257" y="2450702"/>
            <a:ext cx="216408" cy="357452"/>
          </a:xfrm>
          <a:prstGeom prst="rect">
            <a:avLst/>
          </a:prstGeom>
          <a:noFill/>
        </p:spPr>
        <p:txBody>
          <a:bodyPr wrap="square" rtlCol="0">
            <a:spAutoFit/>
          </a:bodyPr>
          <a:lstStyle/>
          <a:p>
            <a:r>
              <a:rPr lang="en-US" sz="1400" b="1" dirty="0"/>
              <a:t>.</a:t>
            </a:r>
          </a:p>
        </p:txBody>
      </p:sp>
      <p:sp>
        <p:nvSpPr>
          <p:cNvPr id="8" name="Right Brace 7"/>
          <p:cNvSpPr/>
          <p:nvPr/>
        </p:nvSpPr>
        <p:spPr>
          <a:xfrm rot="5400000" flipH="1">
            <a:off x="10041250" y="1289519"/>
            <a:ext cx="157697" cy="1493567"/>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9" name="TextBox 8"/>
              <p:cNvSpPr txBox="1"/>
              <p:nvPr/>
            </p:nvSpPr>
            <p:spPr>
              <a:xfrm>
                <a:off x="9787265" y="1629833"/>
                <a:ext cx="1005202" cy="338554"/>
              </a:xfrm>
              <a:prstGeom prst="rect">
                <a:avLst/>
              </a:prstGeom>
              <a:noFill/>
            </p:spPr>
            <p:txBody>
              <a:bodyPr wrap="square" rtlCol="0">
                <a:spAutoFit/>
              </a:bodyPr>
              <a:lstStyle/>
              <a:p>
                <a14:m>
                  <m:oMath xmlns:m="http://schemas.openxmlformats.org/officeDocument/2006/math">
                    <m:r>
                      <a:rPr lang="en-US" sz="1600" b="0" i="1" smtClean="0">
                        <a:latin typeface="Cambria Math" panose="02040503050406030204" pitchFamily="18" charset="0"/>
                      </a:rPr>
                      <m:t>𝑚</m:t>
                    </m:r>
                  </m:oMath>
                </a14:m>
                <a:r>
                  <a:rPr lang="en-US" sz="1600" dirty="0"/>
                  <a:t> bits</a:t>
                </a:r>
              </a:p>
            </p:txBody>
          </p:sp>
        </mc:Choice>
        <mc:Fallback xmlns="">
          <p:sp>
            <p:nvSpPr>
              <p:cNvPr id="9" name="TextBox 8"/>
              <p:cNvSpPr txBox="1">
                <a:spLocks noRot="1" noChangeAspect="1" noMove="1" noResize="1" noEditPoints="1" noAdjustHandles="1" noChangeArrowheads="1" noChangeShapeType="1" noTextEdit="1"/>
              </p:cNvSpPr>
              <p:nvPr/>
            </p:nvSpPr>
            <p:spPr>
              <a:xfrm>
                <a:off x="9787265" y="1629833"/>
                <a:ext cx="1005202" cy="338554"/>
              </a:xfrm>
              <a:prstGeom prst="rect">
                <a:avLst/>
              </a:prstGeom>
              <a:blipFill>
                <a:blip r:embed="rId3"/>
                <a:stretch>
                  <a:fillRect t="-5357"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0810812" y="2080566"/>
                <a:ext cx="747530" cy="357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dirty="0">
                          <a:latin typeface="Cambria Math" panose="02040503050406030204" pitchFamily="18" charset="0"/>
                        </a:rPr>
                        <m:t>∈</m:t>
                      </m:r>
                      <m:sSub>
                        <m:sSubPr>
                          <m:ctrlPr>
                            <a:rPr lang="en-US" sz="1400" i="1" dirty="0">
                              <a:latin typeface="Cambria Math" panose="02040503050406030204" pitchFamily="18" charset="0"/>
                              <a:ea typeface="Cambria Math" panose="02040503050406030204" pitchFamily="18" charset="0"/>
                            </a:rPr>
                          </m:ctrlPr>
                        </m:sSubPr>
                        <m:e>
                          <m:r>
                            <a:rPr lang="en-US" sz="1400" i="1" dirty="0">
                              <a:latin typeface="Cambria Math" panose="02040503050406030204" pitchFamily="18" charset="0"/>
                              <a:ea typeface="Cambria Math" panose="02040503050406030204" pitchFamily="18" charset="0"/>
                            </a:rPr>
                            <m:t>ℤ</m:t>
                          </m:r>
                        </m:e>
                        <m:sub>
                          <m:sSup>
                            <m:sSupPr>
                              <m:ctrlPr>
                                <a:rPr lang="en-US" sz="1400" i="1" dirty="0">
                                  <a:latin typeface="Cambria Math" panose="02040503050406030204" pitchFamily="18" charset="0"/>
                                  <a:ea typeface="Cambria Math" panose="02040503050406030204" pitchFamily="18" charset="0"/>
                                </a:rPr>
                              </m:ctrlPr>
                            </m:sSupPr>
                            <m:e>
                              <m:r>
                                <a:rPr lang="en-US" sz="1400" i="1" dirty="0">
                                  <a:latin typeface="Cambria Math" panose="02040503050406030204" pitchFamily="18" charset="0"/>
                                  <a:ea typeface="Cambria Math" panose="02040503050406030204" pitchFamily="18" charset="0"/>
                                </a:rPr>
                                <m:t>2</m:t>
                              </m:r>
                            </m:e>
                            <m:sup>
                              <m:r>
                                <a:rPr lang="en-US" sz="1400" i="1" dirty="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10" name="TextBox 9"/>
              <p:cNvSpPr txBox="1">
                <a:spLocks noRot="1" noChangeAspect="1" noMove="1" noResize="1" noEditPoints="1" noAdjustHandles="1" noChangeArrowheads="1" noChangeShapeType="1" noTextEdit="1"/>
              </p:cNvSpPr>
              <p:nvPr/>
            </p:nvSpPr>
            <p:spPr>
              <a:xfrm>
                <a:off x="10810812" y="2080566"/>
                <a:ext cx="747530" cy="357452"/>
              </a:xfrm>
              <a:prstGeom prst="rect">
                <a:avLst/>
              </a:prstGeom>
              <a:blipFill>
                <a:blip r:embed="rId4"/>
                <a:stretch>
                  <a:fillRect/>
                </a:stretch>
              </a:blipFill>
            </p:spPr>
            <p:txBody>
              <a:bodyPr/>
              <a:lstStyle/>
              <a:p>
                <a:r>
                  <a:rPr lang="en-US">
                    <a:noFill/>
                  </a:rPr>
                  <a:t> </a:t>
                </a:r>
              </a:p>
            </p:txBody>
          </p:sp>
        </mc:Fallback>
      </mc:AlternateContent>
      <p:sp>
        <p:nvSpPr>
          <p:cNvPr id="11" name="Rectangle 10"/>
          <p:cNvSpPr/>
          <p:nvPr/>
        </p:nvSpPr>
        <p:spPr>
          <a:xfrm>
            <a:off x="9373316" y="2170788"/>
            <a:ext cx="622833" cy="196164"/>
          </a:xfrm>
          <a:prstGeom prst="rect">
            <a:avLst/>
          </a:prstGeom>
          <a:solidFill>
            <a:schemeClr val="accent6">
              <a:lumMod val="25000"/>
              <a:lumOff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2" name="Rectangle 11"/>
          <p:cNvSpPr/>
          <p:nvPr/>
        </p:nvSpPr>
        <p:spPr>
          <a:xfrm>
            <a:off x="10224435" y="2170787"/>
            <a:ext cx="619751" cy="196164"/>
          </a:xfrm>
          <a:prstGeom prst="rect">
            <a:avLst/>
          </a:prstGeom>
          <a:solidFill>
            <a:schemeClr val="accent6">
              <a:lumMod val="25000"/>
              <a:lumOff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3" name="TextBox 12"/>
          <p:cNvSpPr txBox="1"/>
          <p:nvPr/>
        </p:nvSpPr>
        <p:spPr>
          <a:xfrm>
            <a:off x="10028257" y="2109477"/>
            <a:ext cx="216408" cy="357452"/>
          </a:xfrm>
          <a:prstGeom prst="rect">
            <a:avLst/>
          </a:prstGeom>
          <a:noFill/>
        </p:spPr>
        <p:txBody>
          <a:bodyPr wrap="square" rtlCol="0">
            <a:spAutoFit/>
          </a:bodyPr>
          <a:lstStyle/>
          <a:p>
            <a:r>
              <a:rPr lang="en-US" sz="1400" b="1" dirty="0"/>
              <a:t>.</a:t>
            </a:r>
          </a:p>
        </p:txBody>
      </p:sp>
      <p:sp>
        <p:nvSpPr>
          <p:cNvPr id="19" name="Rectangle 18"/>
          <p:cNvSpPr/>
          <p:nvPr/>
        </p:nvSpPr>
        <p:spPr>
          <a:xfrm>
            <a:off x="10224435" y="2971313"/>
            <a:ext cx="1250222"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20" name="TextBox 19"/>
          <p:cNvSpPr txBox="1"/>
          <p:nvPr/>
        </p:nvSpPr>
        <p:spPr>
          <a:xfrm>
            <a:off x="10028257" y="2910003"/>
            <a:ext cx="216408" cy="357452"/>
          </a:xfrm>
          <a:prstGeom prst="rect">
            <a:avLst/>
          </a:prstGeom>
          <a:noFill/>
        </p:spPr>
        <p:txBody>
          <a:bodyPr wrap="square" rtlCol="0">
            <a:spAutoFit/>
          </a:bodyPr>
          <a:lstStyle/>
          <a:p>
            <a:r>
              <a:rPr lang="en-US" sz="1400" b="1" dirty="0"/>
              <a:t>.</a:t>
            </a:r>
          </a:p>
        </p:txBody>
      </p:sp>
      <p:cxnSp>
        <p:nvCxnSpPr>
          <p:cNvPr id="31" name="Straight Connector 30">
            <a:extLst>
              <a:ext uri="{FF2B5EF4-FFF2-40B4-BE49-F238E27FC236}">
                <a16:creationId xmlns:a16="http://schemas.microsoft.com/office/drawing/2014/main" id="{3E615738-B903-42B9-B49E-9C8686D3D29C}"/>
              </a:ext>
            </a:extLst>
          </p:cNvPr>
          <p:cNvCxnSpPr/>
          <p:nvPr/>
        </p:nvCxnSpPr>
        <p:spPr>
          <a:xfrm>
            <a:off x="8080866" y="2855359"/>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E152B3F-687A-44BE-904F-26A29A39CF03}"/>
              </a:ext>
            </a:extLst>
          </p:cNvPr>
          <p:cNvSpPr/>
          <p:nvPr/>
        </p:nvSpPr>
        <p:spPr>
          <a:xfrm>
            <a:off x="8742442" y="2969086"/>
            <a:ext cx="1253706"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73DDEFD-12C0-4E65-B53E-D4D1DC739323}"/>
                  </a:ext>
                </a:extLst>
              </p:cNvPr>
              <p:cNvSpPr txBox="1"/>
              <p:nvPr/>
            </p:nvSpPr>
            <p:spPr>
              <a:xfrm>
                <a:off x="11352914" y="2907775"/>
                <a:ext cx="995131" cy="3593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ℤ</m:t>
                          </m:r>
                        </m:e>
                        <m:sub>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2</m:t>
                              </m:r>
                            </m:e>
                            <m:sup>
                              <m:r>
                                <a:rPr lang="en-US" sz="1400" b="0" i="1" dirty="0" smtClean="0">
                                  <a:solidFill>
                                    <a:srgbClr val="FF0000"/>
                                  </a:solidFill>
                                  <a:latin typeface="Cambria Math" panose="02040503050406030204" pitchFamily="18" charset="0"/>
                                  <a:ea typeface="Cambria Math" panose="02040503050406030204" pitchFamily="18" charset="0"/>
                                </a:rPr>
                                <m:t>2</m:t>
                              </m:r>
                              <m:r>
                                <a:rPr lang="en-US" sz="1400" b="0" i="1" dirty="0" smtClean="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36" name="TextBox 35">
                <a:extLst>
                  <a:ext uri="{FF2B5EF4-FFF2-40B4-BE49-F238E27FC236}">
                    <a16:creationId xmlns:a16="http://schemas.microsoft.com/office/drawing/2014/main" id="{573DDEFD-12C0-4E65-B53E-D4D1DC739323}"/>
                  </a:ext>
                </a:extLst>
              </p:cNvPr>
              <p:cNvSpPr txBox="1">
                <a:spLocks noRot="1" noChangeAspect="1" noMove="1" noResize="1" noEditPoints="1" noAdjustHandles="1" noChangeArrowheads="1" noChangeShapeType="1" noTextEdit="1"/>
              </p:cNvSpPr>
              <p:nvPr/>
            </p:nvSpPr>
            <p:spPr>
              <a:xfrm>
                <a:off x="11352914" y="2907775"/>
                <a:ext cx="995131" cy="359314"/>
              </a:xfrm>
              <a:prstGeom prst="rect">
                <a:avLst/>
              </a:prstGeom>
              <a:blipFill>
                <a:blip r:embed="rId5"/>
                <a:stretch>
                  <a:fillRect/>
                </a:stretch>
              </a:blipFill>
            </p:spPr>
            <p:txBody>
              <a:bodyPr/>
              <a:lstStyle/>
              <a:p>
                <a:r>
                  <a:rPr lang="en-US">
                    <a:noFill/>
                  </a:rPr>
                  <a:t> </a:t>
                </a:r>
              </a:p>
            </p:txBody>
          </p:sp>
        </mc:Fallback>
      </mc:AlternateContent>
      <p:sp>
        <p:nvSpPr>
          <p:cNvPr id="35" name="Right Brace 34">
            <a:extLst>
              <a:ext uri="{FF2B5EF4-FFF2-40B4-BE49-F238E27FC236}">
                <a16:creationId xmlns:a16="http://schemas.microsoft.com/office/drawing/2014/main" id="{9707E4B5-A815-4FDA-9837-C3DEB3D8ED0E}"/>
              </a:ext>
            </a:extLst>
          </p:cNvPr>
          <p:cNvSpPr/>
          <p:nvPr/>
        </p:nvSpPr>
        <p:spPr>
          <a:xfrm rot="5400000" flipH="1">
            <a:off x="8953932" y="1684471"/>
            <a:ext cx="157697" cy="681067"/>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C904237-7707-41D9-A20B-84D5A10C3D1D}"/>
                  </a:ext>
                </a:extLst>
              </p:cNvPr>
              <p:cNvSpPr txBox="1"/>
              <p:nvPr/>
            </p:nvSpPr>
            <p:spPr>
              <a:xfrm>
                <a:off x="8724907" y="1587726"/>
                <a:ext cx="1005202" cy="338554"/>
              </a:xfrm>
              <a:prstGeom prst="rect">
                <a:avLst/>
              </a:prstGeom>
              <a:noFill/>
            </p:spPr>
            <p:txBody>
              <a:bodyPr wrap="square" rtlCol="0">
                <a:spAutoFit/>
              </a:bodyPr>
              <a:lstStyle/>
              <a:p>
                <a14:m>
                  <m:oMath xmlns:m="http://schemas.openxmlformats.org/officeDocument/2006/math">
                    <m:r>
                      <a:rPr lang="en-US" sz="1600" b="0" i="1" smtClean="0">
                        <a:latin typeface="Cambria Math" panose="02040503050406030204" pitchFamily="18" charset="0"/>
                      </a:rPr>
                      <m:t>𝜆</m:t>
                    </m:r>
                  </m:oMath>
                </a14:m>
                <a:r>
                  <a:rPr lang="en-US" sz="1600" dirty="0"/>
                  <a:t> bits</a:t>
                </a:r>
              </a:p>
            </p:txBody>
          </p:sp>
        </mc:Choice>
        <mc:Fallback xmlns="">
          <p:sp>
            <p:nvSpPr>
              <p:cNvPr id="37" name="TextBox 36">
                <a:extLst>
                  <a:ext uri="{FF2B5EF4-FFF2-40B4-BE49-F238E27FC236}">
                    <a16:creationId xmlns:a16="http://schemas.microsoft.com/office/drawing/2014/main" id="{2C904237-7707-41D9-A20B-84D5A10C3D1D}"/>
                  </a:ext>
                </a:extLst>
              </p:cNvPr>
              <p:cNvSpPr txBox="1">
                <a:spLocks noRot="1" noChangeAspect="1" noMove="1" noResize="1" noEditPoints="1" noAdjustHandles="1" noChangeArrowheads="1" noChangeShapeType="1" noTextEdit="1"/>
              </p:cNvSpPr>
              <p:nvPr/>
            </p:nvSpPr>
            <p:spPr>
              <a:xfrm>
                <a:off x="8724907" y="1587726"/>
                <a:ext cx="1005202" cy="338554"/>
              </a:xfrm>
              <a:prstGeom prst="rect">
                <a:avLst/>
              </a:prstGeom>
              <a:blipFill>
                <a:blip r:embed="rId6"/>
                <a:stretch>
                  <a:fillRect t="-5357" b="-21429"/>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1152A03D-23B0-4C14-852B-EEF637A933DB}"/>
              </a:ext>
            </a:extLst>
          </p:cNvPr>
          <p:cNvSpPr/>
          <p:nvPr/>
        </p:nvSpPr>
        <p:spPr>
          <a:xfrm>
            <a:off x="2237561" y="2483052"/>
            <a:ext cx="2174635"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6" name="Rectangle 45">
            <a:extLst>
              <a:ext uri="{FF2B5EF4-FFF2-40B4-BE49-F238E27FC236}">
                <a16:creationId xmlns:a16="http://schemas.microsoft.com/office/drawing/2014/main" id="{41AE6DE7-15E0-4D87-A143-C31C4B033E42}"/>
              </a:ext>
            </a:extLst>
          </p:cNvPr>
          <p:cNvSpPr/>
          <p:nvPr/>
        </p:nvSpPr>
        <p:spPr>
          <a:xfrm>
            <a:off x="699811" y="2939491"/>
            <a:ext cx="4349270"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7" name="Rectangle 46">
            <a:extLst>
              <a:ext uri="{FF2B5EF4-FFF2-40B4-BE49-F238E27FC236}">
                <a16:creationId xmlns:a16="http://schemas.microsoft.com/office/drawing/2014/main" id="{D0B82217-86DB-4D89-BF97-826D73B13FC9}"/>
              </a:ext>
            </a:extLst>
          </p:cNvPr>
          <p:cNvSpPr/>
          <p:nvPr/>
        </p:nvSpPr>
        <p:spPr>
          <a:xfrm>
            <a:off x="2237561" y="2142465"/>
            <a:ext cx="2174635"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F366455-73CA-42A9-A7C4-0510D3E9E790}"/>
                  </a:ext>
                </a:extLst>
              </p:cNvPr>
              <p:cNvSpPr txBox="1"/>
              <p:nvPr/>
            </p:nvSpPr>
            <p:spPr>
              <a:xfrm>
                <a:off x="4233755" y="2456826"/>
                <a:ext cx="995131" cy="357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ℤ</m:t>
                          </m:r>
                        </m:e>
                        <m:sub>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2</m:t>
                              </m:r>
                            </m:e>
                            <m:sup>
                              <m:r>
                                <a:rPr lang="en-US" sz="1400" b="0" i="1" dirty="0" smtClean="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48" name="TextBox 47">
                <a:extLst>
                  <a:ext uri="{FF2B5EF4-FFF2-40B4-BE49-F238E27FC236}">
                    <a16:creationId xmlns:a16="http://schemas.microsoft.com/office/drawing/2014/main" id="{EF366455-73CA-42A9-A7C4-0510D3E9E790}"/>
                  </a:ext>
                </a:extLst>
              </p:cNvPr>
              <p:cNvSpPr txBox="1">
                <a:spLocks noRot="1" noChangeAspect="1" noMove="1" noResize="1" noEditPoints="1" noAdjustHandles="1" noChangeArrowheads="1" noChangeShapeType="1" noTextEdit="1"/>
              </p:cNvSpPr>
              <p:nvPr/>
            </p:nvSpPr>
            <p:spPr>
              <a:xfrm>
                <a:off x="4233755" y="2456826"/>
                <a:ext cx="995131" cy="357452"/>
              </a:xfrm>
              <a:prstGeom prst="rect">
                <a:avLst/>
              </a:prstGeom>
              <a:blipFill>
                <a:blip r:embed="rId7"/>
                <a:stretch>
                  <a:fillRect/>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76D1BE97-A390-4F44-943F-AFD0C020D68C}"/>
              </a:ext>
            </a:extLst>
          </p:cNvPr>
          <p:cNvSpPr/>
          <p:nvPr/>
        </p:nvSpPr>
        <p:spPr>
          <a:xfrm>
            <a:off x="2918629" y="2512013"/>
            <a:ext cx="622833" cy="19616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a:extLst>
              <a:ext uri="{FF2B5EF4-FFF2-40B4-BE49-F238E27FC236}">
                <a16:creationId xmlns:a16="http://schemas.microsoft.com/office/drawing/2014/main" id="{218A8229-6786-4830-BF06-28867EDD2AE8}"/>
              </a:ext>
            </a:extLst>
          </p:cNvPr>
          <p:cNvSpPr/>
          <p:nvPr/>
        </p:nvSpPr>
        <p:spPr>
          <a:xfrm>
            <a:off x="3769748" y="2512012"/>
            <a:ext cx="619751" cy="19616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TextBox 50">
            <a:extLst>
              <a:ext uri="{FF2B5EF4-FFF2-40B4-BE49-F238E27FC236}">
                <a16:creationId xmlns:a16="http://schemas.microsoft.com/office/drawing/2014/main" id="{7AA2672C-1651-4565-A229-8696F87D9871}"/>
              </a:ext>
            </a:extLst>
          </p:cNvPr>
          <p:cNvSpPr txBox="1"/>
          <p:nvPr/>
        </p:nvSpPr>
        <p:spPr>
          <a:xfrm>
            <a:off x="3573570" y="2450702"/>
            <a:ext cx="216408" cy="357452"/>
          </a:xfrm>
          <a:prstGeom prst="rect">
            <a:avLst/>
          </a:prstGeom>
          <a:noFill/>
        </p:spPr>
        <p:txBody>
          <a:bodyPr wrap="square" rtlCol="0">
            <a:spAutoFit/>
          </a:bodyPr>
          <a:lstStyle/>
          <a:p>
            <a:r>
              <a:rPr lang="en-US" sz="1400" b="1" dirty="0"/>
              <a:t>.</a:t>
            </a:r>
          </a:p>
        </p:txBody>
      </p:sp>
      <p:sp>
        <p:nvSpPr>
          <p:cNvPr id="52" name="Right Brace 51">
            <a:extLst>
              <a:ext uri="{FF2B5EF4-FFF2-40B4-BE49-F238E27FC236}">
                <a16:creationId xmlns:a16="http://schemas.microsoft.com/office/drawing/2014/main" id="{C450D506-CDA2-4510-A2FF-7604C0142A2D}"/>
              </a:ext>
            </a:extLst>
          </p:cNvPr>
          <p:cNvSpPr/>
          <p:nvPr/>
        </p:nvSpPr>
        <p:spPr>
          <a:xfrm rot="5400000" flipH="1">
            <a:off x="3586563" y="1289519"/>
            <a:ext cx="157697" cy="1493567"/>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D8AA614-1C86-482D-AE90-C867E14751A8}"/>
                  </a:ext>
                </a:extLst>
              </p:cNvPr>
              <p:cNvSpPr txBox="1"/>
              <p:nvPr/>
            </p:nvSpPr>
            <p:spPr>
              <a:xfrm>
                <a:off x="3332578" y="1629833"/>
                <a:ext cx="1005202" cy="338554"/>
              </a:xfrm>
              <a:prstGeom prst="rect">
                <a:avLst/>
              </a:prstGeom>
              <a:noFill/>
            </p:spPr>
            <p:txBody>
              <a:bodyPr wrap="square" rtlCol="0">
                <a:spAutoFit/>
              </a:bodyPr>
              <a:lstStyle/>
              <a:p>
                <a14:m>
                  <m:oMath xmlns:m="http://schemas.openxmlformats.org/officeDocument/2006/math">
                    <m:r>
                      <a:rPr lang="en-US" sz="1600" b="0" i="1" smtClean="0">
                        <a:latin typeface="Cambria Math" panose="02040503050406030204" pitchFamily="18" charset="0"/>
                      </a:rPr>
                      <m:t>𝑚</m:t>
                    </m:r>
                  </m:oMath>
                </a14:m>
                <a:r>
                  <a:rPr lang="en-US" sz="1600" dirty="0"/>
                  <a:t> bits</a:t>
                </a:r>
              </a:p>
            </p:txBody>
          </p:sp>
        </mc:Choice>
        <mc:Fallback xmlns="">
          <p:sp>
            <p:nvSpPr>
              <p:cNvPr id="53" name="TextBox 52">
                <a:extLst>
                  <a:ext uri="{FF2B5EF4-FFF2-40B4-BE49-F238E27FC236}">
                    <a16:creationId xmlns:a16="http://schemas.microsoft.com/office/drawing/2014/main" id="{ED8AA614-1C86-482D-AE90-C867E14751A8}"/>
                  </a:ext>
                </a:extLst>
              </p:cNvPr>
              <p:cNvSpPr txBox="1">
                <a:spLocks noRot="1" noChangeAspect="1" noMove="1" noResize="1" noEditPoints="1" noAdjustHandles="1" noChangeArrowheads="1" noChangeShapeType="1" noTextEdit="1"/>
              </p:cNvSpPr>
              <p:nvPr/>
            </p:nvSpPr>
            <p:spPr>
              <a:xfrm>
                <a:off x="3332578" y="1629833"/>
                <a:ext cx="1005202" cy="338554"/>
              </a:xfrm>
              <a:prstGeom prst="rect">
                <a:avLst/>
              </a:prstGeom>
              <a:blipFill>
                <a:blip r:embed="rId8"/>
                <a:stretch>
                  <a:fillRect t="-5357"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467780C-D589-41ED-8BFE-405B3B63EE65}"/>
                  </a:ext>
                </a:extLst>
              </p:cNvPr>
              <p:cNvSpPr txBox="1"/>
              <p:nvPr/>
            </p:nvSpPr>
            <p:spPr>
              <a:xfrm>
                <a:off x="4356125" y="2080566"/>
                <a:ext cx="747530" cy="357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dirty="0">
                          <a:latin typeface="Cambria Math" panose="02040503050406030204" pitchFamily="18" charset="0"/>
                        </a:rPr>
                        <m:t>∈</m:t>
                      </m:r>
                      <m:sSub>
                        <m:sSubPr>
                          <m:ctrlPr>
                            <a:rPr lang="en-US" sz="1400" i="1" dirty="0">
                              <a:latin typeface="Cambria Math" panose="02040503050406030204" pitchFamily="18" charset="0"/>
                              <a:ea typeface="Cambria Math" panose="02040503050406030204" pitchFamily="18" charset="0"/>
                            </a:rPr>
                          </m:ctrlPr>
                        </m:sSubPr>
                        <m:e>
                          <m:r>
                            <a:rPr lang="en-US" sz="1400" i="1" dirty="0">
                              <a:latin typeface="Cambria Math" panose="02040503050406030204" pitchFamily="18" charset="0"/>
                              <a:ea typeface="Cambria Math" panose="02040503050406030204" pitchFamily="18" charset="0"/>
                            </a:rPr>
                            <m:t>ℤ</m:t>
                          </m:r>
                        </m:e>
                        <m:sub>
                          <m:sSup>
                            <m:sSupPr>
                              <m:ctrlPr>
                                <a:rPr lang="en-US" sz="1400" i="1" dirty="0">
                                  <a:latin typeface="Cambria Math" panose="02040503050406030204" pitchFamily="18" charset="0"/>
                                  <a:ea typeface="Cambria Math" panose="02040503050406030204" pitchFamily="18" charset="0"/>
                                </a:rPr>
                              </m:ctrlPr>
                            </m:sSupPr>
                            <m:e>
                              <m:r>
                                <a:rPr lang="en-US" sz="1400" i="1" dirty="0">
                                  <a:latin typeface="Cambria Math" panose="02040503050406030204" pitchFamily="18" charset="0"/>
                                  <a:ea typeface="Cambria Math" panose="02040503050406030204" pitchFamily="18" charset="0"/>
                                </a:rPr>
                                <m:t>2</m:t>
                              </m:r>
                            </m:e>
                            <m:sup>
                              <m:r>
                                <a:rPr lang="en-US" sz="1400" i="1" dirty="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54" name="TextBox 53">
                <a:extLst>
                  <a:ext uri="{FF2B5EF4-FFF2-40B4-BE49-F238E27FC236}">
                    <a16:creationId xmlns:a16="http://schemas.microsoft.com/office/drawing/2014/main" id="{6467780C-D589-41ED-8BFE-405B3B63EE65}"/>
                  </a:ext>
                </a:extLst>
              </p:cNvPr>
              <p:cNvSpPr txBox="1">
                <a:spLocks noRot="1" noChangeAspect="1" noMove="1" noResize="1" noEditPoints="1" noAdjustHandles="1" noChangeArrowheads="1" noChangeShapeType="1" noTextEdit="1"/>
              </p:cNvSpPr>
              <p:nvPr/>
            </p:nvSpPr>
            <p:spPr>
              <a:xfrm>
                <a:off x="4356125" y="2080566"/>
                <a:ext cx="747530" cy="357452"/>
              </a:xfrm>
              <a:prstGeom prst="rect">
                <a:avLst/>
              </a:prstGeom>
              <a:blipFill>
                <a:blip r:embed="rId9"/>
                <a:stretch>
                  <a:fillRect/>
                </a:stretch>
              </a:blipFill>
            </p:spPr>
            <p:txBody>
              <a:bodyPr/>
              <a:lstStyle/>
              <a:p>
                <a:r>
                  <a:rPr lang="en-US">
                    <a:noFill/>
                  </a:rPr>
                  <a:t> </a:t>
                </a:r>
              </a:p>
            </p:txBody>
          </p:sp>
        </mc:Fallback>
      </mc:AlternateContent>
      <p:sp>
        <p:nvSpPr>
          <p:cNvPr id="55" name="Rectangle 54">
            <a:extLst>
              <a:ext uri="{FF2B5EF4-FFF2-40B4-BE49-F238E27FC236}">
                <a16:creationId xmlns:a16="http://schemas.microsoft.com/office/drawing/2014/main" id="{06AC1A7A-170D-409F-83D9-6E7B081B8916}"/>
              </a:ext>
            </a:extLst>
          </p:cNvPr>
          <p:cNvSpPr/>
          <p:nvPr/>
        </p:nvSpPr>
        <p:spPr>
          <a:xfrm>
            <a:off x="2918629" y="2170788"/>
            <a:ext cx="622833" cy="19616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56" name="Rectangle 55">
            <a:extLst>
              <a:ext uri="{FF2B5EF4-FFF2-40B4-BE49-F238E27FC236}">
                <a16:creationId xmlns:a16="http://schemas.microsoft.com/office/drawing/2014/main" id="{4062651C-81CE-4E4F-B614-F54189DE26A1}"/>
              </a:ext>
            </a:extLst>
          </p:cNvPr>
          <p:cNvSpPr/>
          <p:nvPr/>
        </p:nvSpPr>
        <p:spPr>
          <a:xfrm>
            <a:off x="3769748" y="2170787"/>
            <a:ext cx="619751" cy="19616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57" name="TextBox 56">
            <a:extLst>
              <a:ext uri="{FF2B5EF4-FFF2-40B4-BE49-F238E27FC236}">
                <a16:creationId xmlns:a16="http://schemas.microsoft.com/office/drawing/2014/main" id="{2FB20AC1-E782-4B41-9242-D2BE92010488}"/>
              </a:ext>
            </a:extLst>
          </p:cNvPr>
          <p:cNvSpPr txBox="1"/>
          <p:nvPr/>
        </p:nvSpPr>
        <p:spPr>
          <a:xfrm>
            <a:off x="3573570" y="2109477"/>
            <a:ext cx="216408" cy="357452"/>
          </a:xfrm>
          <a:prstGeom prst="rect">
            <a:avLst/>
          </a:prstGeom>
          <a:noFill/>
        </p:spPr>
        <p:txBody>
          <a:bodyPr wrap="square" rtlCol="0">
            <a:spAutoFit/>
          </a:bodyPr>
          <a:lstStyle/>
          <a:p>
            <a:r>
              <a:rPr lang="en-US" sz="1400" b="1" dirty="0"/>
              <a:t>.</a:t>
            </a:r>
          </a:p>
        </p:txBody>
      </p:sp>
      <p:sp>
        <p:nvSpPr>
          <p:cNvPr id="58" name="Rectangle 57">
            <a:extLst>
              <a:ext uri="{FF2B5EF4-FFF2-40B4-BE49-F238E27FC236}">
                <a16:creationId xmlns:a16="http://schemas.microsoft.com/office/drawing/2014/main" id="{9BEA8000-D0A7-47FF-A0B1-E4D7FA7A8982}"/>
              </a:ext>
            </a:extLst>
          </p:cNvPr>
          <p:cNvSpPr/>
          <p:nvPr/>
        </p:nvSpPr>
        <p:spPr>
          <a:xfrm>
            <a:off x="3769748" y="2971313"/>
            <a:ext cx="1250222"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59" name="TextBox 58">
            <a:extLst>
              <a:ext uri="{FF2B5EF4-FFF2-40B4-BE49-F238E27FC236}">
                <a16:creationId xmlns:a16="http://schemas.microsoft.com/office/drawing/2014/main" id="{C43E43E4-F2E2-4B2F-9569-68C201D8D949}"/>
              </a:ext>
            </a:extLst>
          </p:cNvPr>
          <p:cNvSpPr txBox="1"/>
          <p:nvPr/>
        </p:nvSpPr>
        <p:spPr>
          <a:xfrm>
            <a:off x="3573570" y="2910003"/>
            <a:ext cx="216408" cy="357452"/>
          </a:xfrm>
          <a:prstGeom prst="rect">
            <a:avLst/>
          </a:prstGeom>
          <a:noFill/>
        </p:spPr>
        <p:txBody>
          <a:bodyPr wrap="square" rtlCol="0">
            <a:spAutoFit/>
          </a:bodyPr>
          <a:lstStyle/>
          <a:p>
            <a:r>
              <a:rPr lang="en-US" sz="1400" b="1" dirty="0"/>
              <a:t>.</a:t>
            </a:r>
          </a:p>
        </p:txBody>
      </p:sp>
      <p:cxnSp>
        <p:nvCxnSpPr>
          <p:cNvPr id="60" name="Straight Connector 59">
            <a:extLst>
              <a:ext uri="{FF2B5EF4-FFF2-40B4-BE49-F238E27FC236}">
                <a16:creationId xmlns:a16="http://schemas.microsoft.com/office/drawing/2014/main" id="{C325F371-1624-4F44-9002-F0D2BB7E60B5}"/>
              </a:ext>
            </a:extLst>
          </p:cNvPr>
          <p:cNvCxnSpPr/>
          <p:nvPr/>
        </p:nvCxnSpPr>
        <p:spPr>
          <a:xfrm>
            <a:off x="1626179" y="2855359"/>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5CA71E4F-35AC-418B-8BA7-ED8D2BE493E4}"/>
              </a:ext>
            </a:extLst>
          </p:cNvPr>
          <p:cNvSpPr/>
          <p:nvPr/>
        </p:nvSpPr>
        <p:spPr>
          <a:xfrm>
            <a:off x="2287755" y="2969086"/>
            <a:ext cx="1253706"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DAD407B-26BA-49D7-B9F7-5473596D7672}"/>
                  </a:ext>
                </a:extLst>
              </p:cNvPr>
              <p:cNvSpPr txBox="1"/>
              <p:nvPr/>
            </p:nvSpPr>
            <p:spPr>
              <a:xfrm>
                <a:off x="4898227" y="2907775"/>
                <a:ext cx="995131" cy="3593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ℤ</m:t>
                          </m:r>
                        </m:e>
                        <m:sub>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2</m:t>
                              </m:r>
                            </m:e>
                            <m:sup>
                              <m:r>
                                <a:rPr lang="en-US" sz="1400" b="0" i="1" dirty="0" smtClean="0">
                                  <a:solidFill>
                                    <a:srgbClr val="FF0000"/>
                                  </a:solidFill>
                                  <a:latin typeface="Cambria Math" panose="02040503050406030204" pitchFamily="18" charset="0"/>
                                  <a:ea typeface="Cambria Math" panose="02040503050406030204" pitchFamily="18" charset="0"/>
                                </a:rPr>
                                <m:t>2</m:t>
                              </m:r>
                              <m:r>
                                <a:rPr lang="en-US" sz="1400" b="0" i="1" dirty="0" smtClean="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62" name="TextBox 61">
                <a:extLst>
                  <a:ext uri="{FF2B5EF4-FFF2-40B4-BE49-F238E27FC236}">
                    <a16:creationId xmlns:a16="http://schemas.microsoft.com/office/drawing/2014/main" id="{CDAD407B-26BA-49D7-B9F7-5473596D7672}"/>
                  </a:ext>
                </a:extLst>
              </p:cNvPr>
              <p:cNvSpPr txBox="1">
                <a:spLocks noRot="1" noChangeAspect="1" noMove="1" noResize="1" noEditPoints="1" noAdjustHandles="1" noChangeArrowheads="1" noChangeShapeType="1" noTextEdit="1"/>
              </p:cNvSpPr>
              <p:nvPr/>
            </p:nvSpPr>
            <p:spPr>
              <a:xfrm>
                <a:off x="4898227" y="2907775"/>
                <a:ext cx="995131" cy="359314"/>
              </a:xfrm>
              <a:prstGeom prst="rect">
                <a:avLst/>
              </a:prstGeom>
              <a:blipFill>
                <a:blip r:embed="rId10"/>
                <a:stretch>
                  <a:fillRect/>
                </a:stretch>
              </a:blipFill>
            </p:spPr>
            <p:txBody>
              <a:bodyPr/>
              <a:lstStyle/>
              <a:p>
                <a:r>
                  <a:rPr lang="en-US">
                    <a:noFill/>
                  </a:rPr>
                  <a:t> </a:t>
                </a:r>
              </a:p>
            </p:txBody>
          </p:sp>
        </mc:Fallback>
      </mc:AlternateContent>
      <p:sp>
        <p:nvSpPr>
          <p:cNvPr id="63" name="Right Brace 62">
            <a:extLst>
              <a:ext uri="{FF2B5EF4-FFF2-40B4-BE49-F238E27FC236}">
                <a16:creationId xmlns:a16="http://schemas.microsoft.com/office/drawing/2014/main" id="{4A558005-8B7B-410D-8B63-E811A20ABAB3}"/>
              </a:ext>
            </a:extLst>
          </p:cNvPr>
          <p:cNvSpPr/>
          <p:nvPr/>
        </p:nvSpPr>
        <p:spPr>
          <a:xfrm rot="5400000" flipH="1">
            <a:off x="2499245" y="1684471"/>
            <a:ext cx="157697" cy="681067"/>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E7F68A4-7E34-46C0-B328-9ABED9478BBA}"/>
                  </a:ext>
                </a:extLst>
              </p:cNvPr>
              <p:cNvSpPr txBox="1"/>
              <p:nvPr/>
            </p:nvSpPr>
            <p:spPr>
              <a:xfrm>
                <a:off x="2270220" y="1587726"/>
                <a:ext cx="1005202" cy="338554"/>
              </a:xfrm>
              <a:prstGeom prst="rect">
                <a:avLst/>
              </a:prstGeom>
              <a:noFill/>
            </p:spPr>
            <p:txBody>
              <a:bodyPr wrap="square" rtlCol="0">
                <a:spAutoFit/>
              </a:bodyPr>
              <a:lstStyle/>
              <a:p>
                <a14:m>
                  <m:oMath xmlns:m="http://schemas.openxmlformats.org/officeDocument/2006/math">
                    <m:r>
                      <a:rPr lang="en-US" sz="1600" b="0" i="1" smtClean="0">
                        <a:latin typeface="Cambria Math" panose="02040503050406030204" pitchFamily="18" charset="0"/>
                      </a:rPr>
                      <m:t>𝜆</m:t>
                    </m:r>
                  </m:oMath>
                </a14:m>
                <a:r>
                  <a:rPr lang="en-US" sz="1600" dirty="0"/>
                  <a:t> bits</a:t>
                </a:r>
              </a:p>
            </p:txBody>
          </p:sp>
        </mc:Choice>
        <mc:Fallback xmlns="">
          <p:sp>
            <p:nvSpPr>
              <p:cNvPr id="64" name="TextBox 63">
                <a:extLst>
                  <a:ext uri="{FF2B5EF4-FFF2-40B4-BE49-F238E27FC236}">
                    <a16:creationId xmlns:a16="http://schemas.microsoft.com/office/drawing/2014/main" id="{0E7F68A4-7E34-46C0-B328-9ABED9478BBA}"/>
                  </a:ext>
                </a:extLst>
              </p:cNvPr>
              <p:cNvSpPr txBox="1">
                <a:spLocks noRot="1" noChangeAspect="1" noMove="1" noResize="1" noEditPoints="1" noAdjustHandles="1" noChangeArrowheads="1" noChangeShapeType="1" noTextEdit="1"/>
              </p:cNvSpPr>
              <p:nvPr/>
            </p:nvSpPr>
            <p:spPr>
              <a:xfrm>
                <a:off x="2270220" y="1587726"/>
                <a:ext cx="1005202" cy="338554"/>
              </a:xfrm>
              <a:prstGeom prst="rect">
                <a:avLst/>
              </a:prstGeom>
              <a:blipFill>
                <a:blip r:embed="rId11"/>
                <a:stretch>
                  <a:fillRect t="-5357" b="-21429"/>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2C07AE33-2A64-44B7-85F3-D8D7F62B122F}"/>
              </a:ext>
            </a:extLst>
          </p:cNvPr>
          <p:cNvCxnSpPr/>
          <p:nvPr/>
        </p:nvCxnSpPr>
        <p:spPr>
          <a:xfrm>
            <a:off x="6253218" y="1744890"/>
            <a:ext cx="0" cy="4525862"/>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18D7DED-5900-48AD-A3FE-26D616502110}"/>
              </a:ext>
            </a:extLst>
          </p:cNvPr>
          <p:cNvSpPr txBox="1"/>
          <p:nvPr/>
        </p:nvSpPr>
        <p:spPr>
          <a:xfrm>
            <a:off x="30137" y="3381485"/>
            <a:ext cx="4032039" cy="369332"/>
          </a:xfrm>
          <a:prstGeom prst="rect">
            <a:avLst/>
          </a:prstGeom>
          <a:noFill/>
        </p:spPr>
        <p:txBody>
          <a:bodyPr wrap="square" rtlCol="0">
            <a:spAutoFit/>
          </a:bodyPr>
          <a:lstStyle/>
          <a:p>
            <a:r>
              <a:rPr lang="en-US" dirty="0"/>
              <a:t>Assumption: no overflowing</a:t>
            </a:r>
          </a:p>
        </p:txBody>
      </p:sp>
      <p:sp>
        <p:nvSpPr>
          <p:cNvPr id="70" name="Rectangle 69">
            <a:extLst>
              <a:ext uri="{FF2B5EF4-FFF2-40B4-BE49-F238E27FC236}">
                <a16:creationId xmlns:a16="http://schemas.microsoft.com/office/drawing/2014/main" id="{CD4B15BE-320A-4BFC-812B-7069A6392E95}"/>
              </a:ext>
            </a:extLst>
          </p:cNvPr>
          <p:cNvSpPr/>
          <p:nvPr/>
        </p:nvSpPr>
        <p:spPr>
          <a:xfrm>
            <a:off x="7154498" y="3799321"/>
            <a:ext cx="4349270"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1" name="Rectangle 70">
            <a:extLst>
              <a:ext uri="{FF2B5EF4-FFF2-40B4-BE49-F238E27FC236}">
                <a16:creationId xmlns:a16="http://schemas.microsoft.com/office/drawing/2014/main" id="{EA62400C-341D-4B9B-AAFC-7B348F8F7B32}"/>
              </a:ext>
            </a:extLst>
          </p:cNvPr>
          <p:cNvSpPr/>
          <p:nvPr/>
        </p:nvSpPr>
        <p:spPr>
          <a:xfrm>
            <a:off x="10224435" y="3831143"/>
            <a:ext cx="1250222"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72" name="TextBox 71">
            <a:extLst>
              <a:ext uri="{FF2B5EF4-FFF2-40B4-BE49-F238E27FC236}">
                <a16:creationId xmlns:a16="http://schemas.microsoft.com/office/drawing/2014/main" id="{28A368A6-43A2-43BD-8247-34F98A0FFBEF}"/>
              </a:ext>
            </a:extLst>
          </p:cNvPr>
          <p:cNvSpPr txBox="1"/>
          <p:nvPr/>
        </p:nvSpPr>
        <p:spPr>
          <a:xfrm>
            <a:off x="10028257" y="3769833"/>
            <a:ext cx="216408" cy="357452"/>
          </a:xfrm>
          <a:prstGeom prst="rect">
            <a:avLst/>
          </a:prstGeom>
          <a:noFill/>
        </p:spPr>
        <p:txBody>
          <a:bodyPr wrap="square" rtlCol="0">
            <a:spAutoFit/>
          </a:bodyPr>
          <a:lstStyle/>
          <a:p>
            <a:r>
              <a:rPr lang="en-US" sz="1400" b="1" dirty="0"/>
              <a:t>.</a:t>
            </a:r>
          </a:p>
        </p:txBody>
      </p:sp>
      <p:cxnSp>
        <p:nvCxnSpPr>
          <p:cNvPr id="73" name="Straight Connector 72">
            <a:extLst>
              <a:ext uri="{FF2B5EF4-FFF2-40B4-BE49-F238E27FC236}">
                <a16:creationId xmlns:a16="http://schemas.microsoft.com/office/drawing/2014/main" id="{DB4C72CE-6DF7-4773-923E-8F26D47F49B2}"/>
              </a:ext>
            </a:extLst>
          </p:cNvPr>
          <p:cNvCxnSpPr/>
          <p:nvPr/>
        </p:nvCxnSpPr>
        <p:spPr>
          <a:xfrm>
            <a:off x="8080866" y="3715189"/>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C8AE6D3D-A6D6-49A1-B048-97B8C6908D0A}"/>
              </a:ext>
            </a:extLst>
          </p:cNvPr>
          <p:cNvSpPr/>
          <p:nvPr/>
        </p:nvSpPr>
        <p:spPr>
          <a:xfrm>
            <a:off x="9373148" y="3828916"/>
            <a:ext cx="623000"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76" name="Rectangle 75">
            <a:extLst>
              <a:ext uri="{FF2B5EF4-FFF2-40B4-BE49-F238E27FC236}">
                <a16:creationId xmlns:a16="http://schemas.microsoft.com/office/drawing/2014/main" id="{7A32FA6C-DD21-49E7-8913-C2F6D539262D}"/>
              </a:ext>
            </a:extLst>
          </p:cNvPr>
          <p:cNvSpPr/>
          <p:nvPr/>
        </p:nvSpPr>
        <p:spPr>
          <a:xfrm>
            <a:off x="699811" y="3799321"/>
            <a:ext cx="4349270"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7" name="Rectangle 76">
            <a:extLst>
              <a:ext uri="{FF2B5EF4-FFF2-40B4-BE49-F238E27FC236}">
                <a16:creationId xmlns:a16="http://schemas.microsoft.com/office/drawing/2014/main" id="{3F6F3AE4-CC1B-47A0-AA02-C8DD1BC7F938}"/>
              </a:ext>
            </a:extLst>
          </p:cNvPr>
          <p:cNvSpPr/>
          <p:nvPr/>
        </p:nvSpPr>
        <p:spPr>
          <a:xfrm>
            <a:off x="3769748" y="3831143"/>
            <a:ext cx="1250222"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78" name="TextBox 77">
            <a:extLst>
              <a:ext uri="{FF2B5EF4-FFF2-40B4-BE49-F238E27FC236}">
                <a16:creationId xmlns:a16="http://schemas.microsoft.com/office/drawing/2014/main" id="{7E0938FE-1CE6-4BA6-8B3C-D4F964E1AC52}"/>
              </a:ext>
            </a:extLst>
          </p:cNvPr>
          <p:cNvSpPr txBox="1"/>
          <p:nvPr/>
        </p:nvSpPr>
        <p:spPr>
          <a:xfrm>
            <a:off x="3573570" y="3769833"/>
            <a:ext cx="216408" cy="357452"/>
          </a:xfrm>
          <a:prstGeom prst="rect">
            <a:avLst/>
          </a:prstGeom>
          <a:noFill/>
        </p:spPr>
        <p:txBody>
          <a:bodyPr wrap="square" rtlCol="0">
            <a:spAutoFit/>
          </a:bodyPr>
          <a:lstStyle/>
          <a:p>
            <a:r>
              <a:rPr lang="en-US" sz="1400" b="1" dirty="0"/>
              <a:t>.</a:t>
            </a:r>
          </a:p>
        </p:txBody>
      </p:sp>
      <p:cxnSp>
        <p:nvCxnSpPr>
          <p:cNvPr id="79" name="Straight Connector 78">
            <a:extLst>
              <a:ext uri="{FF2B5EF4-FFF2-40B4-BE49-F238E27FC236}">
                <a16:creationId xmlns:a16="http://schemas.microsoft.com/office/drawing/2014/main" id="{8DF3CBAF-E1DD-4323-B3BE-C523F5A06FFB}"/>
              </a:ext>
            </a:extLst>
          </p:cNvPr>
          <p:cNvCxnSpPr/>
          <p:nvPr/>
        </p:nvCxnSpPr>
        <p:spPr>
          <a:xfrm>
            <a:off x="1626179" y="3715189"/>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C396F6C1-66DF-4052-BCF7-2ACA14A47E7B}"/>
              </a:ext>
            </a:extLst>
          </p:cNvPr>
          <p:cNvSpPr/>
          <p:nvPr/>
        </p:nvSpPr>
        <p:spPr>
          <a:xfrm>
            <a:off x="2917783" y="3828916"/>
            <a:ext cx="623677"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84" name="TextBox 83">
            <a:extLst>
              <a:ext uri="{FF2B5EF4-FFF2-40B4-BE49-F238E27FC236}">
                <a16:creationId xmlns:a16="http://schemas.microsoft.com/office/drawing/2014/main" id="{F46C66FC-67AA-43EF-9799-A7D6886C77CD}"/>
              </a:ext>
            </a:extLst>
          </p:cNvPr>
          <p:cNvSpPr txBox="1"/>
          <p:nvPr/>
        </p:nvSpPr>
        <p:spPr>
          <a:xfrm>
            <a:off x="31067" y="4284919"/>
            <a:ext cx="4032039" cy="369332"/>
          </a:xfrm>
          <a:prstGeom prst="rect">
            <a:avLst/>
          </a:prstGeom>
          <a:noFill/>
        </p:spPr>
        <p:txBody>
          <a:bodyPr wrap="square" rtlCol="0">
            <a:spAutoFit/>
          </a:bodyPr>
          <a:lstStyle/>
          <a:p>
            <a:r>
              <a:rPr lang="en-US" dirty="0"/>
              <a:t>Operation: truncate top/bottom bits</a:t>
            </a:r>
          </a:p>
        </p:txBody>
      </p:sp>
      <p:sp>
        <p:nvSpPr>
          <p:cNvPr id="85" name="Rectangle 84">
            <a:extLst>
              <a:ext uri="{FF2B5EF4-FFF2-40B4-BE49-F238E27FC236}">
                <a16:creationId xmlns:a16="http://schemas.microsoft.com/office/drawing/2014/main" id="{3CEB78F5-387F-4728-BE7B-8E0078CAE266}"/>
              </a:ext>
            </a:extLst>
          </p:cNvPr>
          <p:cNvSpPr/>
          <p:nvPr/>
        </p:nvSpPr>
        <p:spPr>
          <a:xfrm>
            <a:off x="8692247" y="4702755"/>
            <a:ext cx="2182654"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6" name="Rectangle 85">
            <a:extLst>
              <a:ext uri="{FF2B5EF4-FFF2-40B4-BE49-F238E27FC236}">
                <a16:creationId xmlns:a16="http://schemas.microsoft.com/office/drawing/2014/main" id="{12E2ECCC-E9F0-4C9A-8ED2-B391B5E5425F}"/>
              </a:ext>
            </a:extLst>
          </p:cNvPr>
          <p:cNvSpPr/>
          <p:nvPr/>
        </p:nvSpPr>
        <p:spPr>
          <a:xfrm>
            <a:off x="10225365" y="4734577"/>
            <a:ext cx="618821"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87" name="TextBox 86">
            <a:extLst>
              <a:ext uri="{FF2B5EF4-FFF2-40B4-BE49-F238E27FC236}">
                <a16:creationId xmlns:a16="http://schemas.microsoft.com/office/drawing/2014/main" id="{080045AD-5464-467A-924B-B762F6117803}"/>
              </a:ext>
            </a:extLst>
          </p:cNvPr>
          <p:cNvSpPr txBox="1"/>
          <p:nvPr/>
        </p:nvSpPr>
        <p:spPr>
          <a:xfrm>
            <a:off x="10029187" y="4673267"/>
            <a:ext cx="216408" cy="357452"/>
          </a:xfrm>
          <a:prstGeom prst="rect">
            <a:avLst/>
          </a:prstGeom>
          <a:noFill/>
        </p:spPr>
        <p:txBody>
          <a:bodyPr wrap="square" rtlCol="0">
            <a:spAutoFit/>
          </a:bodyPr>
          <a:lstStyle/>
          <a:p>
            <a:r>
              <a:rPr lang="en-US" sz="1400" b="1" dirty="0"/>
              <a:t>.</a:t>
            </a:r>
          </a:p>
        </p:txBody>
      </p:sp>
      <p:cxnSp>
        <p:nvCxnSpPr>
          <p:cNvPr id="88" name="Straight Connector 87">
            <a:extLst>
              <a:ext uri="{FF2B5EF4-FFF2-40B4-BE49-F238E27FC236}">
                <a16:creationId xmlns:a16="http://schemas.microsoft.com/office/drawing/2014/main" id="{CAA7A78B-45F7-43D0-A40B-1CEBC915F212}"/>
              </a:ext>
            </a:extLst>
          </p:cNvPr>
          <p:cNvCxnSpPr/>
          <p:nvPr/>
        </p:nvCxnSpPr>
        <p:spPr>
          <a:xfrm>
            <a:off x="8081796" y="4618623"/>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7761414-9D1F-4540-AC75-98E58EE67874}"/>
              </a:ext>
            </a:extLst>
          </p:cNvPr>
          <p:cNvSpPr/>
          <p:nvPr/>
        </p:nvSpPr>
        <p:spPr>
          <a:xfrm>
            <a:off x="9367046" y="4732350"/>
            <a:ext cx="630031"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90" name="Rectangle 89">
            <a:extLst>
              <a:ext uri="{FF2B5EF4-FFF2-40B4-BE49-F238E27FC236}">
                <a16:creationId xmlns:a16="http://schemas.microsoft.com/office/drawing/2014/main" id="{7C0FF186-11EE-442C-B22E-CFD970600F7A}"/>
              </a:ext>
            </a:extLst>
          </p:cNvPr>
          <p:cNvSpPr/>
          <p:nvPr/>
        </p:nvSpPr>
        <p:spPr>
          <a:xfrm>
            <a:off x="2237559" y="4702754"/>
            <a:ext cx="2187077"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91" name="Rectangle 90">
            <a:extLst>
              <a:ext uri="{FF2B5EF4-FFF2-40B4-BE49-F238E27FC236}">
                <a16:creationId xmlns:a16="http://schemas.microsoft.com/office/drawing/2014/main" id="{3FEE57EC-4115-4B14-9FFC-8BC4642C51C2}"/>
              </a:ext>
            </a:extLst>
          </p:cNvPr>
          <p:cNvSpPr/>
          <p:nvPr/>
        </p:nvSpPr>
        <p:spPr>
          <a:xfrm>
            <a:off x="3770678" y="4734577"/>
            <a:ext cx="618821"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92" name="TextBox 91">
            <a:extLst>
              <a:ext uri="{FF2B5EF4-FFF2-40B4-BE49-F238E27FC236}">
                <a16:creationId xmlns:a16="http://schemas.microsoft.com/office/drawing/2014/main" id="{3C3C34F6-789D-4851-B323-3D3DE22100A9}"/>
              </a:ext>
            </a:extLst>
          </p:cNvPr>
          <p:cNvSpPr txBox="1"/>
          <p:nvPr/>
        </p:nvSpPr>
        <p:spPr>
          <a:xfrm>
            <a:off x="3574500" y="4673267"/>
            <a:ext cx="216408" cy="357452"/>
          </a:xfrm>
          <a:prstGeom prst="rect">
            <a:avLst/>
          </a:prstGeom>
          <a:noFill/>
        </p:spPr>
        <p:txBody>
          <a:bodyPr wrap="square" rtlCol="0">
            <a:spAutoFit/>
          </a:bodyPr>
          <a:lstStyle/>
          <a:p>
            <a:r>
              <a:rPr lang="en-US" sz="1400" b="1" dirty="0"/>
              <a:t>.</a:t>
            </a:r>
          </a:p>
        </p:txBody>
      </p:sp>
      <p:cxnSp>
        <p:nvCxnSpPr>
          <p:cNvPr id="93" name="Straight Connector 92">
            <a:extLst>
              <a:ext uri="{FF2B5EF4-FFF2-40B4-BE49-F238E27FC236}">
                <a16:creationId xmlns:a16="http://schemas.microsoft.com/office/drawing/2014/main" id="{710AA6A6-98BC-41F3-8F1A-65FABA147554}"/>
              </a:ext>
            </a:extLst>
          </p:cNvPr>
          <p:cNvCxnSpPr/>
          <p:nvPr/>
        </p:nvCxnSpPr>
        <p:spPr>
          <a:xfrm>
            <a:off x="1627109" y="4618623"/>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FCF46DB9-1476-434E-920E-6E3C516B428C}"/>
              </a:ext>
            </a:extLst>
          </p:cNvPr>
          <p:cNvSpPr/>
          <p:nvPr/>
        </p:nvSpPr>
        <p:spPr>
          <a:xfrm>
            <a:off x="2917782" y="4732350"/>
            <a:ext cx="621431"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97" name="TextBox 96">
            <a:extLst>
              <a:ext uri="{FF2B5EF4-FFF2-40B4-BE49-F238E27FC236}">
                <a16:creationId xmlns:a16="http://schemas.microsoft.com/office/drawing/2014/main" id="{B93C2628-BE94-431C-B507-21EAFD4F8C37}"/>
              </a:ext>
            </a:extLst>
          </p:cNvPr>
          <p:cNvSpPr txBox="1"/>
          <p:nvPr/>
        </p:nvSpPr>
        <p:spPr>
          <a:xfrm>
            <a:off x="3408898" y="4981023"/>
            <a:ext cx="2948457" cy="369332"/>
          </a:xfrm>
          <a:prstGeom prst="rect">
            <a:avLst/>
          </a:prstGeom>
          <a:noFill/>
        </p:spPr>
        <p:txBody>
          <a:bodyPr wrap="square" rtlCol="0">
            <a:spAutoFit/>
          </a:bodyPr>
          <a:lstStyle/>
          <a:p>
            <a:r>
              <a:rPr lang="en-US" dirty="0"/>
              <a:t>-</a:t>
            </a:r>
            <a:r>
              <a:rPr lang="en-US" i="1" dirty="0"/>
              <a:t>1 error </a:t>
            </a:r>
            <a:r>
              <a:rPr lang="en-US" dirty="0"/>
              <a:t>if     +     overflows</a:t>
            </a:r>
            <a:endParaRPr lang="en-US" i="1" dirty="0"/>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AE87887F-70B9-4CBD-B2EF-35F591312E73}"/>
                  </a:ext>
                </a:extLst>
              </p:cNvPr>
              <p:cNvSpPr txBox="1"/>
              <p:nvPr/>
            </p:nvSpPr>
            <p:spPr>
              <a:xfrm>
                <a:off x="35731" y="5240823"/>
                <a:ext cx="4032039" cy="379656"/>
              </a:xfrm>
              <a:prstGeom prst="rect">
                <a:avLst/>
              </a:prstGeom>
              <a:noFill/>
            </p:spPr>
            <p:txBody>
              <a:bodyPr wrap="square" rtlCol="0">
                <a:spAutoFit/>
              </a:bodyPr>
              <a:lstStyle/>
              <a:p>
                <a:r>
                  <a:rPr lang="en-US" dirty="0" err="1"/>
                  <a:t>Pr</a:t>
                </a:r>
                <a:r>
                  <a:rPr lang="en-US" dirty="0"/>
                  <a:t>[</a:t>
                </a:r>
                <a:r>
                  <a:rPr lang="en-US" i="1" dirty="0"/>
                  <a:t>large error</a:t>
                </a:r>
                <a:r>
                  <a:rPr lang="en-US" dirty="0"/>
                  <a:t>] =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m:t>
                        </m:r>
                        <m:r>
                          <a:rPr lang="en-US" b="0" i="1" smtClean="0">
                            <a:latin typeface="Cambria Math" panose="02040503050406030204" pitchFamily="18" charset="0"/>
                          </a:rPr>
                          <m:t>𝜆</m:t>
                        </m:r>
                      </m:sup>
                    </m:sSup>
                  </m:oMath>
                </a14:m>
                <a:endParaRPr lang="en-US" dirty="0"/>
              </a:p>
            </p:txBody>
          </p:sp>
        </mc:Choice>
        <mc:Fallback xmlns="">
          <p:sp>
            <p:nvSpPr>
              <p:cNvPr id="101" name="TextBox 100">
                <a:extLst>
                  <a:ext uri="{FF2B5EF4-FFF2-40B4-BE49-F238E27FC236}">
                    <a16:creationId xmlns:a16="http://schemas.microsoft.com/office/drawing/2014/main" id="{AE87887F-70B9-4CBD-B2EF-35F591312E73}"/>
                  </a:ext>
                </a:extLst>
              </p:cNvPr>
              <p:cNvSpPr txBox="1">
                <a:spLocks noRot="1" noChangeAspect="1" noMove="1" noResize="1" noEditPoints="1" noAdjustHandles="1" noChangeArrowheads="1" noChangeShapeType="1" noTextEdit="1"/>
              </p:cNvSpPr>
              <p:nvPr/>
            </p:nvSpPr>
            <p:spPr>
              <a:xfrm>
                <a:off x="35731" y="5240823"/>
                <a:ext cx="4032039" cy="379656"/>
              </a:xfrm>
              <a:prstGeom prst="rect">
                <a:avLst/>
              </a:prstGeom>
              <a:blipFill>
                <a:blip r:embed="rId12"/>
                <a:stretch>
                  <a:fillRect l="-1362" t="-3226" b="-29032"/>
                </a:stretch>
              </a:blipFill>
            </p:spPr>
            <p:txBody>
              <a:bodyPr/>
              <a:lstStyle/>
              <a:p>
                <a:r>
                  <a:rPr lang="en-US">
                    <a:noFill/>
                  </a:rPr>
                  <a:t> </a:t>
                </a:r>
              </a:p>
            </p:txBody>
          </p:sp>
        </mc:Fallback>
      </mc:AlternateContent>
      <p:sp>
        <p:nvSpPr>
          <p:cNvPr id="102" name="Rectangle 101">
            <a:extLst>
              <a:ext uri="{FF2B5EF4-FFF2-40B4-BE49-F238E27FC236}">
                <a16:creationId xmlns:a16="http://schemas.microsoft.com/office/drawing/2014/main" id="{5F0282A5-E002-4F6D-9B19-A7B6C0941A26}"/>
              </a:ext>
            </a:extLst>
          </p:cNvPr>
          <p:cNvSpPr/>
          <p:nvPr/>
        </p:nvSpPr>
        <p:spPr>
          <a:xfrm>
            <a:off x="8692247" y="5678696"/>
            <a:ext cx="2182654"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3" name="Rectangle 102">
            <a:extLst>
              <a:ext uri="{FF2B5EF4-FFF2-40B4-BE49-F238E27FC236}">
                <a16:creationId xmlns:a16="http://schemas.microsoft.com/office/drawing/2014/main" id="{1C2D1C70-EDBA-4BA9-BDE7-A58617563774}"/>
              </a:ext>
            </a:extLst>
          </p:cNvPr>
          <p:cNvSpPr/>
          <p:nvPr/>
        </p:nvSpPr>
        <p:spPr>
          <a:xfrm>
            <a:off x="10225365" y="5710518"/>
            <a:ext cx="618821"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04" name="TextBox 103">
            <a:extLst>
              <a:ext uri="{FF2B5EF4-FFF2-40B4-BE49-F238E27FC236}">
                <a16:creationId xmlns:a16="http://schemas.microsoft.com/office/drawing/2014/main" id="{408C41E1-E5FA-43BE-96C9-987E755694F0}"/>
              </a:ext>
            </a:extLst>
          </p:cNvPr>
          <p:cNvSpPr txBox="1"/>
          <p:nvPr/>
        </p:nvSpPr>
        <p:spPr>
          <a:xfrm>
            <a:off x="10029187" y="5649208"/>
            <a:ext cx="216408" cy="357452"/>
          </a:xfrm>
          <a:prstGeom prst="rect">
            <a:avLst/>
          </a:prstGeom>
          <a:noFill/>
        </p:spPr>
        <p:txBody>
          <a:bodyPr wrap="square" rtlCol="0">
            <a:spAutoFit/>
          </a:bodyPr>
          <a:lstStyle/>
          <a:p>
            <a:r>
              <a:rPr lang="en-US" sz="1400" b="1" dirty="0"/>
              <a:t>.</a:t>
            </a:r>
          </a:p>
        </p:txBody>
      </p:sp>
      <p:cxnSp>
        <p:nvCxnSpPr>
          <p:cNvPr id="105" name="Straight Connector 104">
            <a:extLst>
              <a:ext uri="{FF2B5EF4-FFF2-40B4-BE49-F238E27FC236}">
                <a16:creationId xmlns:a16="http://schemas.microsoft.com/office/drawing/2014/main" id="{52DE420E-4F89-4163-95B7-4998EBDA8AC9}"/>
              </a:ext>
            </a:extLst>
          </p:cNvPr>
          <p:cNvCxnSpPr/>
          <p:nvPr/>
        </p:nvCxnSpPr>
        <p:spPr>
          <a:xfrm>
            <a:off x="8081796" y="5594564"/>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459027C8-4786-4E02-A4D8-1696B79C62CE}"/>
              </a:ext>
            </a:extLst>
          </p:cNvPr>
          <p:cNvSpPr/>
          <p:nvPr/>
        </p:nvSpPr>
        <p:spPr>
          <a:xfrm>
            <a:off x="9367046" y="5708291"/>
            <a:ext cx="630031"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07" name="Rectangle 106">
            <a:extLst>
              <a:ext uri="{FF2B5EF4-FFF2-40B4-BE49-F238E27FC236}">
                <a16:creationId xmlns:a16="http://schemas.microsoft.com/office/drawing/2014/main" id="{BBEB706D-420E-44DE-A080-719011822247}"/>
              </a:ext>
            </a:extLst>
          </p:cNvPr>
          <p:cNvSpPr/>
          <p:nvPr/>
        </p:nvSpPr>
        <p:spPr>
          <a:xfrm>
            <a:off x="2237559" y="5678695"/>
            <a:ext cx="2187078"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8" name="Rectangle 107">
            <a:extLst>
              <a:ext uri="{FF2B5EF4-FFF2-40B4-BE49-F238E27FC236}">
                <a16:creationId xmlns:a16="http://schemas.microsoft.com/office/drawing/2014/main" id="{5C0296F6-B2BD-406B-B7B9-650DE3E08F6D}"/>
              </a:ext>
            </a:extLst>
          </p:cNvPr>
          <p:cNvSpPr/>
          <p:nvPr/>
        </p:nvSpPr>
        <p:spPr>
          <a:xfrm>
            <a:off x="3770678" y="5710518"/>
            <a:ext cx="618821"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09" name="TextBox 108">
            <a:extLst>
              <a:ext uri="{FF2B5EF4-FFF2-40B4-BE49-F238E27FC236}">
                <a16:creationId xmlns:a16="http://schemas.microsoft.com/office/drawing/2014/main" id="{5AF33B20-F04E-40DA-84AA-EE18B8B993ED}"/>
              </a:ext>
            </a:extLst>
          </p:cNvPr>
          <p:cNvSpPr txBox="1"/>
          <p:nvPr/>
        </p:nvSpPr>
        <p:spPr>
          <a:xfrm>
            <a:off x="3574500" y="5649208"/>
            <a:ext cx="216408" cy="357452"/>
          </a:xfrm>
          <a:prstGeom prst="rect">
            <a:avLst/>
          </a:prstGeom>
          <a:noFill/>
        </p:spPr>
        <p:txBody>
          <a:bodyPr wrap="square" rtlCol="0">
            <a:spAutoFit/>
          </a:bodyPr>
          <a:lstStyle/>
          <a:p>
            <a:r>
              <a:rPr lang="en-US" sz="1400" b="1" dirty="0"/>
              <a:t>.</a:t>
            </a:r>
          </a:p>
        </p:txBody>
      </p:sp>
      <p:cxnSp>
        <p:nvCxnSpPr>
          <p:cNvPr id="110" name="Straight Connector 109">
            <a:extLst>
              <a:ext uri="{FF2B5EF4-FFF2-40B4-BE49-F238E27FC236}">
                <a16:creationId xmlns:a16="http://schemas.microsoft.com/office/drawing/2014/main" id="{7E0F8A0D-B557-4368-9E00-C6F9225F7B80}"/>
              </a:ext>
            </a:extLst>
          </p:cNvPr>
          <p:cNvCxnSpPr/>
          <p:nvPr/>
        </p:nvCxnSpPr>
        <p:spPr>
          <a:xfrm>
            <a:off x="1627109" y="5594564"/>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CA501D0F-115A-4BCE-91A0-FDC306212EEE}"/>
              </a:ext>
            </a:extLst>
          </p:cNvPr>
          <p:cNvSpPr/>
          <p:nvPr/>
        </p:nvSpPr>
        <p:spPr>
          <a:xfrm>
            <a:off x="2917782" y="5708291"/>
            <a:ext cx="621431"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8D00C2E9-C8EF-419E-A924-7CF63990FD40}"/>
                  </a:ext>
                </a:extLst>
              </p:cNvPr>
              <p:cNvSpPr txBox="1"/>
              <p:nvPr/>
            </p:nvSpPr>
            <p:spPr>
              <a:xfrm>
                <a:off x="822804" y="5989449"/>
                <a:ext cx="5510804" cy="701667"/>
              </a:xfrm>
              <a:prstGeom prst="rect">
                <a:avLst/>
              </a:prstGeom>
              <a:noFill/>
            </p:spPr>
            <p:txBody>
              <a:bodyPr wrap="none" rtlCol="0">
                <a:spAutoFit/>
              </a:bodyPr>
              <a:lstStyle/>
              <a:p>
                <a:r>
                  <a:rPr lang="en-US" dirty="0"/>
                  <a:t>= Probability of </a:t>
                </a:r>
                <a:r>
                  <a:rPr lang="en-US" i="1" dirty="0"/>
                  <a:t>-1 error </a:t>
                </a:r>
                <a:r>
                  <a:rPr lang="en-US" dirty="0"/>
                  <a:t>removing a mod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𝑘</m:t>
                        </m:r>
                      </m:sup>
                    </m:sSup>
                  </m:oMath>
                </a14:m>
                <a:r>
                  <a:rPr lang="en-US" dirty="0"/>
                  <a:t> wrap around</a:t>
                </a:r>
              </a:p>
              <a:p>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m:t>
                        </m:r>
                        <m:d>
                          <m:dPr>
                            <m:ctrlPr>
                              <a:rPr lang="en-US" b="0" i="1" smtClean="0">
                                <a:latin typeface="Cambria Math" panose="02040503050406030204" pitchFamily="18" charset="0"/>
                              </a:rPr>
                            </m:ctrlPr>
                          </m:dPr>
                          <m:e>
                            <m:r>
                              <m:rPr>
                                <m:nor/>
                              </m:rPr>
                              <a:rPr lang="en-US" dirty="0"/>
                              <m:t>number</m:t>
                            </m:r>
                            <m:r>
                              <m:rPr>
                                <m:nor/>
                              </m:rPr>
                              <a:rPr lang="en-US" dirty="0"/>
                              <m:t> </m:t>
                            </m:r>
                            <m:r>
                              <m:rPr>
                                <m:nor/>
                              </m:rPr>
                              <a:rPr lang="en-US" dirty="0"/>
                              <m:t>of</m:t>
                            </m:r>
                            <m:r>
                              <m:rPr>
                                <m:nor/>
                              </m:rPr>
                              <a:rPr lang="en-US" dirty="0"/>
                              <m:t> </m:t>
                            </m:r>
                            <m:r>
                              <m:rPr>
                                <m:nor/>
                              </m:rPr>
                              <a:rPr lang="en-US" dirty="0"/>
                              <m:t>leading</m:t>
                            </m:r>
                            <m:r>
                              <m:rPr>
                                <m:nor/>
                              </m:rPr>
                              <a:rPr lang="en-US" dirty="0"/>
                              <m:t> </m:t>
                            </m:r>
                            <m:r>
                              <m:rPr>
                                <m:nor/>
                              </m:rPr>
                              <a:rPr lang="en-US" dirty="0"/>
                              <m:t>zeros</m:t>
                            </m:r>
                          </m:e>
                        </m: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m:t>
                        </m:r>
                        <m:r>
                          <a:rPr lang="en-US" b="0" i="1" smtClean="0">
                            <a:latin typeface="Cambria Math" panose="02040503050406030204" pitchFamily="18" charset="0"/>
                          </a:rPr>
                          <m:t>𝜆</m:t>
                        </m:r>
                      </m:sup>
                    </m:sSup>
                    <m:r>
                      <a:rPr lang="en-US" b="0" i="1" smtClean="0">
                        <a:latin typeface="Cambria Math" panose="02040503050406030204" pitchFamily="18" charset="0"/>
                      </a:rPr>
                      <m:t> </m:t>
                    </m:r>
                  </m:oMath>
                </a14:m>
                <a:r>
                  <a:rPr lang="en-US" dirty="0"/>
                  <a:t> </a:t>
                </a:r>
              </a:p>
            </p:txBody>
          </p:sp>
        </mc:Choice>
        <mc:Fallback xmlns="">
          <p:sp>
            <p:nvSpPr>
              <p:cNvPr id="112" name="TextBox 111">
                <a:extLst>
                  <a:ext uri="{FF2B5EF4-FFF2-40B4-BE49-F238E27FC236}">
                    <a16:creationId xmlns:a16="http://schemas.microsoft.com/office/drawing/2014/main" id="{8D00C2E9-C8EF-419E-A924-7CF63990FD40}"/>
                  </a:ext>
                </a:extLst>
              </p:cNvPr>
              <p:cNvSpPr txBox="1">
                <a:spLocks noRot="1" noChangeAspect="1" noMove="1" noResize="1" noEditPoints="1" noAdjustHandles="1" noChangeArrowheads="1" noChangeShapeType="1" noTextEdit="1"/>
              </p:cNvSpPr>
              <p:nvPr/>
            </p:nvSpPr>
            <p:spPr>
              <a:xfrm>
                <a:off x="822804" y="5989449"/>
                <a:ext cx="5510804" cy="701667"/>
              </a:xfrm>
              <a:prstGeom prst="rect">
                <a:avLst/>
              </a:prstGeom>
              <a:blipFill>
                <a:blip r:embed="rId13"/>
                <a:stretch>
                  <a:fillRect l="-996" t="-4348"/>
                </a:stretch>
              </a:blipFill>
            </p:spPr>
            <p:txBody>
              <a:bodyPr/>
              <a:lstStyle/>
              <a:p>
                <a:r>
                  <a:rPr lang="en-US">
                    <a:noFill/>
                  </a:rPr>
                  <a:t> </a:t>
                </a:r>
              </a:p>
            </p:txBody>
          </p:sp>
        </mc:Fallback>
      </mc:AlternateContent>
      <p:sp>
        <p:nvSpPr>
          <p:cNvPr id="113" name="TextBox 112">
            <a:extLst>
              <a:ext uri="{FF2B5EF4-FFF2-40B4-BE49-F238E27FC236}">
                <a16:creationId xmlns:a16="http://schemas.microsoft.com/office/drawing/2014/main" id="{A84EC042-3573-475A-8D21-977A608D5EAF}"/>
              </a:ext>
            </a:extLst>
          </p:cNvPr>
          <p:cNvSpPr txBox="1"/>
          <p:nvPr/>
        </p:nvSpPr>
        <p:spPr>
          <a:xfrm>
            <a:off x="397042" y="1479884"/>
            <a:ext cx="840166" cy="369332"/>
          </a:xfrm>
          <a:prstGeom prst="rect">
            <a:avLst/>
          </a:prstGeom>
          <a:noFill/>
        </p:spPr>
        <p:txBody>
          <a:bodyPr wrap="none" rtlCol="0">
            <a:spAutoFit/>
          </a:bodyPr>
          <a:lstStyle/>
          <a:p>
            <a:r>
              <a:rPr lang="en-US" u="sng" dirty="0"/>
              <a:t>Party 1</a:t>
            </a:r>
          </a:p>
        </p:txBody>
      </p:sp>
      <p:sp>
        <p:nvSpPr>
          <p:cNvPr id="114" name="TextBox 113">
            <a:extLst>
              <a:ext uri="{FF2B5EF4-FFF2-40B4-BE49-F238E27FC236}">
                <a16:creationId xmlns:a16="http://schemas.microsoft.com/office/drawing/2014/main" id="{863A0EEF-FA8B-4FAE-BCBC-2E8A88985918}"/>
              </a:ext>
            </a:extLst>
          </p:cNvPr>
          <p:cNvSpPr txBox="1"/>
          <p:nvPr/>
        </p:nvSpPr>
        <p:spPr>
          <a:xfrm>
            <a:off x="6389385" y="1441838"/>
            <a:ext cx="840166" cy="369332"/>
          </a:xfrm>
          <a:prstGeom prst="rect">
            <a:avLst/>
          </a:prstGeom>
          <a:noFill/>
        </p:spPr>
        <p:txBody>
          <a:bodyPr wrap="none" rtlCol="0">
            <a:spAutoFit/>
          </a:bodyPr>
          <a:lstStyle/>
          <a:p>
            <a:r>
              <a:rPr lang="en-US" u="sng" dirty="0"/>
              <a:t>Party 2</a:t>
            </a:r>
          </a:p>
        </p:txBody>
      </p:sp>
      <p:sp>
        <p:nvSpPr>
          <p:cNvPr id="115" name="Rectangle 114">
            <a:extLst>
              <a:ext uri="{FF2B5EF4-FFF2-40B4-BE49-F238E27FC236}">
                <a16:creationId xmlns:a16="http://schemas.microsoft.com/office/drawing/2014/main" id="{6A3CE9B0-B86D-4ED7-9734-C5E34D2B8DBA}"/>
              </a:ext>
            </a:extLst>
          </p:cNvPr>
          <p:cNvSpPr/>
          <p:nvPr/>
        </p:nvSpPr>
        <p:spPr>
          <a:xfrm>
            <a:off x="10917152" y="4702530"/>
            <a:ext cx="582194"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6" name="Rectangle 115">
            <a:extLst>
              <a:ext uri="{FF2B5EF4-FFF2-40B4-BE49-F238E27FC236}">
                <a16:creationId xmlns:a16="http://schemas.microsoft.com/office/drawing/2014/main" id="{A8955EE8-DC93-433B-B0A9-EF0D64E1F384}"/>
              </a:ext>
            </a:extLst>
          </p:cNvPr>
          <p:cNvSpPr/>
          <p:nvPr/>
        </p:nvSpPr>
        <p:spPr>
          <a:xfrm>
            <a:off x="10956758" y="4734352"/>
            <a:ext cx="511873" cy="196164"/>
          </a:xfrm>
          <a:prstGeom prst="rect">
            <a:avLst/>
          </a:prstGeom>
          <a:pattFill prst="wdDnDiag">
            <a:fgClr>
              <a:schemeClr val="accent4">
                <a:lumMod val="40000"/>
                <a:lumOff val="60000"/>
              </a:schemeClr>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17" name="Rectangle 116">
            <a:extLst>
              <a:ext uri="{FF2B5EF4-FFF2-40B4-BE49-F238E27FC236}">
                <a16:creationId xmlns:a16="http://schemas.microsoft.com/office/drawing/2014/main" id="{B7659381-9FDC-4A0D-84CF-4D39E7188799}"/>
              </a:ext>
            </a:extLst>
          </p:cNvPr>
          <p:cNvSpPr/>
          <p:nvPr/>
        </p:nvSpPr>
        <p:spPr>
          <a:xfrm>
            <a:off x="4465707" y="4702529"/>
            <a:ext cx="583374"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8" name="Rectangle 117">
            <a:extLst>
              <a:ext uri="{FF2B5EF4-FFF2-40B4-BE49-F238E27FC236}">
                <a16:creationId xmlns:a16="http://schemas.microsoft.com/office/drawing/2014/main" id="{279EA015-F865-4FA0-A8B7-B8896E7A28BC}"/>
              </a:ext>
            </a:extLst>
          </p:cNvPr>
          <p:cNvSpPr/>
          <p:nvPr/>
        </p:nvSpPr>
        <p:spPr>
          <a:xfrm>
            <a:off x="4502071" y="4734352"/>
            <a:ext cx="511873" cy="196164"/>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19" name="Rectangle 118">
            <a:extLst>
              <a:ext uri="{FF2B5EF4-FFF2-40B4-BE49-F238E27FC236}">
                <a16:creationId xmlns:a16="http://schemas.microsoft.com/office/drawing/2014/main" id="{8BB382C6-E8EA-45B3-93F0-AFE072ABD8A2}"/>
              </a:ext>
            </a:extLst>
          </p:cNvPr>
          <p:cNvSpPr/>
          <p:nvPr/>
        </p:nvSpPr>
        <p:spPr>
          <a:xfrm>
            <a:off x="4465707" y="5096210"/>
            <a:ext cx="154408" cy="157030"/>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20" name="Rectangle 119">
            <a:extLst>
              <a:ext uri="{FF2B5EF4-FFF2-40B4-BE49-F238E27FC236}">
                <a16:creationId xmlns:a16="http://schemas.microsoft.com/office/drawing/2014/main" id="{140AFE1B-76B1-4A92-B1BE-219C144A503F}"/>
              </a:ext>
            </a:extLst>
          </p:cNvPr>
          <p:cNvSpPr/>
          <p:nvPr/>
        </p:nvSpPr>
        <p:spPr>
          <a:xfrm>
            <a:off x="4462995" y="5096210"/>
            <a:ext cx="154408" cy="157030"/>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21" name="Rectangle 120">
            <a:extLst>
              <a:ext uri="{FF2B5EF4-FFF2-40B4-BE49-F238E27FC236}">
                <a16:creationId xmlns:a16="http://schemas.microsoft.com/office/drawing/2014/main" id="{8DD0C028-1E17-4966-A837-615339F9344B}"/>
              </a:ext>
            </a:extLst>
          </p:cNvPr>
          <p:cNvSpPr/>
          <p:nvPr/>
        </p:nvSpPr>
        <p:spPr>
          <a:xfrm>
            <a:off x="4821022" y="5092608"/>
            <a:ext cx="154409" cy="157030"/>
          </a:xfrm>
          <a:prstGeom prst="rect">
            <a:avLst/>
          </a:prstGeom>
          <a:pattFill prst="wdDnDiag">
            <a:fgClr>
              <a:schemeClr val="accent4">
                <a:lumMod val="40000"/>
                <a:lumOff val="60000"/>
              </a:schemeClr>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CDD7D09A-58D8-4717-B820-ACF2FAAEA061}"/>
                  </a:ext>
                </a:extLst>
              </p:cNvPr>
              <p:cNvSpPr txBox="1"/>
              <p:nvPr/>
            </p:nvSpPr>
            <p:spPr>
              <a:xfrm>
                <a:off x="1675056" y="2052733"/>
                <a:ext cx="595163" cy="369332"/>
              </a:xfrm>
              <a:prstGeom prst="rect">
                <a:avLst/>
              </a:prstGeom>
              <a:noFill/>
            </p:spPr>
            <p:txBody>
              <a:bodyPr wrap="none" rtlCol="0">
                <a:spAutoFit/>
              </a:bodyPr>
              <a:lstStyle/>
              <a:p>
                <a14:m>
                  <m:oMath xmlns:m="http://schemas.openxmlformats.org/officeDocument/2006/math">
                    <m:sSub>
                      <m:sSubPr>
                        <m:ctrlPr>
                          <a:rPr lang="en-US" sz="1400" b="0" i="1" smtClean="0">
                            <a:latin typeface="Cambria Math" panose="02040503050406030204" pitchFamily="18" charset="0"/>
                          </a:rPr>
                        </m:ctrlPr>
                      </m:sSubPr>
                      <m:e>
                        <m:r>
                          <a:rPr lang="en-US" sz="140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a14:m>
                <a:r>
                  <a:rPr lang="en-US" dirty="0"/>
                  <a:t> </a:t>
                </a:r>
              </a:p>
            </p:txBody>
          </p:sp>
        </mc:Choice>
        <mc:Fallback xmlns="">
          <p:sp>
            <p:nvSpPr>
              <p:cNvPr id="122" name="TextBox 121">
                <a:extLst>
                  <a:ext uri="{FF2B5EF4-FFF2-40B4-BE49-F238E27FC236}">
                    <a16:creationId xmlns:a16="http://schemas.microsoft.com/office/drawing/2014/main" id="{CDD7D09A-58D8-4717-B820-ACF2FAAEA061}"/>
                  </a:ext>
                </a:extLst>
              </p:cNvPr>
              <p:cNvSpPr txBox="1">
                <a:spLocks noRot="1" noChangeAspect="1" noMove="1" noResize="1" noEditPoints="1" noAdjustHandles="1" noChangeArrowheads="1" noChangeShapeType="1" noTextEdit="1"/>
              </p:cNvSpPr>
              <p:nvPr/>
            </p:nvSpPr>
            <p:spPr>
              <a:xfrm>
                <a:off x="1675056" y="2052733"/>
                <a:ext cx="595163"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BC1EF97-8125-4284-887F-753880DFFD0D}"/>
                  </a:ext>
                </a:extLst>
              </p:cNvPr>
              <p:cNvSpPr txBox="1"/>
              <p:nvPr/>
            </p:nvSpPr>
            <p:spPr>
              <a:xfrm>
                <a:off x="1671259" y="2372720"/>
                <a:ext cx="596253" cy="369332"/>
              </a:xfrm>
              <a:prstGeom prst="rect">
                <a:avLst/>
              </a:prstGeom>
              <a:noFill/>
            </p:spPr>
            <p:txBody>
              <a:bodyPr wrap="none" rtlCol="0">
                <a:spAutoFit/>
              </a:bodyPr>
              <a:lstStyle/>
              <a:p>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𝑦</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a14:m>
                <a:r>
                  <a:rPr lang="en-US" dirty="0"/>
                  <a:t> </a:t>
                </a:r>
              </a:p>
            </p:txBody>
          </p:sp>
        </mc:Choice>
        <mc:Fallback xmlns="">
          <p:sp>
            <p:nvSpPr>
              <p:cNvPr id="123" name="TextBox 122">
                <a:extLst>
                  <a:ext uri="{FF2B5EF4-FFF2-40B4-BE49-F238E27FC236}">
                    <a16:creationId xmlns:a16="http://schemas.microsoft.com/office/drawing/2014/main" id="{8BC1EF97-8125-4284-887F-753880DFFD0D}"/>
                  </a:ext>
                </a:extLst>
              </p:cNvPr>
              <p:cNvSpPr txBox="1">
                <a:spLocks noRot="1" noChangeAspect="1" noMove="1" noResize="1" noEditPoints="1" noAdjustHandles="1" noChangeArrowheads="1" noChangeShapeType="1" noTextEdit="1"/>
              </p:cNvSpPr>
              <p:nvPr/>
            </p:nvSpPr>
            <p:spPr>
              <a:xfrm>
                <a:off x="1671259" y="2372720"/>
                <a:ext cx="596253"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16E403CE-77CB-482A-AB3F-EE76EF798EC2}"/>
                  </a:ext>
                </a:extLst>
              </p:cNvPr>
              <p:cNvSpPr txBox="1"/>
              <p:nvPr/>
            </p:nvSpPr>
            <p:spPr>
              <a:xfrm>
                <a:off x="8151949" y="2074321"/>
                <a:ext cx="599331" cy="369332"/>
              </a:xfrm>
              <a:prstGeom prst="rect">
                <a:avLst/>
              </a:prstGeom>
              <a:noFill/>
            </p:spPr>
            <p:txBody>
              <a:bodyPr wrap="none" rtlCol="0">
                <a:spAutoFit/>
              </a:bodyPr>
              <a:lstStyle/>
              <a:p>
                <a14:m>
                  <m:oMath xmlns:m="http://schemas.openxmlformats.org/officeDocument/2006/math">
                    <m:sSub>
                      <m:sSubPr>
                        <m:ctrlPr>
                          <a:rPr lang="en-US" sz="1400" b="0" i="1" smtClean="0">
                            <a:latin typeface="Cambria Math" panose="02040503050406030204" pitchFamily="18" charset="0"/>
                          </a:rPr>
                        </m:ctrlPr>
                      </m:sSubPr>
                      <m:e>
                        <m:r>
                          <a:rPr lang="en-US" sz="1400" i="1" smtClean="0">
                            <a:latin typeface="Cambria Math" panose="02040503050406030204" pitchFamily="18" charset="0"/>
                          </a:rPr>
                          <m:t>𝑥</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oMath>
                </a14:m>
                <a:r>
                  <a:rPr lang="en-US" dirty="0"/>
                  <a:t> </a:t>
                </a:r>
              </a:p>
            </p:txBody>
          </p:sp>
        </mc:Choice>
        <mc:Fallback xmlns="">
          <p:sp>
            <p:nvSpPr>
              <p:cNvPr id="124" name="TextBox 123">
                <a:extLst>
                  <a:ext uri="{FF2B5EF4-FFF2-40B4-BE49-F238E27FC236}">
                    <a16:creationId xmlns:a16="http://schemas.microsoft.com/office/drawing/2014/main" id="{16E403CE-77CB-482A-AB3F-EE76EF798EC2}"/>
                  </a:ext>
                </a:extLst>
              </p:cNvPr>
              <p:cNvSpPr txBox="1">
                <a:spLocks noRot="1" noChangeAspect="1" noMove="1" noResize="1" noEditPoints="1" noAdjustHandles="1" noChangeArrowheads="1" noChangeShapeType="1" noTextEdit="1"/>
              </p:cNvSpPr>
              <p:nvPr/>
            </p:nvSpPr>
            <p:spPr>
              <a:xfrm>
                <a:off x="8151949" y="2074321"/>
                <a:ext cx="59933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44D48EB1-40B7-4DFA-BD3F-D6C0C74C9470}"/>
                  </a:ext>
                </a:extLst>
              </p:cNvPr>
              <p:cNvSpPr txBox="1"/>
              <p:nvPr/>
            </p:nvSpPr>
            <p:spPr>
              <a:xfrm>
                <a:off x="8148152" y="2394308"/>
                <a:ext cx="600421" cy="369332"/>
              </a:xfrm>
              <a:prstGeom prst="rect">
                <a:avLst/>
              </a:prstGeom>
              <a:noFill/>
            </p:spPr>
            <p:txBody>
              <a:bodyPr wrap="none" rtlCol="0">
                <a:spAutoFit/>
              </a:bodyPr>
              <a:lstStyle/>
              <a:p>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𝑦</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oMath>
                </a14:m>
                <a:r>
                  <a:rPr lang="en-US" dirty="0"/>
                  <a:t> </a:t>
                </a:r>
              </a:p>
            </p:txBody>
          </p:sp>
        </mc:Choice>
        <mc:Fallback xmlns="">
          <p:sp>
            <p:nvSpPr>
              <p:cNvPr id="125" name="TextBox 124">
                <a:extLst>
                  <a:ext uri="{FF2B5EF4-FFF2-40B4-BE49-F238E27FC236}">
                    <a16:creationId xmlns:a16="http://schemas.microsoft.com/office/drawing/2014/main" id="{44D48EB1-40B7-4DFA-BD3F-D6C0C74C9470}"/>
                  </a:ext>
                </a:extLst>
              </p:cNvPr>
              <p:cNvSpPr txBox="1">
                <a:spLocks noRot="1" noChangeAspect="1" noMove="1" noResize="1" noEditPoints="1" noAdjustHandles="1" noChangeArrowheads="1" noChangeShapeType="1" noTextEdit="1"/>
              </p:cNvSpPr>
              <p:nvPr/>
            </p:nvSpPr>
            <p:spPr>
              <a:xfrm>
                <a:off x="8148152" y="2394308"/>
                <a:ext cx="600421" cy="369332"/>
              </a:xfrm>
              <a:prstGeom prst="rect">
                <a:avLst/>
              </a:prstGeom>
              <a:blipFill>
                <a:blip r:embed="rId17"/>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19D493EC-F21C-4CBF-94B6-DC7BBA8DD1CB}"/>
              </a:ext>
            </a:extLst>
          </p:cNvPr>
          <p:cNvSpPr txBox="1"/>
          <p:nvPr/>
        </p:nvSpPr>
        <p:spPr>
          <a:xfrm>
            <a:off x="9657080" y="655320"/>
            <a:ext cx="2002471" cy="369332"/>
          </a:xfrm>
          <a:prstGeom prst="rect">
            <a:avLst/>
          </a:prstGeom>
          <a:noFill/>
        </p:spPr>
        <p:txBody>
          <a:bodyPr wrap="none" rtlCol="0">
            <a:spAutoFit/>
          </a:bodyPr>
          <a:lstStyle/>
          <a:p>
            <a:r>
              <a:rPr lang="en-US" dirty="0">
                <a:solidFill>
                  <a:schemeClr val="tx1">
                    <a:lumMod val="65000"/>
                    <a:lumOff val="35000"/>
                  </a:schemeClr>
                </a:solidFill>
              </a:rPr>
              <a:t>[MohasselZhang17]</a:t>
            </a:r>
          </a:p>
        </p:txBody>
      </p:sp>
    </p:spTree>
    <p:extLst>
      <p:ext uri="{BB962C8B-B14F-4D97-AF65-F5344CB8AC3E}">
        <p14:creationId xmlns:p14="http://schemas.microsoft.com/office/powerpoint/2010/main" val="416181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9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2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0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4"/>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8"/>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1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19" grpId="0" animBg="1"/>
      <p:bldP spid="20" grpId="0"/>
      <p:bldP spid="34" grpId="0" animBg="1"/>
      <p:bldP spid="36" grpId="0"/>
      <p:bldP spid="46" grpId="0" animBg="1"/>
      <p:bldP spid="58" grpId="0" animBg="1"/>
      <p:bldP spid="59" grpId="0"/>
      <p:bldP spid="61" grpId="0" animBg="1"/>
      <p:bldP spid="62" grpId="0"/>
      <p:bldP spid="17" grpId="0"/>
      <p:bldP spid="70" grpId="0" animBg="1"/>
      <p:bldP spid="71" grpId="0" animBg="1"/>
      <p:bldP spid="72" grpId="0"/>
      <p:bldP spid="74" grpId="0" animBg="1"/>
      <p:bldP spid="76" grpId="0" animBg="1"/>
      <p:bldP spid="77" grpId="0" animBg="1"/>
      <p:bldP spid="78" grpId="0"/>
      <p:bldP spid="80" grpId="0" animBg="1"/>
      <p:bldP spid="84" grpId="0"/>
      <p:bldP spid="85" grpId="0" animBg="1"/>
      <p:bldP spid="86" grpId="0" animBg="1"/>
      <p:bldP spid="87" grpId="0"/>
      <p:bldP spid="89" grpId="0" animBg="1"/>
      <p:bldP spid="90" grpId="0" animBg="1"/>
      <p:bldP spid="91" grpId="0" animBg="1"/>
      <p:bldP spid="92" grpId="0"/>
      <p:bldP spid="94" grpId="0" animBg="1"/>
      <p:bldP spid="97" grpId="0"/>
      <p:bldP spid="101" grpId="0"/>
      <p:bldP spid="102" grpId="0" animBg="1"/>
      <p:bldP spid="103" grpId="0" animBg="1"/>
      <p:bldP spid="104" grpId="0"/>
      <p:bldP spid="106" grpId="0" animBg="1"/>
      <p:bldP spid="107" grpId="0" animBg="1"/>
      <p:bldP spid="108" grpId="0" animBg="1"/>
      <p:bldP spid="109" grpId="0"/>
      <p:bldP spid="111" grpId="0" animBg="1"/>
      <p:bldP spid="112" grpId="0"/>
      <p:bldP spid="115" grpId="0" animBg="1"/>
      <p:bldP spid="116" grpId="0" animBg="1"/>
      <p:bldP spid="117" grpId="0" animBg="1"/>
      <p:bldP spid="118" grpId="0" animBg="1"/>
      <p:bldP spid="119" grpId="0" animBg="1"/>
      <p:bldP spid="120" grpId="0" animBg="1"/>
      <p:bldP spid="121"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Truncation on 2-out-of-3 Secret Shares</a:t>
            </a:r>
          </a:p>
        </p:txBody>
      </p:sp>
      <p:sp>
        <p:nvSpPr>
          <p:cNvPr id="43" name="Rectangle 42">
            <a:extLst>
              <a:ext uri="{FF2B5EF4-FFF2-40B4-BE49-F238E27FC236}">
                <a16:creationId xmlns:a16="http://schemas.microsoft.com/office/drawing/2014/main" id="{1152A03D-23B0-4C14-852B-EEF637A933DB}"/>
              </a:ext>
            </a:extLst>
          </p:cNvPr>
          <p:cNvSpPr/>
          <p:nvPr/>
        </p:nvSpPr>
        <p:spPr>
          <a:xfrm>
            <a:off x="2237561" y="2483052"/>
            <a:ext cx="2174635"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6" name="Rectangle 45">
            <a:extLst>
              <a:ext uri="{FF2B5EF4-FFF2-40B4-BE49-F238E27FC236}">
                <a16:creationId xmlns:a16="http://schemas.microsoft.com/office/drawing/2014/main" id="{41AE6DE7-15E0-4D87-A143-C31C4B033E42}"/>
              </a:ext>
            </a:extLst>
          </p:cNvPr>
          <p:cNvSpPr/>
          <p:nvPr/>
        </p:nvSpPr>
        <p:spPr>
          <a:xfrm>
            <a:off x="699811" y="2939491"/>
            <a:ext cx="4349270"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7" name="Rectangle 46">
            <a:extLst>
              <a:ext uri="{FF2B5EF4-FFF2-40B4-BE49-F238E27FC236}">
                <a16:creationId xmlns:a16="http://schemas.microsoft.com/office/drawing/2014/main" id="{D0B82217-86DB-4D89-BF97-826D73B13FC9}"/>
              </a:ext>
            </a:extLst>
          </p:cNvPr>
          <p:cNvSpPr/>
          <p:nvPr/>
        </p:nvSpPr>
        <p:spPr>
          <a:xfrm>
            <a:off x="2237561" y="2142465"/>
            <a:ext cx="2174635"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F366455-73CA-42A9-A7C4-0510D3E9E790}"/>
                  </a:ext>
                </a:extLst>
              </p:cNvPr>
              <p:cNvSpPr txBox="1"/>
              <p:nvPr/>
            </p:nvSpPr>
            <p:spPr>
              <a:xfrm>
                <a:off x="4233755" y="2456826"/>
                <a:ext cx="995131" cy="357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ℤ</m:t>
                          </m:r>
                        </m:e>
                        <m:sub>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2</m:t>
                              </m:r>
                            </m:e>
                            <m:sup>
                              <m:r>
                                <a:rPr lang="en-US" sz="1400" b="0" i="1" dirty="0" smtClean="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48" name="TextBox 47">
                <a:extLst>
                  <a:ext uri="{FF2B5EF4-FFF2-40B4-BE49-F238E27FC236}">
                    <a16:creationId xmlns:a16="http://schemas.microsoft.com/office/drawing/2014/main" id="{EF366455-73CA-42A9-A7C4-0510D3E9E790}"/>
                  </a:ext>
                </a:extLst>
              </p:cNvPr>
              <p:cNvSpPr txBox="1">
                <a:spLocks noRot="1" noChangeAspect="1" noMove="1" noResize="1" noEditPoints="1" noAdjustHandles="1" noChangeArrowheads="1" noChangeShapeType="1" noTextEdit="1"/>
              </p:cNvSpPr>
              <p:nvPr/>
            </p:nvSpPr>
            <p:spPr>
              <a:xfrm>
                <a:off x="4233755" y="2456826"/>
                <a:ext cx="995131" cy="357452"/>
              </a:xfrm>
              <a:prstGeom prst="rect">
                <a:avLst/>
              </a:prstGeom>
              <a:blipFill>
                <a:blip r:embed="rId2"/>
                <a:stretch>
                  <a:fillRect/>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76D1BE97-A390-4F44-943F-AFD0C020D68C}"/>
              </a:ext>
            </a:extLst>
          </p:cNvPr>
          <p:cNvSpPr/>
          <p:nvPr/>
        </p:nvSpPr>
        <p:spPr>
          <a:xfrm>
            <a:off x="2918629" y="2512013"/>
            <a:ext cx="622833" cy="19616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a:extLst>
              <a:ext uri="{FF2B5EF4-FFF2-40B4-BE49-F238E27FC236}">
                <a16:creationId xmlns:a16="http://schemas.microsoft.com/office/drawing/2014/main" id="{218A8229-6786-4830-BF06-28867EDD2AE8}"/>
              </a:ext>
            </a:extLst>
          </p:cNvPr>
          <p:cNvSpPr/>
          <p:nvPr/>
        </p:nvSpPr>
        <p:spPr>
          <a:xfrm>
            <a:off x="3769748" y="2512012"/>
            <a:ext cx="619751" cy="19616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TextBox 50">
            <a:extLst>
              <a:ext uri="{FF2B5EF4-FFF2-40B4-BE49-F238E27FC236}">
                <a16:creationId xmlns:a16="http://schemas.microsoft.com/office/drawing/2014/main" id="{7AA2672C-1651-4565-A229-8696F87D9871}"/>
              </a:ext>
            </a:extLst>
          </p:cNvPr>
          <p:cNvSpPr txBox="1"/>
          <p:nvPr/>
        </p:nvSpPr>
        <p:spPr>
          <a:xfrm>
            <a:off x="3573570" y="2450702"/>
            <a:ext cx="216408" cy="357452"/>
          </a:xfrm>
          <a:prstGeom prst="rect">
            <a:avLst/>
          </a:prstGeom>
          <a:noFill/>
        </p:spPr>
        <p:txBody>
          <a:bodyPr wrap="square" rtlCol="0">
            <a:spAutoFit/>
          </a:bodyPr>
          <a:lstStyle/>
          <a:p>
            <a:r>
              <a:rPr lang="en-US" sz="1400" b="1" dirty="0"/>
              <a:t>.</a:t>
            </a:r>
          </a:p>
        </p:txBody>
      </p:sp>
      <p:sp>
        <p:nvSpPr>
          <p:cNvPr id="52" name="Right Brace 51">
            <a:extLst>
              <a:ext uri="{FF2B5EF4-FFF2-40B4-BE49-F238E27FC236}">
                <a16:creationId xmlns:a16="http://schemas.microsoft.com/office/drawing/2014/main" id="{C450D506-CDA2-4510-A2FF-7604C0142A2D}"/>
              </a:ext>
            </a:extLst>
          </p:cNvPr>
          <p:cNvSpPr/>
          <p:nvPr/>
        </p:nvSpPr>
        <p:spPr>
          <a:xfrm rot="5400000" flipH="1">
            <a:off x="3586563" y="1289519"/>
            <a:ext cx="157697" cy="1493567"/>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D8AA614-1C86-482D-AE90-C867E14751A8}"/>
                  </a:ext>
                </a:extLst>
              </p:cNvPr>
              <p:cNvSpPr txBox="1"/>
              <p:nvPr/>
            </p:nvSpPr>
            <p:spPr>
              <a:xfrm>
                <a:off x="3332578" y="1629833"/>
                <a:ext cx="1005202" cy="338554"/>
              </a:xfrm>
              <a:prstGeom prst="rect">
                <a:avLst/>
              </a:prstGeom>
              <a:noFill/>
            </p:spPr>
            <p:txBody>
              <a:bodyPr wrap="square" rtlCol="0">
                <a:spAutoFit/>
              </a:bodyPr>
              <a:lstStyle/>
              <a:p>
                <a14:m>
                  <m:oMath xmlns:m="http://schemas.openxmlformats.org/officeDocument/2006/math">
                    <m:r>
                      <a:rPr lang="en-US" sz="1600" b="0" i="1" smtClean="0">
                        <a:latin typeface="Cambria Math" panose="02040503050406030204" pitchFamily="18" charset="0"/>
                      </a:rPr>
                      <m:t>𝑚</m:t>
                    </m:r>
                  </m:oMath>
                </a14:m>
                <a:r>
                  <a:rPr lang="en-US" sz="1600" dirty="0"/>
                  <a:t> bits</a:t>
                </a:r>
              </a:p>
            </p:txBody>
          </p:sp>
        </mc:Choice>
        <mc:Fallback xmlns="">
          <p:sp>
            <p:nvSpPr>
              <p:cNvPr id="53" name="TextBox 52">
                <a:extLst>
                  <a:ext uri="{FF2B5EF4-FFF2-40B4-BE49-F238E27FC236}">
                    <a16:creationId xmlns:a16="http://schemas.microsoft.com/office/drawing/2014/main" id="{ED8AA614-1C86-482D-AE90-C867E14751A8}"/>
                  </a:ext>
                </a:extLst>
              </p:cNvPr>
              <p:cNvSpPr txBox="1">
                <a:spLocks noRot="1" noChangeAspect="1" noMove="1" noResize="1" noEditPoints="1" noAdjustHandles="1" noChangeArrowheads="1" noChangeShapeType="1" noTextEdit="1"/>
              </p:cNvSpPr>
              <p:nvPr/>
            </p:nvSpPr>
            <p:spPr>
              <a:xfrm>
                <a:off x="3332578" y="1629833"/>
                <a:ext cx="1005202" cy="338554"/>
              </a:xfrm>
              <a:prstGeom prst="rect">
                <a:avLst/>
              </a:prstGeom>
              <a:blipFill>
                <a:blip r:embed="rId3"/>
                <a:stretch>
                  <a:fillRect t="-5357"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467780C-D589-41ED-8BFE-405B3B63EE65}"/>
                  </a:ext>
                </a:extLst>
              </p:cNvPr>
              <p:cNvSpPr txBox="1"/>
              <p:nvPr/>
            </p:nvSpPr>
            <p:spPr>
              <a:xfrm>
                <a:off x="4356125" y="2080566"/>
                <a:ext cx="747530" cy="3574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dirty="0">
                          <a:latin typeface="Cambria Math" panose="02040503050406030204" pitchFamily="18" charset="0"/>
                        </a:rPr>
                        <m:t>∈</m:t>
                      </m:r>
                      <m:sSub>
                        <m:sSubPr>
                          <m:ctrlPr>
                            <a:rPr lang="en-US" sz="1400" i="1" dirty="0">
                              <a:latin typeface="Cambria Math" panose="02040503050406030204" pitchFamily="18" charset="0"/>
                              <a:ea typeface="Cambria Math" panose="02040503050406030204" pitchFamily="18" charset="0"/>
                            </a:rPr>
                          </m:ctrlPr>
                        </m:sSubPr>
                        <m:e>
                          <m:r>
                            <a:rPr lang="en-US" sz="1400" i="1" dirty="0">
                              <a:latin typeface="Cambria Math" panose="02040503050406030204" pitchFamily="18" charset="0"/>
                              <a:ea typeface="Cambria Math" panose="02040503050406030204" pitchFamily="18" charset="0"/>
                            </a:rPr>
                            <m:t>ℤ</m:t>
                          </m:r>
                        </m:e>
                        <m:sub>
                          <m:sSup>
                            <m:sSupPr>
                              <m:ctrlPr>
                                <a:rPr lang="en-US" sz="1400" i="1" dirty="0">
                                  <a:latin typeface="Cambria Math" panose="02040503050406030204" pitchFamily="18" charset="0"/>
                                  <a:ea typeface="Cambria Math" panose="02040503050406030204" pitchFamily="18" charset="0"/>
                                </a:rPr>
                              </m:ctrlPr>
                            </m:sSupPr>
                            <m:e>
                              <m:r>
                                <a:rPr lang="en-US" sz="1400" i="1" dirty="0">
                                  <a:latin typeface="Cambria Math" panose="02040503050406030204" pitchFamily="18" charset="0"/>
                                  <a:ea typeface="Cambria Math" panose="02040503050406030204" pitchFamily="18" charset="0"/>
                                </a:rPr>
                                <m:t>2</m:t>
                              </m:r>
                            </m:e>
                            <m:sup>
                              <m:r>
                                <a:rPr lang="en-US" sz="1400" i="1" dirty="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54" name="TextBox 53">
                <a:extLst>
                  <a:ext uri="{FF2B5EF4-FFF2-40B4-BE49-F238E27FC236}">
                    <a16:creationId xmlns:a16="http://schemas.microsoft.com/office/drawing/2014/main" id="{6467780C-D589-41ED-8BFE-405B3B63EE65}"/>
                  </a:ext>
                </a:extLst>
              </p:cNvPr>
              <p:cNvSpPr txBox="1">
                <a:spLocks noRot="1" noChangeAspect="1" noMove="1" noResize="1" noEditPoints="1" noAdjustHandles="1" noChangeArrowheads="1" noChangeShapeType="1" noTextEdit="1"/>
              </p:cNvSpPr>
              <p:nvPr/>
            </p:nvSpPr>
            <p:spPr>
              <a:xfrm>
                <a:off x="4356125" y="2080566"/>
                <a:ext cx="747530" cy="357452"/>
              </a:xfrm>
              <a:prstGeom prst="rect">
                <a:avLst/>
              </a:prstGeom>
              <a:blipFill>
                <a:blip r:embed="rId4"/>
                <a:stretch>
                  <a:fillRect/>
                </a:stretch>
              </a:blipFill>
            </p:spPr>
            <p:txBody>
              <a:bodyPr/>
              <a:lstStyle/>
              <a:p>
                <a:r>
                  <a:rPr lang="en-US">
                    <a:noFill/>
                  </a:rPr>
                  <a:t> </a:t>
                </a:r>
              </a:p>
            </p:txBody>
          </p:sp>
        </mc:Fallback>
      </mc:AlternateContent>
      <p:sp>
        <p:nvSpPr>
          <p:cNvPr id="55" name="Rectangle 54">
            <a:extLst>
              <a:ext uri="{FF2B5EF4-FFF2-40B4-BE49-F238E27FC236}">
                <a16:creationId xmlns:a16="http://schemas.microsoft.com/office/drawing/2014/main" id="{06AC1A7A-170D-409F-83D9-6E7B081B8916}"/>
              </a:ext>
            </a:extLst>
          </p:cNvPr>
          <p:cNvSpPr/>
          <p:nvPr/>
        </p:nvSpPr>
        <p:spPr>
          <a:xfrm>
            <a:off x="2918629" y="2170788"/>
            <a:ext cx="622833" cy="19616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56" name="Rectangle 55">
            <a:extLst>
              <a:ext uri="{FF2B5EF4-FFF2-40B4-BE49-F238E27FC236}">
                <a16:creationId xmlns:a16="http://schemas.microsoft.com/office/drawing/2014/main" id="{4062651C-81CE-4E4F-B614-F54189DE26A1}"/>
              </a:ext>
            </a:extLst>
          </p:cNvPr>
          <p:cNvSpPr/>
          <p:nvPr/>
        </p:nvSpPr>
        <p:spPr>
          <a:xfrm>
            <a:off x="3769748" y="2170787"/>
            <a:ext cx="619751" cy="19616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57" name="TextBox 56">
            <a:extLst>
              <a:ext uri="{FF2B5EF4-FFF2-40B4-BE49-F238E27FC236}">
                <a16:creationId xmlns:a16="http://schemas.microsoft.com/office/drawing/2014/main" id="{2FB20AC1-E782-4B41-9242-D2BE92010488}"/>
              </a:ext>
            </a:extLst>
          </p:cNvPr>
          <p:cNvSpPr txBox="1"/>
          <p:nvPr/>
        </p:nvSpPr>
        <p:spPr>
          <a:xfrm>
            <a:off x="3573570" y="2109477"/>
            <a:ext cx="216408" cy="357452"/>
          </a:xfrm>
          <a:prstGeom prst="rect">
            <a:avLst/>
          </a:prstGeom>
          <a:noFill/>
        </p:spPr>
        <p:txBody>
          <a:bodyPr wrap="square" rtlCol="0">
            <a:spAutoFit/>
          </a:bodyPr>
          <a:lstStyle/>
          <a:p>
            <a:r>
              <a:rPr lang="en-US" sz="1400" b="1" dirty="0"/>
              <a:t>.</a:t>
            </a:r>
          </a:p>
        </p:txBody>
      </p:sp>
      <p:sp>
        <p:nvSpPr>
          <p:cNvPr id="58" name="Rectangle 57">
            <a:extLst>
              <a:ext uri="{FF2B5EF4-FFF2-40B4-BE49-F238E27FC236}">
                <a16:creationId xmlns:a16="http://schemas.microsoft.com/office/drawing/2014/main" id="{9BEA8000-D0A7-47FF-A0B1-E4D7FA7A8982}"/>
              </a:ext>
            </a:extLst>
          </p:cNvPr>
          <p:cNvSpPr/>
          <p:nvPr/>
        </p:nvSpPr>
        <p:spPr>
          <a:xfrm>
            <a:off x="3769748" y="2971313"/>
            <a:ext cx="1250222"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59" name="TextBox 58">
            <a:extLst>
              <a:ext uri="{FF2B5EF4-FFF2-40B4-BE49-F238E27FC236}">
                <a16:creationId xmlns:a16="http://schemas.microsoft.com/office/drawing/2014/main" id="{C43E43E4-F2E2-4B2F-9569-68C201D8D949}"/>
              </a:ext>
            </a:extLst>
          </p:cNvPr>
          <p:cNvSpPr txBox="1"/>
          <p:nvPr/>
        </p:nvSpPr>
        <p:spPr>
          <a:xfrm>
            <a:off x="3573570" y="2910003"/>
            <a:ext cx="216408" cy="357452"/>
          </a:xfrm>
          <a:prstGeom prst="rect">
            <a:avLst/>
          </a:prstGeom>
          <a:noFill/>
        </p:spPr>
        <p:txBody>
          <a:bodyPr wrap="square" rtlCol="0">
            <a:spAutoFit/>
          </a:bodyPr>
          <a:lstStyle/>
          <a:p>
            <a:r>
              <a:rPr lang="en-US" sz="1400" b="1" dirty="0"/>
              <a:t>.</a:t>
            </a:r>
          </a:p>
        </p:txBody>
      </p:sp>
      <p:cxnSp>
        <p:nvCxnSpPr>
          <p:cNvPr id="60" name="Straight Connector 59">
            <a:extLst>
              <a:ext uri="{FF2B5EF4-FFF2-40B4-BE49-F238E27FC236}">
                <a16:creationId xmlns:a16="http://schemas.microsoft.com/office/drawing/2014/main" id="{C325F371-1624-4F44-9002-F0D2BB7E60B5}"/>
              </a:ext>
            </a:extLst>
          </p:cNvPr>
          <p:cNvCxnSpPr/>
          <p:nvPr/>
        </p:nvCxnSpPr>
        <p:spPr>
          <a:xfrm>
            <a:off x="1626179" y="2855359"/>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5CA71E4F-35AC-418B-8BA7-ED8D2BE493E4}"/>
              </a:ext>
            </a:extLst>
          </p:cNvPr>
          <p:cNvSpPr/>
          <p:nvPr/>
        </p:nvSpPr>
        <p:spPr>
          <a:xfrm>
            <a:off x="2287755" y="2969086"/>
            <a:ext cx="1253706"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DAD407B-26BA-49D7-B9F7-5473596D7672}"/>
                  </a:ext>
                </a:extLst>
              </p:cNvPr>
              <p:cNvSpPr txBox="1"/>
              <p:nvPr/>
            </p:nvSpPr>
            <p:spPr>
              <a:xfrm>
                <a:off x="4898227" y="2907775"/>
                <a:ext cx="995131" cy="3593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ea typeface="Cambria Math" panose="02040503050406030204" pitchFamily="18" charset="0"/>
                            </a:rPr>
                          </m:ctrlPr>
                        </m:sSubPr>
                        <m:e>
                          <m:r>
                            <a:rPr lang="en-US" sz="1400" b="0" i="1" dirty="0" smtClean="0">
                              <a:latin typeface="Cambria Math" panose="02040503050406030204" pitchFamily="18" charset="0"/>
                              <a:ea typeface="Cambria Math" panose="02040503050406030204" pitchFamily="18" charset="0"/>
                            </a:rPr>
                            <m:t>ℤ</m:t>
                          </m:r>
                        </m:e>
                        <m:sub>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2</m:t>
                              </m:r>
                            </m:e>
                            <m:sup>
                              <m:r>
                                <a:rPr lang="en-US" sz="1400" b="0" i="1" dirty="0" smtClean="0">
                                  <a:solidFill>
                                    <a:srgbClr val="FF0000"/>
                                  </a:solidFill>
                                  <a:latin typeface="Cambria Math" panose="02040503050406030204" pitchFamily="18" charset="0"/>
                                  <a:ea typeface="Cambria Math" panose="02040503050406030204" pitchFamily="18" charset="0"/>
                                </a:rPr>
                                <m:t>2</m:t>
                              </m:r>
                              <m:r>
                                <a:rPr lang="en-US" sz="1400" b="0" i="1" dirty="0" smtClean="0">
                                  <a:latin typeface="Cambria Math" panose="02040503050406030204" pitchFamily="18" charset="0"/>
                                  <a:ea typeface="Cambria Math" panose="02040503050406030204" pitchFamily="18" charset="0"/>
                                </a:rPr>
                                <m:t>𝑚</m:t>
                              </m:r>
                            </m:sup>
                          </m:sSup>
                        </m:sub>
                      </m:sSub>
                    </m:oMath>
                  </m:oMathPara>
                </a14:m>
                <a:endParaRPr lang="en-US" sz="1400" i="1" dirty="0"/>
              </a:p>
            </p:txBody>
          </p:sp>
        </mc:Choice>
        <mc:Fallback xmlns="">
          <p:sp>
            <p:nvSpPr>
              <p:cNvPr id="62" name="TextBox 61">
                <a:extLst>
                  <a:ext uri="{FF2B5EF4-FFF2-40B4-BE49-F238E27FC236}">
                    <a16:creationId xmlns:a16="http://schemas.microsoft.com/office/drawing/2014/main" id="{CDAD407B-26BA-49D7-B9F7-5473596D7672}"/>
                  </a:ext>
                </a:extLst>
              </p:cNvPr>
              <p:cNvSpPr txBox="1">
                <a:spLocks noRot="1" noChangeAspect="1" noMove="1" noResize="1" noEditPoints="1" noAdjustHandles="1" noChangeArrowheads="1" noChangeShapeType="1" noTextEdit="1"/>
              </p:cNvSpPr>
              <p:nvPr/>
            </p:nvSpPr>
            <p:spPr>
              <a:xfrm>
                <a:off x="4898227" y="2907775"/>
                <a:ext cx="995131" cy="359314"/>
              </a:xfrm>
              <a:prstGeom prst="rect">
                <a:avLst/>
              </a:prstGeom>
              <a:blipFill>
                <a:blip r:embed="rId5"/>
                <a:stretch>
                  <a:fillRect/>
                </a:stretch>
              </a:blipFill>
            </p:spPr>
            <p:txBody>
              <a:bodyPr/>
              <a:lstStyle/>
              <a:p>
                <a:r>
                  <a:rPr lang="en-US">
                    <a:noFill/>
                  </a:rPr>
                  <a:t> </a:t>
                </a:r>
              </a:p>
            </p:txBody>
          </p:sp>
        </mc:Fallback>
      </mc:AlternateContent>
      <p:sp>
        <p:nvSpPr>
          <p:cNvPr id="63" name="Right Brace 62">
            <a:extLst>
              <a:ext uri="{FF2B5EF4-FFF2-40B4-BE49-F238E27FC236}">
                <a16:creationId xmlns:a16="http://schemas.microsoft.com/office/drawing/2014/main" id="{4A558005-8B7B-410D-8B63-E811A20ABAB3}"/>
              </a:ext>
            </a:extLst>
          </p:cNvPr>
          <p:cNvSpPr/>
          <p:nvPr/>
        </p:nvSpPr>
        <p:spPr>
          <a:xfrm rot="5400000" flipH="1">
            <a:off x="2499245" y="1684471"/>
            <a:ext cx="157697" cy="681067"/>
          </a:xfrm>
          <a:prstGeom prst="rightBrace">
            <a:avLst>
              <a:gd name="adj1" fmla="val 69857"/>
              <a:gd name="adj2" fmla="val 5000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E7F68A4-7E34-46C0-B328-9ABED9478BBA}"/>
                  </a:ext>
                </a:extLst>
              </p:cNvPr>
              <p:cNvSpPr txBox="1"/>
              <p:nvPr/>
            </p:nvSpPr>
            <p:spPr>
              <a:xfrm>
                <a:off x="2270220" y="1587726"/>
                <a:ext cx="1005202" cy="338554"/>
              </a:xfrm>
              <a:prstGeom prst="rect">
                <a:avLst/>
              </a:prstGeom>
              <a:noFill/>
            </p:spPr>
            <p:txBody>
              <a:bodyPr wrap="square" rtlCol="0">
                <a:spAutoFit/>
              </a:bodyPr>
              <a:lstStyle/>
              <a:p>
                <a14:m>
                  <m:oMath xmlns:m="http://schemas.openxmlformats.org/officeDocument/2006/math">
                    <m:r>
                      <a:rPr lang="en-US" sz="1600" b="0" i="1" smtClean="0">
                        <a:latin typeface="Cambria Math" panose="02040503050406030204" pitchFamily="18" charset="0"/>
                      </a:rPr>
                      <m:t>𝜆</m:t>
                    </m:r>
                  </m:oMath>
                </a14:m>
                <a:r>
                  <a:rPr lang="en-US" sz="1600" dirty="0"/>
                  <a:t> bits</a:t>
                </a:r>
              </a:p>
            </p:txBody>
          </p:sp>
        </mc:Choice>
        <mc:Fallback xmlns="">
          <p:sp>
            <p:nvSpPr>
              <p:cNvPr id="64" name="TextBox 63">
                <a:extLst>
                  <a:ext uri="{FF2B5EF4-FFF2-40B4-BE49-F238E27FC236}">
                    <a16:creationId xmlns:a16="http://schemas.microsoft.com/office/drawing/2014/main" id="{0E7F68A4-7E34-46C0-B328-9ABED9478BBA}"/>
                  </a:ext>
                </a:extLst>
              </p:cNvPr>
              <p:cNvSpPr txBox="1">
                <a:spLocks noRot="1" noChangeAspect="1" noMove="1" noResize="1" noEditPoints="1" noAdjustHandles="1" noChangeArrowheads="1" noChangeShapeType="1" noTextEdit="1"/>
              </p:cNvSpPr>
              <p:nvPr/>
            </p:nvSpPr>
            <p:spPr>
              <a:xfrm>
                <a:off x="2270220" y="1587726"/>
                <a:ext cx="1005202" cy="338554"/>
              </a:xfrm>
              <a:prstGeom prst="rect">
                <a:avLst/>
              </a:prstGeom>
              <a:blipFill>
                <a:blip r:embed="rId6"/>
                <a:stretch>
                  <a:fillRect t="-5357" b="-21429"/>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2C07AE33-2A64-44B7-85F3-D8D7F62B122F}"/>
              </a:ext>
            </a:extLst>
          </p:cNvPr>
          <p:cNvCxnSpPr/>
          <p:nvPr/>
        </p:nvCxnSpPr>
        <p:spPr>
          <a:xfrm>
            <a:off x="6253218" y="1744890"/>
            <a:ext cx="0" cy="4525862"/>
          </a:xfrm>
          <a:prstGeom prst="line">
            <a:avLst/>
          </a:prstGeom>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7A32FA6C-DD21-49E7-8913-C2F6D539262D}"/>
              </a:ext>
            </a:extLst>
          </p:cNvPr>
          <p:cNvSpPr/>
          <p:nvPr/>
        </p:nvSpPr>
        <p:spPr>
          <a:xfrm>
            <a:off x="699811" y="3799321"/>
            <a:ext cx="4349270"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7" name="Rectangle 76">
            <a:extLst>
              <a:ext uri="{FF2B5EF4-FFF2-40B4-BE49-F238E27FC236}">
                <a16:creationId xmlns:a16="http://schemas.microsoft.com/office/drawing/2014/main" id="{3F6F3AE4-CC1B-47A0-AA02-C8DD1BC7F938}"/>
              </a:ext>
            </a:extLst>
          </p:cNvPr>
          <p:cNvSpPr/>
          <p:nvPr/>
        </p:nvSpPr>
        <p:spPr>
          <a:xfrm>
            <a:off x="3769748" y="3831143"/>
            <a:ext cx="1250222"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78" name="TextBox 77">
            <a:extLst>
              <a:ext uri="{FF2B5EF4-FFF2-40B4-BE49-F238E27FC236}">
                <a16:creationId xmlns:a16="http://schemas.microsoft.com/office/drawing/2014/main" id="{7E0938FE-1CE6-4BA6-8B3C-D4F964E1AC52}"/>
              </a:ext>
            </a:extLst>
          </p:cNvPr>
          <p:cNvSpPr txBox="1"/>
          <p:nvPr/>
        </p:nvSpPr>
        <p:spPr>
          <a:xfrm>
            <a:off x="3573570" y="3769833"/>
            <a:ext cx="216408" cy="357452"/>
          </a:xfrm>
          <a:prstGeom prst="rect">
            <a:avLst/>
          </a:prstGeom>
          <a:noFill/>
        </p:spPr>
        <p:txBody>
          <a:bodyPr wrap="square" rtlCol="0">
            <a:spAutoFit/>
          </a:bodyPr>
          <a:lstStyle/>
          <a:p>
            <a:r>
              <a:rPr lang="en-US" sz="1400" b="1" dirty="0"/>
              <a:t>.</a:t>
            </a:r>
          </a:p>
        </p:txBody>
      </p:sp>
      <p:cxnSp>
        <p:nvCxnSpPr>
          <p:cNvPr id="79" name="Straight Connector 78">
            <a:extLst>
              <a:ext uri="{FF2B5EF4-FFF2-40B4-BE49-F238E27FC236}">
                <a16:creationId xmlns:a16="http://schemas.microsoft.com/office/drawing/2014/main" id="{8DF3CBAF-E1DD-4323-B3BE-C523F5A06FFB}"/>
              </a:ext>
            </a:extLst>
          </p:cNvPr>
          <p:cNvCxnSpPr/>
          <p:nvPr/>
        </p:nvCxnSpPr>
        <p:spPr>
          <a:xfrm>
            <a:off x="1626179" y="3715189"/>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C396F6C1-66DF-4052-BCF7-2ACA14A47E7B}"/>
              </a:ext>
            </a:extLst>
          </p:cNvPr>
          <p:cNvSpPr/>
          <p:nvPr/>
        </p:nvSpPr>
        <p:spPr>
          <a:xfrm>
            <a:off x="2917783" y="3828916"/>
            <a:ext cx="623677"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90" name="Rectangle 89">
            <a:extLst>
              <a:ext uri="{FF2B5EF4-FFF2-40B4-BE49-F238E27FC236}">
                <a16:creationId xmlns:a16="http://schemas.microsoft.com/office/drawing/2014/main" id="{7C0FF186-11EE-442C-B22E-CFD970600F7A}"/>
              </a:ext>
            </a:extLst>
          </p:cNvPr>
          <p:cNvSpPr/>
          <p:nvPr/>
        </p:nvSpPr>
        <p:spPr>
          <a:xfrm>
            <a:off x="2237559" y="4702754"/>
            <a:ext cx="2187077"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91" name="Rectangle 90">
            <a:extLst>
              <a:ext uri="{FF2B5EF4-FFF2-40B4-BE49-F238E27FC236}">
                <a16:creationId xmlns:a16="http://schemas.microsoft.com/office/drawing/2014/main" id="{3FEE57EC-4115-4B14-9FFC-8BC4642C51C2}"/>
              </a:ext>
            </a:extLst>
          </p:cNvPr>
          <p:cNvSpPr/>
          <p:nvPr/>
        </p:nvSpPr>
        <p:spPr>
          <a:xfrm>
            <a:off x="3770678" y="4734577"/>
            <a:ext cx="618821"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92" name="TextBox 91">
            <a:extLst>
              <a:ext uri="{FF2B5EF4-FFF2-40B4-BE49-F238E27FC236}">
                <a16:creationId xmlns:a16="http://schemas.microsoft.com/office/drawing/2014/main" id="{3C3C34F6-789D-4851-B323-3D3DE22100A9}"/>
              </a:ext>
            </a:extLst>
          </p:cNvPr>
          <p:cNvSpPr txBox="1"/>
          <p:nvPr/>
        </p:nvSpPr>
        <p:spPr>
          <a:xfrm>
            <a:off x="3574500" y="4673267"/>
            <a:ext cx="216408" cy="357452"/>
          </a:xfrm>
          <a:prstGeom prst="rect">
            <a:avLst/>
          </a:prstGeom>
          <a:noFill/>
        </p:spPr>
        <p:txBody>
          <a:bodyPr wrap="square" rtlCol="0">
            <a:spAutoFit/>
          </a:bodyPr>
          <a:lstStyle/>
          <a:p>
            <a:r>
              <a:rPr lang="en-US" sz="1400" b="1" dirty="0"/>
              <a:t>.</a:t>
            </a:r>
          </a:p>
        </p:txBody>
      </p:sp>
      <p:cxnSp>
        <p:nvCxnSpPr>
          <p:cNvPr id="93" name="Straight Connector 92">
            <a:extLst>
              <a:ext uri="{FF2B5EF4-FFF2-40B4-BE49-F238E27FC236}">
                <a16:creationId xmlns:a16="http://schemas.microsoft.com/office/drawing/2014/main" id="{710AA6A6-98BC-41F3-8F1A-65FABA147554}"/>
              </a:ext>
            </a:extLst>
          </p:cNvPr>
          <p:cNvCxnSpPr/>
          <p:nvPr/>
        </p:nvCxnSpPr>
        <p:spPr>
          <a:xfrm>
            <a:off x="1627109" y="4618623"/>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FCF46DB9-1476-434E-920E-6E3C516B428C}"/>
              </a:ext>
            </a:extLst>
          </p:cNvPr>
          <p:cNvSpPr/>
          <p:nvPr/>
        </p:nvSpPr>
        <p:spPr>
          <a:xfrm>
            <a:off x="2917782" y="4732350"/>
            <a:ext cx="621431"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07" name="Rectangle 106">
            <a:extLst>
              <a:ext uri="{FF2B5EF4-FFF2-40B4-BE49-F238E27FC236}">
                <a16:creationId xmlns:a16="http://schemas.microsoft.com/office/drawing/2014/main" id="{BBEB706D-420E-44DE-A080-719011822247}"/>
              </a:ext>
            </a:extLst>
          </p:cNvPr>
          <p:cNvSpPr/>
          <p:nvPr/>
        </p:nvSpPr>
        <p:spPr>
          <a:xfrm>
            <a:off x="2237559" y="5678695"/>
            <a:ext cx="2187078"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8" name="Rectangle 107">
            <a:extLst>
              <a:ext uri="{FF2B5EF4-FFF2-40B4-BE49-F238E27FC236}">
                <a16:creationId xmlns:a16="http://schemas.microsoft.com/office/drawing/2014/main" id="{5C0296F6-B2BD-406B-B7B9-650DE3E08F6D}"/>
              </a:ext>
            </a:extLst>
          </p:cNvPr>
          <p:cNvSpPr/>
          <p:nvPr/>
        </p:nvSpPr>
        <p:spPr>
          <a:xfrm>
            <a:off x="3770678" y="5710518"/>
            <a:ext cx="618821"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09" name="TextBox 108">
            <a:extLst>
              <a:ext uri="{FF2B5EF4-FFF2-40B4-BE49-F238E27FC236}">
                <a16:creationId xmlns:a16="http://schemas.microsoft.com/office/drawing/2014/main" id="{5AF33B20-F04E-40DA-84AA-EE18B8B993ED}"/>
              </a:ext>
            </a:extLst>
          </p:cNvPr>
          <p:cNvSpPr txBox="1"/>
          <p:nvPr/>
        </p:nvSpPr>
        <p:spPr>
          <a:xfrm>
            <a:off x="3574500" y="5649208"/>
            <a:ext cx="216408" cy="357452"/>
          </a:xfrm>
          <a:prstGeom prst="rect">
            <a:avLst/>
          </a:prstGeom>
          <a:noFill/>
        </p:spPr>
        <p:txBody>
          <a:bodyPr wrap="square" rtlCol="0">
            <a:spAutoFit/>
          </a:bodyPr>
          <a:lstStyle/>
          <a:p>
            <a:r>
              <a:rPr lang="en-US" sz="1400" b="1" dirty="0"/>
              <a:t>.</a:t>
            </a:r>
          </a:p>
        </p:txBody>
      </p:sp>
      <p:cxnSp>
        <p:nvCxnSpPr>
          <p:cNvPr id="110" name="Straight Connector 109">
            <a:extLst>
              <a:ext uri="{FF2B5EF4-FFF2-40B4-BE49-F238E27FC236}">
                <a16:creationId xmlns:a16="http://schemas.microsoft.com/office/drawing/2014/main" id="{7E0F8A0D-B557-4368-9E00-C6F9225F7B80}"/>
              </a:ext>
            </a:extLst>
          </p:cNvPr>
          <p:cNvCxnSpPr/>
          <p:nvPr/>
        </p:nvCxnSpPr>
        <p:spPr>
          <a:xfrm>
            <a:off x="1627109" y="5594564"/>
            <a:ext cx="34596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CA501D0F-115A-4BCE-91A0-FDC306212EEE}"/>
              </a:ext>
            </a:extLst>
          </p:cNvPr>
          <p:cNvSpPr/>
          <p:nvPr/>
        </p:nvSpPr>
        <p:spPr>
          <a:xfrm>
            <a:off x="2917782" y="5708291"/>
            <a:ext cx="621431" cy="196164"/>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8D00C2E9-C8EF-419E-A924-7CF63990FD40}"/>
                  </a:ext>
                </a:extLst>
              </p:cNvPr>
              <p:cNvSpPr txBox="1"/>
              <p:nvPr/>
            </p:nvSpPr>
            <p:spPr>
              <a:xfrm>
                <a:off x="822804" y="5989449"/>
                <a:ext cx="5510804" cy="701667"/>
              </a:xfrm>
              <a:prstGeom prst="rect">
                <a:avLst/>
              </a:prstGeom>
              <a:noFill/>
            </p:spPr>
            <p:txBody>
              <a:bodyPr wrap="none" rtlCol="0">
                <a:spAutoFit/>
              </a:bodyPr>
              <a:lstStyle/>
              <a:p>
                <a:r>
                  <a:rPr lang="en-US" strike="sngStrike" dirty="0">
                    <a:solidFill>
                      <a:srgbClr val="FF0000"/>
                    </a:solidFill>
                  </a:rPr>
                  <a:t>= Probability of </a:t>
                </a:r>
                <a:r>
                  <a:rPr lang="en-US" i="1" strike="sngStrike" dirty="0">
                    <a:solidFill>
                      <a:srgbClr val="FF0000"/>
                    </a:solidFill>
                  </a:rPr>
                  <a:t>-1 error </a:t>
                </a:r>
                <a:r>
                  <a:rPr lang="en-US" strike="sngStrike" dirty="0">
                    <a:solidFill>
                      <a:srgbClr val="FF0000"/>
                    </a:solidFill>
                  </a:rPr>
                  <a:t>removing a mod </a:t>
                </a:r>
                <a14:m>
                  <m:oMath xmlns:m="http://schemas.openxmlformats.org/officeDocument/2006/math">
                    <m:sSup>
                      <m:sSupPr>
                        <m:ctrlPr>
                          <a:rPr lang="en-US" b="0" i="1" strike="sngStrike" smtClean="0">
                            <a:solidFill>
                              <a:srgbClr val="FF0000"/>
                            </a:solidFill>
                            <a:latin typeface="Cambria Math" panose="02040503050406030204" pitchFamily="18" charset="0"/>
                          </a:rPr>
                        </m:ctrlPr>
                      </m:sSupPr>
                      <m:e>
                        <m:r>
                          <a:rPr lang="en-US" b="0" i="1" strike="sngStrike" smtClean="0">
                            <a:solidFill>
                              <a:srgbClr val="FF0000"/>
                            </a:solidFill>
                            <a:latin typeface="Cambria Math" panose="02040503050406030204" pitchFamily="18" charset="0"/>
                          </a:rPr>
                          <m:t>2</m:t>
                        </m:r>
                      </m:e>
                      <m:sup>
                        <m:r>
                          <a:rPr lang="en-US" b="0" i="1" strike="sngStrike" smtClean="0">
                            <a:solidFill>
                              <a:srgbClr val="FF0000"/>
                            </a:solidFill>
                            <a:latin typeface="Cambria Math" panose="02040503050406030204" pitchFamily="18" charset="0"/>
                          </a:rPr>
                          <m:t>𝑘</m:t>
                        </m:r>
                      </m:sup>
                    </m:sSup>
                  </m:oMath>
                </a14:m>
                <a:r>
                  <a:rPr lang="en-US" strike="sngStrike" dirty="0">
                    <a:solidFill>
                      <a:srgbClr val="FF0000"/>
                    </a:solidFill>
                  </a:rPr>
                  <a:t> wrap around</a:t>
                </a:r>
              </a:p>
              <a:p>
                <a14:m>
                  <m:oMath xmlns:m="http://schemas.openxmlformats.org/officeDocument/2006/math">
                    <m:r>
                      <a:rPr lang="en-US" b="0" i="1" strike="sngStrike" smtClean="0">
                        <a:solidFill>
                          <a:srgbClr val="FF0000"/>
                        </a:solidFill>
                        <a:latin typeface="Cambria Math" panose="02040503050406030204" pitchFamily="18" charset="0"/>
                      </a:rPr>
                      <m:t>≤</m:t>
                    </m:r>
                    <m:sSup>
                      <m:sSupPr>
                        <m:ctrlPr>
                          <a:rPr lang="en-US" b="0" i="1" strike="sngStrike" smtClean="0">
                            <a:solidFill>
                              <a:srgbClr val="FF0000"/>
                            </a:solidFill>
                            <a:latin typeface="Cambria Math" panose="02040503050406030204" pitchFamily="18" charset="0"/>
                          </a:rPr>
                        </m:ctrlPr>
                      </m:sSupPr>
                      <m:e>
                        <m:r>
                          <a:rPr lang="en-US" b="0" i="1" strike="sngStrike" smtClean="0">
                            <a:solidFill>
                              <a:srgbClr val="FF0000"/>
                            </a:solidFill>
                            <a:latin typeface="Cambria Math" panose="02040503050406030204" pitchFamily="18" charset="0"/>
                          </a:rPr>
                          <m:t>2</m:t>
                        </m:r>
                      </m:e>
                      <m:sup>
                        <m:r>
                          <a:rPr lang="en-US" b="0" i="1" strike="sngStrike" smtClean="0">
                            <a:solidFill>
                              <a:srgbClr val="FF0000"/>
                            </a:solidFill>
                            <a:latin typeface="Cambria Math" panose="02040503050406030204" pitchFamily="18" charset="0"/>
                          </a:rPr>
                          <m:t>−</m:t>
                        </m:r>
                        <m:d>
                          <m:dPr>
                            <m:ctrlPr>
                              <a:rPr lang="en-US" b="0" i="1" strike="sngStrike" smtClean="0">
                                <a:solidFill>
                                  <a:srgbClr val="FF0000"/>
                                </a:solidFill>
                                <a:latin typeface="Cambria Math" panose="02040503050406030204" pitchFamily="18" charset="0"/>
                              </a:rPr>
                            </m:ctrlPr>
                          </m:dPr>
                          <m:e>
                            <m:r>
                              <m:rPr>
                                <m:nor/>
                              </m:rPr>
                              <a:rPr lang="en-US" strike="sngStrike" dirty="0">
                                <a:solidFill>
                                  <a:srgbClr val="FF0000"/>
                                </a:solidFill>
                              </a:rPr>
                              <m:t>number</m:t>
                            </m:r>
                            <m:r>
                              <m:rPr>
                                <m:nor/>
                              </m:rPr>
                              <a:rPr lang="en-US" strike="sngStrike" dirty="0">
                                <a:solidFill>
                                  <a:srgbClr val="FF0000"/>
                                </a:solidFill>
                              </a:rPr>
                              <m:t> </m:t>
                            </m:r>
                            <m:r>
                              <m:rPr>
                                <m:nor/>
                              </m:rPr>
                              <a:rPr lang="en-US" strike="sngStrike" dirty="0">
                                <a:solidFill>
                                  <a:srgbClr val="FF0000"/>
                                </a:solidFill>
                              </a:rPr>
                              <m:t>of</m:t>
                            </m:r>
                            <m:r>
                              <m:rPr>
                                <m:nor/>
                              </m:rPr>
                              <a:rPr lang="en-US" strike="sngStrike" dirty="0">
                                <a:solidFill>
                                  <a:srgbClr val="FF0000"/>
                                </a:solidFill>
                              </a:rPr>
                              <m:t> </m:t>
                            </m:r>
                            <m:r>
                              <m:rPr>
                                <m:nor/>
                              </m:rPr>
                              <a:rPr lang="en-US" strike="sngStrike" dirty="0">
                                <a:solidFill>
                                  <a:srgbClr val="FF0000"/>
                                </a:solidFill>
                              </a:rPr>
                              <m:t>leading</m:t>
                            </m:r>
                            <m:r>
                              <m:rPr>
                                <m:nor/>
                              </m:rPr>
                              <a:rPr lang="en-US" strike="sngStrike" dirty="0">
                                <a:solidFill>
                                  <a:srgbClr val="FF0000"/>
                                </a:solidFill>
                              </a:rPr>
                              <m:t> </m:t>
                            </m:r>
                            <m:r>
                              <m:rPr>
                                <m:nor/>
                              </m:rPr>
                              <a:rPr lang="en-US" strike="sngStrike" dirty="0">
                                <a:solidFill>
                                  <a:srgbClr val="FF0000"/>
                                </a:solidFill>
                              </a:rPr>
                              <m:t>zeros</m:t>
                            </m:r>
                          </m:e>
                        </m:d>
                      </m:sup>
                    </m:sSup>
                    <m:r>
                      <a:rPr lang="en-US" b="0" i="1" strike="sngStrike" smtClean="0">
                        <a:solidFill>
                          <a:srgbClr val="FF0000"/>
                        </a:solidFill>
                        <a:latin typeface="Cambria Math" panose="02040503050406030204" pitchFamily="18" charset="0"/>
                      </a:rPr>
                      <m:t>=</m:t>
                    </m:r>
                    <m:sSup>
                      <m:sSupPr>
                        <m:ctrlPr>
                          <a:rPr lang="en-US" b="0" i="1" strike="sngStrike" smtClean="0">
                            <a:solidFill>
                              <a:srgbClr val="FF0000"/>
                            </a:solidFill>
                            <a:latin typeface="Cambria Math" panose="02040503050406030204" pitchFamily="18" charset="0"/>
                          </a:rPr>
                        </m:ctrlPr>
                      </m:sSupPr>
                      <m:e>
                        <m:r>
                          <a:rPr lang="en-US" b="0" i="1" strike="sngStrike" smtClean="0">
                            <a:solidFill>
                              <a:srgbClr val="FF0000"/>
                            </a:solidFill>
                            <a:latin typeface="Cambria Math" panose="02040503050406030204" pitchFamily="18" charset="0"/>
                          </a:rPr>
                          <m:t>2</m:t>
                        </m:r>
                      </m:e>
                      <m:sup>
                        <m:r>
                          <a:rPr lang="en-US" b="0" i="1" strike="sngStrike" smtClean="0">
                            <a:solidFill>
                              <a:srgbClr val="FF0000"/>
                            </a:solidFill>
                            <a:latin typeface="Cambria Math" panose="02040503050406030204" pitchFamily="18" charset="0"/>
                          </a:rPr>
                          <m:t>−</m:t>
                        </m:r>
                        <m:r>
                          <a:rPr lang="en-US" b="0" i="1" strike="sngStrike" smtClean="0">
                            <a:solidFill>
                              <a:srgbClr val="FF0000"/>
                            </a:solidFill>
                            <a:latin typeface="Cambria Math" panose="02040503050406030204" pitchFamily="18" charset="0"/>
                          </a:rPr>
                          <m:t>𝜆</m:t>
                        </m:r>
                      </m:sup>
                    </m:sSup>
                    <m:r>
                      <a:rPr lang="en-US" b="0" i="1" strike="sngStrike" smtClean="0">
                        <a:solidFill>
                          <a:srgbClr val="FF0000"/>
                        </a:solidFill>
                        <a:latin typeface="Cambria Math" panose="02040503050406030204" pitchFamily="18" charset="0"/>
                      </a:rPr>
                      <m:t> </m:t>
                    </m:r>
                  </m:oMath>
                </a14:m>
                <a:r>
                  <a:rPr lang="en-US" strike="sngStrike" dirty="0">
                    <a:solidFill>
                      <a:srgbClr val="FF0000"/>
                    </a:solidFill>
                  </a:rPr>
                  <a:t> </a:t>
                </a:r>
              </a:p>
            </p:txBody>
          </p:sp>
        </mc:Choice>
        <mc:Fallback xmlns="">
          <p:sp>
            <p:nvSpPr>
              <p:cNvPr id="112" name="TextBox 111">
                <a:extLst>
                  <a:ext uri="{FF2B5EF4-FFF2-40B4-BE49-F238E27FC236}">
                    <a16:creationId xmlns:a16="http://schemas.microsoft.com/office/drawing/2014/main" id="{8D00C2E9-C8EF-419E-A924-7CF63990FD40}"/>
                  </a:ext>
                </a:extLst>
              </p:cNvPr>
              <p:cNvSpPr txBox="1">
                <a:spLocks noRot="1" noChangeAspect="1" noMove="1" noResize="1" noEditPoints="1" noAdjustHandles="1" noChangeArrowheads="1" noChangeShapeType="1" noTextEdit="1"/>
              </p:cNvSpPr>
              <p:nvPr/>
            </p:nvSpPr>
            <p:spPr>
              <a:xfrm>
                <a:off x="822804" y="5989449"/>
                <a:ext cx="5510804" cy="701667"/>
              </a:xfrm>
              <a:prstGeom prst="rect">
                <a:avLst/>
              </a:prstGeom>
              <a:blipFill>
                <a:blip r:embed="rId8"/>
                <a:stretch>
                  <a:fillRect l="-996" t="-4348"/>
                </a:stretch>
              </a:blipFill>
            </p:spPr>
            <p:txBody>
              <a:bodyPr/>
              <a:lstStyle/>
              <a:p>
                <a:r>
                  <a:rPr lang="en-US">
                    <a:noFill/>
                  </a:rPr>
                  <a:t> </a:t>
                </a:r>
              </a:p>
            </p:txBody>
          </p:sp>
        </mc:Fallback>
      </mc:AlternateContent>
      <p:sp>
        <p:nvSpPr>
          <p:cNvPr id="113" name="TextBox 112">
            <a:extLst>
              <a:ext uri="{FF2B5EF4-FFF2-40B4-BE49-F238E27FC236}">
                <a16:creationId xmlns:a16="http://schemas.microsoft.com/office/drawing/2014/main" id="{A84EC042-3573-475A-8D21-977A608D5EAF}"/>
              </a:ext>
            </a:extLst>
          </p:cNvPr>
          <p:cNvSpPr txBox="1"/>
          <p:nvPr/>
        </p:nvSpPr>
        <p:spPr>
          <a:xfrm>
            <a:off x="397042" y="1479884"/>
            <a:ext cx="840166" cy="369332"/>
          </a:xfrm>
          <a:prstGeom prst="rect">
            <a:avLst/>
          </a:prstGeom>
          <a:noFill/>
        </p:spPr>
        <p:txBody>
          <a:bodyPr wrap="none" rtlCol="0">
            <a:spAutoFit/>
          </a:bodyPr>
          <a:lstStyle/>
          <a:p>
            <a:r>
              <a:rPr lang="en-US" u="sng" dirty="0"/>
              <a:t>Party 1</a:t>
            </a:r>
          </a:p>
        </p:txBody>
      </p:sp>
      <p:sp>
        <p:nvSpPr>
          <p:cNvPr id="117" name="Rectangle 116">
            <a:extLst>
              <a:ext uri="{FF2B5EF4-FFF2-40B4-BE49-F238E27FC236}">
                <a16:creationId xmlns:a16="http://schemas.microsoft.com/office/drawing/2014/main" id="{B7659381-9FDC-4A0D-84CF-4D39E7188799}"/>
              </a:ext>
            </a:extLst>
          </p:cNvPr>
          <p:cNvSpPr/>
          <p:nvPr/>
        </p:nvSpPr>
        <p:spPr>
          <a:xfrm>
            <a:off x="4465707" y="4702529"/>
            <a:ext cx="583374"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8" name="Rectangle 117">
            <a:extLst>
              <a:ext uri="{FF2B5EF4-FFF2-40B4-BE49-F238E27FC236}">
                <a16:creationId xmlns:a16="http://schemas.microsoft.com/office/drawing/2014/main" id="{279EA015-F865-4FA0-A8B7-B8896E7A28BC}"/>
              </a:ext>
            </a:extLst>
          </p:cNvPr>
          <p:cNvSpPr/>
          <p:nvPr/>
        </p:nvSpPr>
        <p:spPr>
          <a:xfrm>
            <a:off x="4502071" y="4734352"/>
            <a:ext cx="511873" cy="196164"/>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CDD7D09A-58D8-4717-B820-ACF2FAAEA061}"/>
                  </a:ext>
                </a:extLst>
              </p:cNvPr>
              <p:cNvSpPr txBox="1"/>
              <p:nvPr/>
            </p:nvSpPr>
            <p:spPr>
              <a:xfrm>
                <a:off x="1675056" y="2052733"/>
                <a:ext cx="595163" cy="369332"/>
              </a:xfrm>
              <a:prstGeom prst="rect">
                <a:avLst/>
              </a:prstGeom>
              <a:noFill/>
            </p:spPr>
            <p:txBody>
              <a:bodyPr wrap="none" rtlCol="0">
                <a:spAutoFit/>
              </a:bodyPr>
              <a:lstStyle/>
              <a:p>
                <a14:m>
                  <m:oMath xmlns:m="http://schemas.openxmlformats.org/officeDocument/2006/math">
                    <m:sSub>
                      <m:sSubPr>
                        <m:ctrlPr>
                          <a:rPr lang="en-US" sz="1400" b="0" i="1" smtClean="0">
                            <a:latin typeface="Cambria Math" panose="02040503050406030204" pitchFamily="18" charset="0"/>
                          </a:rPr>
                        </m:ctrlPr>
                      </m:sSubPr>
                      <m:e>
                        <m:r>
                          <a:rPr lang="en-US" sz="140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a14:m>
                <a:r>
                  <a:rPr lang="en-US" dirty="0"/>
                  <a:t> </a:t>
                </a:r>
              </a:p>
            </p:txBody>
          </p:sp>
        </mc:Choice>
        <mc:Fallback xmlns="">
          <p:sp>
            <p:nvSpPr>
              <p:cNvPr id="122" name="TextBox 121">
                <a:extLst>
                  <a:ext uri="{FF2B5EF4-FFF2-40B4-BE49-F238E27FC236}">
                    <a16:creationId xmlns:a16="http://schemas.microsoft.com/office/drawing/2014/main" id="{CDD7D09A-58D8-4717-B820-ACF2FAAEA061}"/>
                  </a:ext>
                </a:extLst>
              </p:cNvPr>
              <p:cNvSpPr txBox="1">
                <a:spLocks noRot="1" noChangeAspect="1" noMove="1" noResize="1" noEditPoints="1" noAdjustHandles="1" noChangeArrowheads="1" noChangeShapeType="1" noTextEdit="1"/>
              </p:cNvSpPr>
              <p:nvPr/>
            </p:nvSpPr>
            <p:spPr>
              <a:xfrm>
                <a:off x="1675056" y="2052733"/>
                <a:ext cx="595163"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BC1EF97-8125-4284-887F-753880DFFD0D}"/>
                  </a:ext>
                </a:extLst>
              </p:cNvPr>
              <p:cNvSpPr txBox="1"/>
              <p:nvPr/>
            </p:nvSpPr>
            <p:spPr>
              <a:xfrm>
                <a:off x="1671259" y="2372720"/>
                <a:ext cx="596253" cy="369332"/>
              </a:xfrm>
              <a:prstGeom prst="rect">
                <a:avLst/>
              </a:prstGeom>
              <a:noFill/>
            </p:spPr>
            <p:txBody>
              <a:bodyPr wrap="none" rtlCol="0">
                <a:spAutoFit/>
              </a:bodyPr>
              <a:lstStyle/>
              <a:p>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𝑦</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a14:m>
                <a:r>
                  <a:rPr lang="en-US" dirty="0"/>
                  <a:t> </a:t>
                </a:r>
              </a:p>
            </p:txBody>
          </p:sp>
        </mc:Choice>
        <mc:Fallback xmlns="">
          <p:sp>
            <p:nvSpPr>
              <p:cNvPr id="123" name="TextBox 122">
                <a:extLst>
                  <a:ext uri="{FF2B5EF4-FFF2-40B4-BE49-F238E27FC236}">
                    <a16:creationId xmlns:a16="http://schemas.microsoft.com/office/drawing/2014/main" id="{8BC1EF97-8125-4284-887F-753880DFFD0D}"/>
                  </a:ext>
                </a:extLst>
              </p:cNvPr>
              <p:cNvSpPr txBox="1">
                <a:spLocks noRot="1" noChangeAspect="1" noMove="1" noResize="1" noEditPoints="1" noAdjustHandles="1" noChangeArrowheads="1" noChangeShapeType="1" noTextEdit="1"/>
              </p:cNvSpPr>
              <p:nvPr/>
            </p:nvSpPr>
            <p:spPr>
              <a:xfrm>
                <a:off x="1671259" y="2372720"/>
                <a:ext cx="596253" cy="369332"/>
              </a:xfrm>
              <a:prstGeom prst="rect">
                <a:avLst/>
              </a:prstGeom>
              <a:blipFill>
                <a:blip r:embed="rId10"/>
                <a:stretch>
                  <a:fillRect/>
                </a:stretch>
              </a:blipFill>
            </p:spPr>
            <p:txBody>
              <a:bodyPr/>
              <a:lstStyle/>
              <a:p>
                <a:r>
                  <a:rPr lang="en-US">
                    <a:noFill/>
                  </a:rPr>
                  <a:t> </a:t>
                </a:r>
              </a:p>
            </p:txBody>
          </p:sp>
        </mc:Fallback>
      </mc:AlternateContent>
      <p:sp>
        <p:nvSpPr>
          <p:cNvPr id="32" name="Rectangle 31">
            <a:extLst>
              <a:ext uri="{FF2B5EF4-FFF2-40B4-BE49-F238E27FC236}">
                <a16:creationId xmlns:a16="http://schemas.microsoft.com/office/drawing/2014/main" id="{12194ADF-A806-4966-89A9-2462D8D9A28A}"/>
              </a:ext>
            </a:extLst>
          </p:cNvPr>
          <p:cNvSpPr/>
          <p:nvPr/>
        </p:nvSpPr>
        <p:spPr>
          <a:xfrm>
            <a:off x="7503968" y="2483052"/>
            <a:ext cx="1052521"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33" name="Rectangle 32">
            <a:extLst>
              <a:ext uri="{FF2B5EF4-FFF2-40B4-BE49-F238E27FC236}">
                <a16:creationId xmlns:a16="http://schemas.microsoft.com/office/drawing/2014/main" id="{28EEE502-772D-41F5-A41E-552130F63C69}"/>
              </a:ext>
            </a:extLst>
          </p:cNvPr>
          <p:cNvSpPr/>
          <p:nvPr/>
        </p:nvSpPr>
        <p:spPr>
          <a:xfrm>
            <a:off x="6759699" y="2939491"/>
            <a:ext cx="2105042"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30" name="Rectangle 29">
            <a:extLst>
              <a:ext uri="{FF2B5EF4-FFF2-40B4-BE49-F238E27FC236}">
                <a16:creationId xmlns:a16="http://schemas.microsoft.com/office/drawing/2014/main" id="{DAD66232-84AD-47CE-B930-A167622B6E79}"/>
              </a:ext>
            </a:extLst>
          </p:cNvPr>
          <p:cNvSpPr/>
          <p:nvPr/>
        </p:nvSpPr>
        <p:spPr>
          <a:xfrm>
            <a:off x="7503968" y="2142465"/>
            <a:ext cx="1052521"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mc:AlternateContent xmlns:mc="http://schemas.openxmlformats.org/markup-compatibility/2006" xmlns:a14="http://schemas.microsoft.com/office/drawing/2010/main">
        <mc:Choice Requires="a14">
          <p:sp>
            <p:nvSpPr>
              <p:cNvPr id="4" name="TextBox 3"/>
              <p:cNvSpPr txBox="1"/>
              <p:nvPr/>
            </p:nvSpPr>
            <p:spPr>
              <a:xfrm>
                <a:off x="8503992" y="2456826"/>
                <a:ext cx="481642"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b="0" i="1" dirty="0" smtClean="0">
                          <a:latin typeface="Cambria Math" panose="02040503050406030204" pitchFamily="18" charset="0"/>
                        </a:rPr>
                        <m:t>∈</m:t>
                      </m:r>
                      <m:sSub>
                        <m:sSubPr>
                          <m:ctrlPr>
                            <a:rPr lang="en-US" sz="1100" b="0" i="1" dirty="0" smtClean="0">
                              <a:latin typeface="Cambria Math" panose="02040503050406030204" pitchFamily="18" charset="0"/>
                              <a:ea typeface="Cambria Math" panose="02040503050406030204" pitchFamily="18" charset="0"/>
                            </a:rPr>
                          </m:ctrlPr>
                        </m:sSubPr>
                        <m:e>
                          <m:r>
                            <a:rPr lang="en-US" sz="1100" b="0" i="1" dirty="0" smtClean="0">
                              <a:latin typeface="Cambria Math" panose="02040503050406030204" pitchFamily="18" charset="0"/>
                              <a:ea typeface="Cambria Math" panose="02040503050406030204" pitchFamily="18" charset="0"/>
                            </a:rPr>
                            <m:t>ℤ</m:t>
                          </m:r>
                        </m:e>
                        <m:sub>
                          <m:sSup>
                            <m:sSupPr>
                              <m:ctrlPr>
                                <a:rPr lang="en-US" sz="1100" b="0" i="1" dirty="0" smtClean="0">
                                  <a:latin typeface="Cambria Math" panose="02040503050406030204" pitchFamily="18" charset="0"/>
                                  <a:ea typeface="Cambria Math" panose="02040503050406030204" pitchFamily="18" charset="0"/>
                                </a:rPr>
                              </m:ctrlPr>
                            </m:sSupPr>
                            <m:e>
                              <m:r>
                                <a:rPr lang="en-US" sz="1100" b="0" i="1" dirty="0" smtClean="0">
                                  <a:latin typeface="Cambria Math" panose="02040503050406030204" pitchFamily="18" charset="0"/>
                                  <a:ea typeface="Cambria Math" panose="02040503050406030204" pitchFamily="18" charset="0"/>
                                </a:rPr>
                                <m:t>2</m:t>
                              </m:r>
                            </m:e>
                            <m:sup>
                              <m:r>
                                <a:rPr lang="en-US" sz="1100" b="0" i="1" dirty="0" smtClean="0">
                                  <a:latin typeface="Cambria Math" panose="02040503050406030204" pitchFamily="18" charset="0"/>
                                  <a:ea typeface="Cambria Math" panose="02040503050406030204" pitchFamily="18" charset="0"/>
                                </a:rPr>
                                <m:t>𝑚</m:t>
                              </m:r>
                            </m:sup>
                          </m:sSup>
                        </m:sub>
                      </m:sSub>
                    </m:oMath>
                  </m:oMathPara>
                </a14:m>
                <a:endParaRPr lang="en-US" sz="1100" i="1" dirty="0"/>
              </a:p>
            </p:txBody>
          </p:sp>
        </mc:Choice>
        <mc:Fallback xmlns="">
          <p:sp>
            <p:nvSpPr>
              <p:cNvPr id="4" name="TextBox 3"/>
              <p:cNvSpPr txBox="1">
                <a:spLocks noRot="1" noChangeAspect="1" noMove="1" noResize="1" noEditPoints="1" noAdjustHandles="1" noChangeArrowheads="1" noChangeShapeType="1" noTextEdit="1"/>
              </p:cNvSpPr>
              <p:nvPr/>
            </p:nvSpPr>
            <p:spPr>
              <a:xfrm>
                <a:off x="8503992" y="2456826"/>
                <a:ext cx="481642" cy="261610"/>
              </a:xfrm>
              <a:prstGeom prst="rect">
                <a:avLst/>
              </a:prstGeom>
              <a:blipFill>
                <a:blip r:embed="rId11"/>
                <a:stretch>
                  <a:fillRect/>
                </a:stretch>
              </a:blipFill>
            </p:spPr>
            <p:txBody>
              <a:bodyPr/>
              <a:lstStyle/>
              <a:p>
                <a:r>
                  <a:rPr lang="en-US">
                    <a:noFill/>
                  </a:rPr>
                  <a:t> </a:t>
                </a:r>
              </a:p>
            </p:txBody>
          </p:sp>
        </mc:Fallback>
      </mc:AlternateContent>
      <p:sp>
        <p:nvSpPr>
          <p:cNvPr id="5" name="Rectangle 4"/>
          <p:cNvSpPr/>
          <p:nvPr/>
        </p:nvSpPr>
        <p:spPr>
          <a:xfrm>
            <a:off x="7833605" y="2512013"/>
            <a:ext cx="301451" cy="196164"/>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6" name="Rectangle 5"/>
          <p:cNvSpPr/>
          <p:nvPr/>
        </p:nvSpPr>
        <p:spPr>
          <a:xfrm>
            <a:off x="8245545" y="2512012"/>
            <a:ext cx="299959" cy="196164"/>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7" name="TextBox 6"/>
          <p:cNvSpPr txBox="1"/>
          <p:nvPr/>
        </p:nvSpPr>
        <p:spPr>
          <a:xfrm>
            <a:off x="8150595" y="2450702"/>
            <a:ext cx="104741" cy="261610"/>
          </a:xfrm>
          <a:prstGeom prst="rect">
            <a:avLst/>
          </a:prstGeom>
          <a:noFill/>
        </p:spPr>
        <p:txBody>
          <a:bodyPr wrap="square" rtlCol="0">
            <a:spAutoFit/>
          </a:bodyPr>
          <a:lstStyle/>
          <a:p>
            <a:r>
              <a:rPr lang="en-US" sz="1100" b="1" dirty="0"/>
              <a:t>.</a:t>
            </a:r>
          </a:p>
        </p:txBody>
      </p:sp>
      <mc:AlternateContent xmlns:mc="http://schemas.openxmlformats.org/markup-compatibility/2006" xmlns:a14="http://schemas.microsoft.com/office/drawing/2010/main">
        <mc:Choice Requires="a14">
          <p:sp>
            <p:nvSpPr>
              <p:cNvPr id="10" name="TextBox 9"/>
              <p:cNvSpPr txBox="1"/>
              <p:nvPr/>
            </p:nvSpPr>
            <p:spPr>
              <a:xfrm>
                <a:off x="8529351" y="2080566"/>
                <a:ext cx="36180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a:latin typeface="Cambria Math" panose="02040503050406030204" pitchFamily="18" charset="0"/>
                        </a:rPr>
                        <m:t>∈</m:t>
                      </m:r>
                      <m:sSub>
                        <m:sSubPr>
                          <m:ctrlPr>
                            <a:rPr lang="en-US" sz="1100" i="1" dirty="0">
                              <a:latin typeface="Cambria Math" panose="02040503050406030204" pitchFamily="18" charset="0"/>
                              <a:ea typeface="Cambria Math" panose="02040503050406030204" pitchFamily="18" charset="0"/>
                            </a:rPr>
                          </m:ctrlPr>
                        </m:sSubPr>
                        <m:e>
                          <m:r>
                            <a:rPr lang="en-US" sz="1100" i="1" dirty="0">
                              <a:latin typeface="Cambria Math" panose="02040503050406030204" pitchFamily="18" charset="0"/>
                              <a:ea typeface="Cambria Math" panose="02040503050406030204" pitchFamily="18" charset="0"/>
                            </a:rPr>
                            <m:t>ℤ</m:t>
                          </m:r>
                        </m:e>
                        <m:sub>
                          <m:sSup>
                            <m:sSupPr>
                              <m:ctrlPr>
                                <a:rPr lang="en-US" sz="1100" i="1" dirty="0">
                                  <a:latin typeface="Cambria Math" panose="02040503050406030204" pitchFamily="18" charset="0"/>
                                  <a:ea typeface="Cambria Math" panose="02040503050406030204" pitchFamily="18" charset="0"/>
                                </a:rPr>
                              </m:ctrlPr>
                            </m:sSupPr>
                            <m:e>
                              <m:r>
                                <a:rPr lang="en-US" sz="1100" i="1" dirty="0">
                                  <a:latin typeface="Cambria Math" panose="02040503050406030204" pitchFamily="18" charset="0"/>
                                  <a:ea typeface="Cambria Math" panose="02040503050406030204" pitchFamily="18" charset="0"/>
                                </a:rPr>
                                <m:t>2</m:t>
                              </m:r>
                            </m:e>
                            <m:sup>
                              <m:r>
                                <a:rPr lang="en-US" sz="1100" i="1" dirty="0">
                                  <a:latin typeface="Cambria Math" panose="02040503050406030204" pitchFamily="18" charset="0"/>
                                  <a:ea typeface="Cambria Math" panose="02040503050406030204" pitchFamily="18" charset="0"/>
                                </a:rPr>
                                <m:t>𝑚</m:t>
                              </m:r>
                            </m:sup>
                          </m:sSup>
                        </m:sub>
                      </m:sSub>
                    </m:oMath>
                  </m:oMathPara>
                </a14:m>
                <a:endParaRPr lang="en-US" sz="1100" i="1" dirty="0"/>
              </a:p>
            </p:txBody>
          </p:sp>
        </mc:Choice>
        <mc:Fallback xmlns="">
          <p:sp>
            <p:nvSpPr>
              <p:cNvPr id="10" name="TextBox 9"/>
              <p:cNvSpPr txBox="1">
                <a:spLocks noRot="1" noChangeAspect="1" noMove="1" noResize="1" noEditPoints="1" noAdjustHandles="1" noChangeArrowheads="1" noChangeShapeType="1" noTextEdit="1"/>
              </p:cNvSpPr>
              <p:nvPr/>
            </p:nvSpPr>
            <p:spPr>
              <a:xfrm>
                <a:off x="8529351" y="2080566"/>
                <a:ext cx="361804" cy="261610"/>
              </a:xfrm>
              <a:prstGeom prst="rect">
                <a:avLst/>
              </a:prstGeom>
              <a:blipFill>
                <a:blip r:embed="rId12"/>
                <a:stretch>
                  <a:fillRect r="-30000"/>
                </a:stretch>
              </a:blipFill>
            </p:spPr>
            <p:txBody>
              <a:bodyPr/>
              <a:lstStyle/>
              <a:p>
                <a:r>
                  <a:rPr lang="en-US">
                    <a:noFill/>
                  </a:rPr>
                  <a:t> </a:t>
                </a:r>
              </a:p>
            </p:txBody>
          </p:sp>
        </mc:Fallback>
      </mc:AlternateContent>
      <p:sp>
        <p:nvSpPr>
          <p:cNvPr id="11" name="Rectangle 10"/>
          <p:cNvSpPr/>
          <p:nvPr/>
        </p:nvSpPr>
        <p:spPr>
          <a:xfrm>
            <a:off x="7833605" y="2170788"/>
            <a:ext cx="301451" cy="196164"/>
          </a:xfrm>
          <a:prstGeom prst="rect">
            <a:avLst/>
          </a:prstGeom>
          <a:solidFill>
            <a:schemeClr val="accent6">
              <a:lumMod val="25000"/>
              <a:lumOff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2" name="Rectangle 11"/>
          <p:cNvSpPr/>
          <p:nvPr/>
        </p:nvSpPr>
        <p:spPr>
          <a:xfrm>
            <a:off x="8245545" y="2170787"/>
            <a:ext cx="299959" cy="196164"/>
          </a:xfrm>
          <a:prstGeom prst="rect">
            <a:avLst/>
          </a:prstGeom>
          <a:solidFill>
            <a:schemeClr val="accent6">
              <a:lumMod val="25000"/>
              <a:lumOff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3" name="TextBox 12"/>
          <p:cNvSpPr txBox="1"/>
          <p:nvPr/>
        </p:nvSpPr>
        <p:spPr>
          <a:xfrm>
            <a:off x="8150595" y="2109477"/>
            <a:ext cx="104741" cy="261610"/>
          </a:xfrm>
          <a:prstGeom prst="rect">
            <a:avLst/>
          </a:prstGeom>
          <a:noFill/>
        </p:spPr>
        <p:txBody>
          <a:bodyPr wrap="square" rtlCol="0">
            <a:spAutoFit/>
          </a:bodyPr>
          <a:lstStyle/>
          <a:p>
            <a:r>
              <a:rPr lang="en-US" sz="1100" b="1" dirty="0"/>
              <a:t>.</a:t>
            </a:r>
          </a:p>
        </p:txBody>
      </p:sp>
      <p:sp>
        <p:nvSpPr>
          <p:cNvPr id="19" name="Rectangle 18"/>
          <p:cNvSpPr/>
          <p:nvPr/>
        </p:nvSpPr>
        <p:spPr>
          <a:xfrm>
            <a:off x="8245545" y="2971313"/>
            <a:ext cx="605106"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20" name="TextBox 19"/>
          <p:cNvSpPr txBox="1"/>
          <p:nvPr/>
        </p:nvSpPr>
        <p:spPr>
          <a:xfrm>
            <a:off x="8150595" y="2910003"/>
            <a:ext cx="104741" cy="261610"/>
          </a:xfrm>
          <a:prstGeom prst="rect">
            <a:avLst/>
          </a:prstGeom>
          <a:noFill/>
        </p:spPr>
        <p:txBody>
          <a:bodyPr wrap="square" rtlCol="0">
            <a:spAutoFit/>
          </a:bodyPr>
          <a:lstStyle/>
          <a:p>
            <a:r>
              <a:rPr lang="en-US" sz="1100" b="1" dirty="0"/>
              <a:t>.</a:t>
            </a:r>
          </a:p>
        </p:txBody>
      </p:sp>
      <p:cxnSp>
        <p:nvCxnSpPr>
          <p:cNvPr id="31" name="Straight Connector 30">
            <a:extLst>
              <a:ext uri="{FF2B5EF4-FFF2-40B4-BE49-F238E27FC236}">
                <a16:creationId xmlns:a16="http://schemas.microsoft.com/office/drawing/2014/main" id="{3E615738-B903-42B9-B49E-9C8686D3D29C}"/>
              </a:ext>
            </a:extLst>
          </p:cNvPr>
          <p:cNvCxnSpPr/>
          <p:nvPr/>
        </p:nvCxnSpPr>
        <p:spPr>
          <a:xfrm>
            <a:off x="7208060" y="2855359"/>
            <a:ext cx="16744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E152B3F-687A-44BE-904F-26A29A39CF03}"/>
              </a:ext>
            </a:extLst>
          </p:cNvPr>
          <p:cNvSpPr/>
          <p:nvPr/>
        </p:nvSpPr>
        <p:spPr>
          <a:xfrm>
            <a:off x="7528262" y="2969086"/>
            <a:ext cx="606792"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70" name="Rectangle 69">
            <a:extLst>
              <a:ext uri="{FF2B5EF4-FFF2-40B4-BE49-F238E27FC236}">
                <a16:creationId xmlns:a16="http://schemas.microsoft.com/office/drawing/2014/main" id="{CD4B15BE-320A-4BFC-812B-7069A6392E95}"/>
              </a:ext>
            </a:extLst>
          </p:cNvPr>
          <p:cNvSpPr/>
          <p:nvPr/>
        </p:nvSpPr>
        <p:spPr>
          <a:xfrm>
            <a:off x="6759699" y="3799321"/>
            <a:ext cx="2105042"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71" name="Rectangle 70">
            <a:extLst>
              <a:ext uri="{FF2B5EF4-FFF2-40B4-BE49-F238E27FC236}">
                <a16:creationId xmlns:a16="http://schemas.microsoft.com/office/drawing/2014/main" id="{EA62400C-341D-4B9B-AAFC-7B348F8F7B32}"/>
              </a:ext>
            </a:extLst>
          </p:cNvPr>
          <p:cNvSpPr/>
          <p:nvPr/>
        </p:nvSpPr>
        <p:spPr>
          <a:xfrm>
            <a:off x="8245545" y="3831143"/>
            <a:ext cx="605106"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72" name="TextBox 71">
            <a:extLst>
              <a:ext uri="{FF2B5EF4-FFF2-40B4-BE49-F238E27FC236}">
                <a16:creationId xmlns:a16="http://schemas.microsoft.com/office/drawing/2014/main" id="{28A368A6-43A2-43BD-8247-34F98A0FFBEF}"/>
              </a:ext>
            </a:extLst>
          </p:cNvPr>
          <p:cNvSpPr txBox="1"/>
          <p:nvPr/>
        </p:nvSpPr>
        <p:spPr>
          <a:xfrm>
            <a:off x="8150595" y="3769833"/>
            <a:ext cx="104741" cy="261610"/>
          </a:xfrm>
          <a:prstGeom prst="rect">
            <a:avLst/>
          </a:prstGeom>
          <a:noFill/>
        </p:spPr>
        <p:txBody>
          <a:bodyPr wrap="square" rtlCol="0">
            <a:spAutoFit/>
          </a:bodyPr>
          <a:lstStyle/>
          <a:p>
            <a:r>
              <a:rPr lang="en-US" sz="1100" b="1" dirty="0"/>
              <a:t>.</a:t>
            </a:r>
          </a:p>
        </p:txBody>
      </p:sp>
      <p:cxnSp>
        <p:nvCxnSpPr>
          <p:cNvPr id="73" name="Straight Connector 72">
            <a:extLst>
              <a:ext uri="{FF2B5EF4-FFF2-40B4-BE49-F238E27FC236}">
                <a16:creationId xmlns:a16="http://schemas.microsoft.com/office/drawing/2014/main" id="{DB4C72CE-6DF7-4773-923E-8F26D47F49B2}"/>
              </a:ext>
            </a:extLst>
          </p:cNvPr>
          <p:cNvCxnSpPr/>
          <p:nvPr/>
        </p:nvCxnSpPr>
        <p:spPr>
          <a:xfrm>
            <a:off x="7208060" y="3715189"/>
            <a:ext cx="16744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C8AE6D3D-A6D6-49A1-B048-97B8C6908D0A}"/>
              </a:ext>
            </a:extLst>
          </p:cNvPr>
          <p:cNvSpPr/>
          <p:nvPr/>
        </p:nvSpPr>
        <p:spPr>
          <a:xfrm>
            <a:off x="7833523" y="3828916"/>
            <a:ext cx="301531"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85" name="Rectangle 84">
            <a:extLst>
              <a:ext uri="{FF2B5EF4-FFF2-40B4-BE49-F238E27FC236}">
                <a16:creationId xmlns:a16="http://schemas.microsoft.com/office/drawing/2014/main" id="{3CEB78F5-387F-4728-BE7B-8E0078CAE266}"/>
              </a:ext>
            </a:extLst>
          </p:cNvPr>
          <p:cNvSpPr/>
          <p:nvPr/>
        </p:nvSpPr>
        <p:spPr>
          <a:xfrm>
            <a:off x="7503968" y="4702755"/>
            <a:ext cx="1056402"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86" name="Rectangle 85">
            <a:extLst>
              <a:ext uri="{FF2B5EF4-FFF2-40B4-BE49-F238E27FC236}">
                <a16:creationId xmlns:a16="http://schemas.microsoft.com/office/drawing/2014/main" id="{12E2ECCC-E9F0-4C9A-8ED2-B391B5E5425F}"/>
              </a:ext>
            </a:extLst>
          </p:cNvPr>
          <p:cNvSpPr/>
          <p:nvPr/>
        </p:nvSpPr>
        <p:spPr>
          <a:xfrm>
            <a:off x="8245995" y="4734577"/>
            <a:ext cx="299509"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87" name="TextBox 86">
            <a:extLst>
              <a:ext uri="{FF2B5EF4-FFF2-40B4-BE49-F238E27FC236}">
                <a16:creationId xmlns:a16="http://schemas.microsoft.com/office/drawing/2014/main" id="{080045AD-5464-467A-924B-B762F6117803}"/>
              </a:ext>
            </a:extLst>
          </p:cNvPr>
          <p:cNvSpPr txBox="1"/>
          <p:nvPr/>
        </p:nvSpPr>
        <p:spPr>
          <a:xfrm>
            <a:off x="8151045" y="4673267"/>
            <a:ext cx="104741" cy="261610"/>
          </a:xfrm>
          <a:prstGeom prst="rect">
            <a:avLst/>
          </a:prstGeom>
          <a:noFill/>
        </p:spPr>
        <p:txBody>
          <a:bodyPr wrap="square" rtlCol="0">
            <a:spAutoFit/>
          </a:bodyPr>
          <a:lstStyle/>
          <a:p>
            <a:r>
              <a:rPr lang="en-US" sz="1100" b="1" dirty="0"/>
              <a:t>.</a:t>
            </a:r>
          </a:p>
        </p:txBody>
      </p:sp>
      <p:cxnSp>
        <p:nvCxnSpPr>
          <p:cNvPr id="88" name="Straight Connector 87">
            <a:extLst>
              <a:ext uri="{FF2B5EF4-FFF2-40B4-BE49-F238E27FC236}">
                <a16:creationId xmlns:a16="http://schemas.microsoft.com/office/drawing/2014/main" id="{CAA7A78B-45F7-43D0-A40B-1CEBC915F212}"/>
              </a:ext>
            </a:extLst>
          </p:cNvPr>
          <p:cNvCxnSpPr/>
          <p:nvPr/>
        </p:nvCxnSpPr>
        <p:spPr>
          <a:xfrm>
            <a:off x="7208510" y="4618623"/>
            <a:ext cx="16744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7761414-9D1F-4540-AC75-98E58EE67874}"/>
              </a:ext>
            </a:extLst>
          </p:cNvPr>
          <p:cNvSpPr/>
          <p:nvPr/>
        </p:nvSpPr>
        <p:spPr>
          <a:xfrm>
            <a:off x="7830570" y="4732350"/>
            <a:ext cx="304934"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02" name="Rectangle 101">
            <a:extLst>
              <a:ext uri="{FF2B5EF4-FFF2-40B4-BE49-F238E27FC236}">
                <a16:creationId xmlns:a16="http://schemas.microsoft.com/office/drawing/2014/main" id="{5F0282A5-E002-4F6D-9B19-A7B6C0941A26}"/>
              </a:ext>
            </a:extLst>
          </p:cNvPr>
          <p:cNvSpPr/>
          <p:nvPr/>
        </p:nvSpPr>
        <p:spPr>
          <a:xfrm>
            <a:off x="7503968" y="5678696"/>
            <a:ext cx="1056402"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03" name="Rectangle 102">
            <a:extLst>
              <a:ext uri="{FF2B5EF4-FFF2-40B4-BE49-F238E27FC236}">
                <a16:creationId xmlns:a16="http://schemas.microsoft.com/office/drawing/2014/main" id="{1C2D1C70-EDBA-4BA9-BDE7-A58617563774}"/>
              </a:ext>
            </a:extLst>
          </p:cNvPr>
          <p:cNvSpPr/>
          <p:nvPr/>
        </p:nvSpPr>
        <p:spPr>
          <a:xfrm>
            <a:off x="8245995" y="5710518"/>
            <a:ext cx="299509"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04" name="TextBox 103">
            <a:extLst>
              <a:ext uri="{FF2B5EF4-FFF2-40B4-BE49-F238E27FC236}">
                <a16:creationId xmlns:a16="http://schemas.microsoft.com/office/drawing/2014/main" id="{408C41E1-E5FA-43BE-96C9-987E755694F0}"/>
              </a:ext>
            </a:extLst>
          </p:cNvPr>
          <p:cNvSpPr txBox="1"/>
          <p:nvPr/>
        </p:nvSpPr>
        <p:spPr>
          <a:xfrm>
            <a:off x="8151045" y="5649208"/>
            <a:ext cx="104741" cy="261610"/>
          </a:xfrm>
          <a:prstGeom prst="rect">
            <a:avLst/>
          </a:prstGeom>
          <a:noFill/>
        </p:spPr>
        <p:txBody>
          <a:bodyPr wrap="square" rtlCol="0">
            <a:spAutoFit/>
          </a:bodyPr>
          <a:lstStyle/>
          <a:p>
            <a:r>
              <a:rPr lang="en-US" sz="1100" b="1" dirty="0"/>
              <a:t>.</a:t>
            </a:r>
          </a:p>
        </p:txBody>
      </p:sp>
      <p:cxnSp>
        <p:nvCxnSpPr>
          <p:cNvPr id="105" name="Straight Connector 104">
            <a:extLst>
              <a:ext uri="{FF2B5EF4-FFF2-40B4-BE49-F238E27FC236}">
                <a16:creationId xmlns:a16="http://schemas.microsoft.com/office/drawing/2014/main" id="{52DE420E-4F89-4163-95B7-4998EBDA8AC9}"/>
              </a:ext>
            </a:extLst>
          </p:cNvPr>
          <p:cNvCxnSpPr/>
          <p:nvPr/>
        </p:nvCxnSpPr>
        <p:spPr>
          <a:xfrm>
            <a:off x="7208510" y="5594564"/>
            <a:ext cx="16744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459027C8-4786-4E02-A4D8-1696B79C62CE}"/>
              </a:ext>
            </a:extLst>
          </p:cNvPr>
          <p:cNvSpPr/>
          <p:nvPr/>
        </p:nvSpPr>
        <p:spPr>
          <a:xfrm>
            <a:off x="7830570" y="5708291"/>
            <a:ext cx="304934"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14" name="TextBox 113">
            <a:extLst>
              <a:ext uri="{FF2B5EF4-FFF2-40B4-BE49-F238E27FC236}">
                <a16:creationId xmlns:a16="http://schemas.microsoft.com/office/drawing/2014/main" id="{863A0EEF-FA8B-4FAE-BCBC-2E8A88985918}"/>
              </a:ext>
            </a:extLst>
          </p:cNvPr>
          <p:cNvSpPr txBox="1"/>
          <p:nvPr/>
        </p:nvSpPr>
        <p:spPr>
          <a:xfrm>
            <a:off x="6389385" y="1441838"/>
            <a:ext cx="840166" cy="369332"/>
          </a:xfrm>
          <a:prstGeom prst="rect">
            <a:avLst/>
          </a:prstGeom>
          <a:noFill/>
        </p:spPr>
        <p:txBody>
          <a:bodyPr wrap="none" rtlCol="0">
            <a:spAutoFit/>
          </a:bodyPr>
          <a:lstStyle/>
          <a:p>
            <a:r>
              <a:rPr lang="en-US" u="sng" dirty="0"/>
              <a:t>Party 2</a:t>
            </a:r>
          </a:p>
        </p:txBody>
      </p:sp>
      <p:sp>
        <p:nvSpPr>
          <p:cNvPr id="115" name="Rectangle 114">
            <a:extLst>
              <a:ext uri="{FF2B5EF4-FFF2-40B4-BE49-F238E27FC236}">
                <a16:creationId xmlns:a16="http://schemas.microsoft.com/office/drawing/2014/main" id="{6A3CE9B0-B86D-4ED7-9734-C5E34D2B8DBA}"/>
              </a:ext>
            </a:extLst>
          </p:cNvPr>
          <p:cNvSpPr/>
          <p:nvPr/>
        </p:nvSpPr>
        <p:spPr>
          <a:xfrm>
            <a:off x="8580820" y="4702530"/>
            <a:ext cx="281781"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16" name="Rectangle 115">
            <a:extLst>
              <a:ext uri="{FF2B5EF4-FFF2-40B4-BE49-F238E27FC236}">
                <a16:creationId xmlns:a16="http://schemas.microsoft.com/office/drawing/2014/main" id="{A8955EE8-DC93-433B-B0A9-EF0D64E1F384}"/>
              </a:ext>
            </a:extLst>
          </p:cNvPr>
          <p:cNvSpPr/>
          <p:nvPr/>
        </p:nvSpPr>
        <p:spPr>
          <a:xfrm>
            <a:off x="8599989" y="4734352"/>
            <a:ext cx="247746" cy="196164"/>
          </a:xfrm>
          <a:prstGeom prst="rect">
            <a:avLst/>
          </a:prstGeom>
          <a:pattFill prst="wdDnDiag">
            <a:fgClr>
              <a:schemeClr val="accent4">
                <a:lumMod val="40000"/>
                <a:lumOff val="60000"/>
              </a:schemeClr>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16E403CE-77CB-482A-AB3F-EE76EF798EC2}"/>
                  </a:ext>
                </a:extLst>
              </p:cNvPr>
              <p:cNvSpPr txBox="1"/>
              <p:nvPr/>
            </p:nvSpPr>
            <p:spPr>
              <a:xfrm>
                <a:off x="6971525" y="2048921"/>
                <a:ext cx="655372" cy="400110"/>
              </a:xfrm>
              <a:prstGeom prst="rect">
                <a:avLst/>
              </a:prstGeom>
              <a:noFill/>
            </p:spPr>
            <p:txBody>
              <a:bodyPr wrap="none" rtlCol="0">
                <a:spAutoFit/>
              </a:bodyPr>
              <a:lstStyle/>
              <a:p>
                <a14:m>
                  <m:oMath xmlns:m="http://schemas.openxmlformats.org/officeDocument/2006/math">
                    <m:sSub>
                      <m:sSubPr>
                        <m:ctrlPr>
                          <a:rPr lang="en-US" sz="1600" b="0" i="1" smtClean="0">
                            <a:latin typeface="Cambria Math" panose="02040503050406030204" pitchFamily="18" charset="0"/>
                          </a:rPr>
                        </m:ctrlPr>
                      </m:sSubPr>
                      <m:e>
                        <m:r>
                          <a:rPr lang="en-US" sz="1600" i="1" smtClean="0">
                            <a:latin typeface="Cambria Math" panose="02040503050406030204" pitchFamily="18" charset="0"/>
                          </a:rPr>
                          <m:t>𝑥</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m:t>
                    </m:r>
                  </m:oMath>
                </a14:m>
                <a:r>
                  <a:rPr lang="en-US" sz="2000" dirty="0"/>
                  <a:t> </a:t>
                </a:r>
              </a:p>
            </p:txBody>
          </p:sp>
        </mc:Choice>
        <mc:Fallback xmlns="">
          <p:sp>
            <p:nvSpPr>
              <p:cNvPr id="124" name="TextBox 123">
                <a:extLst>
                  <a:ext uri="{FF2B5EF4-FFF2-40B4-BE49-F238E27FC236}">
                    <a16:creationId xmlns:a16="http://schemas.microsoft.com/office/drawing/2014/main" id="{16E403CE-77CB-482A-AB3F-EE76EF798EC2}"/>
                  </a:ext>
                </a:extLst>
              </p:cNvPr>
              <p:cNvSpPr txBox="1">
                <a:spLocks noRot="1" noChangeAspect="1" noMove="1" noResize="1" noEditPoints="1" noAdjustHandles="1" noChangeArrowheads="1" noChangeShapeType="1" noTextEdit="1"/>
              </p:cNvSpPr>
              <p:nvPr/>
            </p:nvSpPr>
            <p:spPr>
              <a:xfrm>
                <a:off x="6971525" y="2048921"/>
                <a:ext cx="655372" cy="40011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44D48EB1-40B7-4DFA-BD3F-D6C0C74C9470}"/>
                  </a:ext>
                </a:extLst>
              </p:cNvPr>
              <p:cNvSpPr txBox="1"/>
              <p:nvPr/>
            </p:nvSpPr>
            <p:spPr>
              <a:xfrm>
                <a:off x="6969687" y="2368908"/>
                <a:ext cx="657552" cy="400110"/>
              </a:xfrm>
              <a:prstGeom prst="rect">
                <a:avLst/>
              </a:prstGeom>
              <a:noFill/>
            </p:spPr>
            <p:txBody>
              <a:bodyPr wrap="none" rtlCol="0">
                <a:spAutoFit/>
              </a:bodyPr>
              <a:lstStyle/>
              <a:p>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m:t>
                    </m:r>
                  </m:oMath>
                </a14:m>
                <a:r>
                  <a:rPr lang="en-US" sz="2000" dirty="0"/>
                  <a:t> </a:t>
                </a:r>
              </a:p>
            </p:txBody>
          </p:sp>
        </mc:Choice>
        <mc:Fallback xmlns="">
          <p:sp>
            <p:nvSpPr>
              <p:cNvPr id="125" name="TextBox 124">
                <a:extLst>
                  <a:ext uri="{FF2B5EF4-FFF2-40B4-BE49-F238E27FC236}">
                    <a16:creationId xmlns:a16="http://schemas.microsoft.com/office/drawing/2014/main" id="{44D48EB1-40B7-4DFA-BD3F-D6C0C74C9470}"/>
                  </a:ext>
                </a:extLst>
              </p:cNvPr>
              <p:cNvSpPr txBox="1">
                <a:spLocks noRot="1" noChangeAspect="1" noMove="1" noResize="1" noEditPoints="1" noAdjustHandles="1" noChangeArrowheads="1" noChangeShapeType="1" noTextEdit="1"/>
              </p:cNvSpPr>
              <p:nvPr/>
            </p:nvSpPr>
            <p:spPr>
              <a:xfrm>
                <a:off x="6969687" y="2368908"/>
                <a:ext cx="657552" cy="400110"/>
              </a:xfrm>
              <a:prstGeom prst="rect">
                <a:avLst/>
              </a:prstGeom>
              <a:blipFill>
                <a:blip r:embed="rId14"/>
                <a:stretch>
                  <a:fillRect/>
                </a:stretch>
              </a:blipFill>
            </p:spPr>
            <p:txBody>
              <a:bodyPr/>
              <a:lstStyle/>
              <a:p>
                <a:r>
                  <a:rPr lang="en-US">
                    <a:noFill/>
                  </a:rPr>
                  <a:t> </a:t>
                </a:r>
              </a:p>
            </p:txBody>
          </p:sp>
        </mc:Fallback>
      </mc:AlternateContent>
      <p:cxnSp>
        <p:nvCxnSpPr>
          <p:cNvPr id="95" name="Straight Connector 94">
            <a:extLst>
              <a:ext uri="{FF2B5EF4-FFF2-40B4-BE49-F238E27FC236}">
                <a16:creationId xmlns:a16="http://schemas.microsoft.com/office/drawing/2014/main" id="{F5387C4B-91BD-44A4-B646-154BCC2257A5}"/>
              </a:ext>
            </a:extLst>
          </p:cNvPr>
          <p:cNvCxnSpPr/>
          <p:nvPr/>
        </p:nvCxnSpPr>
        <p:spPr>
          <a:xfrm>
            <a:off x="9130630" y="1811170"/>
            <a:ext cx="0" cy="4525862"/>
          </a:xfrm>
          <a:prstGeom prst="line">
            <a:avLst/>
          </a:prstGeom>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8868E117-45CC-4B35-8D9A-5746A27A99A0}"/>
              </a:ext>
            </a:extLst>
          </p:cNvPr>
          <p:cNvSpPr/>
          <p:nvPr/>
        </p:nvSpPr>
        <p:spPr>
          <a:xfrm>
            <a:off x="10381380" y="2481596"/>
            <a:ext cx="1052521"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99" name="Rectangle 98">
            <a:extLst>
              <a:ext uri="{FF2B5EF4-FFF2-40B4-BE49-F238E27FC236}">
                <a16:creationId xmlns:a16="http://schemas.microsoft.com/office/drawing/2014/main" id="{628C8C18-BA27-4A61-821E-7DAA74BD8C91}"/>
              </a:ext>
            </a:extLst>
          </p:cNvPr>
          <p:cNvSpPr/>
          <p:nvPr/>
        </p:nvSpPr>
        <p:spPr>
          <a:xfrm>
            <a:off x="9637111" y="2938035"/>
            <a:ext cx="2105042"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00" name="Rectangle 99">
            <a:extLst>
              <a:ext uri="{FF2B5EF4-FFF2-40B4-BE49-F238E27FC236}">
                <a16:creationId xmlns:a16="http://schemas.microsoft.com/office/drawing/2014/main" id="{CFFFF29D-C747-4F03-A801-5FE9609F52B7}"/>
              </a:ext>
            </a:extLst>
          </p:cNvPr>
          <p:cNvSpPr/>
          <p:nvPr/>
        </p:nvSpPr>
        <p:spPr>
          <a:xfrm>
            <a:off x="10381380" y="2141009"/>
            <a:ext cx="1052521"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ADE77837-BFDA-4974-9071-DC041D5A3CBC}"/>
                  </a:ext>
                </a:extLst>
              </p:cNvPr>
              <p:cNvSpPr txBox="1"/>
              <p:nvPr/>
            </p:nvSpPr>
            <p:spPr>
              <a:xfrm>
                <a:off x="11381404" y="2455370"/>
                <a:ext cx="481642"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b="0" i="1" dirty="0" smtClean="0">
                          <a:latin typeface="Cambria Math" panose="02040503050406030204" pitchFamily="18" charset="0"/>
                        </a:rPr>
                        <m:t>∈</m:t>
                      </m:r>
                      <m:sSub>
                        <m:sSubPr>
                          <m:ctrlPr>
                            <a:rPr lang="en-US" sz="1100" b="0" i="1" dirty="0" smtClean="0">
                              <a:latin typeface="Cambria Math" panose="02040503050406030204" pitchFamily="18" charset="0"/>
                              <a:ea typeface="Cambria Math" panose="02040503050406030204" pitchFamily="18" charset="0"/>
                            </a:rPr>
                          </m:ctrlPr>
                        </m:sSubPr>
                        <m:e>
                          <m:r>
                            <a:rPr lang="en-US" sz="1100" b="0" i="1" dirty="0" smtClean="0">
                              <a:latin typeface="Cambria Math" panose="02040503050406030204" pitchFamily="18" charset="0"/>
                              <a:ea typeface="Cambria Math" panose="02040503050406030204" pitchFamily="18" charset="0"/>
                            </a:rPr>
                            <m:t>ℤ</m:t>
                          </m:r>
                        </m:e>
                        <m:sub>
                          <m:sSup>
                            <m:sSupPr>
                              <m:ctrlPr>
                                <a:rPr lang="en-US" sz="1100" b="0" i="1" dirty="0" smtClean="0">
                                  <a:latin typeface="Cambria Math" panose="02040503050406030204" pitchFamily="18" charset="0"/>
                                  <a:ea typeface="Cambria Math" panose="02040503050406030204" pitchFamily="18" charset="0"/>
                                </a:rPr>
                              </m:ctrlPr>
                            </m:sSupPr>
                            <m:e>
                              <m:r>
                                <a:rPr lang="en-US" sz="1100" b="0" i="1" dirty="0" smtClean="0">
                                  <a:latin typeface="Cambria Math" panose="02040503050406030204" pitchFamily="18" charset="0"/>
                                  <a:ea typeface="Cambria Math" panose="02040503050406030204" pitchFamily="18" charset="0"/>
                                </a:rPr>
                                <m:t>2</m:t>
                              </m:r>
                            </m:e>
                            <m:sup>
                              <m:r>
                                <a:rPr lang="en-US" sz="1100" b="0" i="1" dirty="0" smtClean="0">
                                  <a:latin typeface="Cambria Math" panose="02040503050406030204" pitchFamily="18" charset="0"/>
                                  <a:ea typeface="Cambria Math" panose="02040503050406030204" pitchFamily="18" charset="0"/>
                                </a:rPr>
                                <m:t>𝑚</m:t>
                              </m:r>
                            </m:sup>
                          </m:sSup>
                        </m:sub>
                      </m:sSub>
                    </m:oMath>
                  </m:oMathPara>
                </a14:m>
                <a:endParaRPr lang="en-US" sz="1100" i="1" dirty="0"/>
              </a:p>
            </p:txBody>
          </p:sp>
        </mc:Choice>
        <mc:Fallback xmlns="">
          <p:sp>
            <p:nvSpPr>
              <p:cNvPr id="126" name="TextBox 125">
                <a:extLst>
                  <a:ext uri="{FF2B5EF4-FFF2-40B4-BE49-F238E27FC236}">
                    <a16:creationId xmlns:a16="http://schemas.microsoft.com/office/drawing/2014/main" id="{ADE77837-BFDA-4974-9071-DC041D5A3CBC}"/>
                  </a:ext>
                </a:extLst>
              </p:cNvPr>
              <p:cNvSpPr txBox="1">
                <a:spLocks noRot="1" noChangeAspect="1" noMove="1" noResize="1" noEditPoints="1" noAdjustHandles="1" noChangeArrowheads="1" noChangeShapeType="1" noTextEdit="1"/>
              </p:cNvSpPr>
              <p:nvPr/>
            </p:nvSpPr>
            <p:spPr>
              <a:xfrm>
                <a:off x="11381404" y="2455370"/>
                <a:ext cx="481642" cy="261610"/>
              </a:xfrm>
              <a:prstGeom prst="rect">
                <a:avLst/>
              </a:prstGeom>
              <a:blipFill>
                <a:blip r:embed="rId15"/>
                <a:stretch>
                  <a:fillRect/>
                </a:stretch>
              </a:blipFill>
            </p:spPr>
            <p:txBody>
              <a:bodyPr/>
              <a:lstStyle/>
              <a:p>
                <a:r>
                  <a:rPr lang="en-US">
                    <a:noFill/>
                  </a:rPr>
                  <a:t> </a:t>
                </a:r>
              </a:p>
            </p:txBody>
          </p:sp>
        </mc:Fallback>
      </mc:AlternateContent>
      <p:sp>
        <p:nvSpPr>
          <p:cNvPr id="127" name="Rectangle 126">
            <a:extLst>
              <a:ext uri="{FF2B5EF4-FFF2-40B4-BE49-F238E27FC236}">
                <a16:creationId xmlns:a16="http://schemas.microsoft.com/office/drawing/2014/main" id="{10528644-EE51-4A3B-9C0D-DCA21ECEB4DC}"/>
              </a:ext>
            </a:extLst>
          </p:cNvPr>
          <p:cNvSpPr/>
          <p:nvPr/>
        </p:nvSpPr>
        <p:spPr>
          <a:xfrm>
            <a:off x="10711017" y="2510557"/>
            <a:ext cx="301451" cy="196164"/>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8" name="Rectangle 127">
            <a:extLst>
              <a:ext uri="{FF2B5EF4-FFF2-40B4-BE49-F238E27FC236}">
                <a16:creationId xmlns:a16="http://schemas.microsoft.com/office/drawing/2014/main" id="{EB61153F-2BE8-4204-B2D2-ADC23C70EDEF}"/>
              </a:ext>
            </a:extLst>
          </p:cNvPr>
          <p:cNvSpPr/>
          <p:nvPr/>
        </p:nvSpPr>
        <p:spPr>
          <a:xfrm>
            <a:off x="11122957" y="2510556"/>
            <a:ext cx="299959" cy="196164"/>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9" name="TextBox 128">
            <a:extLst>
              <a:ext uri="{FF2B5EF4-FFF2-40B4-BE49-F238E27FC236}">
                <a16:creationId xmlns:a16="http://schemas.microsoft.com/office/drawing/2014/main" id="{4C967294-F7F8-4F93-A165-4BF02449EB93}"/>
              </a:ext>
            </a:extLst>
          </p:cNvPr>
          <p:cNvSpPr txBox="1"/>
          <p:nvPr/>
        </p:nvSpPr>
        <p:spPr>
          <a:xfrm>
            <a:off x="11028007" y="2449246"/>
            <a:ext cx="104741" cy="261610"/>
          </a:xfrm>
          <a:prstGeom prst="rect">
            <a:avLst/>
          </a:prstGeom>
          <a:noFill/>
        </p:spPr>
        <p:txBody>
          <a:bodyPr wrap="square" rtlCol="0">
            <a:spAutoFit/>
          </a:bodyPr>
          <a:lstStyle/>
          <a:p>
            <a:r>
              <a:rPr lang="en-US" sz="1100" b="1" dirty="0"/>
              <a:t>.</a:t>
            </a:r>
          </a:p>
        </p:txBody>
      </p:sp>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716C0707-451C-4291-819E-75895909A008}"/>
                  </a:ext>
                </a:extLst>
              </p:cNvPr>
              <p:cNvSpPr txBox="1"/>
              <p:nvPr/>
            </p:nvSpPr>
            <p:spPr>
              <a:xfrm>
                <a:off x="11406763" y="2079110"/>
                <a:ext cx="36180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a:latin typeface="Cambria Math" panose="02040503050406030204" pitchFamily="18" charset="0"/>
                        </a:rPr>
                        <m:t>∈</m:t>
                      </m:r>
                      <m:sSub>
                        <m:sSubPr>
                          <m:ctrlPr>
                            <a:rPr lang="en-US" sz="1100" i="1" dirty="0">
                              <a:latin typeface="Cambria Math" panose="02040503050406030204" pitchFamily="18" charset="0"/>
                              <a:ea typeface="Cambria Math" panose="02040503050406030204" pitchFamily="18" charset="0"/>
                            </a:rPr>
                          </m:ctrlPr>
                        </m:sSubPr>
                        <m:e>
                          <m:r>
                            <a:rPr lang="en-US" sz="1100" i="1" dirty="0">
                              <a:latin typeface="Cambria Math" panose="02040503050406030204" pitchFamily="18" charset="0"/>
                              <a:ea typeface="Cambria Math" panose="02040503050406030204" pitchFamily="18" charset="0"/>
                            </a:rPr>
                            <m:t>ℤ</m:t>
                          </m:r>
                        </m:e>
                        <m:sub>
                          <m:sSup>
                            <m:sSupPr>
                              <m:ctrlPr>
                                <a:rPr lang="en-US" sz="1100" i="1" dirty="0">
                                  <a:latin typeface="Cambria Math" panose="02040503050406030204" pitchFamily="18" charset="0"/>
                                  <a:ea typeface="Cambria Math" panose="02040503050406030204" pitchFamily="18" charset="0"/>
                                </a:rPr>
                              </m:ctrlPr>
                            </m:sSupPr>
                            <m:e>
                              <m:r>
                                <a:rPr lang="en-US" sz="1100" i="1" dirty="0">
                                  <a:latin typeface="Cambria Math" panose="02040503050406030204" pitchFamily="18" charset="0"/>
                                  <a:ea typeface="Cambria Math" panose="02040503050406030204" pitchFamily="18" charset="0"/>
                                </a:rPr>
                                <m:t>2</m:t>
                              </m:r>
                            </m:e>
                            <m:sup>
                              <m:r>
                                <a:rPr lang="en-US" sz="1100" i="1" dirty="0">
                                  <a:latin typeface="Cambria Math" panose="02040503050406030204" pitchFamily="18" charset="0"/>
                                  <a:ea typeface="Cambria Math" panose="02040503050406030204" pitchFamily="18" charset="0"/>
                                </a:rPr>
                                <m:t>𝑚</m:t>
                              </m:r>
                            </m:sup>
                          </m:sSup>
                        </m:sub>
                      </m:sSub>
                    </m:oMath>
                  </m:oMathPara>
                </a14:m>
                <a:endParaRPr lang="en-US" sz="1100" i="1" dirty="0"/>
              </a:p>
            </p:txBody>
          </p:sp>
        </mc:Choice>
        <mc:Fallback xmlns="">
          <p:sp>
            <p:nvSpPr>
              <p:cNvPr id="132" name="TextBox 131">
                <a:extLst>
                  <a:ext uri="{FF2B5EF4-FFF2-40B4-BE49-F238E27FC236}">
                    <a16:creationId xmlns:a16="http://schemas.microsoft.com/office/drawing/2014/main" id="{716C0707-451C-4291-819E-75895909A008}"/>
                  </a:ext>
                </a:extLst>
              </p:cNvPr>
              <p:cNvSpPr txBox="1">
                <a:spLocks noRot="1" noChangeAspect="1" noMove="1" noResize="1" noEditPoints="1" noAdjustHandles="1" noChangeArrowheads="1" noChangeShapeType="1" noTextEdit="1"/>
              </p:cNvSpPr>
              <p:nvPr/>
            </p:nvSpPr>
            <p:spPr>
              <a:xfrm>
                <a:off x="11406763" y="2079110"/>
                <a:ext cx="361804" cy="261610"/>
              </a:xfrm>
              <a:prstGeom prst="rect">
                <a:avLst/>
              </a:prstGeom>
              <a:blipFill>
                <a:blip r:embed="rId12"/>
                <a:stretch>
                  <a:fillRect r="-30000"/>
                </a:stretch>
              </a:blipFill>
            </p:spPr>
            <p:txBody>
              <a:bodyPr/>
              <a:lstStyle/>
              <a:p>
                <a:r>
                  <a:rPr lang="en-US">
                    <a:noFill/>
                  </a:rPr>
                  <a:t> </a:t>
                </a:r>
              </a:p>
            </p:txBody>
          </p:sp>
        </mc:Fallback>
      </mc:AlternateContent>
      <p:sp>
        <p:nvSpPr>
          <p:cNvPr id="133" name="Rectangle 132">
            <a:extLst>
              <a:ext uri="{FF2B5EF4-FFF2-40B4-BE49-F238E27FC236}">
                <a16:creationId xmlns:a16="http://schemas.microsoft.com/office/drawing/2014/main" id="{BE950B88-3A9B-47E4-9ECB-5C437D062822}"/>
              </a:ext>
            </a:extLst>
          </p:cNvPr>
          <p:cNvSpPr/>
          <p:nvPr/>
        </p:nvSpPr>
        <p:spPr>
          <a:xfrm>
            <a:off x="10711017" y="2169332"/>
            <a:ext cx="301451" cy="196164"/>
          </a:xfrm>
          <a:prstGeom prst="rect">
            <a:avLst/>
          </a:prstGeom>
          <a:solidFill>
            <a:schemeClr val="accent6">
              <a:lumMod val="25000"/>
              <a:lumOff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34" name="Rectangle 133">
            <a:extLst>
              <a:ext uri="{FF2B5EF4-FFF2-40B4-BE49-F238E27FC236}">
                <a16:creationId xmlns:a16="http://schemas.microsoft.com/office/drawing/2014/main" id="{0576F671-A804-480F-880E-1811D0FD6619}"/>
              </a:ext>
            </a:extLst>
          </p:cNvPr>
          <p:cNvSpPr/>
          <p:nvPr/>
        </p:nvSpPr>
        <p:spPr>
          <a:xfrm>
            <a:off x="11122957" y="2169331"/>
            <a:ext cx="299959" cy="196164"/>
          </a:xfrm>
          <a:prstGeom prst="rect">
            <a:avLst/>
          </a:prstGeom>
          <a:solidFill>
            <a:schemeClr val="accent6">
              <a:lumMod val="25000"/>
              <a:lumOff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35" name="TextBox 134">
            <a:extLst>
              <a:ext uri="{FF2B5EF4-FFF2-40B4-BE49-F238E27FC236}">
                <a16:creationId xmlns:a16="http://schemas.microsoft.com/office/drawing/2014/main" id="{69452B64-6706-4543-900F-153026C681D3}"/>
              </a:ext>
            </a:extLst>
          </p:cNvPr>
          <p:cNvSpPr txBox="1"/>
          <p:nvPr/>
        </p:nvSpPr>
        <p:spPr>
          <a:xfrm>
            <a:off x="11028007" y="2108021"/>
            <a:ext cx="104741" cy="261610"/>
          </a:xfrm>
          <a:prstGeom prst="rect">
            <a:avLst/>
          </a:prstGeom>
          <a:noFill/>
        </p:spPr>
        <p:txBody>
          <a:bodyPr wrap="square" rtlCol="0">
            <a:spAutoFit/>
          </a:bodyPr>
          <a:lstStyle/>
          <a:p>
            <a:r>
              <a:rPr lang="en-US" sz="1100" b="1" dirty="0"/>
              <a:t>.</a:t>
            </a:r>
          </a:p>
        </p:txBody>
      </p:sp>
      <p:sp>
        <p:nvSpPr>
          <p:cNvPr id="136" name="Rectangle 135">
            <a:extLst>
              <a:ext uri="{FF2B5EF4-FFF2-40B4-BE49-F238E27FC236}">
                <a16:creationId xmlns:a16="http://schemas.microsoft.com/office/drawing/2014/main" id="{56537BDC-0E13-4471-BBD1-EA57C069C481}"/>
              </a:ext>
            </a:extLst>
          </p:cNvPr>
          <p:cNvSpPr/>
          <p:nvPr/>
        </p:nvSpPr>
        <p:spPr>
          <a:xfrm>
            <a:off x="11122957" y="2969857"/>
            <a:ext cx="605106"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37" name="TextBox 136">
            <a:extLst>
              <a:ext uri="{FF2B5EF4-FFF2-40B4-BE49-F238E27FC236}">
                <a16:creationId xmlns:a16="http://schemas.microsoft.com/office/drawing/2014/main" id="{F524135C-DD95-4356-944A-85B09AB4B75A}"/>
              </a:ext>
            </a:extLst>
          </p:cNvPr>
          <p:cNvSpPr txBox="1"/>
          <p:nvPr/>
        </p:nvSpPr>
        <p:spPr>
          <a:xfrm>
            <a:off x="11028007" y="2908547"/>
            <a:ext cx="104741" cy="261610"/>
          </a:xfrm>
          <a:prstGeom prst="rect">
            <a:avLst/>
          </a:prstGeom>
          <a:noFill/>
        </p:spPr>
        <p:txBody>
          <a:bodyPr wrap="square" rtlCol="0">
            <a:spAutoFit/>
          </a:bodyPr>
          <a:lstStyle/>
          <a:p>
            <a:r>
              <a:rPr lang="en-US" sz="1100" b="1" dirty="0"/>
              <a:t>.</a:t>
            </a:r>
          </a:p>
        </p:txBody>
      </p:sp>
      <p:cxnSp>
        <p:nvCxnSpPr>
          <p:cNvPr id="138" name="Straight Connector 137">
            <a:extLst>
              <a:ext uri="{FF2B5EF4-FFF2-40B4-BE49-F238E27FC236}">
                <a16:creationId xmlns:a16="http://schemas.microsoft.com/office/drawing/2014/main" id="{03497139-CAA6-4315-9180-558EA09BCD51}"/>
              </a:ext>
            </a:extLst>
          </p:cNvPr>
          <p:cNvCxnSpPr/>
          <p:nvPr/>
        </p:nvCxnSpPr>
        <p:spPr>
          <a:xfrm>
            <a:off x="10085472" y="2853903"/>
            <a:ext cx="16744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36A231C0-6BEB-4254-A849-5DDD29D09190}"/>
              </a:ext>
            </a:extLst>
          </p:cNvPr>
          <p:cNvSpPr/>
          <p:nvPr/>
        </p:nvSpPr>
        <p:spPr>
          <a:xfrm>
            <a:off x="10405674" y="2967630"/>
            <a:ext cx="606792"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43" name="Rectangle 142">
            <a:extLst>
              <a:ext uri="{FF2B5EF4-FFF2-40B4-BE49-F238E27FC236}">
                <a16:creationId xmlns:a16="http://schemas.microsoft.com/office/drawing/2014/main" id="{AA59C546-35FA-49CB-84B3-224638F1A340}"/>
              </a:ext>
            </a:extLst>
          </p:cNvPr>
          <p:cNvSpPr/>
          <p:nvPr/>
        </p:nvSpPr>
        <p:spPr>
          <a:xfrm>
            <a:off x="9637111" y="3797865"/>
            <a:ext cx="2105042"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44" name="Rectangle 143">
            <a:extLst>
              <a:ext uri="{FF2B5EF4-FFF2-40B4-BE49-F238E27FC236}">
                <a16:creationId xmlns:a16="http://schemas.microsoft.com/office/drawing/2014/main" id="{EC9A3F3E-82D7-4B9C-AAC1-CE770495F6EC}"/>
              </a:ext>
            </a:extLst>
          </p:cNvPr>
          <p:cNvSpPr/>
          <p:nvPr/>
        </p:nvSpPr>
        <p:spPr>
          <a:xfrm>
            <a:off x="11122957" y="3829687"/>
            <a:ext cx="605106"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45" name="TextBox 144">
            <a:extLst>
              <a:ext uri="{FF2B5EF4-FFF2-40B4-BE49-F238E27FC236}">
                <a16:creationId xmlns:a16="http://schemas.microsoft.com/office/drawing/2014/main" id="{726A8050-AF05-4559-82BE-E514080F7888}"/>
              </a:ext>
            </a:extLst>
          </p:cNvPr>
          <p:cNvSpPr txBox="1"/>
          <p:nvPr/>
        </p:nvSpPr>
        <p:spPr>
          <a:xfrm>
            <a:off x="11028007" y="3768377"/>
            <a:ext cx="104741" cy="261610"/>
          </a:xfrm>
          <a:prstGeom prst="rect">
            <a:avLst/>
          </a:prstGeom>
          <a:noFill/>
        </p:spPr>
        <p:txBody>
          <a:bodyPr wrap="square" rtlCol="0">
            <a:spAutoFit/>
          </a:bodyPr>
          <a:lstStyle/>
          <a:p>
            <a:r>
              <a:rPr lang="en-US" sz="1100" b="1" dirty="0"/>
              <a:t>.</a:t>
            </a:r>
          </a:p>
        </p:txBody>
      </p:sp>
      <p:cxnSp>
        <p:nvCxnSpPr>
          <p:cNvPr id="146" name="Straight Connector 145">
            <a:extLst>
              <a:ext uri="{FF2B5EF4-FFF2-40B4-BE49-F238E27FC236}">
                <a16:creationId xmlns:a16="http://schemas.microsoft.com/office/drawing/2014/main" id="{A82E1A08-C124-46F8-9699-F30D77A26A9E}"/>
              </a:ext>
            </a:extLst>
          </p:cNvPr>
          <p:cNvCxnSpPr/>
          <p:nvPr/>
        </p:nvCxnSpPr>
        <p:spPr>
          <a:xfrm>
            <a:off x="10085472" y="3713733"/>
            <a:ext cx="16744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7" name="Rectangle 146">
            <a:extLst>
              <a:ext uri="{FF2B5EF4-FFF2-40B4-BE49-F238E27FC236}">
                <a16:creationId xmlns:a16="http://schemas.microsoft.com/office/drawing/2014/main" id="{EA4482B9-E501-40EA-BC73-CCC5E3357EF9}"/>
              </a:ext>
            </a:extLst>
          </p:cNvPr>
          <p:cNvSpPr/>
          <p:nvPr/>
        </p:nvSpPr>
        <p:spPr>
          <a:xfrm>
            <a:off x="10710935" y="3827460"/>
            <a:ext cx="301531"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48" name="Rectangle 147">
            <a:extLst>
              <a:ext uri="{FF2B5EF4-FFF2-40B4-BE49-F238E27FC236}">
                <a16:creationId xmlns:a16="http://schemas.microsoft.com/office/drawing/2014/main" id="{2D81355C-3679-4061-9C6C-4D7472D1D7E4}"/>
              </a:ext>
            </a:extLst>
          </p:cNvPr>
          <p:cNvSpPr/>
          <p:nvPr/>
        </p:nvSpPr>
        <p:spPr>
          <a:xfrm>
            <a:off x="10381380" y="4701299"/>
            <a:ext cx="1056402"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49" name="Rectangle 148">
            <a:extLst>
              <a:ext uri="{FF2B5EF4-FFF2-40B4-BE49-F238E27FC236}">
                <a16:creationId xmlns:a16="http://schemas.microsoft.com/office/drawing/2014/main" id="{FF4AA19D-25FF-4F3D-B10C-87B87DA363CE}"/>
              </a:ext>
            </a:extLst>
          </p:cNvPr>
          <p:cNvSpPr/>
          <p:nvPr/>
        </p:nvSpPr>
        <p:spPr>
          <a:xfrm>
            <a:off x="11123407" y="4733121"/>
            <a:ext cx="299509"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50" name="TextBox 149">
            <a:extLst>
              <a:ext uri="{FF2B5EF4-FFF2-40B4-BE49-F238E27FC236}">
                <a16:creationId xmlns:a16="http://schemas.microsoft.com/office/drawing/2014/main" id="{9E503B58-925C-4026-845C-58E5C980CF48}"/>
              </a:ext>
            </a:extLst>
          </p:cNvPr>
          <p:cNvSpPr txBox="1"/>
          <p:nvPr/>
        </p:nvSpPr>
        <p:spPr>
          <a:xfrm>
            <a:off x="11028457" y="4671811"/>
            <a:ext cx="104741" cy="261610"/>
          </a:xfrm>
          <a:prstGeom prst="rect">
            <a:avLst/>
          </a:prstGeom>
          <a:noFill/>
        </p:spPr>
        <p:txBody>
          <a:bodyPr wrap="square" rtlCol="0">
            <a:spAutoFit/>
          </a:bodyPr>
          <a:lstStyle/>
          <a:p>
            <a:r>
              <a:rPr lang="en-US" sz="1100" b="1" dirty="0"/>
              <a:t>.</a:t>
            </a:r>
          </a:p>
        </p:txBody>
      </p:sp>
      <p:cxnSp>
        <p:nvCxnSpPr>
          <p:cNvPr id="151" name="Straight Connector 150">
            <a:extLst>
              <a:ext uri="{FF2B5EF4-FFF2-40B4-BE49-F238E27FC236}">
                <a16:creationId xmlns:a16="http://schemas.microsoft.com/office/drawing/2014/main" id="{B6446F3E-B263-4A46-A181-5F137E797FC6}"/>
              </a:ext>
            </a:extLst>
          </p:cNvPr>
          <p:cNvCxnSpPr/>
          <p:nvPr/>
        </p:nvCxnSpPr>
        <p:spPr>
          <a:xfrm>
            <a:off x="10085922" y="4617167"/>
            <a:ext cx="16744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Rectangle 151">
            <a:extLst>
              <a:ext uri="{FF2B5EF4-FFF2-40B4-BE49-F238E27FC236}">
                <a16:creationId xmlns:a16="http://schemas.microsoft.com/office/drawing/2014/main" id="{3B5C1D7E-74A5-44C7-974B-EF7D1A6D126C}"/>
              </a:ext>
            </a:extLst>
          </p:cNvPr>
          <p:cNvSpPr/>
          <p:nvPr/>
        </p:nvSpPr>
        <p:spPr>
          <a:xfrm>
            <a:off x="10707982" y="4730894"/>
            <a:ext cx="304934"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53" name="Rectangle 152">
            <a:extLst>
              <a:ext uri="{FF2B5EF4-FFF2-40B4-BE49-F238E27FC236}">
                <a16:creationId xmlns:a16="http://schemas.microsoft.com/office/drawing/2014/main" id="{EDA9D87D-C4A2-42A0-AA40-4BDA3E463C76}"/>
              </a:ext>
            </a:extLst>
          </p:cNvPr>
          <p:cNvSpPr/>
          <p:nvPr/>
        </p:nvSpPr>
        <p:spPr>
          <a:xfrm>
            <a:off x="10381380" y="5677240"/>
            <a:ext cx="1056402"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54" name="Rectangle 153">
            <a:extLst>
              <a:ext uri="{FF2B5EF4-FFF2-40B4-BE49-F238E27FC236}">
                <a16:creationId xmlns:a16="http://schemas.microsoft.com/office/drawing/2014/main" id="{772B57CA-04A7-4445-BD36-AECE3294B255}"/>
              </a:ext>
            </a:extLst>
          </p:cNvPr>
          <p:cNvSpPr/>
          <p:nvPr/>
        </p:nvSpPr>
        <p:spPr>
          <a:xfrm>
            <a:off x="11123407" y="5709062"/>
            <a:ext cx="299509"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55" name="TextBox 154">
            <a:extLst>
              <a:ext uri="{FF2B5EF4-FFF2-40B4-BE49-F238E27FC236}">
                <a16:creationId xmlns:a16="http://schemas.microsoft.com/office/drawing/2014/main" id="{35564B8D-0152-43D1-BDB7-88F923DEB629}"/>
              </a:ext>
            </a:extLst>
          </p:cNvPr>
          <p:cNvSpPr txBox="1"/>
          <p:nvPr/>
        </p:nvSpPr>
        <p:spPr>
          <a:xfrm>
            <a:off x="11028457" y="5647752"/>
            <a:ext cx="104741" cy="261610"/>
          </a:xfrm>
          <a:prstGeom prst="rect">
            <a:avLst/>
          </a:prstGeom>
          <a:noFill/>
        </p:spPr>
        <p:txBody>
          <a:bodyPr wrap="square" rtlCol="0">
            <a:spAutoFit/>
          </a:bodyPr>
          <a:lstStyle/>
          <a:p>
            <a:r>
              <a:rPr lang="en-US" sz="1100" b="1" dirty="0"/>
              <a:t>.</a:t>
            </a:r>
          </a:p>
        </p:txBody>
      </p:sp>
      <p:cxnSp>
        <p:nvCxnSpPr>
          <p:cNvPr id="156" name="Straight Connector 155">
            <a:extLst>
              <a:ext uri="{FF2B5EF4-FFF2-40B4-BE49-F238E27FC236}">
                <a16:creationId xmlns:a16="http://schemas.microsoft.com/office/drawing/2014/main" id="{9F7FECBD-B617-4EF5-A99C-1BF606B0DD45}"/>
              </a:ext>
            </a:extLst>
          </p:cNvPr>
          <p:cNvCxnSpPr/>
          <p:nvPr/>
        </p:nvCxnSpPr>
        <p:spPr>
          <a:xfrm>
            <a:off x="10085922" y="5593108"/>
            <a:ext cx="16744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737DD209-4B28-4A9D-A220-207831FA25F5}"/>
              </a:ext>
            </a:extLst>
          </p:cNvPr>
          <p:cNvSpPr/>
          <p:nvPr/>
        </p:nvSpPr>
        <p:spPr>
          <a:xfrm>
            <a:off x="10707982" y="5706835"/>
            <a:ext cx="304934" cy="196164"/>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p:sp>
        <p:nvSpPr>
          <p:cNvPr id="158" name="TextBox 157">
            <a:extLst>
              <a:ext uri="{FF2B5EF4-FFF2-40B4-BE49-F238E27FC236}">
                <a16:creationId xmlns:a16="http://schemas.microsoft.com/office/drawing/2014/main" id="{2633A0C0-697E-4717-9088-9555A422D231}"/>
              </a:ext>
            </a:extLst>
          </p:cNvPr>
          <p:cNvSpPr txBox="1"/>
          <p:nvPr/>
        </p:nvSpPr>
        <p:spPr>
          <a:xfrm>
            <a:off x="9266797" y="1440382"/>
            <a:ext cx="840166" cy="369332"/>
          </a:xfrm>
          <a:prstGeom prst="rect">
            <a:avLst/>
          </a:prstGeom>
          <a:noFill/>
        </p:spPr>
        <p:txBody>
          <a:bodyPr wrap="none" rtlCol="0">
            <a:spAutoFit/>
          </a:bodyPr>
          <a:lstStyle/>
          <a:p>
            <a:r>
              <a:rPr lang="en-US" u="sng" dirty="0"/>
              <a:t>Party 3</a:t>
            </a:r>
          </a:p>
        </p:txBody>
      </p:sp>
      <p:sp>
        <p:nvSpPr>
          <p:cNvPr id="159" name="Rectangle 158">
            <a:extLst>
              <a:ext uri="{FF2B5EF4-FFF2-40B4-BE49-F238E27FC236}">
                <a16:creationId xmlns:a16="http://schemas.microsoft.com/office/drawing/2014/main" id="{F6C515AE-437F-46FC-BF10-E6488A02CE27}"/>
              </a:ext>
            </a:extLst>
          </p:cNvPr>
          <p:cNvSpPr/>
          <p:nvPr/>
        </p:nvSpPr>
        <p:spPr>
          <a:xfrm>
            <a:off x="11458232" y="4701074"/>
            <a:ext cx="281781" cy="252538"/>
          </a:xfrm>
          <a:prstGeom prst="rect">
            <a:avLst/>
          </a:prstGeom>
          <a:solidFill>
            <a:schemeClr val="bg1">
              <a:lumMod val="65000"/>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60" name="Rectangle 159">
            <a:extLst>
              <a:ext uri="{FF2B5EF4-FFF2-40B4-BE49-F238E27FC236}">
                <a16:creationId xmlns:a16="http://schemas.microsoft.com/office/drawing/2014/main" id="{EF2FB46B-DA9C-4677-A763-30B4E3A158CE}"/>
              </a:ext>
            </a:extLst>
          </p:cNvPr>
          <p:cNvSpPr/>
          <p:nvPr/>
        </p:nvSpPr>
        <p:spPr>
          <a:xfrm>
            <a:off x="11477401" y="4732896"/>
            <a:ext cx="247746" cy="196164"/>
          </a:xfrm>
          <a:prstGeom prst="rect">
            <a:avLst/>
          </a:prstGeom>
          <a:pattFill prst="wdDnDiag">
            <a:fgClr>
              <a:schemeClr val="accent4">
                <a:lumMod val="40000"/>
                <a:lumOff val="60000"/>
              </a:schemeClr>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70C0"/>
              </a:solidFill>
            </a:endParaRPr>
          </a:p>
        </p:txBody>
      </p:sp>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7E70A285-4F0A-43F5-8223-A405D8A05F90}"/>
                  </a:ext>
                </a:extLst>
              </p:cNvPr>
              <p:cNvSpPr txBox="1"/>
              <p:nvPr/>
            </p:nvSpPr>
            <p:spPr>
              <a:xfrm>
                <a:off x="9848937" y="2047465"/>
                <a:ext cx="655372" cy="400110"/>
              </a:xfrm>
              <a:prstGeom prst="rect">
                <a:avLst/>
              </a:prstGeom>
              <a:noFill/>
            </p:spPr>
            <p:txBody>
              <a:bodyPr wrap="none" rtlCol="0">
                <a:spAutoFit/>
              </a:bodyPr>
              <a:lstStyle/>
              <a:p>
                <a14:m>
                  <m:oMath xmlns:m="http://schemas.openxmlformats.org/officeDocument/2006/math">
                    <m:sSub>
                      <m:sSubPr>
                        <m:ctrlPr>
                          <a:rPr lang="en-US" sz="1600" b="0" i="1" smtClean="0">
                            <a:latin typeface="Cambria Math" panose="02040503050406030204" pitchFamily="18" charset="0"/>
                          </a:rPr>
                        </m:ctrlPr>
                      </m:sSubPr>
                      <m:e>
                        <m:r>
                          <a:rPr lang="en-US" sz="1600" i="1" smtClean="0">
                            <a:latin typeface="Cambria Math" panose="02040503050406030204" pitchFamily="18" charset="0"/>
                          </a:rPr>
                          <m:t>𝑥</m:t>
                        </m:r>
                      </m:e>
                      <m:sub>
                        <m:r>
                          <a:rPr lang="en-US" sz="1600" b="0" i="1" smtClean="0">
                            <a:latin typeface="Cambria Math" panose="02040503050406030204" pitchFamily="18" charset="0"/>
                          </a:rPr>
                          <m:t>3</m:t>
                        </m:r>
                      </m:sub>
                    </m:sSub>
                    <m:r>
                      <a:rPr lang="en-US" sz="1600" b="0" i="1" smtClean="0">
                        <a:latin typeface="Cambria Math" panose="02040503050406030204" pitchFamily="18" charset="0"/>
                      </a:rPr>
                      <m:t>=</m:t>
                    </m:r>
                  </m:oMath>
                </a14:m>
                <a:r>
                  <a:rPr lang="en-US" sz="2000" dirty="0"/>
                  <a:t> </a:t>
                </a:r>
              </a:p>
            </p:txBody>
          </p:sp>
        </mc:Choice>
        <mc:Fallback xmlns="">
          <p:sp>
            <p:nvSpPr>
              <p:cNvPr id="161" name="TextBox 160">
                <a:extLst>
                  <a:ext uri="{FF2B5EF4-FFF2-40B4-BE49-F238E27FC236}">
                    <a16:creationId xmlns:a16="http://schemas.microsoft.com/office/drawing/2014/main" id="{7E70A285-4F0A-43F5-8223-A405D8A05F90}"/>
                  </a:ext>
                </a:extLst>
              </p:cNvPr>
              <p:cNvSpPr txBox="1">
                <a:spLocks noRot="1" noChangeAspect="1" noMove="1" noResize="1" noEditPoints="1" noAdjustHandles="1" noChangeArrowheads="1" noChangeShapeType="1" noTextEdit="1"/>
              </p:cNvSpPr>
              <p:nvPr/>
            </p:nvSpPr>
            <p:spPr>
              <a:xfrm>
                <a:off x="9848937" y="2047465"/>
                <a:ext cx="655372"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06F9EE09-DE3C-42D6-8B47-599E1D442CA6}"/>
                  </a:ext>
                </a:extLst>
              </p:cNvPr>
              <p:cNvSpPr txBox="1"/>
              <p:nvPr/>
            </p:nvSpPr>
            <p:spPr>
              <a:xfrm>
                <a:off x="9847099" y="2367452"/>
                <a:ext cx="657552" cy="400110"/>
              </a:xfrm>
              <a:prstGeom prst="rect">
                <a:avLst/>
              </a:prstGeom>
              <a:noFill/>
            </p:spPr>
            <p:txBody>
              <a:bodyPr wrap="none" rtlCol="0">
                <a:spAutoFit/>
              </a:bodyPr>
              <a:lstStyle/>
              <a:p>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3</m:t>
                        </m:r>
                      </m:sub>
                    </m:sSub>
                    <m:r>
                      <a:rPr lang="en-US" sz="1600" b="0" i="1" smtClean="0">
                        <a:latin typeface="Cambria Math" panose="02040503050406030204" pitchFamily="18" charset="0"/>
                      </a:rPr>
                      <m:t>=</m:t>
                    </m:r>
                  </m:oMath>
                </a14:m>
                <a:r>
                  <a:rPr lang="en-US" sz="2000" dirty="0"/>
                  <a:t> </a:t>
                </a:r>
              </a:p>
            </p:txBody>
          </p:sp>
        </mc:Choice>
        <mc:Fallback xmlns="">
          <p:sp>
            <p:nvSpPr>
              <p:cNvPr id="162" name="TextBox 161">
                <a:extLst>
                  <a:ext uri="{FF2B5EF4-FFF2-40B4-BE49-F238E27FC236}">
                    <a16:creationId xmlns:a16="http://schemas.microsoft.com/office/drawing/2014/main" id="{06F9EE09-DE3C-42D6-8B47-599E1D442CA6}"/>
                  </a:ext>
                </a:extLst>
              </p:cNvPr>
              <p:cNvSpPr txBox="1">
                <a:spLocks noRot="1" noChangeAspect="1" noMove="1" noResize="1" noEditPoints="1" noAdjustHandles="1" noChangeArrowheads="1" noChangeShapeType="1" noTextEdit="1"/>
              </p:cNvSpPr>
              <p:nvPr/>
            </p:nvSpPr>
            <p:spPr>
              <a:xfrm>
                <a:off x="9847099" y="2367452"/>
                <a:ext cx="657552" cy="400110"/>
              </a:xfrm>
              <a:prstGeom prst="rect">
                <a:avLst/>
              </a:prstGeom>
              <a:blipFill>
                <a:blip r:embed="rId17"/>
                <a:stretch>
                  <a:fillRect/>
                </a:stretch>
              </a:blipFill>
            </p:spPr>
            <p:txBody>
              <a:bodyPr/>
              <a:lstStyle/>
              <a:p>
                <a:r>
                  <a:rPr lang="en-US">
                    <a:noFill/>
                  </a:rPr>
                  <a:t> </a:t>
                </a:r>
              </a:p>
            </p:txBody>
          </p:sp>
        </mc:Fallback>
      </mc:AlternateContent>
      <p:sp>
        <p:nvSpPr>
          <p:cNvPr id="130" name="TextBox 129">
            <a:extLst>
              <a:ext uri="{FF2B5EF4-FFF2-40B4-BE49-F238E27FC236}">
                <a16:creationId xmlns:a16="http://schemas.microsoft.com/office/drawing/2014/main" id="{89BADC2E-CC09-4123-BBD5-895CFD5800A7}"/>
              </a:ext>
            </a:extLst>
          </p:cNvPr>
          <p:cNvSpPr txBox="1"/>
          <p:nvPr/>
        </p:nvSpPr>
        <p:spPr>
          <a:xfrm>
            <a:off x="30137" y="3381485"/>
            <a:ext cx="4032039" cy="369332"/>
          </a:xfrm>
          <a:prstGeom prst="rect">
            <a:avLst/>
          </a:prstGeom>
          <a:noFill/>
        </p:spPr>
        <p:txBody>
          <a:bodyPr wrap="square" rtlCol="0">
            <a:spAutoFit/>
          </a:bodyPr>
          <a:lstStyle/>
          <a:p>
            <a:r>
              <a:rPr lang="en-US" dirty="0"/>
              <a:t>Assumption: no overflowing</a:t>
            </a:r>
          </a:p>
        </p:txBody>
      </p:sp>
      <p:sp>
        <p:nvSpPr>
          <p:cNvPr id="131" name="TextBox 130">
            <a:extLst>
              <a:ext uri="{FF2B5EF4-FFF2-40B4-BE49-F238E27FC236}">
                <a16:creationId xmlns:a16="http://schemas.microsoft.com/office/drawing/2014/main" id="{7FD21C48-F946-4AE1-B246-732C6DC944C8}"/>
              </a:ext>
            </a:extLst>
          </p:cNvPr>
          <p:cNvSpPr txBox="1"/>
          <p:nvPr/>
        </p:nvSpPr>
        <p:spPr>
          <a:xfrm>
            <a:off x="31067" y="4284919"/>
            <a:ext cx="4032039" cy="369332"/>
          </a:xfrm>
          <a:prstGeom prst="rect">
            <a:avLst/>
          </a:prstGeom>
          <a:noFill/>
        </p:spPr>
        <p:txBody>
          <a:bodyPr wrap="square" rtlCol="0">
            <a:spAutoFit/>
          </a:bodyPr>
          <a:lstStyle/>
          <a:p>
            <a:r>
              <a:rPr lang="en-US" dirty="0"/>
              <a:t>Operation: truncate top/bottom bits</a:t>
            </a:r>
          </a:p>
        </p:txBody>
      </p:sp>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037A5CB9-457E-4F9F-9C53-D16AF1EAC378}"/>
                  </a:ext>
                </a:extLst>
              </p:cNvPr>
              <p:cNvSpPr txBox="1"/>
              <p:nvPr/>
            </p:nvSpPr>
            <p:spPr>
              <a:xfrm>
                <a:off x="35731" y="5240823"/>
                <a:ext cx="4032039" cy="379656"/>
              </a:xfrm>
              <a:prstGeom prst="rect">
                <a:avLst/>
              </a:prstGeom>
              <a:noFill/>
            </p:spPr>
            <p:txBody>
              <a:bodyPr wrap="square" rtlCol="0">
                <a:spAutoFit/>
              </a:bodyPr>
              <a:lstStyle/>
              <a:p>
                <a:r>
                  <a:rPr lang="en-US" strike="sngStrike" dirty="0">
                    <a:solidFill>
                      <a:srgbClr val="FF0000"/>
                    </a:solidFill>
                  </a:rPr>
                  <a:t>Pr[</a:t>
                </a:r>
                <a:r>
                  <a:rPr lang="en-US" i="1" strike="sngStrike" dirty="0">
                    <a:solidFill>
                      <a:srgbClr val="FF0000"/>
                    </a:solidFill>
                  </a:rPr>
                  <a:t>large error</a:t>
                </a:r>
                <a:r>
                  <a:rPr lang="en-US" strike="sngStrike" dirty="0">
                    <a:solidFill>
                      <a:srgbClr val="FF0000"/>
                    </a:solidFill>
                  </a:rPr>
                  <a:t>] = </a:t>
                </a:r>
                <a14:m>
                  <m:oMath xmlns:m="http://schemas.openxmlformats.org/officeDocument/2006/math">
                    <m:sSup>
                      <m:sSupPr>
                        <m:ctrlPr>
                          <a:rPr lang="en-US" b="0" i="1" strike="sngStrike" smtClean="0">
                            <a:solidFill>
                              <a:srgbClr val="FF0000"/>
                            </a:solidFill>
                            <a:latin typeface="Cambria Math" panose="02040503050406030204" pitchFamily="18" charset="0"/>
                          </a:rPr>
                        </m:ctrlPr>
                      </m:sSupPr>
                      <m:e>
                        <m:r>
                          <a:rPr lang="en-US" b="0" i="1" strike="sngStrike" smtClean="0">
                            <a:solidFill>
                              <a:srgbClr val="FF0000"/>
                            </a:solidFill>
                            <a:latin typeface="Cambria Math" panose="02040503050406030204" pitchFamily="18" charset="0"/>
                          </a:rPr>
                          <m:t>2</m:t>
                        </m:r>
                      </m:e>
                      <m:sup>
                        <m:r>
                          <a:rPr lang="en-US" b="0" i="1" strike="sngStrike" smtClean="0">
                            <a:solidFill>
                              <a:srgbClr val="FF0000"/>
                            </a:solidFill>
                            <a:latin typeface="Cambria Math" panose="02040503050406030204" pitchFamily="18" charset="0"/>
                          </a:rPr>
                          <m:t>−</m:t>
                        </m:r>
                        <m:r>
                          <a:rPr lang="en-US" b="0" i="1" strike="sngStrike" smtClean="0">
                            <a:solidFill>
                              <a:srgbClr val="FF0000"/>
                            </a:solidFill>
                            <a:latin typeface="Cambria Math" panose="02040503050406030204" pitchFamily="18" charset="0"/>
                          </a:rPr>
                          <m:t>𝜆</m:t>
                        </m:r>
                      </m:sup>
                    </m:sSup>
                  </m:oMath>
                </a14:m>
                <a:endParaRPr lang="en-US" strike="sngStrike" dirty="0">
                  <a:solidFill>
                    <a:srgbClr val="FF0000"/>
                  </a:solidFill>
                </a:endParaRPr>
              </a:p>
            </p:txBody>
          </p:sp>
        </mc:Choice>
        <mc:Fallback xmlns="">
          <p:sp>
            <p:nvSpPr>
              <p:cNvPr id="140" name="TextBox 139">
                <a:extLst>
                  <a:ext uri="{FF2B5EF4-FFF2-40B4-BE49-F238E27FC236}">
                    <a16:creationId xmlns:a16="http://schemas.microsoft.com/office/drawing/2014/main" id="{037A5CB9-457E-4F9F-9C53-D16AF1EAC378}"/>
                  </a:ext>
                </a:extLst>
              </p:cNvPr>
              <p:cNvSpPr txBox="1">
                <a:spLocks noRot="1" noChangeAspect="1" noMove="1" noResize="1" noEditPoints="1" noAdjustHandles="1" noChangeArrowheads="1" noChangeShapeType="1" noTextEdit="1"/>
              </p:cNvSpPr>
              <p:nvPr/>
            </p:nvSpPr>
            <p:spPr>
              <a:xfrm>
                <a:off x="35731" y="5240823"/>
                <a:ext cx="4032039" cy="379656"/>
              </a:xfrm>
              <a:prstGeom prst="rect">
                <a:avLst/>
              </a:prstGeom>
              <a:blipFill>
                <a:blip r:embed="rId18"/>
                <a:stretch>
                  <a:fillRect l="-1362" t="-3226" b="-29032"/>
                </a:stretch>
              </a:blipFill>
            </p:spPr>
            <p:txBody>
              <a:bodyPr/>
              <a:lstStyle/>
              <a:p>
                <a:r>
                  <a:rPr lang="en-US">
                    <a:noFill/>
                  </a:rPr>
                  <a:t> </a:t>
                </a:r>
              </a:p>
            </p:txBody>
          </p:sp>
        </mc:Fallback>
      </mc:AlternateContent>
      <p:sp>
        <p:nvSpPr>
          <p:cNvPr id="141" name="TextBox 140">
            <a:extLst>
              <a:ext uri="{FF2B5EF4-FFF2-40B4-BE49-F238E27FC236}">
                <a16:creationId xmlns:a16="http://schemas.microsoft.com/office/drawing/2014/main" id="{FD21FE51-A87D-4665-B72C-B1471382D667}"/>
              </a:ext>
            </a:extLst>
          </p:cNvPr>
          <p:cNvSpPr txBox="1"/>
          <p:nvPr/>
        </p:nvSpPr>
        <p:spPr>
          <a:xfrm>
            <a:off x="3408898" y="4981023"/>
            <a:ext cx="2948457" cy="369332"/>
          </a:xfrm>
          <a:prstGeom prst="rect">
            <a:avLst/>
          </a:prstGeom>
          <a:noFill/>
        </p:spPr>
        <p:txBody>
          <a:bodyPr wrap="square" rtlCol="0">
            <a:spAutoFit/>
          </a:bodyPr>
          <a:lstStyle/>
          <a:p>
            <a:r>
              <a:rPr lang="en-US" dirty="0"/>
              <a:t>-</a:t>
            </a:r>
            <a:r>
              <a:rPr lang="en-US" i="1" dirty="0"/>
              <a:t>1 error </a:t>
            </a:r>
            <a:r>
              <a:rPr lang="en-US" dirty="0"/>
              <a:t>if     +     overflows</a:t>
            </a:r>
            <a:endParaRPr lang="en-US" i="1" dirty="0"/>
          </a:p>
        </p:txBody>
      </p:sp>
      <p:sp>
        <p:nvSpPr>
          <p:cNvPr id="142" name="Rectangle 141">
            <a:extLst>
              <a:ext uri="{FF2B5EF4-FFF2-40B4-BE49-F238E27FC236}">
                <a16:creationId xmlns:a16="http://schemas.microsoft.com/office/drawing/2014/main" id="{65DBFEAA-A339-4AC7-B929-6A4327E658B8}"/>
              </a:ext>
            </a:extLst>
          </p:cNvPr>
          <p:cNvSpPr/>
          <p:nvPr/>
        </p:nvSpPr>
        <p:spPr>
          <a:xfrm>
            <a:off x="4465707" y="5096210"/>
            <a:ext cx="154408" cy="157030"/>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64" name="Rectangle 163">
            <a:extLst>
              <a:ext uri="{FF2B5EF4-FFF2-40B4-BE49-F238E27FC236}">
                <a16:creationId xmlns:a16="http://schemas.microsoft.com/office/drawing/2014/main" id="{7C624669-C1CD-4A77-A305-9B2E029C4B02}"/>
              </a:ext>
            </a:extLst>
          </p:cNvPr>
          <p:cNvSpPr/>
          <p:nvPr/>
        </p:nvSpPr>
        <p:spPr>
          <a:xfrm>
            <a:off x="4462995" y="5096210"/>
            <a:ext cx="154408" cy="157030"/>
          </a:xfrm>
          <a:prstGeom prst="rect">
            <a:avLst/>
          </a:prstGeom>
          <a:pattFill prst="wdUpDiag">
            <a:fgClr>
              <a:srgbClr val="FFC000"/>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
        <p:nvSpPr>
          <p:cNvPr id="165" name="Rectangle 164">
            <a:extLst>
              <a:ext uri="{FF2B5EF4-FFF2-40B4-BE49-F238E27FC236}">
                <a16:creationId xmlns:a16="http://schemas.microsoft.com/office/drawing/2014/main" id="{81AD46B9-5CFE-4D5A-A322-75F08D3B8FB7}"/>
              </a:ext>
            </a:extLst>
          </p:cNvPr>
          <p:cNvSpPr/>
          <p:nvPr/>
        </p:nvSpPr>
        <p:spPr>
          <a:xfrm>
            <a:off x="4821022" y="5092608"/>
            <a:ext cx="154409" cy="157030"/>
          </a:xfrm>
          <a:prstGeom prst="rect">
            <a:avLst/>
          </a:prstGeom>
          <a:pattFill prst="wdDnDiag">
            <a:fgClr>
              <a:schemeClr val="accent4">
                <a:lumMod val="40000"/>
                <a:lumOff val="60000"/>
              </a:schemeClr>
            </a:fgClr>
            <a:bgClr>
              <a:schemeClr val="bg1"/>
            </a:bgClr>
          </a:patt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0070C0"/>
              </a:solidFill>
            </a:endParaRPr>
          </a:p>
        </p:txBody>
      </p:sp>
    </p:spTree>
    <p:extLst>
      <p:ext uri="{BB962C8B-B14F-4D97-AF65-F5344CB8AC3E}">
        <p14:creationId xmlns:p14="http://schemas.microsoft.com/office/powerpoint/2010/main" val="670212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3719074-AF8F-445C-8CE6-A7D516B8D08C}"/>
              </a:ext>
            </a:extLst>
          </p:cNvPr>
          <p:cNvSpPr/>
          <p:nvPr/>
        </p:nvSpPr>
        <p:spPr>
          <a:xfrm>
            <a:off x="2624183" y="3897816"/>
            <a:ext cx="2699290"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6267083-1728-4797-A57E-64C3784CB4A8}"/>
              </a:ext>
            </a:extLst>
          </p:cNvPr>
          <p:cNvSpPr/>
          <p:nvPr/>
        </p:nvSpPr>
        <p:spPr>
          <a:xfrm>
            <a:off x="2618467" y="4273204"/>
            <a:ext cx="2705006"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D8ADB35-9E9F-4148-8DF6-F8218D3F278E}"/>
              </a:ext>
            </a:extLst>
          </p:cNvPr>
          <p:cNvSpPr/>
          <p:nvPr/>
        </p:nvSpPr>
        <p:spPr>
          <a:xfrm>
            <a:off x="2612427" y="4641332"/>
            <a:ext cx="2711045"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CA56C8-D69D-467D-A7FD-1B01FC253978}"/>
              </a:ext>
            </a:extLst>
          </p:cNvPr>
          <p:cNvSpPr/>
          <p:nvPr/>
        </p:nvSpPr>
        <p:spPr>
          <a:xfrm>
            <a:off x="8911375" y="2325575"/>
            <a:ext cx="1417877" cy="743111"/>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FAEC429-59EF-4B75-BF79-0DEB54FBC56C}"/>
              </a:ext>
            </a:extLst>
          </p:cNvPr>
          <p:cNvSpPr/>
          <p:nvPr/>
        </p:nvSpPr>
        <p:spPr>
          <a:xfrm>
            <a:off x="7656277" y="4380010"/>
            <a:ext cx="1419694" cy="743111"/>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FC370F4-01E4-4B2E-AE3B-363BF386AAA6}"/>
              </a:ext>
            </a:extLst>
          </p:cNvPr>
          <p:cNvSpPr/>
          <p:nvPr/>
        </p:nvSpPr>
        <p:spPr>
          <a:xfrm>
            <a:off x="10248093" y="4302519"/>
            <a:ext cx="1409424" cy="743111"/>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3F2538-FFBC-46DD-9021-DF5516BDFB2A}"/>
              </a:ext>
            </a:extLst>
          </p:cNvPr>
          <p:cNvSpPr>
            <a:spLocks noGrp="1"/>
          </p:cNvSpPr>
          <p:nvPr>
            <p:ph type="title"/>
          </p:nvPr>
        </p:nvSpPr>
        <p:spPr/>
        <p:txBody>
          <a:bodyPr>
            <a:normAutofit fontScale="90000"/>
          </a:bodyPr>
          <a:lstStyle/>
          <a:p>
            <a:r>
              <a:rPr lang="en-US" dirty="0"/>
              <a:t>Truncation/Multiplication on 2-out-of-3 Secret Shares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8B4535-06C2-4E3F-B371-35D6AD996756}"/>
                  </a:ext>
                </a:extLst>
              </p:cNvPr>
              <p:cNvSpPr>
                <a:spLocks noGrp="1"/>
              </p:cNvSpPr>
              <p:nvPr>
                <p:ph idx="1"/>
              </p:nvPr>
            </p:nvSpPr>
            <p:spPr>
              <a:xfrm>
                <a:off x="1451581" y="1694890"/>
                <a:ext cx="5771152" cy="5476472"/>
              </a:xfrm>
            </p:spPr>
            <p:txBody>
              <a:bodyPr>
                <a:normAutofit/>
              </a:bodyPr>
              <a:lstStyle/>
              <a:p>
                <a:r>
                  <a:rPr lang="en-US" dirty="0"/>
                  <a:t>Multiplication </a:t>
                </a:r>
                <a14:m>
                  <m:oMath xmlns:m="http://schemas.openxmlformats.org/officeDocument/2006/math">
                    <m:r>
                      <m:rPr>
                        <m:sty m:val="p"/>
                      </m:rPr>
                      <a:rPr lang="en-US" b="0" i="0" smtClean="0">
                        <a:latin typeface="Cambria Math" panose="02040503050406030204" pitchFamily="18" charset="0"/>
                      </a:rPr>
                      <m:t>z</m:t>
                    </m:r>
                    <m:r>
                      <a:rPr lang="en-US" b="0" i="0"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r>
                  <a:rPr lang="en-US" b="0" dirty="0"/>
                  <a:t>: </a:t>
                </a:r>
              </a:p>
              <a:p>
                <a:pPr lvl="1"/>
                <a:r>
                  <a:rPr lang="en-US" dirty="0"/>
                  <a:t>Preprocess </a:t>
                </a:r>
              </a:p>
              <a:p>
                <a:pPr lvl="2"/>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𝑟</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𝑟𝑎𝑛𝑑</m:t>
                    </m:r>
                    <m:r>
                      <a:rPr lang="en-US" b="0" i="1" smtClean="0">
                        <a:latin typeface="Cambria Math" panose="02040503050406030204" pitchFamily="18" charset="0"/>
                      </a:rPr>
                      <m:t>()</m:t>
                    </m:r>
                  </m:oMath>
                </a14:m>
                <a:endParaRPr lang="en-US" dirty="0"/>
              </a:p>
              <a:p>
                <a:pPr lvl="2"/>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e>
                    </m:d>
                    <m:r>
                      <a:rPr lang="en-US" i="1">
                        <a:latin typeface="Cambria Math" panose="02040503050406030204" pitchFamily="18" charset="0"/>
                      </a:rPr>
                      <m:t>/</m:t>
                    </m:r>
                    <m:r>
                      <a:rPr lang="en-US" i="1">
                        <a:latin typeface="Cambria Math" panose="02040503050406030204" pitchFamily="18" charset="0"/>
                      </a:rPr>
                      <m:t>𝑑</m:t>
                    </m:r>
                  </m:oMath>
                </a14:m>
                <a:endParaRPr lang="en-US" b="0" dirty="0"/>
              </a:p>
              <a:p>
                <a:pPr lvl="1"/>
                <a:r>
                  <a:rPr lang="en-US" dirty="0"/>
                  <a:t>Let </a:t>
                </a:r>
                <a14:m>
                  <m:oMath xmlns:m="http://schemas.openxmlformats.org/officeDocument/2006/math">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m:t>
                            </m:r>
                          </m:sup>
                        </m:sSup>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𝑥</m:t>
                        </m:r>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𝑦</m:t>
                        </m:r>
                      </m:e>
                    </m:d>
                  </m:oMath>
                </a14:m>
                <a:r>
                  <a:rPr lang="en-US" dirty="0"/>
                  <a:t>      </a:t>
                </a:r>
                <a:r>
                  <a:rPr lang="en-US" dirty="0">
                    <a:solidFill>
                      <a:schemeClr val="tx1">
                        <a:lumMod val="50000"/>
                        <a:lumOff val="50000"/>
                      </a:schemeClr>
                    </a:solidFill>
                  </a:rPr>
                  <a:t> (integer multiplication)</a:t>
                </a:r>
                <a:br>
                  <a:rPr lang="en-US" dirty="0">
                    <a:solidFill>
                      <a:schemeClr val="tx1">
                        <a:lumMod val="50000"/>
                        <a:lumOff val="50000"/>
                      </a:schemeClr>
                    </a:solidFill>
                  </a:rPr>
                </a:b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oMath>
                </a14:m>
                <a:br>
                  <a:rPr lang="en-US" b="0" dirty="0"/>
                </a:b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𝑧</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oMath>
                </a14:m>
                <a:br>
                  <a:rPr lang="en-US" dirty="0"/>
                </a:b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𝑧</m:t>
                        </m:r>
                      </m:e>
                      <m:sub>
                        <m:r>
                          <a:rPr lang="en-US" b="0" i="1" smtClean="0">
                            <a:latin typeface="Cambria Math" panose="02040503050406030204" pitchFamily="18" charset="0"/>
                          </a:rPr>
                          <m:t>3</m:t>
                        </m:r>
                      </m:sub>
                      <m:sup>
                        <m:r>
                          <a:rPr lang="en-US" b="0" i="1" smtClean="0">
                            <a:latin typeface="Cambria Math" panose="02040503050406030204" pitchFamily="18" charset="0"/>
                          </a:rPr>
                          <m:t>′</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oMath>
                </a14:m>
                <a:endParaRPr lang="en-US" b="0" dirty="0"/>
              </a:p>
              <a:p>
                <a:pPr lvl="1"/>
                <a:endParaRPr lang="en-US" dirty="0"/>
              </a:p>
              <a:p>
                <a:pPr lvl="1"/>
                <a:r>
                  <a:rPr lang="en-US" dirty="0"/>
                  <a:t>Compute </a:t>
                </a:r>
                <a:br>
                  <a:rPr lang="en-US" dirty="0"/>
                </a:b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𝑟𝑒𝑣𝑒𝑎𝑙</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m:t>
                                    </m:r>
                                  </m:sup>
                                </m:sSup>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m:t>
                                    </m:r>
                                  </m:sup>
                                </m:sSup>
                              </m:e>
                            </m:d>
                          </m:e>
                        </m:d>
                      </m:num>
                      <m:den>
                        <m:r>
                          <a:rPr lang="en-US" b="0" i="1" smtClean="0">
                            <a:latin typeface="Cambria Math" panose="02040503050406030204" pitchFamily="18" charset="0"/>
                          </a:rPr>
                          <m:t>𝑑</m:t>
                        </m:r>
                      </m:den>
                    </m:f>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𝑟</m:t>
                        </m:r>
                      </m:e>
                    </m:d>
                  </m:oMath>
                </a14:m>
                <a:endParaRPr lang="en-US" dirty="0"/>
              </a:p>
            </p:txBody>
          </p:sp>
        </mc:Choice>
        <mc:Fallback xmlns="">
          <p:sp>
            <p:nvSpPr>
              <p:cNvPr id="3" name="Content Placeholder 2">
                <a:extLst>
                  <a:ext uri="{FF2B5EF4-FFF2-40B4-BE49-F238E27FC236}">
                    <a16:creationId xmlns:a16="http://schemas.microsoft.com/office/drawing/2014/main" id="{308B4535-06C2-4E3F-B371-35D6AD996756}"/>
                  </a:ext>
                </a:extLst>
              </p:cNvPr>
              <p:cNvSpPr>
                <a:spLocks noGrp="1" noRot="1" noChangeAspect="1" noMove="1" noResize="1" noEditPoints="1" noAdjustHandles="1" noChangeArrowheads="1" noChangeShapeType="1" noTextEdit="1"/>
              </p:cNvSpPr>
              <p:nvPr>
                <p:ph idx="1"/>
              </p:nvPr>
            </p:nvSpPr>
            <p:spPr>
              <a:xfrm>
                <a:off x="1451581" y="1694890"/>
                <a:ext cx="5771152" cy="5476472"/>
              </a:xfrm>
              <a:blipFill>
                <a:blip r:embed="rId2"/>
                <a:stretch>
                  <a:fillRect l="-1373" t="-223"/>
                </a:stretch>
              </a:blipFill>
            </p:spPr>
            <p:txBody>
              <a:bodyPr/>
              <a:lstStyle/>
              <a:p>
                <a:r>
                  <a:rPr lang="en-US">
                    <a:noFill/>
                  </a:rPr>
                  <a:t> </a:t>
                </a:r>
              </a:p>
            </p:txBody>
          </p:sp>
        </mc:Fallback>
      </mc:AlternateContent>
      <p:pic>
        <p:nvPicPr>
          <p:cNvPr id="4" name="Picture 2" descr="http://mahdiz.com/images/visaresearch.png">
            <a:extLst>
              <a:ext uri="{FF2B5EF4-FFF2-40B4-BE49-F238E27FC236}">
                <a16:creationId xmlns:a16="http://schemas.microsoft.com/office/drawing/2014/main" id="{491E43E7-00EE-4F68-BF93-379D145EE5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850460" y="1775729"/>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Image result for amazon icon">
            <a:extLst>
              <a:ext uri="{FF2B5EF4-FFF2-40B4-BE49-F238E27FC236}">
                <a16:creationId xmlns:a16="http://schemas.microsoft.com/office/drawing/2014/main" id="{71184F86-539B-4B2B-B537-6FD346C6416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10656344" y="4892693"/>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Image result for bank of america">
            <a:extLst>
              <a:ext uri="{FF2B5EF4-FFF2-40B4-BE49-F238E27FC236}">
                <a16:creationId xmlns:a16="http://schemas.microsoft.com/office/drawing/2014/main" id="{95229F7A-7426-4608-BBC2-901FAC531F5E}"/>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6343157" y="4907071"/>
            <a:ext cx="2231395" cy="10109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510F9D-27FA-44FB-B65F-1F26D67CDD3F}"/>
                  </a:ext>
                </a:extLst>
              </p:cNvPr>
              <p:cNvSpPr txBox="1"/>
              <p:nvPr>
                <p:extLst/>
              </p:nvPr>
            </p:nvSpPr>
            <p:spPr>
              <a:xfrm>
                <a:off x="7695344" y="4562683"/>
                <a:ext cx="110776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2</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7" name="TextBox 6">
                <a:extLst>
                  <a:ext uri="{FF2B5EF4-FFF2-40B4-BE49-F238E27FC236}">
                    <a16:creationId xmlns:a16="http://schemas.microsoft.com/office/drawing/2014/main" id="{7F510F9D-27FA-44FB-B65F-1F26D67CDD3F}"/>
                  </a:ext>
                </a:extLst>
              </p:cNvPr>
              <p:cNvSpPr txBox="1">
                <a:spLocks noRot="1" noChangeAspect="1" noMove="1" noResize="1" noEditPoints="1" noAdjustHandles="1" noChangeArrowheads="1" noChangeShapeType="1" noTextEdit="1"/>
              </p:cNvSpPr>
              <p:nvPr>
                <p:extLst/>
              </p:nvPr>
            </p:nvSpPr>
            <p:spPr>
              <a:xfrm>
                <a:off x="7695344" y="4562683"/>
                <a:ext cx="1107762" cy="523220"/>
              </a:xfrm>
              <a:prstGeom prst="rect">
                <a:avLst/>
              </a:prstGeom>
              <a:blipFill>
                <a:blip r:embed="rId9"/>
                <a:stretch>
                  <a:fillRect r="-219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66E399-2F06-4F14-B460-9C3F854DDD9A}"/>
                  </a:ext>
                </a:extLst>
              </p:cNvPr>
              <p:cNvSpPr txBox="1"/>
              <p:nvPr>
                <p:extLst/>
              </p:nvPr>
            </p:nvSpPr>
            <p:spPr>
              <a:xfrm>
                <a:off x="10251383" y="4504496"/>
                <a:ext cx="1164116"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3</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8" name="TextBox 7">
                <a:extLst>
                  <a:ext uri="{FF2B5EF4-FFF2-40B4-BE49-F238E27FC236}">
                    <a16:creationId xmlns:a16="http://schemas.microsoft.com/office/drawing/2014/main" id="{2566E399-2F06-4F14-B460-9C3F854DDD9A}"/>
                  </a:ext>
                </a:extLst>
              </p:cNvPr>
              <p:cNvSpPr txBox="1">
                <a:spLocks noRot="1" noChangeAspect="1" noMove="1" noResize="1" noEditPoints="1" noAdjustHandles="1" noChangeArrowheads="1" noChangeShapeType="1" noTextEdit="1"/>
              </p:cNvSpPr>
              <p:nvPr>
                <p:extLst/>
              </p:nvPr>
            </p:nvSpPr>
            <p:spPr>
              <a:xfrm>
                <a:off x="10251383" y="4504496"/>
                <a:ext cx="1164116" cy="523220"/>
              </a:xfrm>
              <a:prstGeom prst="rect">
                <a:avLst/>
              </a:prstGeom>
              <a:blipFill>
                <a:blip r:embed="rId10"/>
                <a:stretch>
                  <a:fillRect r="-1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E5BF90-5540-4BBF-A730-84690F97E508}"/>
                  </a:ext>
                </a:extLst>
              </p:cNvPr>
              <p:cNvSpPr txBox="1"/>
              <p:nvPr>
                <p:extLst/>
              </p:nvPr>
            </p:nvSpPr>
            <p:spPr>
              <a:xfrm>
                <a:off x="8932481" y="2183215"/>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1</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9" name="TextBox 8">
                <a:extLst>
                  <a:ext uri="{FF2B5EF4-FFF2-40B4-BE49-F238E27FC236}">
                    <a16:creationId xmlns:a16="http://schemas.microsoft.com/office/drawing/2014/main" id="{D4E5BF90-5540-4BBF-A730-84690F97E508}"/>
                  </a:ext>
                </a:extLst>
              </p:cNvPr>
              <p:cNvSpPr txBox="1">
                <a:spLocks noRot="1" noChangeAspect="1" noMove="1" noResize="1" noEditPoints="1" noAdjustHandles="1" noChangeArrowheads="1" noChangeShapeType="1" noTextEdit="1"/>
              </p:cNvSpPr>
              <p:nvPr>
                <p:extLst/>
              </p:nvPr>
            </p:nvSpPr>
            <p:spPr>
              <a:xfrm>
                <a:off x="8932481" y="2183215"/>
                <a:ext cx="1241509" cy="523220"/>
              </a:xfrm>
              <a:prstGeom prst="rect">
                <a:avLst/>
              </a:prstGeom>
              <a:blipFill>
                <a:blip r:embed="rId11"/>
                <a:stretch>
                  <a:fillRect r="-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D8EC73-AF59-46AC-8B20-3A4B52923EAC}"/>
                  </a:ext>
                </a:extLst>
              </p:cNvPr>
              <p:cNvSpPr txBox="1"/>
              <p:nvPr>
                <p:extLst/>
              </p:nvPr>
            </p:nvSpPr>
            <p:spPr>
              <a:xfrm>
                <a:off x="10248093" y="4175375"/>
                <a:ext cx="1155560"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oMath>
                  </m:oMathPara>
                </a14:m>
                <a:endParaRPr lang="en-US" sz="2800" dirty="0"/>
              </a:p>
            </p:txBody>
          </p:sp>
        </mc:Choice>
        <mc:Fallback xmlns="">
          <p:sp>
            <p:nvSpPr>
              <p:cNvPr id="10" name="TextBox 9">
                <a:extLst>
                  <a:ext uri="{FF2B5EF4-FFF2-40B4-BE49-F238E27FC236}">
                    <a16:creationId xmlns:a16="http://schemas.microsoft.com/office/drawing/2014/main" id="{78D8EC73-AF59-46AC-8B20-3A4B52923EAC}"/>
                  </a:ext>
                </a:extLst>
              </p:cNvPr>
              <p:cNvSpPr txBox="1">
                <a:spLocks noRot="1" noChangeAspect="1" noMove="1" noResize="1" noEditPoints="1" noAdjustHandles="1" noChangeArrowheads="1" noChangeShapeType="1" noTextEdit="1"/>
              </p:cNvSpPr>
              <p:nvPr>
                <p:extLst/>
              </p:nvPr>
            </p:nvSpPr>
            <p:spPr>
              <a:xfrm>
                <a:off x="10248093" y="4175375"/>
                <a:ext cx="1155560"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A46CD0-9DBC-4E11-A5EF-12C1AFF44523}"/>
                  </a:ext>
                </a:extLst>
              </p:cNvPr>
              <p:cNvSpPr txBox="1"/>
              <p:nvPr>
                <p:extLst/>
              </p:nvPr>
            </p:nvSpPr>
            <p:spPr>
              <a:xfrm>
                <a:off x="8920635" y="254581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oMath>
                  </m:oMathPara>
                </a14:m>
                <a:endParaRPr lang="en-US" sz="2800" dirty="0"/>
              </a:p>
            </p:txBody>
          </p:sp>
        </mc:Choice>
        <mc:Fallback xmlns="">
          <p:sp>
            <p:nvSpPr>
              <p:cNvPr id="11" name="TextBox 10">
                <a:extLst>
                  <a:ext uri="{FF2B5EF4-FFF2-40B4-BE49-F238E27FC236}">
                    <a16:creationId xmlns:a16="http://schemas.microsoft.com/office/drawing/2014/main" id="{F3A46CD0-9DBC-4E11-A5EF-12C1AFF44523}"/>
                  </a:ext>
                </a:extLst>
              </p:cNvPr>
              <p:cNvSpPr txBox="1">
                <a:spLocks noRot="1" noChangeAspect="1" noMove="1" noResize="1" noEditPoints="1" noAdjustHandles="1" noChangeArrowheads="1" noChangeShapeType="1" noTextEdit="1"/>
              </p:cNvSpPr>
              <p:nvPr>
                <p:extLst/>
              </p:nvPr>
            </p:nvSpPr>
            <p:spPr>
              <a:xfrm>
                <a:off x="8920635" y="2545813"/>
                <a:ext cx="1241509"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08F250-ADC4-4D17-BEB9-ABC7C7800B79}"/>
                  </a:ext>
                </a:extLst>
              </p:cNvPr>
              <p:cNvSpPr txBox="1"/>
              <p:nvPr>
                <p:extLst/>
              </p:nvPr>
            </p:nvSpPr>
            <p:spPr>
              <a:xfrm>
                <a:off x="7695344" y="4242886"/>
                <a:ext cx="111105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oMath>
                  </m:oMathPara>
                </a14:m>
                <a:endParaRPr lang="en-US" sz="2800" dirty="0"/>
              </a:p>
            </p:txBody>
          </p:sp>
        </mc:Choice>
        <mc:Fallback xmlns="">
          <p:sp>
            <p:nvSpPr>
              <p:cNvPr id="12" name="TextBox 11">
                <a:extLst>
                  <a:ext uri="{FF2B5EF4-FFF2-40B4-BE49-F238E27FC236}">
                    <a16:creationId xmlns:a16="http://schemas.microsoft.com/office/drawing/2014/main" id="{4E08F250-ADC4-4D17-BEB9-ABC7C7800B79}"/>
                  </a:ext>
                </a:extLst>
              </p:cNvPr>
              <p:cNvSpPr txBox="1">
                <a:spLocks noRot="1" noChangeAspect="1" noMove="1" noResize="1" noEditPoints="1" noAdjustHandles="1" noChangeArrowheads="1" noChangeShapeType="1" noTextEdit="1"/>
              </p:cNvSpPr>
              <p:nvPr>
                <p:extLst/>
              </p:nvPr>
            </p:nvSpPr>
            <p:spPr>
              <a:xfrm>
                <a:off x="7695344" y="4242886"/>
                <a:ext cx="1111052"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BEE43968-0F9F-4326-B080-DB12E084258D}"/>
                  </a:ext>
                </a:extLst>
              </p:cNvPr>
              <p:cNvSpPr/>
              <p:nvPr/>
            </p:nvSpPr>
            <p:spPr>
              <a:xfrm>
                <a:off x="8612855" y="4562683"/>
                <a:ext cx="134203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800" b="0" i="1" dirty="0" smtClean="0">
                              <a:latin typeface="Cambria Math" panose="02040503050406030204" pitchFamily="18" charset="0"/>
                            </a:rPr>
                          </m:ctrlPr>
                        </m:sSubSupPr>
                        <m:e>
                          <m:r>
                            <a:rPr lang="en-US" sz="2800" i="1" dirty="0">
                              <a:latin typeface="Cambria Math" panose="02040503050406030204" pitchFamily="18" charset="0"/>
                            </a:rPr>
                            <m:t>𝑧</m:t>
                          </m:r>
                        </m:e>
                        <m:sub>
                          <m:r>
                            <a:rPr lang="en-US" sz="2800" i="1" dirty="0">
                              <a:latin typeface="Cambria Math" panose="02040503050406030204" pitchFamily="18" charset="0"/>
                            </a:rPr>
                            <m:t>2</m:t>
                          </m:r>
                        </m:sub>
                        <m:sup>
                          <m:r>
                            <a:rPr lang="en-US" sz="2800" b="0" i="1" dirty="0" smtClean="0">
                              <a:latin typeface="Cambria Math" panose="02040503050406030204" pitchFamily="18" charset="0"/>
                            </a:rPr>
                            <m:t>′</m:t>
                          </m:r>
                        </m:sup>
                      </m:sSubSup>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𝑟</m:t>
                          </m:r>
                        </m:e>
                        <m:sub>
                          <m:r>
                            <a:rPr lang="en-US" sz="2800" b="0" i="1" dirty="0" smtClean="0">
                              <a:latin typeface="Cambria Math" panose="02040503050406030204" pitchFamily="18" charset="0"/>
                            </a:rPr>
                            <m:t>2</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13" name="Rectangle 12">
                <a:extLst>
                  <a:ext uri="{FF2B5EF4-FFF2-40B4-BE49-F238E27FC236}">
                    <a16:creationId xmlns:a16="http://schemas.microsoft.com/office/drawing/2014/main" id="{BEE43968-0F9F-4326-B080-DB12E084258D}"/>
                  </a:ext>
                </a:extLst>
              </p:cNvPr>
              <p:cNvSpPr>
                <a:spLocks noRot="1" noChangeAspect="1" noMove="1" noResize="1" noEditPoints="1" noAdjustHandles="1" noChangeArrowheads="1" noChangeShapeType="1" noTextEdit="1"/>
              </p:cNvSpPr>
              <p:nvPr/>
            </p:nvSpPr>
            <p:spPr>
              <a:xfrm>
                <a:off x="8612855" y="4562683"/>
                <a:ext cx="1342034" cy="52322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28FB34FB-2A95-4F29-B5C0-F11BD2AB10F5}"/>
                  </a:ext>
                </a:extLst>
              </p:cNvPr>
              <p:cNvSpPr/>
              <p:nvPr/>
            </p:nvSpPr>
            <p:spPr>
              <a:xfrm>
                <a:off x="11168896" y="4501967"/>
                <a:ext cx="134203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800" b="0" i="1" dirty="0" smtClean="0">
                              <a:latin typeface="Cambria Math" panose="02040503050406030204" pitchFamily="18" charset="0"/>
                            </a:rPr>
                          </m:ctrlPr>
                        </m:sSubSupPr>
                        <m:e>
                          <m:r>
                            <a:rPr lang="en-US" sz="2800" i="1" dirty="0">
                              <a:latin typeface="Cambria Math" panose="02040503050406030204" pitchFamily="18" charset="0"/>
                            </a:rPr>
                            <m:t>𝑧</m:t>
                          </m:r>
                        </m:e>
                        <m:sub>
                          <m:r>
                            <a:rPr lang="en-US" sz="2800" b="0" i="1" dirty="0" smtClean="0">
                              <a:latin typeface="Cambria Math" panose="02040503050406030204" pitchFamily="18" charset="0"/>
                            </a:rPr>
                            <m:t>3</m:t>
                          </m:r>
                        </m:sub>
                        <m:sup>
                          <m:r>
                            <a:rPr lang="en-US" sz="2800" b="0" i="1" dirty="0" smtClean="0">
                              <a:latin typeface="Cambria Math" panose="02040503050406030204" pitchFamily="18" charset="0"/>
                            </a:rPr>
                            <m:t>′</m:t>
                          </m:r>
                        </m:sup>
                      </m:sSubSup>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𝑟</m:t>
                          </m:r>
                        </m:e>
                        <m:sub>
                          <m:r>
                            <a:rPr lang="en-US" sz="2800" b="0" i="1" dirty="0" smtClean="0">
                              <a:latin typeface="Cambria Math" panose="02040503050406030204" pitchFamily="18" charset="0"/>
                            </a:rPr>
                            <m:t>3</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31" name="Rectangle 30">
                <a:extLst>
                  <a:ext uri="{FF2B5EF4-FFF2-40B4-BE49-F238E27FC236}">
                    <a16:creationId xmlns:a16="http://schemas.microsoft.com/office/drawing/2014/main" id="{28FB34FB-2A95-4F29-B5C0-F11BD2AB10F5}"/>
                  </a:ext>
                </a:extLst>
              </p:cNvPr>
              <p:cNvSpPr>
                <a:spLocks noRot="1" noChangeAspect="1" noMove="1" noResize="1" noEditPoints="1" noAdjustHandles="1" noChangeArrowheads="1" noChangeShapeType="1" noTextEdit="1"/>
              </p:cNvSpPr>
              <p:nvPr/>
            </p:nvSpPr>
            <p:spPr>
              <a:xfrm>
                <a:off x="11168896" y="4501967"/>
                <a:ext cx="1342034" cy="52322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95C2D84-AD53-40F4-B8AF-3A745C5E7254}"/>
                  </a:ext>
                </a:extLst>
              </p:cNvPr>
              <p:cNvSpPr/>
              <p:nvPr/>
            </p:nvSpPr>
            <p:spPr>
              <a:xfrm>
                <a:off x="9838248" y="2187276"/>
                <a:ext cx="133139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800" b="0" i="1" dirty="0" smtClean="0">
                              <a:latin typeface="Cambria Math" panose="02040503050406030204" pitchFamily="18" charset="0"/>
                            </a:rPr>
                          </m:ctrlPr>
                        </m:sSubSupPr>
                        <m:e>
                          <m:r>
                            <a:rPr lang="en-US" sz="2800" i="1" dirty="0">
                              <a:latin typeface="Cambria Math" panose="02040503050406030204" pitchFamily="18" charset="0"/>
                            </a:rPr>
                            <m:t>𝑧</m:t>
                          </m:r>
                        </m:e>
                        <m:sub>
                          <m:r>
                            <a:rPr lang="en-US" sz="2800" b="0" i="1" dirty="0" smtClean="0">
                              <a:latin typeface="Cambria Math" panose="02040503050406030204" pitchFamily="18" charset="0"/>
                            </a:rPr>
                            <m:t>1</m:t>
                          </m:r>
                        </m:sub>
                        <m:sup>
                          <m:r>
                            <a:rPr lang="en-US" sz="2800" b="0" i="1" dirty="0" smtClean="0">
                              <a:latin typeface="Cambria Math" panose="02040503050406030204" pitchFamily="18" charset="0"/>
                            </a:rPr>
                            <m:t>′</m:t>
                          </m:r>
                        </m:sup>
                      </m:sSubSup>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𝑟</m:t>
                          </m:r>
                        </m:e>
                        <m:sub>
                          <m:r>
                            <a:rPr lang="en-US" sz="2800" b="0" i="1" dirty="0" smtClean="0">
                              <a:latin typeface="Cambria Math" panose="02040503050406030204" pitchFamily="18" charset="0"/>
                            </a:rPr>
                            <m:t>1</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32" name="Rectangle 31">
                <a:extLst>
                  <a:ext uri="{FF2B5EF4-FFF2-40B4-BE49-F238E27FC236}">
                    <a16:creationId xmlns:a16="http://schemas.microsoft.com/office/drawing/2014/main" id="{695C2D84-AD53-40F4-B8AF-3A745C5E7254}"/>
                  </a:ext>
                </a:extLst>
              </p:cNvPr>
              <p:cNvSpPr>
                <a:spLocks noRot="1" noChangeAspect="1" noMove="1" noResize="1" noEditPoints="1" noAdjustHandles="1" noChangeArrowheads="1" noChangeShapeType="1" noTextEdit="1"/>
              </p:cNvSpPr>
              <p:nvPr/>
            </p:nvSpPr>
            <p:spPr>
              <a:xfrm>
                <a:off x="9838248" y="2187276"/>
                <a:ext cx="1331390" cy="52322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F7F845A1-B07D-41EF-83BC-8F99B8A8AD7E}"/>
                  </a:ext>
                </a:extLst>
              </p:cNvPr>
              <p:cNvSpPr/>
              <p:nvPr/>
            </p:nvSpPr>
            <p:spPr>
              <a:xfrm>
                <a:off x="9161909" y="3328957"/>
                <a:ext cx="124187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latin typeface="Cambria Math" panose="02040503050406030204" pitchFamily="18" charset="0"/>
                        </a:rPr>
                        <m:t>𝑧</m:t>
                      </m:r>
                      <m:r>
                        <a:rPr lang="en-US" sz="2800" b="0" i="1" dirty="0" smtClean="0">
                          <a:latin typeface="Cambria Math" panose="02040503050406030204" pitchFamily="18" charset="0"/>
                        </a:rPr>
                        <m:t>′−</m:t>
                      </m:r>
                      <m:r>
                        <a:rPr lang="en-US" sz="2800" b="0" i="1" dirty="0" smtClean="0">
                          <a:latin typeface="Cambria Math" panose="02040503050406030204" pitchFamily="18" charset="0"/>
                        </a:rPr>
                        <m:t>𝑟</m:t>
                      </m:r>
                      <m:r>
                        <a:rPr lang="en-US" sz="2800" b="0" i="1" dirty="0" smtClean="0">
                          <a:latin typeface="Cambria Math" panose="02040503050406030204" pitchFamily="18" charset="0"/>
                        </a:rPr>
                        <m:t>′</m:t>
                      </m:r>
                    </m:oMath>
                  </m:oMathPara>
                </a14:m>
                <a:endParaRPr lang="en-US" sz="2800" dirty="0"/>
              </a:p>
            </p:txBody>
          </p:sp>
        </mc:Choice>
        <mc:Fallback xmlns="">
          <p:sp>
            <p:nvSpPr>
              <p:cNvPr id="22" name="Rectangle 21">
                <a:extLst>
                  <a:ext uri="{FF2B5EF4-FFF2-40B4-BE49-F238E27FC236}">
                    <a16:creationId xmlns:a16="http://schemas.microsoft.com/office/drawing/2014/main" id="{F7F845A1-B07D-41EF-83BC-8F99B8A8AD7E}"/>
                  </a:ext>
                </a:extLst>
              </p:cNvPr>
              <p:cNvSpPr>
                <a:spLocks noRot="1" noChangeAspect="1" noMove="1" noResize="1" noEditPoints="1" noAdjustHandles="1" noChangeArrowheads="1" noChangeShapeType="1" noTextEdit="1"/>
              </p:cNvSpPr>
              <p:nvPr/>
            </p:nvSpPr>
            <p:spPr>
              <a:xfrm>
                <a:off x="9161909" y="3328957"/>
                <a:ext cx="1241878" cy="523220"/>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1032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2"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2"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1.66667E-6 -2.22222E-6 L 0.04544 -0.17824 " pathEditMode="relative" rAng="0" ptsTypes="AA">
                                      <p:cBhvr>
                                        <p:cTn id="18" dur="1000" fill="hold"/>
                                        <p:tgtEl>
                                          <p:spTgt spid="13"/>
                                        </p:tgtEl>
                                        <p:attrNameLst>
                                          <p:attrName>ppt_x</p:attrName>
                                          <p:attrName>ppt_y</p:attrName>
                                        </p:attrNameLst>
                                      </p:cBhvr>
                                      <p:rCtr x="2266" y="-8912"/>
                                    </p:animMotion>
                                  </p:childTnLst>
                                </p:cTn>
                              </p:par>
                              <p:par>
                                <p:cTn id="19" presetID="42" presetClass="path" presetSubtype="0" accel="50000" decel="50000" fill="hold" grpId="0" nodeType="withEffect">
                                  <p:stCondLst>
                                    <p:cond delay="0"/>
                                  </p:stCondLst>
                                  <p:childTnLst>
                                    <p:animMotion origin="layout" path="M 1.66667E-6 -4.44444E-6 L -0.05456 0.16899 " pathEditMode="relative" rAng="0" ptsTypes="AA">
                                      <p:cBhvr>
                                        <p:cTn id="20" dur="1000" fill="hold"/>
                                        <p:tgtEl>
                                          <p:spTgt spid="32"/>
                                        </p:tgtEl>
                                        <p:attrNameLst>
                                          <p:attrName>ppt_x</p:attrName>
                                          <p:attrName>ppt_y</p:attrName>
                                        </p:attrNameLst>
                                      </p:cBhvr>
                                      <p:rCtr x="-2734" y="8449"/>
                                    </p:animMotion>
                                  </p:childTnLst>
                                </p:cTn>
                              </p:par>
                              <p:par>
                                <p:cTn id="21" presetID="42" presetClass="path" presetSubtype="0" accel="50000" decel="50000" fill="hold" grpId="0" nodeType="withEffect">
                                  <p:stCondLst>
                                    <p:cond delay="0"/>
                                  </p:stCondLst>
                                  <p:childTnLst>
                                    <p:animMotion origin="layout" path="M -3.75E-6 -4.44444E-6 L -0.16419 -0.17037 " pathEditMode="relative" rAng="0" ptsTypes="AA">
                                      <p:cBhvr>
                                        <p:cTn id="22" dur="1000" fill="hold"/>
                                        <p:tgtEl>
                                          <p:spTgt spid="31"/>
                                        </p:tgtEl>
                                        <p:attrNameLst>
                                          <p:attrName>ppt_x</p:attrName>
                                          <p:attrName>ppt_y</p:attrName>
                                        </p:attrNameLst>
                                      </p:cBhvr>
                                      <p:rCtr x="-8216" y="-8519"/>
                                    </p:animMotion>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par>
                                <p:cTn id="27" presetID="10" presetClass="exit" presetSubtype="0" fill="hold" grpId="1" nodeType="withEffect">
                                  <p:stCondLst>
                                    <p:cond delay="0"/>
                                  </p:stCondLst>
                                  <p:childTnLst>
                                    <p:animEffect transition="out" filter="fade">
                                      <p:cBhvr>
                                        <p:cTn id="28" dur="500"/>
                                        <p:tgtEl>
                                          <p:spTgt spid="13"/>
                                        </p:tgtEl>
                                      </p:cBhvr>
                                    </p:animEffect>
                                    <p:set>
                                      <p:cBhvr>
                                        <p:cTn id="29" dur="1" fill="hold">
                                          <p:stCondLst>
                                            <p:cond delay="499"/>
                                          </p:stCondLst>
                                        </p:cTn>
                                        <p:tgtEl>
                                          <p:spTgt spid="13"/>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500"/>
                                        <p:tgtEl>
                                          <p:spTgt spid="32"/>
                                        </p:tgtEl>
                                      </p:cBhvr>
                                    </p:animEffect>
                                    <p:set>
                                      <p:cBhvr>
                                        <p:cTn id="32" dur="1" fill="hold">
                                          <p:stCondLst>
                                            <p:cond delay="499"/>
                                          </p:stCondLst>
                                        </p:cTn>
                                        <p:tgtEl>
                                          <p:spTgt spid="32"/>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31"/>
                                        </p:tgtEl>
                                      </p:cBhvr>
                                    </p:animEffect>
                                    <p:set>
                                      <p:cBhvr>
                                        <p:cTn id="35"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3" grpId="2"/>
      <p:bldP spid="31" grpId="0"/>
      <p:bldP spid="31" grpId="1"/>
      <p:bldP spid="31" grpId="2"/>
      <p:bldP spid="32" grpId="0"/>
      <p:bldP spid="32" grpId="1"/>
      <p:bldP spid="32" grpId="2"/>
      <p:bldP spid="22"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C3719074-AF8F-445C-8CE6-A7D516B8D08C}"/>
              </a:ext>
            </a:extLst>
          </p:cNvPr>
          <p:cNvSpPr/>
          <p:nvPr/>
        </p:nvSpPr>
        <p:spPr>
          <a:xfrm>
            <a:off x="2624183" y="3897816"/>
            <a:ext cx="2699290" cy="375388"/>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6267083-1728-4797-A57E-64C3784CB4A8}"/>
              </a:ext>
            </a:extLst>
          </p:cNvPr>
          <p:cNvSpPr/>
          <p:nvPr/>
        </p:nvSpPr>
        <p:spPr>
          <a:xfrm>
            <a:off x="2618467" y="4273204"/>
            <a:ext cx="2705006" cy="375388"/>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D8ADB35-9E9F-4148-8DF6-F8218D3F278E}"/>
              </a:ext>
            </a:extLst>
          </p:cNvPr>
          <p:cNvSpPr/>
          <p:nvPr/>
        </p:nvSpPr>
        <p:spPr>
          <a:xfrm>
            <a:off x="2612427" y="4641332"/>
            <a:ext cx="2711045" cy="375388"/>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CA56C8-D69D-467D-A7FD-1B01FC253978}"/>
              </a:ext>
            </a:extLst>
          </p:cNvPr>
          <p:cNvSpPr/>
          <p:nvPr/>
        </p:nvSpPr>
        <p:spPr>
          <a:xfrm>
            <a:off x="8911375" y="2325575"/>
            <a:ext cx="1417877" cy="743111"/>
          </a:xfrm>
          <a:prstGeom prst="rect">
            <a:avLst/>
          </a:prstGeom>
          <a:solidFill>
            <a:srgbClr val="B71E4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FAEC429-59EF-4B75-BF79-0DEB54FBC56C}"/>
              </a:ext>
            </a:extLst>
          </p:cNvPr>
          <p:cNvSpPr/>
          <p:nvPr/>
        </p:nvSpPr>
        <p:spPr>
          <a:xfrm>
            <a:off x="7656277" y="4380010"/>
            <a:ext cx="1419694" cy="743111"/>
          </a:xfrm>
          <a:prstGeom prst="rect">
            <a:avLst/>
          </a:prstGeom>
          <a:solidFill>
            <a:srgbClr val="0070C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FC370F4-01E4-4B2E-AE3B-363BF386AAA6}"/>
              </a:ext>
            </a:extLst>
          </p:cNvPr>
          <p:cNvSpPr/>
          <p:nvPr/>
        </p:nvSpPr>
        <p:spPr>
          <a:xfrm>
            <a:off x="10248093" y="4302519"/>
            <a:ext cx="1409424" cy="743111"/>
          </a:xfrm>
          <a:prstGeom prst="rect">
            <a:avLst/>
          </a:prstGeom>
          <a:solidFill>
            <a:srgbClr val="FF970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3F2538-FFBC-46DD-9021-DF5516BDFB2A}"/>
              </a:ext>
            </a:extLst>
          </p:cNvPr>
          <p:cNvSpPr>
            <a:spLocks noGrp="1"/>
          </p:cNvSpPr>
          <p:nvPr>
            <p:ph type="title"/>
          </p:nvPr>
        </p:nvSpPr>
        <p:spPr/>
        <p:txBody>
          <a:bodyPr>
            <a:normAutofit fontScale="90000"/>
          </a:bodyPr>
          <a:lstStyle/>
          <a:p>
            <a:r>
              <a:rPr lang="en-US" dirty="0"/>
              <a:t>Truncation/Multiplication on 2-out-of-3 Secret Shares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8B4535-06C2-4E3F-B371-35D6AD996756}"/>
                  </a:ext>
                </a:extLst>
              </p:cNvPr>
              <p:cNvSpPr>
                <a:spLocks noGrp="1"/>
              </p:cNvSpPr>
              <p:nvPr>
                <p:ph idx="1"/>
              </p:nvPr>
            </p:nvSpPr>
            <p:spPr>
              <a:xfrm>
                <a:off x="1451581" y="1694890"/>
                <a:ext cx="5771152" cy="5476472"/>
              </a:xfrm>
            </p:spPr>
            <p:txBody>
              <a:bodyPr>
                <a:normAutofit/>
              </a:bodyPr>
              <a:lstStyle/>
              <a:p>
                <a:r>
                  <a:rPr lang="en-US" dirty="0"/>
                  <a:t>Multiplication </a:t>
                </a:r>
                <a14:m>
                  <m:oMath xmlns:m="http://schemas.openxmlformats.org/officeDocument/2006/math">
                    <m:r>
                      <m:rPr>
                        <m:sty m:val="p"/>
                      </m:rPr>
                      <a:rPr lang="en-US" b="0" i="0" smtClean="0">
                        <a:latin typeface="Cambria Math" panose="02040503050406030204" pitchFamily="18" charset="0"/>
                      </a:rPr>
                      <m:t>z</m:t>
                    </m:r>
                    <m:r>
                      <a:rPr lang="en-US" b="0" i="0"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r>
                  <a:rPr lang="en-US" b="0" dirty="0"/>
                  <a:t>: </a:t>
                </a:r>
              </a:p>
              <a:p>
                <a:pPr lvl="1"/>
                <a:r>
                  <a:rPr lang="en-US" dirty="0"/>
                  <a:t>Preprocess </a:t>
                </a:r>
              </a:p>
              <a:p>
                <a:pPr lvl="2"/>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𝑟</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𝑟𝑎𝑛𝑑</m:t>
                    </m:r>
                    <m:r>
                      <a:rPr lang="en-US" b="0" i="1" smtClean="0">
                        <a:latin typeface="Cambria Math" panose="02040503050406030204" pitchFamily="18" charset="0"/>
                      </a:rPr>
                      <m:t>()</m:t>
                    </m:r>
                  </m:oMath>
                </a14:m>
                <a:endParaRPr lang="en-US" dirty="0"/>
              </a:p>
              <a:p>
                <a:pPr lvl="2"/>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e>
                    </m:d>
                    <m:r>
                      <a:rPr lang="en-US" i="1">
                        <a:latin typeface="Cambria Math" panose="02040503050406030204" pitchFamily="18" charset="0"/>
                      </a:rPr>
                      <m:t>/</m:t>
                    </m:r>
                    <m:r>
                      <a:rPr lang="en-US" i="1">
                        <a:latin typeface="Cambria Math" panose="02040503050406030204" pitchFamily="18" charset="0"/>
                      </a:rPr>
                      <m:t>𝑑</m:t>
                    </m:r>
                  </m:oMath>
                </a14:m>
                <a:endParaRPr lang="en-US" b="0" dirty="0"/>
              </a:p>
              <a:p>
                <a:pPr lvl="1"/>
                <a:r>
                  <a:rPr lang="en-US" dirty="0"/>
                  <a:t>Let </a:t>
                </a:r>
                <a14:m>
                  <m:oMath xmlns:m="http://schemas.openxmlformats.org/officeDocument/2006/math">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m:t>
                            </m:r>
                          </m:sup>
                        </m:sSup>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𝑥</m:t>
                        </m:r>
                      </m:e>
                    </m:d>
                  </m:oMath>
                </a14:m>
                <a:r>
                  <a:rPr lang="en-US" dirty="0"/>
                  <a:t> </a:t>
                </a:r>
                <a14:m>
                  <m:oMath xmlns:m="http://schemas.openxmlformats.org/officeDocument/2006/math">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𝑦</m:t>
                        </m:r>
                      </m:e>
                    </m:d>
                  </m:oMath>
                </a14:m>
                <a:r>
                  <a:rPr lang="en-US" dirty="0"/>
                  <a:t>      </a:t>
                </a:r>
                <a:r>
                  <a:rPr lang="en-US" dirty="0">
                    <a:solidFill>
                      <a:schemeClr val="tx1">
                        <a:lumMod val="50000"/>
                        <a:lumOff val="50000"/>
                      </a:schemeClr>
                    </a:solidFill>
                  </a:rPr>
                  <a:t> (integer multiplication)</a:t>
                </a:r>
                <a:br>
                  <a:rPr lang="en-US" dirty="0">
                    <a:solidFill>
                      <a:schemeClr val="tx1">
                        <a:lumMod val="50000"/>
                        <a:lumOff val="50000"/>
                      </a:schemeClr>
                    </a:solidFill>
                  </a:rPr>
                </a:b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oMath>
                </a14:m>
                <a:br>
                  <a:rPr lang="en-US" b="0" dirty="0"/>
                </a:b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𝑧</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oMath>
                </a14:m>
                <a:br>
                  <a:rPr lang="en-US" dirty="0"/>
                </a:b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𝑧</m:t>
                        </m:r>
                      </m:e>
                      <m:sub>
                        <m:r>
                          <a:rPr lang="en-US" b="0" i="1" smtClean="0">
                            <a:latin typeface="Cambria Math" panose="02040503050406030204" pitchFamily="18" charset="0"/>
                          </a:rPr>
                          <m:t>3</m:t>
                        </m:r>
                      </m:sub>
                      <m:sup>
                        <m:r>
                          <a:rPr lang="en-US" b="0" i="1" smtClean="0">
                            <a:latin typeface="Cambria Math" panose="02040503050406030204" pitchFamily="18" charset="0"/>
                          </a:rPr>
                          <m:t>′</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oMath>
                </a14:m>
                <a:endParaRPr lang="en-US" b="0" dirty="0"/>
              </a:p>
              <a:p>
                <a:pPr lvl="1"/>
                <a:endParaRPr lang="en-US" dirty="0"/>
              </a:p>
              <a:p>
                <a:pPr lvl="1"/>
                <a:r>
                  <a:rPr lang="en-US" dirty="0"/>
                  <a:t>Compute </a:t>
                </a:r>
                <a:br>
                  <a:rPr lang="en-US" dirty="0"/>
                </a:b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dirty="0">
                            <a:latin typeface="Cambria Math" panose="02040503050406030204" pitchFamily="18" charset="0"/>
                          </a:rPr>
                          <m:t>𝑧</m:t>
                        </m:r>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r>
                          <m:rPr>
                            <m:nor/>
                          </m:rPr>
                          <a:rPr lang="en-US" dirty="0"/>
                          <m:t> </m:t>
                        </m:r>
                      </m:num>
                      <m:den>
                        <m:r>
                          <a:rPr lang="en-US" b="0" i="1" smtClean="0">
                            <a:latin typeface="Cambria Math" panose="02040503050406030204" pitchFamily="18" charset="0"/>
                          </a:rPr>
                          <m:t>𝑑</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m:t>
                                </m:r>
                              </m:sup>
                            </m:sSup>
                          </m:e>
                        </m:d>
                      </m:num>
                      <m:den>
                        <m:r>
                          <a:rPr lang="en-US" b="0" i="1" smtClean="0">
                            <a:latin typeface="Cambria Math" panose="02040503050406030204" pitchFamily="18" charset="0"/>
                          </a:rPr>
                          <m:t>𝑑</m:t>
                        </m:r>
                      </m:den>
                    </m:f>
                    <m:r>
                      <a:rPr lang="en-US" b="0" i="1" smtClean="0">
                        <a:latin typeface="Cambria Math" panose="02040503050406030204" pitchFamily="18" charset="0"/>
                      </a:rPr>
                      <m:t> </m:t>
                    </m:r>
                  </m:oMath>
                </a14:m>
                <a:endParaRPr lang="en-US" dirty="0"/>
              </a:p>
            </p:txBody>
          </p:sp>
        </mc:Choice>
        <mc:Fallback xmlns="">
          <p:sp>
            <p:nvSpPr>
              <p:cNvPr id="3" name="Content Placeholder 2">
                <a:extLst>
                  <a:ext uri="{FF2B5EF4-FFF2-40B4-BE49-F238E27FC236}">
                    <a16:creationId xmlns:a16="http://schemas.microsoft.com/office/drawing/2014/main" id="{308B4535-06C2-4E3F-B371-35D6AD996756}"/>
                  </a:ext>
                </a:extLst>
              </p:cNvPr>
              <p:cNvSpPr>
                <a:spLocks noGrp="1" noRot="1" noChangeAspect="1" noMove="1" noResize="1" noEditPoints="1" noAdjustHandles="1" noChangeArrowheads="1" noChangeShapeType="1" noTextEdit="1"/>
              </p:cNvSpPr>
              <p:nvPr>
                <p:ph idx="1"/>
              </p:nvPr>
            </p:nvSpPr>
            <p:spPr>
              <a:xfrm>
                <a:off x="1451581" y="1694890"/>
                <a:ext cx="5771152" cy="5476472"/>
              </a:xfrm>
              <a:blipFill>
                <a:blip r:embed="rId2"/>
                <a:stretch>
                  <a:fillRect l="-1373"/>
                </a:stretch>
              </a:blipFill>
            </p:spPr>
            <p:txBody>
              <a:bodyPr/>
              <a:lstStyle/>
              <a:p>
                <a:r>
                  <a:rPr lang="en-US">
                    <a:noFill/>
                  </a:rPr>
                  <a:t> </a:t>
                </a:r>
              </a:p>
            </p:txBody>
          </p:sp>
        </mc:Fallback>
      </mc:AlternateContent>
      <p:pic>
        <p:nvPicPr>
          <p:cNvPr id="4" name="Picture 2" descr="http://mahdiz.com/images/visaresearch.png">
            <a:extLst>
              <a:ext uri="{FF2B5EF4-FFF2-40B4-BE49-F238E27FC236}">
                <a16:creationId xmlns:a16="http://schemas.microsoft.com/office/drawing/2014/main" id="{491E43E7-00EE-4F68-BF93-379D145EE5A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0" r="100000">
                        <a14:foregroundMark x1="15165" y1="28627" x2="15165" y2="28627"/>
                        <a14:foregroundMark x1="40000" y1="36944" x2="40000" y2="36944"/>
                        <a14:foregroundMark x1="63297" y1="25919" x2="63297" y2="25919"/>
                        <a14:foregroundMark x1="18901" y1="79497" x2="18901" y2="79497"/>
                        <a14:foregroundMark x1="26923" y1="86654" x2="26923" y2="86654"/>
                        <a14:foregroundMark x1="40330" y1="88975" x2="40330" y2="88975"/>
                        <a14:foregroundMark x1="51099" y1="86654" x2="51099" y2="86654"/>
                        <a14:foregroundMark x1="64835" y1="87234" x2="64835" y2="87234"/>
                        <a14:foregroundMark x1="70440" y1="82979" x2="70440" y2="82979"/>
                        <a14:foregroundMark x1="80220" y1="78143" x2="80220" y2="78143"/>
                        <a14:foregroundMark x1="89121" y1="82592" x2="89121" y2="82592"/>
                      </a14:backgroundRemoval>
                    </a14:imgEffect>
                  </a14:imgLayer>
                </a14:imgProps>
              </a:ext>
              <a:ext uri="{28A0092B-C50C-407E-A947-70E740481C1C}">
                <a14:useLocalDpi xmlns:a14="http://schemas.microsoft.com/office/drawing/2010/main" val="0"/>
              </a:ext>
            </a:extLst>
          </a:blip>
          <a:srcRect b="35369"/>
          <a:stretch/>
        </p:blipFill>
        <p:spPr bwMode="auto">
          <a:xfrm>
            <a:off x="8850460" y="1775729"/>
            <a:ext cx="1115718" cy="409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Image result for amazon icon">
            <a:extLst>
              <a:ext uri="{FF2B5EF4-FFF2-40B4-BE49-F238E27FC236}">
                <a16:creationId xmlns:a16="http://schemas.microsoft.com/office/drawing/2014/main" id="{71184F86-539B-4B2B-B537-6FD346C6416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9492" b="82203" l="0" r="100000">
                        <a14:foregroundMark x1="82619" y1="43220" x2="82619" y2="43220"/>
                        <a14:foregroundMark x1="89762" y1="39831" x2="89762" y2="39831"/>
                        <a14:foregroundMark x1="11429" y1="38701" x2="11429" y2="38701"/>
                        <a14:foregroundMark x1="34048" y1="69774" x2="34048" y2="69774"/>
                        <a14:foregroundMark x1="51190" y1="46328" x2="51190" y2="46328"/>
                        <a14:foregroundMark x1="61429" y1="48870" x2="61429" y2="48870"/>
                        <a14:foregroundMark x1="28571" y1="39548" x2="28571" y2="39548"/>
                        <a14:backgroundMark x1="42143" y1="67232" x2="42143" y2="67232"/>
                        <a14:backgroundMark x1="45952" y1="61582" x2="45952" y2="61582"/>
                        <a14:backgroundMark x1="30714" y1="59322" x2="30714" y2="59322"/>
                        <a14:backgroundMark x1="30714" y1="59322" x2="30714" y2="59322"/>
                        <a14:backgroundMark x1="35714" y1="61864" x2="55238" y2="61864"/>
                        <a14:backgroundMark x1="59286" y1="71469" x2="62619" y2="68644"/>
                        <a14:backgroundMark x1="59048" y1="56497" x2="64048" y2="56497"/>
                        <a14:backgroundMark x1="56667" y1="64407" x2="59286" y2="62712"/>
                        <a14:backgroundMark x1="8810" y1="47740" x2="8810" y2="47740"/>
                      </a14:backgroundRemoval>
                    </a14:imgEffect>
                  </a14:imgLayer>
                </a14:imgProps>
              </a:ext>
              <a:ext uri="{28A0092B-C50C-407E-A947-70E740481C1C}">
                <a14:useLocalDpi xmlns:a14="http://schemas.microsoft.com/office/drawing/2010/main" val="0"/>
              </a:ext>
            </a:extLst>
          </a:blip>
          <a:srcRect/>
          <a:stretch>
            <a:fillRect/>
          </a:stretch>
        </p:blipFill>
        <p:spPr bwMode="auto">
          <a:xfrm>
            <a:off x="10656344" y="4892693"/>
            <a:ext cx="1233537" cy="10396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Image result for bank of america">
            <a:extLst>
              <a:ext uri="{FF2B5EF4-FFF2-40B4-BE49-F238E27FC236}">
                <a16:creationId xmlns:a16="http://schemas.microsoft.com/office/drawing/2014/main" id="{95229F7A-7426-4608-BBC2-901FAC531F5E}"/>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845" b="86010" l="0" r="100000">
                        <a14:foregroundMark x1="3521" y1="54922" x2="96948" y2="48187"/>
                        <a14:foregroundMark x1="85446" y1="38342" x2="85915" y2="65285"/>
                        <a14:foregroundMark x1="88967" y1="57513" x2="88967" y2="57513"/>
                      </a14:backgroundRemoval>
                    </a14:imgEffect>
                  </a14:imgLayer>
                </a14:imgProps>
              </a:ext>
              <a:ext uri="{28A0092B-C50C-407E-A947-70E740481C1C}">
                <a14:useLocalDpi xmlns:a14="http://schemas.microsoft.com/office/drawing/2010/main" val="0"/>
              </a:ext>
            </a:extLst>
          </a:blip>
          <a:srcRect/>
          <a:stretch>
            <a:fillRect/>
          </a:stretch>
        </p:blipFill>
        <p:spPr bwMode="auto">
          <a:xfrm>
            <a:off x="6343157" y="4907071"/>
            <a:ext cx="2231395" cy="10109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510F9D-27FA-44FB-B65F-1F26D67CDD3F}"/>
                  </a:ext>
                </a:extLst>
              </p:cNvPr>
              <p:cNvSpPr txBox="1"/>
              <p:nvPr>
                <p:extLst/>
              </p:nvPr>
            </p:nvSpPr>
            <p:spPr>
              <a:xfrm>
                <a:off x="7695344" y="4562683"/>
                <a:ext cx="110776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2</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7" name="TextBox 6">
                <a:extLst>
                  <a:ext uri="{FF2B5EF4-FFF2-40B4-BE49-F238E27FC236}">
                    <a16:creationId xmlns:a16="http://schemas.microsoft.com/office/drawing/2014/main" id="{7F510F9D-27FA-44FB-B65F-1F26D67CDD3F}"/>
                  </a:ext>
                </a:extLst>
              </p:cNvPr>
              <p:cNvSpPr txBox="1">
                <a:spLocks noRot="1" noChangeAspect="1" noMove="1" noResize="1" noEditPoints="1" noAdjustHandles="1" noChangeArrowheads="1" noChangeShapeType="1" noTextEdit="1"/>
              </p:cNvSpPr>
              <p:nvPr>
                <p:extLst/>
              </p:nvPr>
            </p:nvSpPr>
            <p:spPr>
              <a:xfrm>
                <a:off x="7695344" y="4562683"/>
                <a:ext cx="1107762" cy="523220"/>
              </a:xfrm>
              <a:prstGeom prst="rect">
                <a:avLst/>
              </a:prstGeom>
              <a:blipFill>
                <a:blip r:embed="rId9"/>
                <a:stretch>
                  <a:fillRect r="-219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66E399-2F06-4F14-B460-9C3F854DDD9A}"/>
                  </a:ext>
                </a:extLst>
              </p:cNvPr>
              <p:cNvSpPr txBox="1"/>
              <p:nvPr>
                <p:extLst/>
              </p:nvPr>
            </p:nvSpPr>
            <p:spPr>
              <a:xfrm>
                <a:off x="10251383" y="4504496"/>
                <a:ext cx="1164116"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3</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8" name="TextBox 7">
                <a:extLst>
                  <a:ext uri="{FF2B5EF4-FFF2-40B4-BE49-F238E27FC236}">
                    <a16:creationId xmlns:a16="http://schemas.microsoft.com/office/drawing/2014/main" id="{2566E399-2F06-4F14-B460-9C3F854DDD9A}"/>
                  </a:ext>
                </a:extLst>
              </p:cNvPr>
              <p:cNvSpPr txBox="1">
                <a:spLocks noRot="1" noChangeAspect="1" noMove="1" noResize="1" noEditPoints="1" noAdjustHandles="1" noChangeArrowheads="1" noChangeShapeType="1" noTextEdit="1"/>
              </p:cNvSpPr>
              <p:nvPr>
                <p:extLst/>
              </p:nvPr>
            </p:nvSpPr>
            <p:spPr>
              <a:xfrm>
                <a:off x="10251383" y="4504496"/>
                <a:ext cx="1164116" cy="523220"/>
              </a:xfrm>
              <a:prstGeom prst="rect">
                <a:avLst/>
              </a:prstGeom>
              <a:blipFill>
                <a:blip r:embed="rId10"/>
                <a:stretch>
                  <a:fillRect r="-1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E5BF90-5540-4BBF-A730-84690F97E508}"/>
                  </a:ext>
                </a:extLst>
              </p:cNvPr>
              <p:cNvSpPr txBox="1"/>
              <p:nvPr>
                <p:extLst/>
              </p:nvPr>
            </p:nvSpPr>
            <p:spPr>
              <a:xfrm>
                <a:off x="8932481" y="2183215"/>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sSubSup>
                        <m:sSubSupPr>
                          <m:ctrlPr>
                            <a:rPr lang="en-US" sz="2800" b="0" i="1" dirty="0" smtClean="0">
                              <a:latin typeface="Cambria Math" panose="02040503050406030204" pitchFamily="18" charset="0"/>
                            </a:rPr>
                          </m:ctrlPr>
                        </m:sSubSupPr>
                        <m:e>
                          <m:r>
                            <a:rPr lang="en-US" sz="2800" b="0" i="1" dirty="0" smtClean="0">
                              <a:latin typeface="Cambria Math" panose="02040503050406030204" pitchFamily="18" charset="0"/>
                            </a:rPr>
                            <m:t>𝑧</m:t>
                          </m:r>
                        </m:e>
                        <m:sub>
                          <m:r>
                            <a:rPr lang="en-US" sz="2800" b="0" i="1" dirty="0" smtClean="0">
                              <a:latin typeface="Cambria Math" panose="02040503050406030204" pitchFamily="18" charset="0"/>
                            </a:rPr>
                            <m:t>1</m:t>
                          </m:r>
                        </m:sub>
                        <m:sup>
                          <m:r>
                            <a:rPr lang="en-US" sz="2800" b="0" i="1" dirty="0" smtClean="0">
                              <a:latin typeface="Cambria Math" panose="02040503050406030204" pitchFamily="18" charset="0"/>
                            </a:rPr>
                            <m:t>′</m:t>
                          </m:r>
                        </m:sup>
                      </m:sSubSup>
                    </m:oMath>
                  </m:oMathPara>
                </a14:m>
                <a:endParaRPr lang="en-US" sz="2800" dirty="0"/>
              </a:p>
            </p:txBody>
          </p:sp>
        </mc:Choice>
        <mc:Fallback xmlns="">
          <p:sp>
            <p:nvSpPr>
              <p:cNvPr id="9" name="TextBox 8">
                <a:extLst>
                  <a:ext uri="{FF2B5EF4-FFF2-40B4-BE49-F238E27FC236}">
                    <a16:creationId xmlns:a16="http://schemas.microsoft.com/office/drawing/2014/main" id="{D4E5BF90-5540-4BBF-A730-84690F97E508}"/>
                  </a:ext>
                </a:extLst>
              </p:cNvPr>
              <p:cNvSpPr txBox="1">
                <a:spLocks noRot="1" noChangeAspect="1" noMove="1" noResize="1" noEditPoints="1" noAdjustHandles="1" noChangeArrowheads="1" noChangeShapeType="1" noTextEdit="1"/>
              </p:cNvSpPr>
              <p:nvPr>
                <p:extLst/>
              </p:nvPr>
            </p:nvSpPr>
            <p:spPr>
              <a:xfrm>
                <a:off x="8932481" y="2183215"/>
                <a:ext cx="1241509" cy="523220"/>
              </a:xfrm>
              <a:prstGeom prst="rect">
                <a:avLst/>
              </a:prstGeom>
              <a:blipFill>
                <a:blip r:embed="rId11"/>
                <a:stretch>
                  <a:fillRect r="-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8D8EC73-AF59-46AC-8B20-3A4B52923EAC}"/>
                  </a:ext>
                </a:extLst>
              </p:cNvPr>
              <p:cNvSpPr txBox="1"/>
              <p:nvPr>
                <p:extLst/>
              </p:nvPr>
            </p:nvSpPr>
            <p:spPr>
              <a:xfrm>
                <a:off x="10248093" y="4175375"/>
                <a:ext cx="1155560"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oMath>
                  </m:oMathPara>
                </a14:m>
                <a:endParaRPr lang="en-US" sz="2800" dirty="0"/>
              </a:p>
            </p:txBody>
          </p:sp>
        </mc:Choice>
        <mc:Fallback xmlns="">
          <p:sp>
            <p:nvSpPr>
              <p:cNvPr id="10" name="TextBox 9">
                <a:extLst>
                  <a:ext uri="{FF2B5EF4-FFF2-40B4-BE49-F238E27FC236}">
                    <a16:creationId xmlns:a16="http://schemas.microsoft.com/office/drawing/2014/main" id="{78D8EC73-AF59-46AC-8B20-3A4B52923EAC}"/>
                  </a:ext>
                </a:extLst>
              </p:cNvPr>
              <p:cNvSpPr txBox="1">
                <a:spLocks noRot="1" noChangeAspect="1" noMove="1" noResize="1" noEditPoints="1" noAdjustHandles="1" noChangeArrowheads="1" noChangeShapeType="1" noTextEdit="1"/>
              </p:cNvSpPr>
              <p:nvPr>
                <p:extLst/>
              </p:nvPr>
            </p:nvSpPr>
            <p:spPr>
              <a:xfrm>
                <a:off x="10248093" y="4175375"/>
                <a:ext cx="1155560"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A46CD0-9DBC-4E11-A5EF-12C1AFF44523}"/>
                  </a:ext>
                </a:extLst>
              </p:cNvPr>
              <p:cNvSpPr txBox="1"/>
              <p:nvPr>
                <p:extLst/>
              </p:nvPr>
            </p:nvSpPr>
            <p:spPr>
              <a:xfrm>
                <a:off x="8920635" y="2545813"/>
                <a:ext cx="1241509"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3</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3</m:t>
                          </m:r>
                        </m:sub>
                      </m:sSub>
                      <m:r>
                        <a:rPr lang="en-US" sz="2800" b="0" i="1" dirty="0" smtClean="0">
                          <a:latin typeface="Cambria Math" panose="02040503050406030204" pitchFamily="18" charset="0"/>
                        </a:rPr>
                        <m:t>,</m:t>
                      </m:r>
                    </m:oMath>
                  </m:oMathPara>
                </a14:m>
                <a:endParaRPr lang="en-US" sz="2800" dirty="0"/>
              </a:p>
            </p:txBody>
          </p:sp>
        </mc:Choice>
        <mc:Fallback xmlns="">
          <p:sp>
            <p:nvSpPr>
              <p:cNvPr id="11" name="TextBox 10">
                <a:extLst>
                  <a:ext uri="{FF2B5EF4-FFF2-40B4-BE49-F238E27FC236}">
                    <a16:creationId xmlns:a16="http://schemas.microsoft.com/office/drawing/2014/main" id="{F3A46CD0-9DBC-4E11-A5EF-12C1AFF44523}"/>
                  </a:ext>
                </a:extLst>
              </p:cNvPr>
              <p:cNvSpPr txBox="1">
                <a:spLocks noRot="1" noChangeAspect="1" noMove="1" noResize="1" noEditPoints="1" noAdjustHandles="1" noChangeArrowheads="1" noChangeShapeType="1" noTextEdit="1"/>
              </p:cNvSpPr>
              <p:nvPr>
                <p:extLst/>
              </p:nvPr>
            </p:nvSpPr>
            <p:spPr>
              <a:xfrm>
                <a:off x="8920635" y="2545813"/>
                <a:ext cx="1241509"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08F250-ADC4-4D17-BEB9-ABC7C7800B79}"/>
                  </a:ext>
                </a:extLst>
              </p:cNvPr>
              <p:cNvSpPr txBox="1"/>
              <p:nvPr>
                <p:extLst/>
              </p:nvPr>
            </p:nvSpPr>
            <p:spPr>
              <a:xfrm>
                <a:off x="7695344" y="4242886"/>
                <a:ext cx="1111052"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14:m>
                  <m:oMathPara xmlns:m="http://schemas.openxmlformats.org/officeDocument/2006/math">
                    <m:oMathParaPr>
                      <m:jc m:val="left"/>
                    </m:oMathParaPr>
                    <m:oMath xmlns:m="http://schemas.openxmlformats.org/officeDocument/2006/math">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𝑥</m:t>
                          </m:r>
                        </m:e>
                        <m:sub>
                          <m:r>
                            <a:rPr lang="en-US" sz="280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𝑦</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oMath>
                  </m:oMathPara>
                </a14:m>
                <a:endParaRPr lang="en-US" sz="2800" dirty="0"/>
              </a:p>
            </p:txBody>
          </p:sp>
        </mc:Choice>
        <mc:Fallback xmlns="">
          <p:sp>
            <p:nvSpPr>
              <p:cNvPr id="12" name="TextBox 11">
                <a:extLst>
                  <a:ext uri="{FF2B5EF4-FFF2-40B4-BE49-F238E27FC236}">
                    <a16:creationId xmlns:a16="http://schemas.microsoft.com/office/drawing/2014/main" id="{4E08F250-ADC4-4D17-BEB9-ABC7C7800B79}"/>
                  </a:ext>
                </a:extLst>
              </p:cNvPr>
              <p:cNvSpPr txBox="1">
                <a:spLocks noRot="1" noChangeAspect="1" noMove="1" noResize="1" noEditPoints="1" noAdjustHandles="1" noChangeArrowheads="1" noChangeShapeType="1" noTextEdit="1"/>
              </p:cNvSpPr>
              <p:nvPr>
                <p:extLst/>
              </p:nvPr>
            </p:nvSpPr>
            <p:spPr>
              <a:xfrm>
                <a:off x="7695344" y="4242886"/>
                <a:ext cx="1111052"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F7F845A1-B07D-41EF-83BC-8F99B8A8AD7E}"/>
                  </a:ext>
                </a:extLst>
              </p:cNvPr>
              <p:cNvSpPr/>
              <p:nvPr/>
            </p:nvSpPr>
            <p:spPr>
              <a:xfrm>
                <a:off x="9161909" y="3328957"/>
                <a:ext cx="124187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latin typeface="Cambria Math" panose="02040503050406030204" pitchFamily="18" charset="0"/>
                        </a:rPr>
                        <m:t>𝑧</m:t>
                      </m:r>
                      <m:r>
                        <a:rPr lang="en-US" sz="2800" b="0" i="1" dirty="0" smtClean="0">
                          <a:latin typeface="Cambria Math" panose="02040503050406030204" pitchFamily="18" charset="0"/>
                        </a:rPr>
                        <m:t>′−</m:t>
                      </m:r>
                      <m:r>
                        <a:rPr lang="en-US" sz="2800" b="0" i="1" dirty="0" smtClean="0">
                          <a:latin typeface="Cambria Math" panose="02040503050406030204" pitchFamily="18" charset="0"/>
                        </a:rPr>
                        <m:t>𝑟</m:t>
                      </m:r>
                      <m:r>
                        <a:rPr lang="en-US" sz="2800" b="0" i="1" dirty="0" smtClean="0">
                          <a:latin typeface="Cambria Math" panose="02040503050406030204" pitchFamily="18" charset="0"/>
                        </a:rPr>
                        <m:t>′</m:t>
                      </m:r>
                    </m:oMath>
                  </m:oMathPara>
                </a14:m>
                <a:endParaRPr lang="en-US" sz="2800" dirty="0"/>
              </a:p>
            </p:txBody>
          </p:sp>
        </mc:Choice>
        <mc:Fallback xmlns="">
          <p:sp>
            <p:nvSpPr>
              <p:cNvPr id="22" name="Rectangle 21">
                <a:extLst>
                  <a:ext uri="{FF2B5EF4-FFF2-40B4-BE49-F238E27FC236}">
                    <a16:creationId xmlns:a16="http://schemas.microsoft.com/office/drawing/2014/main" id="{F7F845A1-B07D-41EF-83BC-8F99B8A8AD7E}"/>
                  </a:ext>
                </a:extLst>
              </p:cNvPr>
              <p:cNvSpPr>
                <a:spLocks noRot="1" noChangeAspect="1" noMove="1" noResize="1" noEditPoints="1" noAdjustHandles="1" noChangeArrowheads="1" noChangeShapeType="1" noTextEdit="1"/>
              </p:cNvSpPr>
              <p:nvPr/>
            </p:nvSpPr>
            <p:spPr>
              <a:xfrm>
                <a:off x="9161909" y="3328957"/>
                <a:ext cx="1241878" cy="523220"/>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6692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8F30C27-0DD2-40B8-B942-E6D325F87C12}"/>
              </a:ext>
            </a:extLst>
          </p:cNvPr>
          <p:cNvPicPr>
            <a:picLocks noChangeAspect="1"/>
          </p:cNvPicPr>
          <p:nvPr/>
        </p:nvPicPr>
        <p:blipFill>
          <a:blip r:embed="rId2"/>
          <a:stretch>
            <a:fillRect/>
          </a:stretch>
        </p:blipFill>
        <p:spPr>
          <a:xfrm>
            <a:off x="1726259" y="3738538"/>
            <a:ext cx="10110327" cy="2544924"/>
          </a:xfrm>
          <a:prstGeom prst="rect">
            <a:avLst/>
          </a:prstGeom>
        </p:spPr>
      </p:pic>
      <p:sp>
        <p:nvSpPr>
          <p:cNvPr id="2" name="Title 1">
            <a:extLst>
              <a:ext uri="{FF2B5EF4-FFF2-40B4-BE49-F238E27FC236}">
                <a16:creationId xmlns:a16="http://schemas.microsoft.com/office/drawing/2014/main" id="{2A7319B2-8F65-44F3-94C9-829D6B6954A4}"/>
              </a:ext>
            </a:extLst>
          </p:cNvPr>
          <p:cNvSpPr>
            <a:spLocks noGrp="1"/>
          </p:cNvSpPr>
          <p:nvPr>
            <p:ph type="title"/>
          </p:nvPr>
        </p:nvSpPr>
        <p:spPr/>
        <p:txBody>
          <a:bodyPr/>
          <a:lstStyle/>
          <a:p>
            <a:r>
              <a:rPr lang="en-US" dirty="0"/>
              <a:t>Performance – Linear Regression Training </a:t>
            </a:r>
          </a:p>
        </p:txBody>
      </p:sp>
      <p:sp>
        <p:nvSpPr>
          <p:cNvPr id="3" name="Content Placeholder 2">
            <a:extLst>
              <a:ext uri="{FF2B5EF4-FFF2-40B4-BE49-F238E27FC236}">
                <a16:creationId xmlns:a16="http://schemas.microsoft.com/office/drawing/2014/main" id="{CAFF10FE-BD58-4B59-B368-94816EA51400}"/>
              </a:ext>
            </a:extLst>
          </p:cNvPr>
          <p:cNvSpPr>
            <a:spLocks noGrp="1"/>
          </p:cNvSpPr>
          <p:nvPr>
            <p:ph idx="1"/>
          </p:nvPr>
        </p:nvSpPr>
        <p:spPr/>
        <p:txBody>
          <a:bodyPr/>
          <a:lstStyle/>
          <a:p>
            <a:r>
              <a:rPr lang="en-US" dirty="0"/>
              <a:t>Measures </a:t>
            </a:r>
            <a:r>
              <a:rPr lang="en-US" dirty="0">
                <a:latin typeface="Cambria Math" panose="02040503050406030204" pitchFamily="18" charset="0"/>
                <a:ea typeface="Cambria Math" panose="02040503050406030204" pitchFamily="18" charset="0"/>
              </a:rPr>
              <a:t>iterations / second</a:t>
            </a:r>
            <a:r>
              <a:rPr lang="en-US" dirty="0"/>
              <a:t>,  </a:t>
            </a:r>
            <a:r>
              <a:rPr lang="en-US" b="1" dirty="0"/>
              <a:t>larger = better</a:t>
            </a:r>
          </a:p>
          <a:p>
            <a:r>
              <a:rPr lang="en-US" dirty="0">
                <a:latin typeface="Cambria Math" panose="02040503050406030204" pitchFamily="18" charset="0"/>
                <a:ea typeface="Cambria Math" panose="02040503050406030204" pitchFamily="18" charset="0"/>
              </a:rPr>
              <a:t>Dimension</a:t>
            </a:r>
            <a:r>
              <a:rPr lang="en-US" dirty="0"/>
              <a:t>    = # of features</a:t>
            </a:r>
          </a:p>
          <a:p>
            <a:r>
              <a:rPr lang="en-US" dirty="0">
                <a:latin typeface="Cambria Math" panose="02040503050406030204" pitchFamily="18" charset="0"/>
                <a:ea typeface="Cambria Math" panose="02040503050406030204" pitchFamily="18" charset="0"/>
              </a:rPr>
              <a:t>Batch Size </a:t>
            </a:r>
            <a:r>
              <a:rPr lang="en-US" i="1" dirty="0">
                <a:latin typeface="Cambria Math" panose="02040503050406030204" pitchFamily="18" charset="0"/>
                <a:ea typeface="Cambria Math" panose="02040503050406030204" pitchFamily="18" charset="0"/>
              </a:rPr>
              <a:t>B</a:t>
            </a:r>
            <a:r>
              <a:rPr lang="en-US" dirty="0">
                <a:latin typeface="Cambria Math" panose="02040503050406030204" pitchFamily="18" charset="0"/>
                <a:ea typeface="Cambria Math" panose="02040503050406030204" pitchFamily="18" charset="0"/>
              </a:rPr>
              <a:t>  </a:t>
            </a:r>
            <a:r>
              <a:rPr lang="en-US" dirty="0"/>
              <a:t>= # examples used at each iteration</a:t>
            </a:r>
          </a:p>
        </p:txBody>
      </p:sp>
      <p:sp>
        <p:nvSpPr>
          <p:cNvPr id="5" name="Rectangle 4">
            <a:extLst>
              <a:ext uri="{FF2B5EF4-FFF2-40B4-BE49-F238E27FC236}">
                <a16:creationId xmlns:a16="http://schemas.microsoft.com/office/drawing/2014/main" id="{3828EC71-F201-40BB-B9A1-5C57D71211B1}"/>
              </a:ext>
            </a:extLst>
          </p:cNvPr>
          <p:cNvSpPr/>
          <p:nvPr/>
        </p:nvSpPr>
        <p:spPr>
          <a:xfrm>
            <a:off x="3205480" y="4653635"/>
            <a:ext cx="8631106" cy="257509"/>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1D68DB1-5D53-431C-823A-47B3DA8D79A5}"/>
              </a:ext>
            </a:extLst>
          </p:cNvPr>
          <p:cNvSpPr/>
          <p:nvPr/>
        </p:nvSpPr>
        <p:spPr>
          <a:xfrm>
            <a:off x="3205480" y="5189575"/>
            <a:ext cx="8631106" cy="257509"/>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ECA42F3-1525-4B6A-BEC5-EFD4C5C55012}"/>
              </a:ext>
            </a:extLst>
          </p:cNvPr>
          <p:cNvSpPr/>
          <p:nvPr/>
        </p:nvSpPr>
        <p:spPr>
          <a:xfrm>
            <a:off x="3203333" y="5725515"/>
            <a:ext cx="8631106" cy="257509"/>
          </a:xfrm>
          <a:prstGeom prst="rect">
            <a:avLst/>
          </a:prstGeom>
          <a:solidFill>
            <a:srgbClr val="FFFF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4512529"/>
      </p:ext>
    </p:extLst>
  </p:cSld>
  <p:clrMapOvr>
    <a:masterClrMapping/>
  </p:clrMapOvr>
</p:sld>
</file>

<file path=ppt/theme/theme1.xml><?xml version="1.0" encoding="utf-8"?>
<a:theme xmlns:a="http://schemas.openxmlformats.org/drawingml/2006/main" name="Gallery">
  <a:themeElements>
    <a:clrScheme name="Custom 1">
      <a:dk1>
        <a:sysClr val="windowText" lastClr="000000"/>
      </a:dk1>
      <a:lt1>
        <a:sysClr val="window" lastClr="FFFFFF"/>
      </a:lt1>
      <a:dk2>
        <a:srgbClr val="454545"/>
      </a:dk2>
      <a:lt2>
        <a:srgbClr val="DFDBD5"/>
      </a:lt2>
      <a:accent1>
        <a:srgbClr val="B71E42"/>
      </a:accent1>
      <a:accent2>
        <a:srgbClr val="00B050"/>
      </a:accent2>
      <a:accent3>
        <a:srgbClr val="0070C0"/>
      </a:accent3>
      <a:accent4>
        <a:srgbClr val="FFC000"/>
      </a:accent4>
      <a:accent5>
        <a:srgbClr val="996633"/>
      </a:accent5>
      <a:accent6>
        <a:srgbClr val="00206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34655</TotalTime>
  <Words>1996</Words>
  <Application>Microsoft Office PowerPoint</Application>
  <PresentationFormat>Widescreen</PresentationFormat>
  <Paragraphs>517</Paragraphs>
  <Slides>39</Slides>
  <Notes>7</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8</vt:lpstr>
      <vt:lpstr>Arial</vt:lpstr>
      <vt:lpstr>Calibri</vt:lpstr>
      <vt:lpstr>Cambria Math</vt:lpstr>
      <vt:lpstr>Georgia</vt:lpstr>
      <vt:lpstr>Gill Sans MT</vt:lpstr>
      <vt:lpstr>Gallery</vt:lpstr>
      <vt:lpstr>ABY3: A Mixed Protocol Framework for Machine Learning</vt:lpstr>
      <vt:lpstr>Machine Learning and Privacy</vt:lpstr>
      <vt:lpstr>Training A better Model</vt:lpstr>
      <vt:lpstr>Security Concerns </vt:lpstr>
      <vt:lpstr>Our Results</vt:lpstr>
      <vt:lpstr>Protocols and Building block</vt:lpstr>
      <vt:lpstr>Always Encrypted</vt:lpstr>
      <vt:lpstr>Always Encrypted</vt:lpstr>
      <vt:lpstr>Always Encrypted</vt:lpstr>
      <vt:lpstr>Always Encrypted</vt:lpstr>
      <vt:lpstr>Always Encrypted</vt:lpstr>
      <vt:lpstr>How to Compute on Shared Data</vt:lpstr>
      <vt:lpstr>How to Compute on Shared Data</vt:lpstr>
      <vt:lpstr>How to Compute on Shared Data</vt:lpstr>
      <vt:lpstr>How to Compute on Shared Data</vt:lpstr>
      <vt:lpstr>Decimal Multiplications in Integer Group</vt:lpstr>
      <vt:lpstr>Decimal Multiplications in Integer Group</vt:lpstr>
      <vt:lpstr>Decimal Multiplications in Integer Group</vt:lpstr>
      <vt:lpstr>Matrix Multiplication on Shared Data</vt:lpstr>
      <vt:lpstr>Piece-wise Polynomial</vt:lpstr>
      <vt:lpstr>Conversion</vt:lpstr>
      <vt:lpstr>Malicious Security</vt:lpstr>
      <vt:lpstr>Application: Machine Learning </vt:lpstr>
      <vt:lpstr>Linear Regression on Shared Data</vt:lpstr>
      <vt:lpstr>Linear Regression on Shared Data</vt:lpstr>
      <vt:lpstr>Linear Regression on Shared Data</vt:lpstr>
      <vt:lpstr>Batch Linear Regression on Shared Data</vt:lpstr>
      <vt:lpstr>Logistic Regression</vt:lpstr>
      <vt:lpstr>Logistic Regression</vt:lpstr>
      <vt:lpstr>Neural Network</vt:lpstr>
      <vt:lpstr>Performance – Inference </vt:lpstr>
      <vt:lpstr>Performance – Logistic Regression Training </vt:lpstr>
      <vt:lpstr>Summary – ABY3</vt:lpstr>
      <vt:lpstr>PowerPoint Presentation</vt:lpstr>
      <vt:lpstr>Truncation on 2-out-of-2 Secret Shares</vt:lpstr>
      <vt:lpstr>Truncation on 2-out-of-3 Secret Shares</vt:lpstr>
      <vt:lpstr>Truncation/Multiplication on 2-out-of-3 Secret Shares</vt:lpstr>
      <vt:lpstr>Truncation/Multiplication on 2-out-of-3 Secret Shares</vt:lpstr>
      <vt:lpstr>Performance – Linear Regression Training </vt:lpstr>
    </vt:vector>
  </TitlesOfParts>
  <Company>Microsoft 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Stuff</dc:title>
  <dc:creator>peter rindal</dc:creator>
  <cp:lastModifiedBy>peter Rindal</cp:lastModifiedBy>
  <cp:revision>526</cp:revision>
  <dcterms:created xsi:type="dcterms:W3CDTF">2016-03-23T21:30:21Z</dcterms:created>
  <dcterms:modified xsi:type="dcterms:W3CDTF">2018-10-16T20:17:37Z</dcterms:modified>
</cp:coreProperties>
</file>